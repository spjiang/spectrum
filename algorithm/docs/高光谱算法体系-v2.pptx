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305" r:id="rId6"/>
    <p:sldId id="306" r:id="rId7"/>
    <p:sldId id="307" r:id="rId8"/>
    <p:sldId id="308" r:id="rId9"/>
    <p:sldId id="309" r:id="rId10"/>
    <p:sldId id="310" r:id="rId11"/>
    <p:sldId id="311" r:id="rId12"/>
    <p:sldId id="312" r:id="rId13"/>
    <p:sldId id="313" r:id="rId14"/>
    <p:sldId id="314" r:id="rId15"/>
    <p:sldId id="315" r:id="rId16"/>
    <p:sldId id="316" r:id="rId17"/>
    <p:sldId id="317" r:id="rId18"/>
    <p:sldId id="318" r:id="rId19"/>
    <p:sldId id="319" r:id="rId20"/>
    <p:sldId id="320" r:id="rId21"/>
    <p:sldId id="321" r:id="rId22"/>
    <p:sldId id="322" r:id="rId23"/>
    <p:sldId id="323" r:id="rId24"/>
    <p:sldId id="324" r:id="rId25"/>
    <p:sldId id="325" r:id="rId26"/>
    <p:sldId id="326" r:id="rId27"/>
    <p:sldId id="327" r:id="rId28"/>
    <p:sldId id="328" r:id="rId29"/>
    <p:sldId id="329" r:id="rId30"/>
    <p:sldId id="330" r:id="rId31"/>
    <p:sldId id="331" r:id="rId32"/>
    <p:sldId id="332" r:id="rId33"/>
    <p:sldId id="333" r:id="rId34"/>
    <p:sldId id="334" r:id="rId35"/>
    <p:sldId id="335" r:id="rId36"/>
    <p:sldId id="336" r:id="rId37"/>
    <p:sldId id="337" r:id="rId38"/>
    <p:sldId id="338" r:id="rId39"/>
    <p:sldId id="339" r:id="rId40"/>
    <p:sldId id="340" r:id="rId41"/>
    <p:sldId id="341" r:id="rId42"/>
    <p:sldId id="342" r:id="rId43"/>
    <p:sldId id="343" r:id="rId44"/>
    <p:sldId id="344" r:id="rId45"/>
    <p:sldId id="345" r:id="rId46"/>
    <p:sldId id="346" r:id="rId47"/>
    <p:sldId id="347" r:id="rId48"/>
    <p:sldId id="348" r:id="rId49"/>
    <p:sldId id="349" r:id="rId50"/>
    <p:sldId id="350" r:id="rId51"/>
    <p:sldId id="351" r:id="rId52"/>
    <p:sldId id="352" r:id="rId53"/>
    <p:sldId id="353" r:id="rId54"/>
    <p:sldId id="354" r:id="rId55"/>
    <p:sldId id="355" r:id="rId56"/>
    <p:sldId id="356" r:id="rId57"/>
    <p:sldId id="357" r:id="rId58"/>
    <p:sldId id="358" r:id="rId59"/>
    <p:sldId id="359" r:id="rId60"/>
    <p:sldId id="360" r:id="rId61"/>
    <p:sldId id="361" r:id="rId62"/>
    <p:sldId id="362" r:id="rId63"/>
    <p:sldId id="363" r:id="rId64"/>
    <p:sldId id="364" r:id="rId65"/>
    <p:sldId id="365" r:id="rId66"/>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L="457200"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L="914400"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L="1371600"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L="1828800"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L="2286000"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L="2743200"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L="3200400"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L="3657600"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9" Type="http://schemas.openxmlformats.org/officeDocument/2006/relationships/tableStyles" Target="tableStyles.xml"/><Relationship Id="rId68" Type="http://schemas.openxmlformats.org/officeDocument/2006/relationships/viewProps" Target="viewProps.xml"/><Relationship Id="rId67" Type="http://schemas.openxmlformats.org/officeDocument/2006/relationships/presProps" Target="presProps.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欢迎参加本次关于高光谱智能分析平台的分享。今天,我们将深入探讨这个平台的核心架构、关键算法以及它所能提供的强大服务能力。高光谱技术作为一种先进的"光谱指纹"识别技术,正在各个领域展现出巨大的应用潜力。希望通过今天的介绍,能让大家对如何将海量光谱数据转化为有价值的业务洞察有一个全面而清晰的认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分享将分为三个部分。第一部分,我们将介绍平台的整体架构设计,包括数据层级、业务链路和文件格式。第二部分,我们会详细解读45项核心算法,帮助大家理解每个算法的作用和价值。第三部分,将重点介绍我们当前已部署的服务能力、接口规范以及如何进行对接联调。</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我们首先进入第一部分:架构设计。理解我们平台的核心是要先建立数据产品的分层概念。高光谱业务并非一步到位,而是通过L0到L4的层层处理,实现数据的增值。</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L0是原始DN计数加POS元数据,保住可追溯的原始观测,是所有数据的源头。</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L1是辐亮度,让我们从纯数字进入可定量的物理量空间。</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L2是反射率正射立方体,经过几何与大气校正,形成标准分析底图。</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L3是分类、指数、反演图,直接回答"是什么"和"怎么样"。</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L4是面积、报表、告警、API,是直接可交付的业务价值。</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我们所有的算法都服务于这个体系,特别是L2到L3的转化。所有分析都沿着分类和指标两条并行链路展开。请大家先建立这个分层意识,再去记具体的算法名称。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张表格清晰地展示了从L0到L4的数据层级。大家可以看到,每个层级的形态、用户和价值都不同。L0和L1主要由技术团队处理,为后续分析做准备。L2是算法研发的基础。L3开始产生可供分析的信息。只有到了L4,数据才真正转化为可以直接用于业务决策的报表和告警,形成管理闭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让大家更直观地理解,我们以作物分类为例,看一下端到端的处理路径。整个流程从数据采集开始,经过预处理生成标准的L2底图,然后通过分析算法得到L3分类图,再经过后处理优化,最后汇总成L4的业务报表。最终,这些结果可以被业务系统、GIS平台或可视化大屏消费,实现从数据到决策的完整闭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1. 采集:这是源头,我们通过无人机飞行配合地面辅助工作,完成数据的获取。</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2. 预处理:这是标准化工序,我们将原始数据处理成标准的正射影像。</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3. 分析:这是核心价值产出,我们通过智能算法识别出作物分布。</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4. 后处理:这是质量保证,我们剔除干扰因素,确保统计的准确性。</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5. 汇总:这是结果交付,我们生成业务人员能看懂的报表。</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6. 应用:这是最终目的,数据汇入系统,支撑日常业务。</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在L2底图之上,我们主要有两条并行的业务链路。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一条是左侧的分类链,它的核心任务是回答"地里种了什么"以及"每种有多少"。这条链路从样本构建与特征处理开始,经过分类模型训练与后处理,最终产出地块面积与专题图。这是我们仓库中小模型的主要应用场景,验收时我们重点关注OA/Kappa精度指标与面积的准确性。</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二条是右侧的长势/胁迫指标链,它回答"作物长得怎么样"以及"是否存在胁迫"。它通过计算NDVI等植被指数,反演可生化量,快速生成热力图与告警。这条链路不依赖复杂的模型训练,因此更轻量、更快,非常适合进行高频的日常长势监测。验收时我们更看重阈值规则是否合理、告警能否形成有效闭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两条链路各司其职,最终都服务于L4层的业务决策。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实现系统间的高效协作,我们遵循业界标准的文件格式约定。我们主要使用GeoTIFF作为栅格数据的交换格式,它包含了地理信息,是我们的主格式。对于矢量数据,我们使用GeoJSON。CSV文件用于存储轨迹、光谱库等表格数据。最终的业务结果则以JSON报表的形式输出,方便业务系统直接解析和使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进入第二部分,详细了解平台的45项核心算法。为了方便大家理解,我们对每个算法都从功能、方法、场景等多个维度进行了说明。建议大家先按层级理解每一层要解决的业务问题,再深入到具体的算法。标注为"可运行"的算法,表示已经可以通过HTTP服务调用。我们的仓库目前主要聚焦在L2到L3的分类算法和相关的数字API上。</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屏幕上我们把45项算法按业务层次切成了5段:01到05是采集与质检,负责原始数据的接入与质量校验;06到11是传感器产品,针对各类传感设备做标准化处理;12到26是分析底图与特征,沉淀特征工程、构建分析底座;27到43是信息提取,从数据中高效提取关键业务信息;44到45是出图与汇总,承担业务报表出图与价值汇总。</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底部左侧是阅读与培训建议,提醒大家先理解层再记算法,以及"可运行"标签的含义。右侧是本仓库与工程能力的关系定位。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张图展示了算法的分层总览。从L0及上机前的飞行与质控,到L0到L1的传感器校正,再到L1到L2的分析底图生成,每一步都有相应的算法支撑。这些算法共同确保了我们从原始数据中得到高质量、标准化的分析底图,为后续的信息提取奠定了坚实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继续看算法总览的下半部分。在得到L2底图后,我们首先进行分析前处理,包括数据清洗和特征构建。然后进入L3信息提取阶段,这里包含了三大类算法:用于评估长势的指数与反演算法,用于识别地物的分类与检测算法。最后,通过L3到L4的业务出口算法,将分析结果转化为最终的决策产品。</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具体来看:L2分析前处理对应20到26号能力,聚焦坏波段剔除、光谱去噪、平滑、标准化、降维、特征选择、分割与样本构建。</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L3指数与反演对应27到33号,覆盖NDVI、NDRE、EVI等多种植被指数,以及红边特征、经验回归与物理模型反演。</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L3分类与检测对应34到43号,涵盖传统机器学习、端元、光谱深度学习、空谱CNN、Transformer、少样本、语义分割、异常与变化检测。</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L3到L4的业务出口对应44到45号,完成分类后处理、地块汇总与专题制图。</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来看第一个算法:航线规划与覆盖优化。它的功能很简单,就是在飞行前规划出最优的飞行路径。它的价值在于保证数据采集的完整性和效率,避免漏拍或不必要的重拍。如果这一步没做好,后续的所有分析都会受到影响。这个算法是整个数据处理流程的起点。</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具体来看,它通过规划航高、重叠、航速,保证测区全图、可拼接;依据测区边界、DEM与相机视场,计算航高、旁向/航向重叠率与航速间距,输出可执行航点序列。</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它主要用于无人机起降、大田、园区、矿区测绘等任务。它是后续几何处理与面积统计的前提。如果覆盖不全,会产生空洞;设计过密,则会增加架次与存储成本,延误交付。</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它位于飞行采集到架次质检之间,与POS解算、正射、镶嵌紧密关联。</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个算法是同步曝光与时间戳对齐。当无人机搭载了激光、RGB相机等多种传感器时,这个算法能确保它们在同一时间点采集数据。这对于后续的多源数据融合至关重要,可以避免因时间不同步导致的几何错位和分析误差。</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功能上,它让激光、RGB、POS在时间轴上严格对齐,消除"图对不上激光"的隐患。</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方法上,以统一时钟或硬件触发脉冲为基准,对齐各传感器时间戳,建立清晰的帧对应关系。</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适用于多传感器载荷同机飞的场景,是后续几何处理与多源融合的必要前提。</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价值在于保证多源数据时空一致,避免几何校正阶段因姿态错位引入的系统性误差。</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若缺失时间对齐,会导致正射影像偏移、影像镶嵌错位,后续排查成本极高。</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它位于多传感器采集之后、POS解算与几何处理之前,与#3 POS解算、#15地理定位、#19多源配准紧密关联。</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个算法是POS解算。它融合GPS和IMU数据,精确计算出拍摄每张照片时无人机的位置和姿态。这一步至关重要,因为它为后续所有的几何校正提供了基础,确保我们处理后的数据能够准确地"落"在地图上。没有POS数据,影像就没有地理坐标,无法进行面积测量等高级应用。</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左侧我们看到,POS解算的核心是融合GPS的绝对位置与IMU的高频姿态测量,形成精确的轨迹流。它是所有正射与地图相关应用的基础。</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右侧提示了缺失的后果:如果没有这一步,我们的航拍照片就只是普通的照片,无法与真实的地理空间对应。</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底部标注了它在整条处理链中的位置,紧接原始数据处理之后,为后续的粗校正和正射校正铺路。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第四个算法是架次质检。它在数据进入处理流程前,自动检查数据是否存在丢帧、过曝、欠曝等问题。</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这一步是保证数据质量的第一道防线,能有效避免"垃圾进,垃圾出"的情况,确保后续分析结果的可靠性,并能及时发现问题建议重飞。</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方法上,我们重点检查丢帧、过曝欠曝比例、POS完整性与曝光日志异常;适用于落地后第一关,以及光照突变、颠簸、存储异常等场景。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如果缺失这一步,问题数据会污染后续指数与分类结果,浪费大量算力。</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它位于落地与后续L0-L1处理之间,不通过即触发补飞,是整条流水线的守门员。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第五个算法是云/云影检测。它能自动识别影像中的云层和阴影区域,并将其标记出来。这可以避免我们将云或阴影误判为作物或异常情况,从而提高最终分析结果的准确性和可信度。</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具体来说,我们通过亮度阈值或分类模型识别云与阴影,输出二值掩码或概率图。卫星与高空数据中,云层与阴影会直接遮蔽地表,是最关键的处理对象;即便是低空拍摄,也需关注树冠投影与薄云干扰。</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如果没有这一步处理,植被指数就会出现虚假低值,分类结果里也会产生大量无意义的"垃圾块",直接误导农情分析与农事判断。</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它位于L0/L1预览之后、L3分析之前,承接架次质检的成果,为后续的指数与分类模块提供干净的数据基底。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六个算法是辐射定标。它的作用是将传感器记录的原始数字值(DN值)转换为具有物理单位的辐亮度。这一步是实现定量分析的基础,它让不同时间、不同传感器采集的数据变得可以比较。没有辐射定标,我们就无法进行后续的大气校正和反射率计算。</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具体来说,它利用定标系数文件,将DN值转换为辐亮度(W/(m²·sr·nm)),适用于所有需要进行定量分析和跨传感器对比的场景。这一步让数据具备物理可比性,是后续大气校正和反射率计算的基石。</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如果跳过这一步,DN值将只是一串数字,无法反映真实的地表辐射能量,也无法进行跨时间、跨传感器的定量比较。</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它位于L0到L1传感器产品的处理阶段,是后续反射率定标与大气校正的前置依赖。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第七个算法是暗电流校正。传感器在没有光输入的情况下,自身也会产生一些电子噪声,这就是暗电流。这个算法通过拍摄暗场图像并从原始图像中减去它,来消除这种固有噪声,保证图像的干净整洁。</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具体来说,我们需要在关闭快门或盖上镜头盖的情况下拍摄暗场图像,然后从原始图像中减去该暗场图像的平均值。这是高光谱数据预处理的标准步骤,尤其在低光照条件下不可或缺。</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它的价值在于保证图像的干净整洁,避免条纹、斑点等伪影干扰后续分析。如果缺失这一步,图像中会存在固定的噪声模式,影响视觉效果和定量分析精度。</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它处于L0到L1传感器产品的环节,与后续的#8坏线/坏像元修复算法紧密关联。</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第八个算法是坏线/坏像元修复。由于传感器硬件可能存在一些缺陷,图像中会出现一些异常的像素或线条。这个算法通过插值等方法,修复这些缺陷,使图像更加干净,避免这些伪影干扰后续的分析。</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左侧我们看到,这一步的核心任务是定位并修复硬件引入的异常像素或线条,具体采用插值或邻域平均的方式,让异常点被周围正常像素平滑覆盖。这是所有高光谱数据预处理都必须走的标准动作。</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右侧展示了它的价值与风险:做好了,图像干净、后续分析不受伪影干扰;没做好,画面里的亮暗线会直接毁掉视觉判读与定量反演。</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底部是它在整条流水线中的位置——紧跟在#7暗电流校正之后,是L0迈向L1的关键一步。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第九个算法是条带噪声去除。高光谱传感器的探测器阵列中,不同探测器的响应可能不完全一致,这会导致图像中出现水平或垂直的条纹。这个算法能有效去除这种噪声,使图像更加均匀。</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功能上,它针对探测器响应不一致产生的条纹噪声进行消除;方法上,采用均值滤波、傅里叶变换等统计手段,精准识别并剔除周期性的条纹。</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这是高光谱数据预处理的标准步骤,直接决定了图像均匀性与数据质量。如果缺失此步骤,图像中会残留明显条纹,既影响目视效果,也会降低定量分析的精度。</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它属于L0到L1传感器产品处理环节,紧邻暗电流校正与坏线/坏像元修复之后。</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第十个算法是光谱微笑校正。这是一种高级的校正步骤,用于消除因光学系统缺陷导致的光谱波长在空间上的偏移。</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具体来说,我们利用定标灯或已知光谱特征的目标,建立波长偏移模型,对每个像素的光谱进行校正。</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它是高光谱数据预处理的高级步骤,对定量分析至关重要。只有完成了这项校正,才能保证每个像素光谱信息准确无误,这是后续进行高精度定量反演的坚实前提。</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如果缺少这一步,光谱信息会发生扭曲,后续所有基于光谱特征的分类和反演工作,都会出现系统性偏差。</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在整个L0到L1的传感器产品生成流程中,它是一个承上启下的关键环节,与前面的辐射定标紧密配合。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第十一个算法是相对辐射归一。当拼接多条航带或对比不同时期的影像时,由于光照条件不同,数据之间会存在辐射差异。这个算法能消除这种差异,保证拼接后的影像色调均匀,使多时相分析的结果更加可靠。</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具体来说,它利用重叠区域的同名点,调整不同影像的亮度,使其保持一致。这在大面积拼接、多时相变化检测等场景中非常关键。</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如果缺失这一步,拼接后的影像会出现明显的接缝或亮度差异,多时相比对结果会受到光照变化的干扰。</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该算法位于L1传感器产品环节,与#17影像匹配与镶嵌、#43多时相变化检测密切关联。</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第十二个算法是白板/灰板反射率定标。这是无人机低空遥感中最常用的方法,通过在地面放置一块已知反射率的参考板,我们可以快速地将辐亮度数据转换为地表反射率。这种方法速度快,能满足大部分业务需求。</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功能上,它利用地面参考板完成辐亮度到反射率的快速转换;方法上,通过测量参考板的辐亮度与已知反射率,建立线性回归模型完成转换。</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它是无人机低空遥感的首选,广泛用于农情监测、植被指数计算。</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业务价值在于无需复杂大气校正即可快速产出可用数据;但也因为没有消除大气影响,精度相对较低,不适合高精度定量反演与跨区域对比。</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它处于L1到L2分析底图的处理环节,上游关联辐射定标,下游衔接大气校正。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第十三个算法是大气校正。这是一种更精确的反射率定标方法,它通过物理模型来扣除大气对太阳辐射的影响。</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功能上,它借助物理模型,精确扣除大气对太阳辐射的吸收和散射影响。</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方法上,我们利用大气辐射传输模型(如MODTRAN),结合气溶胶光学厚度、水汽含量等大气参数,计算大气影响并从辐亮度中扣除。</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它适用于卫星高光谱、有人机高空遥感,以及需要高精度跨区域对比的场景。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它的业务价值在于获得更真实的地表反射率,这是高精度定量反演的前提。</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如果缺失这一步,就无法消除大气影响,反射率会存在偏差,直接影响定量反演的精度。</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它处于L1到L2分析底图的关键环节,与辐射定标、反射率定标紧密关联。</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第十四个算法是BRDF/观测几何校正。由于太阳光照角度和传感器观测角度的不同,同一地物的反射率会有所差异。这个算法通过BRDF模型,将这些反射率归一到一个标准视角,消除角度带来的影响,使数据更具可比性。</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功能上,它解决的是角度带来的反射率偏差;方法上,依托双向反射分布函数完成归一化;适用于大范围、地形复杂且需要多时相对比的场景。如果不做这一步,同一地物在不同观测角度下会看起来明暗不一,直接影响后续的分类和变化检测。</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它处在L1到L2分析底图的生产环节,与正射校正、多时相变化检测两个算法紧密联动。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第十五个算法是几何粗校正。它利用POS数据和相机参数,为影像提供一个初步的地理定位。这一步可以让我们快速在地图上看到影像的大致位置,为后续更精确的正射校正提供基础。</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具体来看:功能上,它把POS数据和相机参数结合起来,完成影像的初步定位;方法上,它同时使用POS、内参、外参三类数据来解算坐标;场景上,主要用于快速预览和后续精校正的初始值。</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业务价值在于让影像拥有了"身份证",可以直接在GIS里看、管、查;一旦缺失,影像就是"孤儿",无法进行任何空间分析。</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它属于L1到L2分析底图的核心环节,上游接#3 POS解算,下游接#16正射校正,是承上启下的关键步骤。</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十六个算法是正射校正。这是生成标准分析底图的关键一步。它利用POS数据和数字高程模型(DEM),消除地形起伏和飞行姿态带来的几何畸变,生成一张像地图一样平坦、几何精准的正射影像。只有经过正射校正,我们才能进行精确的面积测量和空间分析。</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功能上,它消除地形起伏和飞行姿态引起的几何畸变;方法上,结合POS数据、数字高程模型(DEM)和相机参数,对影像进行精确的几何校正。</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适用于所有需要进行面积测量、地块叠加、GIS分析的项目。业务价值在于确保影像的几何精度,使像素坐标与真实世界坐标一一对应。</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如果缺失这一步,影像存在几何畸变,无法进行精确的面积测量和空间分析。</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它位于L1到L2分析底图的环节,关联#3 POS解算、#15地理定位、#17影像匹配与镶嵌。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第十七个算法是影像匹配与镶嵌。当测区面积较大时,我们需要分多条航带进行采集。这个算法能将这些分块的影像无缝地拼接成一张完整的、覆盖整个测区的影像,为我们提供全局视角,便于进行宏观分析。</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具体来看:功能上,它把多条航带数据无缝拼接成一张完整的测区影像;方法上,在重叠区域寻找同名点做配准,再通过羽化、匀色完成拼接;适用大面积农田、区域生态调查等需要完整视图的任务;价值在于提供全局视角,便于宏观分析与管理。</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如果缺失这一步,就只能看到分块的视图,无法进行宏观分析。它处于L1到L2分析底图的环节,与正射校正、相对辐射归一两个上游算法紧密关联。</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第十八个算法是匀色与接缝线优化。在影像镶嵌后,不同航带之间可能会存在色调差异和明显的接缝。这个算法通过匀色和优化接缝线,使拼接后的影像看起来更加自然、统一,提升了最终成果的视觉效果。</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具体来看:功能上,它消除镶嵌后影像的接缝和色调差异;方法上,通过调整重叠区域的亮度和色彩,让接缝过渡自然;它是影像镶嵌后的后处理步骤,能显著提升视觉效果和数据一致性。</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如果缺少这一步,影像会有明显接缝或色调差异,既不好看,也会干扰后续分析。它在L1→L2分析底图环节执行,紧接在#17影像匹配与镶嵌之后。</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第十九个算法是多源配准。当我们同时使用高光谱、RGB、激光雷达等多种传感器时,这个算法能将这些不同来源的数据精确地对齐到一起。这是实现多源数据融合分析的基础,能让我们充分发挥不同传感器的优势。</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具体来说,它利用同名点或特征匹配算法,把不同数据源锁到同一坐标系。这在融合分析中非常关键,比如用RGB影像做样本标注、用激光雷达做高程校正,都依赖它。如果没有这一步,不同数据之间会互相错位,融合无从谈起。</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它属于L1到L2分析底图阶段,和前面讲过的时间对齐、正射校正都有紧密的先后与配合关系。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第二十个算法是坏波段剔除与光谱去噪。高光谱数据中,有些波段会受到大气水汽吸收的影响,噪声很大。这个算法会先剔除这些坏波段,然后对光谱曲线进行平滑处理,以提高数据质量,为后续的分析做好准备。</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具体来说,我们会重点关注1400nm和1900nm附近的水汽吸收带,这些地方往往噪声很大。同时,我们也会配合使用SG等平滑算法,让光谱曲线更加干净。</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这个步骤通常放在分类、反演等核心分析之前。它的价值在于帮助模型忽略掉噪声干扰,看到真正有价值的光谱信号。如果跳过这一步,模型可能会被噪声误导,导致分析结果不准。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第二十一个算法是Savitzky-Golay平滑和包络线去除。Savitzky-Golay平滑是一种常用的光谱平滑方法,可以有效去除噪声。包络线去除则可以突出光谱的吸收特征,这对于矿物识别和植被生化参数反演非常有用。</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功能上,它平滑光谱曲线或去除包络线,突出吸收特征。方法上,Savitzky-Golay平滑利用多项式拟合平滑曲线,包络线去除则是连接峰值点形成包络线,再用原始光谱除以该包络线。</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适用场景包括光谱特征提取、矿物识别、植被生化参数反演。业务价值在于增强光谱特征,使曲线更易分析。如果缺失,光谱噪声较大、吸收特征不明显,会影响后续特征提取与反演精度。</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它处于L2分析前处理环节,上游承接#20坏波段剔除,下游关联#22标准化。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第二十二个算法是标准化/归一化。在进行机器学习模型训练时,不同波段的数值范围可能差异很大。这个算法将所有数据缩放到一个统一的范围,这样可以加快模型的收敛速度,并提高模型的精度。</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具体来说,它的核心功能是消除量纲影响,把数据拉到同一尺度。常用的两种方式:最小-最大归一化把数据压扁到0到1之间,而标准化则是把数据变成均值为0、方差为1的标准分布。</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我们一般在训练前、数据差异大的时候用它。如果不用,那些数值大的波段就会"欺负"数值小的,让模型学偏。用了它,模型收敛得更快,结果也更准。它通常是L2分析前处理的一环,为后续的降维、分类打好基础。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第二十三个算法是降维。高光谱数据有上百个波段,维度非常高。这个算法通过PCA、MNF等方法,将高维数据压缩到少数几个维度,同时保留大部分信息。这可以大大减少计算量,提升模型训练的效率和泛化能力。</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功能定义:将上百个高度相关的波段压缩为少数几个包含主要信息的新波段。</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三种主流方法:PCA主成分分析,寻找数据中方差最大的方向,是最经典的线性降维;MNF最小噪声分离,先进行噪声白化再做PCA,更适合高光谱数据;ICA独立成分分析,寻找统计独立的成分。</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适用场景:深度学习模型训练前、小样本场景、算力有限时。</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业务价值:减少数据冗余和计算量,同时在一定程度上抑制噪声,提升模型训练效率和泛化能力。</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缺失影响:数据维度太高,计算量大,模型训练时间长,且容易过拟合。</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流程位置:L2分析前处理;关联#22标准化、#34-39分类。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十四个算法是波段选择/特征选择。它与降维不同,不是创造新的波段,而是从现有的波段中挑选出对特定任务最有用的几个波段。这可以提高模型的针对性和效率,尤其适用于需要在边缘设备上进行轻量化部署的场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具体来看:功能上,它是从众多波段中筛选出对特定任务最有帮助的子集;方法上,可以用相关性分析、信息增益等统计手段,也可以用递归特征消除等机器学习手段。</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业务上,它能显著提高模型的针对性和运行效率,减少干扰;如果跳过这一步,把所有波段都塞进去,反而容易引入噪声和冗余,拖慢并拖垮模型。</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它处在L2分析的前处理环节,前接#23降维,后启#34到#39的分类算法。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第二十五个算法是图像素/面向对象分割。传统的分类方法是基于单个像素的,而这个算法将影像分割成一个个具有相同特征的对象。通过利用对象的空间信息,可以显著提高分类和检测的精度。</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具体来说,它包含两种处理思路:像素级分割是最基础的,直接基于单个像素的光谱特征;面向对象分割则更高级,先把影像切得很碎(过分割),再把光谱和空间上相似的小块合并成有意义的对象。</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这个算法主要用在做地物分类、目标检测,以及给后续任务准备干净的样本。如果跳过这一步,只靠光谱硬切,结果会像撒了椒盐一样满是噪点。</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它是L2分析的前处理环节,直接决定了后面#26样本构建和#34到#39分类算法的起点质量。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第二十六个算法是Patch/样本构建。深度学习模型需要大量的训练样本。这个算法从影像中裁剪出固定大小的图像块,并为它们打上标签,为模型训练提供标准化的数据。</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左侧展示了它的编号、层级与核心功能——为深度学习模型准备训练样本。</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右侧上方是它的具体做法:从影像中裁剪固定大小的图像块并赋予对应标签。</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中部三张小卡分别说明:适用场景是深度学习模型训练;业务价值在于提供标准化训练数据;缺失影响则是无法直接用于模型训练。</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底部标注了它在L2分析前处理环节的定位,关联了#25分割与#34-39分类算法,并给出了对应的API调用路径。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第二十七项算法,NDVI,归一化植被指数。这是遥感领域最经典的植被指数,它能快速、直观地反映植被的健康状况。NDVI的值越高,通常代表植被越绿、长势越好。它是进行作物长势监测、产量预估等应用的基础。</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侧展示了NDVI的核心定义与计算方法,即近红外减去红光,除以近红外加红光。这一简单公式能将可见光和近红外波段的差异归一化,从而有效表征植被覆盖。适用场景覆盖作物长势监测、物候期识别、产量预估三大高频业务。</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右侧是它的业务价值与缺失影响:快速直观地评估健康状况与光合活性,是后续许多分析的基础。底部列出了它在L3指数与反演环节的定位,以及与NDRE、反演、告警等算法的紧密关联。</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第二十八项算法,NDRE,红边归一化差值植被指数。它是NDVI的升级版,利用了对叶绿素更敏感的红边波段。在作物生长的中后期,NDVI容易饱和,而NDRE则能提供更精细的长势信息,特别适用于氮素营养诊断。</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侧展示了NDRE的核心定义与计算方法,它通过NIR与RedEdge波段的组合运算,有效规避了红光波段的高反射干扰。右侧则说明了它的业务价值——在NDVI失效的旺盛期,NDRE依然能分辨细微长势;反之,若缺少该指数,就无法对密植作物进行精准的氮素管理。</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底部列出了它在整个L3指数反演流程中的定位,以及与上游NDVI、下游反演与告警模块的紧密衔接。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第二十九项算法,EVI和SAVI。它们都是NDVI的改进版本。</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EVI(增强型植被指数)引入了蓝色波段,能更好地校正大气影响和土壤背景;SAVI(土壤调整植被指数)则引入了土壤调节因子L,专门用于减少土壤背景的干扰。</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在植被茂密或土壤背景影响较大的区域,它们比NDVI更准确。如果缺失这两个指数,NDVI在这类区域的精度会明显下降。</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它位于L3指数与反演环节,与#27 NDVI、#45告警直接关联,可通过/api/v1/29_evi_savi/run调用。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第三十个算法,NDMI和NDWI,都属于水分指数。NDMI用于估算植被冠层的水分含量,而NDWI主要用于提取水体。通过分析这些指数,我们可以及时发现作物是否受到干旱胁迫,为精准灌溉提供依据。</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左侧展示了两个指数的核心计算方法:NDMI通过近红外与短波红外的比值来表征水分,NDWI则通过绿光与近红外的比值突出水体。</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右侧列出了它的主要应用场景——干旱监测、灌溉决策、湿地与农田积水识别;业务价值在于及时发现作物水分胁迫,为精准灌溉提供依据;一旦缺失,我们就失去了快速评估作物水分状况或识别水体的能力。</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底部标注了它在L3指数与反演环节的定位,并关联到#45告警模块,API接口已就绪。</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十一个算法是红边位置与光谱特征参数提取。除了植被指数,我们还可以从光谱曲线中提取更精细的特征,如红边位置、吸收深度等。这些参数包含了更丰富的信息,对于植被生化参数反演和作物品种识别非常有用。</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左侧是它的功能定义与方法要点:功能上就是提取光谱曲线的特征点与参数;方法上,红边位置是光谱反射率在红边区域快速上升的拐点,配合吸收深度、吸收宽度等形成一组完整的精细特征。</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右侧是三个价值维度:适用场景面向植被生化反演与品种识别;业务价值在于比植被指数承载了更丰富的光谱信息;若缺失这一步,就难以对光谱曲线做更深的挖掘。</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底部标注了它在L3指数与反演环节的位置,并关联到#32反演算法,可通过/api/v1/31_spectral_features/run接口调用。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十二个算法是经验回归反演。它通过建立光谱数据和实测生化参数之间的统计模型,来直接估算叶绿素、氮含量等指标的具体数值。这一步实现了从"定性描述"到"定量分析"的跨越,为精准施肥等田间管理措施提供了直接的数据支持。</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侧展示了它的核心属性:功能上是建立光谱与作物生化参数的统计关系;方法上利用实测数据构建多元线性回归或PLS等模型;可落地于精准施肥、营养诊断、品质评估三大场景;价值在于把光谱信号变成看得见、能用得上的田间管理抓手。</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右侧是它的另一面:如果缺失这一步,就只能停留在"看颜色深浅"这类定性描述,失去量化指导力。它属于L3指数与反演环节,上游承接#21光谱特征,下游通向#33物理模型反演,是一条清晰的量化链路。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第三十三个算法是辐射传输物理模型反演。与经验模型不同,它基于物理原理,通过模拟光线在植被冠层中的传播过程来反演作物参数。这种方法的结果更具物理意义,通用性更强,但模型也更复杂,计算量更大。</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具体来看:功能上,它基于物理模型,反演作物生化参数和结构参数;方法上,利用辐射传输模型如PROSAIL,通过模拟光谱反射率,反推叶面积指数LAI、叶绿素含量Cab等参数;适用于高精度作物参数反演、全球生态系统监测。</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业务价值在于反演结果更具物理意义、通用性更强;但缺点是模型复杂、计算量大,需要较多的先验知识。</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它处于L3指数与反演环节,与#32经验回归反演互为补充,可通过/api/v1/33_physical_inversion/run接口调用。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十四项算法,传统机器学习分类。我们采用SVM、随机森林等成熟的机器学习模型,基于光谱特征对影像进行分类。它的核心价值在于实现了地物识别的自动化,能够快速生成土地利用图等专题地图,极大地提高了工作效率。</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功能上,它基于光谱特征,将影像中的每个像素精准分类到不同的地物类别。</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方法上,利用训练样本,训练SVM、随机森林等分类模型,对全图进行分类。</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主要用于土地利用分类、作物类型识别、小样本快速上线等场景。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如果缺少这项能力,我们就只能依赖人工解译,不仅效率低下,还难以形成标准化的生产能力。</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它处于L3分类与检测环节,上游承接特征处理,下游连接后处理与面积统计。</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十五项算法是光谱端元分类。这种方法假设每个像素都是由几种纯净地物(端元)混合而成的。它首先找到这些端元,然后分解每个像素中包含各种端元的比例。这种方法非常适合处理混合像元,能提供更丰富的信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具体来说,我们先通过N-FINDR等端元提取算法找到影像中的纯净地物光谱,再利用LSMM模型把每个像素分解成这些端元的混合比例。这对于混合像元分解和土地覆盖分类特别有用。</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如果不用这个算法,就只能得到单一的地物分类结果,无法反映真实地表的复杂性。它通常位于L3分类与检测环节,是#44后处理和#45面积统计的前置依赖。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第三十六项算法是光谱深度学习分类。它直接将光谱曲线作为输入,送入深度学习模型进行分类。深度学习能够自动提取更复杂的光谱特征,因此在很多情况下能达到更高的分类精度。</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功能上,我们利用MLP、CNN等深度学习模型直接处理光谱数据;方法上,以每个像素的光谱曲线为输入,送入模型训练与分类。这一方法非常适合复杂地物与高光谱精细分类。</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业务价值在于自动提取深层特征、提升分类精度;但它也对训练样本规模与算力提出了更高要求。</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在整体流程中,它属于L3分类与检测环节,上游承接#26样本构建,下游衔接#44后处理与#45面积统计。</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第三十七项算法是空-谱CNN分类。它不仅利用了单个像素的光谱信息,还利用了其周围邻域的空间信息。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左侧的功能定义与方法要点解释了它的核心机制:把像素及其邻域的光谱数据构造成一个三维数据块,再送入3D-CNN训练,同时兼顾光谱与空间。</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右侧列出了它的价值与边界:适合农田、城市、复杂场景的精细分类;把光谱的"指纹"与空间的"纹理"结合,显著提升准确率;但如果丢掉空间信息,仅靠光谱会制约精度。</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底部标注了它在L3分类与检测环节中的位置,以及与样本构建、后处理、面积统计等前后工序的关联。</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第三十八项算法是Transformer分类。Transformer模型在自然语言处理领域取得了巨大成功,现在也被应用于高光谱图像分类。它通过自注意力机制,能够捕捉图像中的全局依赖关系,从而进一步提升分类精度。</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具体来看:功能上,它是利用Transformer模型对高光谱图像做分类;方法上,把图像看作序列,靠自注意力打破传统CNN的局部感受野限制,捕捉全局依赖;这特别适合需要长距离依赖的高光谱场景。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业务价值在于精准捕捉上下文,让分类更准。当然它也有代价——模型复杂、计算量大,对训练数据的量也有较高要求。</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在L3分类与检测环节落地,上游衔接#26样本构建,下游承接#44后处理与#45面积统计,形成完整的分类到应用链路。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第三十九项算法是少样本/迁移学习分类。在很多实际场景中,获取大量标注样本的成本非常高。这种方法能够在只有少量样本的情况下训练出高精度的模型,大大降低了应用门槛。</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左侧是它的身份信息:编号39,属于L3层级,是算法清单与API类的辅导材料。功能定义非常直接——在只有少量标注样本的情况下进行分类。</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是四个核心属性:方法要点上,少样本学习靠元学习让模型学会如何学习,迁移学习则复用大数据集上预训练好的模型,在小样本数据集上微调;适用场景就是标注成本高的场合;业务价值在于大大减少对标注样本的依赖;如果缺失这种能力,传统方法在少样本下精度会断崖式下跌。</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底部是它在整体架构中的位置:处于L3分类与检测环节,与样本构建、后处理、面积统计等模块紧密关联,可通过/api/v1/39_few_shot_learning/run接口调用。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四十个算法,语义分割与目标检测。这是更高级的分析技术,它不仅能识别出图像里"是什么",还能精确地定位出"在哪里"。例如,我们可以用它来识别并定位田间的病斑、杂草。这实现了从宏观分类到微观定位的升级,为精准施药、精准除草等精细化农业操作提供了直接的技术指导。</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具体来看:功能上,它识别并定位病斑、杂草、设施等特定目标;方法上,借助U-Net、YOLO等深度学习模型,实现像素级分割或目标框定;适用于病虫害监测、杂草识别、农业设施盘点等场景。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它的核心价值在于,让我们从"知道是什么"跨越到"知道在哪里",这是精细化农业管理的关键一步。反之,若缺少这项能力,我们就只能看到一片模糊的宏观情况,无法精准地干预每一株作物。</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在整体流程中,它属于L3分类与检测环节,是#45告警模块的重要上游支撑。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第四十一个算法是适合像元分解。它与光谱端元分类类似,也是用来处理混合像元的。它假设每个像素是由几种纯净地物线性混合而成的,并解算出每种地物的比例。这对于估算植被覆盖度等应用非常有用。</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具体来看:功能上,它把混合像元拆成不同地物的占比;方法上,核心是端元线性混合假设;场景上,常用于植被覆盖度估算与土地覆盖分类。</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业务价值在于突破了传统分类只能得到单一结果的局限,提供更精细的组成信息;若缺失此能力,就只能看到"混合"的单一标签。</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它处于L3分类与检测环节,常与后续的#45面积统计配合使用。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第四十二个算法是异常检测。它不需要预先知道异常是什么样子,而是通过分析像素与周围环境的差异来识别异常区域。这对于发现病虫害、环境污染等未知异常非常有用。</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具体来说,我们通过构建背景模型,比如基于K-means或高斯混合模型,然后把与模型偏差较大的像素标记为异常。这种方式让我们在没有先验知识的情况下,依然能及时发现异常。</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它主要应用在病虫害监测、环境污染监测、地质灾害识别等场景。如果缺少这项能力,系统就无法自动发现异常,只能依靠人工逐一排查,效率会大打折扣。</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在整个L3分类与检测环节中,它是告警功能的上游核心支撑。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第四十三个算法是多时相变化检测。通过对比同一区域在不同时间点的影像,我们可以发现地物的变化情况,比如作物长势的变化、土地利用的变化等。这帮助管理者及时发现异常情况和发展趋势。</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具体来说,它通过对不同时相的影像进行差值、比值或分类后比较等操作,精准提取变化区域。主要应用于作物长势变化监测、土地利用变化检测、灾害评估等场景。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如果缺少这项能力,我们就只能进行单一时相的分析,无法量化时间维度上的变化。该算法属于L3分类与检测环节,与#45告警算法强关联。</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四十四个算法是分类后处理。分类结果中常常会出现一些孤立的噪声点,也就是"椒盐噪声"。这个算法通过形态学滤波、CRF等方法,去除这些噪声点,使分类图更平滑、更符合实际地物的分布情况,提升了最终成果的实用性。</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具体来看,形态学滤波通过腐蚀、膨胀等基础操作快速去除小斑块;CRF则从概率图模型出发,利用像素间的上下文关系进一步优化。它主要用于像素分类后的平滑处理,以及验收图的美观化。</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在业务上,它保证了分类图的连续性,让后续的地块面积统计更加稳定。如果跳过此步骤,大量的椒盐噪声不仅影响视觉观感,还会让面积汇总数据出现显著偏差。</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这是L3到L4业务出口的关键一环,承接#34-39的分类/检测,直接输出给#45的地块汇总。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看第四十五项算法,也是L4的核心:地块汇总、专题制图与业务告警。它的功能是将前面所有像素级的分析结果,汇总成决策者能看懂的亩数、占比和告警信息。这一步是连接技术与业务的桥梁,它将复杂的分析结果转化为可以直接用于决策的行动建议,是整个流程的最终价值体现。</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具体来说,它以地块矢量为界,对分类和指数栅格做分区统计,再结合阈值生成报表与告警。适用于业务汇报、农事App、补贴核对、产量预估输入等多个业务场景。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如果没有这一步,所有分析结果都只能停留在技术图上,难以真正落地到业务系统与管理流程中。这是L3到L4的业务出口,承接了前面的分类检测与指数反演,是整个算法链路的收官之作。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进入第三部分,介绍我们当前部署的服务能力与对接方式。我们的服务定位是提供一个统一的HTTP入口,封装了所有的高光谱算法能力。业务系统不需要自己去实现复杂的遥感算法,只需要通过标准的文件格式和API接口调用即可。我们提供了详细的交互文档,方便开发人员快速对接。</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具体来说,服务采用单进程、一算法一目录的部署模式,业务侧只需遵循清单编号+目录+API的对应关系,即可完成培训与联调。落地节奏上,先打通数字闭环,再按优先级补齐骨架算法。</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调用侧支持GeoTIFF、GeoJSON、CSV三种标准文件上传,返回规范的JSON结构,内含统计与产物路径。开发人员可随时访问交互文档地址进行对接。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服务能力对不同角色都具有价值。对于业务和管理人员,它提供了直观的专题图、面积统计和告警,支撑决策。对于产品和应用研发人员,它提供了稳定、统一的API,方便快速集成。对于算法和数据工程师,它对齐了业界标准,便于算法的迭代和验收。</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业务与管理侧,我们把光谱观测转化为分类图、长势图、面积与告警,支撑灾情监测、作物一键摸底等场景,降低对单一算法专家的依赖,验收时重点看专题图可读性、面积可核对、告警可执行。</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产品与应用研发侧,我们提供统一API,可按场景组合算法,业界格式便于接入GIS、App,可从骨架演进到生产实现,对接时关注契约稳定、OpenAPI可调试、样例可一键跑通。</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算法与数据工程侧,我们对齐L0-L4业界分层语言,与小模型仓库能力可衔接,输入输出契约清晰便于验收,实现时关注implemented标记、产物files路径、与清单编号一致。</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目前,我们已经实现了9项核心算法的数字服务,可以直接联调使用。这些算法覆盖了从数据预处理、特征提取到分类和业务汇总的关键环节。其余36项算法的API接口已经预留,我们可以根据业务场景的优先级逐步补齐。详细的调用示例可以参考我们提供的API测试清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对接我们的服务非常简单,只需要三步:启动服务、查询算法清单、然后调用具体的算法。</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第一步启动服务,执行./scripts/start.sh即可,服务地址是http://127.0.0.1:28800。</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第二步查询清单,通过GET请求/api/v1/algorithms获取可用算法。</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第三步调用算法,使用POST请求/api/v1/algorithm/{id}/run,带上文件与可选参数。</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我们以NDVI算法为例,展示了如何使用curl命令进行调用。服务会返回包含统计信息和产物路径的JSON结果,业务侧可以直接消费这些结果,比如预览图和GIS文件。其他算法的调用方式也类似。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我们需要明确当前服务的能力边界。我们目前提供的是数字级的算法实现和完整的能力地图。而像完整的生产线正射、大气校正等重型任务,通常由专用软件处理。我们的优势在于L2到L3的分类小模型。建议的建设路径是,先利用已实现的接口打通业务闭环,验证业务价值,然后再逐步将更多算法补齐到生产级别。</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总结一下,本次分享我们覆盖了架构、算法和服务三个部分。我们清晰地定义了数据分层和业务链路,详细介绍了45项核心算法,并展示了如何通过统一的HTTP服务进行对接。建议下一步,我们可以选择1-2个重点业务场景进行应用演示,验证服务价值,并根据业务需求,逐步将更多算法优化到生产级别。</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我的介绍到此结束,感谢大家的聆听。所有相关的资料和服务代码都在我们的代码仓库中,大家可以随时查阅和使用。如果有任何问题,欢迎随时交流。谢谢!</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左侧是资料入口 algorithm/docs/,包含清单、流程、测试清单以及本次分享的PPT源文件;右侧是服务入口 algorithm/source/,提供HTTP API接口,默认监听端口28800。</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90204"/>
              <a:buNone/>
              <a:defRPr sz="33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90204"/>
              <a:buChar char="•"/>
              <a:defRPr sz="21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marL="914400" marR="0" lvl="1" indent="-342900" algn="l" rtl="0">
              <a:lnSpc>
                <a:spcPct val="90000"/>
              </a:lnSpc>
              <a:spcBef>
                <a:spcPts val="400"/>
              </a:spcBef>
              <a:spcAft>
                <a:spcPts val="0"/>
              </a:spcAft>
              <a:buClr>
                <a:schemeClr val="dk1"/>
              </a:buClr>
              <a:buSzPts val="1800"/>
              <a:buFont typeface="Arial" panose="020B0604020202090204"/>
              <a:buChar char="•"/>
              <a:defRPr sz="18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L="1371600" marR="0" lvl="2" indent="-323850" algn="l" rtl="0">
              <a:lnSpc>
                <a:spcPct val="90000"/>
              </a:lnSpc>
              <a:spcBef>
                <a:spcPts val="400"/>
              </a:spcBef>
              <a:spcAft>
                <a:spcPts val="0"/>
              </a:spcAft>
              <a:buClr>
                <a:schemeClr val="dk1"/>
              </a:buClr>
              <a:buSzPts val="1500"/>
              <a:buFont typeface="Arial" panose="020B0604020202090204"/>
              <a:buChar char="•"/>
              <a:defRPr sz="15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L="1828800" marR="0" lvl="3"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L="2286000" marR="0" lvl="4"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L="2743200" marR="0" lvl="5"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L="3200400" marR="0" lvl="6"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L="3657600" marR="0" lvl="7"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L="4114800" marR="0" lvl="8"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L="0" marR="0" lvl="1"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2pPr>
            <a:lvl3pPr marL="0" marR="0" lvl="2"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3pPr>
            <a:lvl4pPr marL="0" marR="0" lvl="3"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4pPr>
            <a:lvl5pPr marL="0" marR="0" lvl="4"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5pPr>
            <a:lvl6pPr marL="0" marR="0" lvl="5"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6pPr>
            <a:lvl7pPr marL="0" marR="0" lvl="6"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7pPr>
            <a:lvl8pPr marL="0" marR="0" lvl="7"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8pPr>
            <a:lvl9pPr marL="0" marR="0" lvl="8"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2.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gradFill rotWithShape="1">
            <a:gsLst>
              <a:gs pos="0">
                <a:srgbClr val="000000">
                  <a:alpha val="45000"/>
                </a:srgbClr>
              </a:gs>
              <a:gs pos="60000">
                <a:srgbClr val="000000">
                  <a:alpha val="20000"/>
                </a:srgbClr>
              </a:gs>
              <a:gs pos="100000">
                <a:srgbClr val="000000">
                  <a:alpha val="0"/>
                </a:srgbClr>
              </a:gs>
            </a:gsLst>
            <a:lin ang="0"/>
          </a:gradFill>
          <a:ln cap="flat" cmpd="sng">
            <a:gradFill rotWithShape="1">
              <a:gsLst>
                <a:gs pos="0">
                  <a:srgbClr val="000000">
                    <a:alpha val="45000"/>
                  </a:srgbClr>
                </a:gs>
                <a:gs pos="60000">
                  <a:srgbClr val="000000">
                    <a:alpha val="20000"/>
                  </a:srgbClr>
                </a:gs>
                <a:gs pos="100000">
                  <a:srgbClr val="000000">
                    <a:alpha val="0"/>
                  </a:srgbClr>
                </a:gs>
              </a:gsLst>
              <a:lin ang="0"/>
            </a:gradFill>
            <a:prstDash val="solid"/>
            <a:round/>
          </a:ln>
        </p:spPr>
        <p:txBody>
          <a:bodyPr vert="horz" wrap="square" lIns="63500" tIns="63500" rIns="63500" bIns="63500" rtlCol="0" anchor="ctr"/>
          <a:lstStyle/>
          <a:p>
            <a:pPr algn="ctr">
              <a:defRPr/>
            </a:pPr>
          </a:p>
        </p:txBody>
      </p:sp>
      <p:sp>
        <p:nvSpPr>
          <p:cNvPr id="3" name="AutoShape 3"/>
          <p:cNvSpPr/>
          <p:nvPr/>
        </p:nvSpPr>
        <p:spPr>
          <a:xfrm>
            <a:off x="1016000" y="2286000"/>
            <a:ext cx="10414000" cy="11430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5200" b="1" i="0" u="none" strike="noStrike" spc="400">
                <a:solidFill>
                  <a:srgbClr val="FFFFFF"/>
                </a:solidFill>
                <a:latin typeface="Noto Sans SC"/>
                <a:ea typeface="Noto Sans SC"/>
                <a:cs typeface="Noto Sans SC"/>
                <a:sym typeface="Noto Sans SC"/>
              </a:rPr>
              <a:t>高光谱智能</a:t>
            </a:r>
            <a:r>
              <a:rPr lang="zh-CN" altLang="en-US" sz="5200" b="1" i="0" u="none" strike="noStrike" spc="400">
                <a:solidFill>
                  <a:srgbClr val="FFFFFF"/>
                </a:solidFill>
                <a:latin typeface="Noto Sans SC"/>
                <a:ea typeface="Noto Sans SC"/>
                <a:cs typeface="Noto Sans SC"/>
                <a:sym typeface="Noto Sans SC"/>
              </a:rPr>
              <a:t>算法</a:t>
            </a:r>
            <a:endParaRPr lang="en-US" sz="1100"/>
          </a:p>
        </p:txBody>
      </p:sp>
      <p:sp>
        <p:nvSpPr>
          <p:cNvPr id="4" name="AutoShape 4"/>
          <p:cNvSpPr/>
          <p:nvPr/>
        </p:nvSpPr>
        <p:spPr>
          <a:xfrm>
            <a:off x="1016000" y="3683000"/>
            <a:ext cx="9144000" cy="762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200" b="1" i="0" u="none" strike="noStrike" spc="600">
                <a:solidFill>
                  <a:srgbClr val="FFFFFF">
                    <a:alpha val="92157"/>
                  </a:srgbClr>
                </a:solidFill>
                <a:latin typeface="Noto Sans SC"/>
                <a:ea typeface="Noto Sans SC"/>
                <a:cs typeface="Noto Sans SC"/>
                <a:sym typeface="Noto Sans SC"/>
              </a:rPr>
              <a:t>架构、算法与服务能力详解</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7620000" cy="762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3600" b="1" i="0" u="none" strike="noStrike" spc="400">
                <a:solidFill>
                  <a:srgbClr val="0F172A"/>
                </a:solidFill>
                <a:latin typeface="Noto Sans SC"/>
                <a:ea typeface="Noto Sans SC"/>
                <a:cs typeface="Noto Sans SC"/>
                <a:sym typeface="Noto Sans SC"/>
              </a:rPr>
              <a:t>目录</a:t>
            </a:r>
            <a:endParaRPr lang="en-US" sz="1100"/>
          </a:p>
        </p:txBody>
      </p:sp>
      <p:sp>
        <p:nvSpPr>
          <p:cNvPr id="3" name="AutoShape 3"/>
          <p:cNvSpPr/>
          <p:nvPr/>
        </p:nvSpPr>
        <p:spPr>
          <a:xfrm>
            <a:off x="508000" y="1143000"/>
            <a:ext cx="7620000" cy="3556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600" b="0" i="0" u="none" strike="noStrike" spc="600">
                <a:solidFill>
                  <a:srgbClr val="94A3B8"/>
                </a:solidFill>
                <a:latin typeface="Poppins"/>
                <a:ea typeface="Poppins"/>
                <a:cs typeface="Poppins"/>
                <a:sym typeface="Poppins"/>
              </a:rPr>
              <a:t>CONTENTS</a:t>
            </a:r>
            <a:endParaRPr lang="en-US" sz="1100"/>
          </a:p>
        </p:txBody>
      </p:sp>
      <p:sp>
        <p:nvSpPr>
          <p:cNvPr id="4" name="AutoShape 4"/>
          <p:cNvSpPr/>
          <p:nvPr/>
        </p:nvSpPr>
        <p:spPr>
          <a:xfrm>
            <a:off x="508000" y="1778000"/>
            <a:ext cx="3683000" cy="41910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508000" y="1778000"/>
            <a:ext cx="50800" cy="4191000"/>
          </a:xfrm>
          <a:prstGeom prst="roundRect">
            <a:avLst>
              <a:gd name="adj" fmla="val 0"/>
            </a:avLst>
          </a:prstGeom>
          <a:solidFill>
            <a:srgbClr val="3B82F6">
              <a:alpha val="100000"/>
            </a:srgbClr>
          </a:solidFill>
          <a:ln cap="flat" cmpd="sng">
            <a:solidFill>
              <a:srgbClr val="1F67DD">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1905000"/>
            <a:ext cx="3238500" cy="1143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6400" b="1" i="0" u="none" strike="noStrike">
                <a:solidFill>
                  <a:srgbClr val="0F172A"/>
                </a:solidFill>
                <a:latin typeface="Poppins"/>
                <a:ea typeface="Poppins"/>
                <a:cs typeface="Poppins"/>
                <a:sym typeface="Poppins"/>
              </a:rPr>
              <a:t>01</a:t>
            </a:r>
            <a:endParaRPr lang="en-US" sz="1100"/>
          </a:p>
        </p:txBody>
      </p:sp>
      <p:sp>
        <p:nvSpPr>
          <p:cNvPr id="7" name="AutoShape 7"/>
          <p:cNvSpPr/>
          <p:nvPr/>
        </p:nvSpPr>
        <p:spPr>
          <a:xfrm>
            <a:off x="762000" y="3149600"/>
            <a:ext cx="3238500" cy="457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2200" b="1" i="0" u="none" strike="noStrike">
                <a:solidFill>
                  <a:srgbClr val="0F172A"/>
                </a:solidFill>
                <a:latin typeface="Noto Sans SC"/>
                <a:ea typeface="Noto Sans SC"/>
                <a:cs typeface="Noto Sans SC"/>
                <a:sym typeface="Noto Sans SC"/>
              </a:rPr>
              <a:t>架构设计</a:t>
            </a:r>
            <a:endParaRPr lang="en-US" sz="1100"/>
          </a:p>
        </p:txBody>
      </p:sp>
      <p:sp>
        <p:nvSpPr>
          <p:cNvPr id="8" name="AutoShape 8"/>
          <p:cNvSpPr/>
          <p:nvPr/>
        </p:nvSpPr>
        <p:spPr>
          <a:xfrm>
            <a:off x="762000" y="3683000"/>
            <a:ext cx="457200" cy="38100"/>
          </a:xfrm>
          <a:prstGeom prst="roundRect">
            <a:avLst>
              <a:gd name="adj" fmla="val 0"/>
            </a:avLst>
          </a:prstGeom>
          <a:solidFill>
            <a:srgbClr val="3B82F6">
              <a:alpha val="100000"/>
            </a:srgbClr>
          </a:solidFill>
          <a:ln cap="flat" cmpd="sng">
            <a:solidFill>
              <a:srgbClr val="1F67DD">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762000" y="3835400"/>
            <a:ext cx="3238500" cy="1333500"/>
          </a:xfrm>
          <a:prstGeom prst="rect">
            <a:avLst/>
          </a:prstGeom>
          <a:noFill/>
          <a:ln w="12700" cap="flat" cmpd="sng">
            <a:noFill/>
            <a:prstDash val="solid"/>
            <a:round/>
          </a:ln>
        </p:spPr>
        <p:txBody>
          <a:bodyPr vert="horz" wrap="square" lIns="0" tIns="0" rIns="0" bIns="0" rtlCol="0" anchor="t" anchorCtr="0"/>
          <a:lstStyle/>
          <a:p>
            <a:pPr marL="0" indent="0" algn="l">
              <a:lnSpc>
                <a:spcPct val="133000"/>
              </a:lnSpc>
              <a:defRPr/>
            </a:pPr>
            <a:r>
              <a:rPr lang="en-US" sz="1300" b="0" i="0" u="none" strike="noStrike">
                <a:solidFill>
                  <a:srgbClr val="475569"/>
                </a:solidFill>
                <a:latin typeface="Noto Sans SC"/>
                <a:ea typeface="Noto Sans SC"/>
                <a:cs typeface="Noto Sans SC"/>
                <a:sym typeface="Noto Sans SC"/>
              </a:rPr>
              <a:t>· 数据层级L0-L4定义与用户</a:t>
            </a:r>
            <a:endParaRPr lang="en-US" sz="1100"/>
          </a:p>
          <a:p>
            <a:pPr marL="0" indent="0" algn="l">
              <a:lnSpc>
                <a:spcPct val="133000"/>
              </a:lnSpc>
            </a:pPr>
            <a:r>
              <a:rPr lang="en-US" sz="1300" b="0" i="0" u="none" strike="noStrike">
                <a:solidFill>
                  <a:srgbClr val="475569"/>
                </a:solidFill>
                <a:latin typeface="Noto Sans SC"/>
                <a:ea typeface="Noto Sans SC"/>
                <a:cs typeface="Noto Sans SC"/>
                <a:sym typeface="Noto Sans SC"/>
              </a:rPr>
              <a:t>· 分类链路与长指标链路</a:t>
            </a:r>
            <a:endParaRPr lang="en-US" sz="1300" b="0" i="0" u="none" strike="noStrike">
              <a:solidFill>
                <a:srgbClr val="475569"/>
              </a:solidFill>
              <a:latin typeface="Noto Sans SC"/>
              <a:ea typeface="Noto Sans SC"/>
              <a:cs typeface="Noto Sans SC"/>
              <a:sym typeface="Noto Sans SC"/>
            </a:endParaRPr>
          </a:p>
          <a:p>
            <a:pPr marL="0" indent="0" algn="l">
              <a:lnSpc>
                <a:spcPct val="133000"/>
              </a:lnSpc>
            </a:pPr>
            <a:r>
              <a:rPr lang="en-US" sz="1300" b="0" i="0" u="none" strike="noStrike">
                <a:solidFill>
                  <a:srgbClr val="475569"/>
                </a:solidFill>
                <a:latin typeface="Noto Sans SC"/>
                <a:ea typeface="Noto Sans SC"/>
                <a:cs typeface="Noto Sans SC"/>
                <a:sym typeface="Noto Sans SC"/>
              </a:rPr>
              <a:t>· 业界交换文件格式</a:t>
            </a:r>
            <a:endParaRPr lang="en-US" sz="1300" b="0" i="0" u="none" strike="noStrike">
              <a:solidFill>
                <a:srgbClr val="475569"/>
              </a:solidFill>
              <a:latin typeface="Noto Sans SC"/>
              <a:ea typeface="Noto Sans SC"/>
              <a:cs typeface="Noto Sans SC"/>
              <a:sym typeface="Noto Sans SC"/>
            </a:endParaRPr>
          </a:p>
          <a:p>
            <a:pPr marL="0" indent="0" algn="l">
              <a:lnSpc>
                <a:spcPct val="133000"/>
              </a:lnSpc>
            </a:pPr>
            <a:r>
              <a:rPr lang="en-US" sz="1300" b="0" i="0" u="none" strike="noStrike">
                <a:solidFill>
                  <a:srgbClr val="475569"/>
                </a:solidFill>
                <a:latin typeface="Noto Sans SC"/>
                <a:ea typeface="Noto Sans SC"/>
                <a:cs typeface="Noto Sans SC"/>
                <a:sym typeface="Noto Sans SC"/>
              </a:rPr>
              <a:t>· 端到端业务处理路径</a:t>
            </a:r>
            <a:endParaRPr lang="en-US" sz="1300" b="0" i="0" u="none" strike="noStrike">
              <a:solidFill>
                <a:srgbClr val="475569"/>
              </a:solidFill>
              <a:latin typeface="Noto Sans SC"/>
              <a:ea typeface="Noto Sans SC"/>
              <a:cs typeface="Noto Sans SC"/>
              <a:sym typeface="Noto Sans SC"/>
            </a:endParaRPr>
          </a:p>
        </p:txBody>
      </p:sp>
      <p:sp>
        <p:nvSpPr>
          <p:cNvPr id="10" name="AutoShape 10"/>
          <p:cNvSpPr/>
          <p:nvPr/>
        </p:nvSpPr>
        <p:spPr>
          <a:xfrm>
            <a:off x="4445000" y="1778000"/>
            <a:ext cx="3683000" cy="41910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4445000" y="1778000"/>
            <a:ext cx="50800" cy="4191000"/>
          </a:xfrm>
          <a:prstGeom prst="roundRect">
            <a:avLst>
              <a:gd name="adj" fmla="val 0"/>
            </a:avLst>
          </a:prstGeom>
          <a:solidFill>
            <a:srgbClr val="3B82F6">
              <a:alpha val="100000"/>
            </a:srgbClr>
          </a:solidFill>
          <a:ln cap="flat" cmpd="sng">
            <a:solidFill>
              <a:srgbClr val="1F67DD">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4699000" y="1905000"/>
            <a:ext cx="3238500" cy="1143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6400" b="1" i="0" u="none" strike="noStrike">
                <a:solidFill>
                  <a:srgbClr val="0F172A"/>
                </a:solidFill>
                <a:latin typeface="Poppins"/>
                <a:ea typeface="Poppins"/>
                <a:cs typeface="Poppins"/>
                <a:sym typeface="Poppins"/>
              </a:rPr>
              <a:t>02</a:t>
            </a:r>
            <a:endParaRPr lang="en-US" sz="1100"/>
          </a:p>
        </p:txBody>
      </p:sp>
      <p:sp>
        <p:nvSpPr>
          <p:cNvPr id="13" name="AutoShape 13"/>
          <p:cNvSpPr/>
          <p:nvPr/>
        </p:nvSpPr>
        <p:spPr>
          <a:xfrm>
            <a:off x="4699000" y="3149600"/>
            <a:ext cx="3238500" cy="457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2200" b="1" i="0" u="none" strike="noStrike">
                <a:solidFill>
                  <a:srgbClr val="0F172A"/>
                </a:solidFill>
                <a:latin typeface="Noto Sans SC"/>
                <a:ea typeface="Noto Sans SC"/>
                <a:cs typeface="Noto Sans SC"/>
                <a:sym typeface="Noto Sans SC"/>
              </a:rPr>
              <a:t>算法清单</a:t>
            </a:r>
            <a:r>
              <a:rPr lang="en-US" sz="1800" b="1" i="0" u="none" strike="noStrike">
                <a:solidFill>
                  <a:srgbClr val="3B82F6"/>
                </a:solidFill>
                <a:latin typeface="Poppins"/>
                <a:ea typeface="Poppins"/>
                <a:cs typeface="Poppins"/>
                <a:sym typeface="Poppins"/>
              </a:rPr>
              <a:t>(45项)</a:t>
            </a:r>
            <a:endParaRPr lang="en-US" sz="1100"/>
          </a:p>
        </p:txBody>
      </p:sp>
      <p:sp>
        <p:nvSpPr>
          <p:cNvPr id="14" name="AutoShape 14"/>
          <p:cNvSpPr/>
          <p:nvPr/>
        </p:nvSpPr>
        <p:spPr>
          <a:xfrm>
            <a:off x="4699000" y="3683000"/>
            <a:ext cx="457200" cy="38100"/>
          </a:xfrm>
          <a:prstGeom prst="roundRect">
            <a:avLst>
              <a:gd name="adj" fmla="val 0"/>
            </a:avLst>
          </a:prstGeom>
          <a:solidFill>
            <a:srgbClr val="3B82F6">
              <a:alpha val="100000"/>
            </a:srgbClr>
          </a:solidFill>
          <a:ln cap="flat" cmpd="sng">
            <a:solidFill>
              <a:srgbClr val="1F67DD">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4699000" y="3835400"/>
            <a:ext cx="3238500" cy="1333500"/>
          </a:xfrm>
          <a:prstGeom prst="rect">
            <a:avLst/>
          </a:prstGeom>
          <a:noFill/>
          <a:ln w="12700" cap="flat" cmpd="sng">
            <a:noFill/>
            <a:prstDash val="solid"/>
            <a:round/>
          </a:ln>
        </p:spPr>
        <p:txBody>
          <a:bodyPr vert="horz" wrap="square" lIns="0" tIns="0" rIns="0" bIns="0" rtlCol="0" anchor="t" anchorCtr="0"/>
          <a:lstStyle/>
          <a:p>
            <a:pPr marL="0" indent="0" algn="l">
              <a:lnSpc>
                <a:spcPct val="133000"/>
              </a:lnSpc>
              <a:defRPr/>
            </a:pPr>
            <a:r>
              <a:rPr lang="en-US" sz="1300" b="0" i="0" u="none" strike="noStrike">
                <a:solidFill>
                  <a:srgbClr val="475569"/>
                </a:solidFill>
                <a:latin typeface="Noto Sans SC"/>
                <a:ea typeface="Noto Sans SC"/>
                <a:cs typeface="Noto Sans SC"/>
                <a:sym typeface="Noto Sans SC"/>
              </a:rPr>
              <a:t>· 按层级说明功能与方法要点</a:t>
            </a:r>
            <a:endParaRPr lang="en-US" sz="1100"/>
          </a:p>
          <a:p>
            <a:pPr marL="0" indent="0" algn="l">
              <a:lnSpc>
                <a:spcPct val="133000"/>
              </a:lnSpc>
            </a:pPr>
            <a:r>
              <a:rPr lang="en-US" sz="1300" b="0" i="0" u="none" strike="noStrike">
                <a:solidFill>
                  <a:srgbClr val="475569"/>
                </a:solidFill>
                <a:latin typeface="Noto Sans SC"/>
                <a:ea typeface="Noto Sans SC"/>
                <a:cs typeface="Noto Sans SC"/>
                <a:sym typeface="Noto Sans SC"/>
              </a:rPr>
              <a:t>· 明确输入输出与产品形态</a:t>
            </a:r>
            <a:endParaRPr lang="en-US" sz="1300" b="0" i="0" u="none" strike="noStrike">
              <a:solidFill>
                <a:srgbClr val="475569"/>
              </a:solidFill>
              <a:latin typeface="Noto Sans SC"/>
              <a:ea typeface="Noto Sans SC"/>
              <a:cs typeface="Noto Sans SC"/>
              <a:sym typeface="Noto Sans SC"/>
            </a:endParaRPr>
          </a:p>
          <a:p>
            <a:pPr marL="0" indent="0" algn="l">
              <a:lnSpc>
                <a:spcPct val="133000"/>
              </a:lnSpc>
            </a:pPr>
            <a:r>
              <a:rPr lang="en-US" sz="1300" b="0" i="0" u="none" strike="noStrike">
                <a:solidFill>
                  <a:srgbClr val="475569"/>
                </a:solidFill>
                <a:latin typeface="Noto Sans SC"/>
                <a:ea typeface="Noto Sans SC"/>
                <a:cs typeface="Noto Sans SC"/>
                <a:sym typeface="Noto Sans SC"/>
              </a:rPr>
              <a:t>· 业务价值、缺失影响与流程位置</a:t>
            </a:r>
            <a:endParaRPr lang="en-US" sz="1300" b="0" i="0" u="none" strike="noStrike">
              <a:solidFill>
                <a:srgbClr val="475569"/>
              </a:solidFill>
              <a:latin typeface="Noto Sans SC"/>
              <a:ea typeface="Noto Sans SC"/>
              <a:cs typeface="Noto Sans SC"/>
              <a:sym typeface="Noto Sans SC"/>
            </a:endParaRPr>
          </a:p>
          <a:p>
            <a:pPr marL="0" indent="0" algn="l">
              <a:lnSpc>
                <a:spcPct val="133000"/>
              </a:lnSpc>
            </a:pPr>
            <a:r>
              <a:rPr lang="en-US" sz="1300" b="0" i="0" u="none" strike="noStrike">
                <a:solidFill>
                  <a:srgbClr val="475569"/>
                </a:solidFill>
                <a:latin typeface="Noto Sans SC"/>
                <a:ea typeface="Noto Sans SC"/>
                <a:cs typeface="Noto Sans SC"/>
                <a:sym typeface="Noto Sans SC"/>
              </a:rPr>
              <a:t>· 关联算法与实施提示</a:t>
            </a:r>
            <a:endParaRPr lang="en-US" sz="1300" b="0" i="0" u="none" strike="noStrike">
              <a:solidFill>
                <a:srgbClr val="475569"/>
              </a:solidFill>
              <a:latin typeface="Noto Sans SC"/>
              <a:ea typeface="Noto Sans SC"/>
              <a:cs typeface="Noto Sans SC"/>
              <a:sym typeface="Noto Sans SC"/>
            </a:endParaRPr>
          </a:p>
        </p:txBody>
      </p:sp>
      <p:sp>
        <p:nvSpPr>
          <p:cNvPr id="16" name="AutoShape 16"/>
          <p:cNvSpPr/>
          <p:nvPr/>
        </p:nvSpPr>
        <p:spPr>
          <a:xfrm>
            <a:off x="8318500" y="1778000"/>
            <a:ext cx="3683000" cy="41910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8318500" y="1778000"/>
            <a:ext cx="50800" cy="4191000"/>
          </a:xfrm>
          <a:prstGeom prst="roundRect">
            <a:avLst>
              <a:gd name="adj" fmla="val 0"/>
            </a:avLst>
          </a:prstGeom>
          <a:solidFill>
            <a:srgbClr val="3B82F6">
              <a:alpha val="100000"/>
            </a:srgbClr>
          </a:solidFill>
          <a:ln cap="flat" cmpd="sng">
            <a:solidFill>
              <a:srgbClr val="1F67DD">
                <a:alpha val="10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8572500" y="1905000"/>
            <a:ext cx="3238500" cy="1143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6400" b="1" i="0" u="none" strike="noStrike">
                <a:solidFill>
                  <a:srgbClr val="0F172A"/>
                </a:solidFill>
                <a:latin typeface="Poppins"/>
                <a:ea typeface="Poppins"/>
                <a:cs typeface="Poppins"/>
                <a:sym typeface="Poppins"/>
              </a:rPr>
              <a:t>03</a:t>
            </a:r>
            <a:endParaRPr lang="en-US" sz="1100"/>
          </a:p>
        </p:txBody>
      </p:sp>
      <p:sp>
        <p:nvSpPr>
          <p:cNvPr id="19" name="AutoShape 19"/>
          <p:cNvSpPr/>
          <p:nvPr/>
        </p:nvSpPr>
        <p:spPr>
          <a:xfrm>
            <a:off x="8572500" y="3149600"/>
            <a:ext cx="3238500" cy="457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2200" b="1" i="0" u="none" strike="noStrike">
                <a:solidFill>
                  <a:srgbClr val="0F172A"/>
                </a:solidFill>
                <a:latin typeface="Noto Sans SC"/>
                <a:ea typeface="Noto Sans SC"/>
                <a:cs typeface="Noto Sans SC"/>
                <a:sym typeface="Noto Sans SC"/>
              </a:rPr>
              <a:t>服务能力与对接</a:t>
            </a:r>
            <a:endParaRPr lang="en-US" sz="1100"/>
          </a:p>
        </p:txBody>
      </p:sp>
      <p:sp>
        <p:nvSpPr>
          <p:cNvPr id="20" name="AutoShape 20"/>
          <p:cNvSpPr/>
          <p:nvPr/>
        </p:nvSpPr>
        <p:spPr>
          <a:xfrm>
            <a:off x="8572500" y="3683000"/>
            <a:ext cx="457200" cy="38100"/>
          </a:xfrm>
          <a:prstGeom prst="roundRect">
            <a:avLst>
              <a:gd name="adj" fmla="val 0"/>
            </a:avLst>
          </a:prstGeom>
          <a:solidFill>
            <a:srgbClr val="3B82F6">
              <a:alpha val="100000"/>
            </a:srgbClr>
          </a:solidFill>
          <a:ln cap="flat" cmpd="sng">
            <a:solidFill>
              <a:srgbClr val="1F67DD">
                <a:alpha val="10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8572500" y="3835400"/>
            <a:ext cx="3238500" cy="1333500"/>
          </a:xfrm>
          <a:prstGeom prst="rect">
            <a:avLst/>
          </a:prstGeom>
          <a:noFill/>
          <a:ln w="12700" cap="flat" cmpd="sng">
            <a:noFill/>
            <a:prstDash val="solid"/>
            <a:round/>
          </a:ln>
        </p:spPr>
        <p:txBody>
          <a:bodyPr vert="horz" wrap="square" lIns="0" tIns="0" rIns="0" bIns="0" rtlCol="0" anchor="t" anchorCtr="0"/>
          <a:lstStyle/>
          <a:p>
            <a:pPr marL="0" indent="0" algn="l">
              <a:lnSpc>
                <a:spcPct val="133000"/>
              </a:lnSpc>
              <a:defRPr/>
            </a:pPr>
            <a:r>
              <a:rPr lang="en-US" sz="1300" b="0" i="0" u="none" strike="noStrike">
                <a:solidFill>
                  <a:srgbClr val="475569"/>
                </a:solidFill>
                <a:latin typeface="Noto Sans SC"/>
                <a:ea typeface="Noto Sans SC"/>
                <a:cs typeface="Noto Sans SC"/>
                <a:sym typeface="Noto Sans SC"/>
              </a:rPr>
              <a:t>· 统一HTTP服务定位</a:t>
            </a:r>
            <a:endParaRPr lang="en-US" sz="1100"/>
          </a:p>
          <a:p>
            <a:pPr marL="0" indent="0" algn="l">
              <a:lnSpc>
                <a:spcPct val="133000"/>
              </a:lnSpc>
            </a:pPr>
            <a:r>
              <a:rPr lang="en-US" sz="1300" b="0" i="0" u="none" strike="noStrike">
                <a:solidFill>
                  <a:srgbClr val="475569"/>
                </a:solidFill>
                <a:latin typeface="Noto Sans SC"/>
                <a:ea typeface="Noto Sans SC"/>
                <a:cs typeface="Noto Sans SC"/>
                <a:sym typeface="Noto Sans SC"/>
              </a:rPr>
              <a:t>· 已实现能力与接口契约</a:t>
            </a:r>
            <a:endParaRPr lang="en-US" sz="1300" b="0" i="0" u="none" strike="noStrike">
              <a:solidFill>
                <a:srgbClr val="475569"/>
              </a:solidFill>
              <a:latin typeface="Noto Sans SC"/>
              <a:ea typeface="Noto Sans SC"/>
              <a:cs typeface="Noto Sans SC"/>
              <a:sym typeface="Noto Sans SC"/>
            </a:endParaRPr>
          </a:p>
          <a:p>
            <a:pPr marL="0" indent="0" algn="l">
              <a:lnSpc>
                <a:spcPct val="133000"/>
              </a:lnSpc>
            </a:pPr>
            <a:r>
              <a:rPr lang="en-US" sz="1300" b="0" i="0" u="none" strike="noStrike">
                <a:solidFill>
                  <a:srgbClr val="475569"/>
                </a:solidFill>
                <a:latin typeface="Noto Sans SC"/>
                <a:ea typeface="Noto Sans SC"/>
                <a:cs typeface="Noto Sans SC"/>
                <a:sym typeface="Noto Sans SC"/>
              </a:rPr>
              <a:t>· 联调步骤与调用示例</a:t>
            </a:r>
            <a:endParaRPr lang="en-US" sz="1300" b="0" i="0" u="none" strike="noStrike">
              <a:solidFill>
                <a:srgbClr val="475569"/>
              </a:solidFill>
              <a:latin typeface="Noto Sans SC"/>
              <a:ea typeface="Noto Sans SC"/>
              <a:cs typeface="Noto Sans SC"/>
              <a:sym typeface="Noto Sans SC"/>
            </a:endParaRPr>
          </a:p>
          <a:p>
            <a:pPr marL="0" indent="0" algn="l">
              <a:lnSpc>
                <a:spcPct val="133000"/>
              </a:lnSpc>
            </a:pPr>
            <a:r>
              <a:rPr lang="en-US" sz="1300" b="0" i="0" u="none" strike="noStrike">
                <a:solidFill>
                  <a:srgbClr val="475569"/>
                </a:solidFill>
                <a:latin typeface="Noto Sans SC"/>
                <a:ea typeface="Noto Sans SC"/>
                <a:cs typeface="Noto Sans SC"/>
                <a:sym typeface="Noto Sans SC"/>
              </a:rPr>
              <a:t>· 能力边界与后续建设</a:t>
            </a:r>
            <a:endParaRPr lang="en-US" sz="1300" b="0" i="0" u="none" strike="noStrike">
              <a:solidFill>
                <a:srgbClr val="475569"/>
              </a:solidFill>
              <a:latin typeface="Noto Sans SC"/>
              <a:ea typeface="Noto Sans SC"/>
              <a:cs typeface="Noto Sans SC"/>
              <a:sym typeface="Noto Sans S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55600"/>
            <a:ext cx="11176000" cy="5588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2800" b="1" i="0" u="none" strike="noStrike" spc="100">
                <a:solidFill>
                  <a:srgbClr val="1E3A8A"/>
                </a:solidFill>
                <a:latin typeface="Noto Sans SC"/>
                <a:ea typeface="Noto Sans SC"/>
                <a:cs typeface="Noto Sans SC"/>
                <a:sym typeface="Noto Sans SC"/>
              </a:rPr>
              <a:t>第一部分 架构设计</a:t>
            </a:r>
            <a:endParaRPr lang="en-US" sz="1100"/>
          </a:p>
        </p:txBody>
      </p:sp>
      <p:sp>
        <p:nvSpPr>
          <p:cNvPr id="3" name="AutoShape 3"/>
          <p:cNvSpPr/>
          <p:nvPr/>
        </p:nvSpPr>
        <p:spPr>
          <a:xfrm>
            <a:off x="508000" y="939800"/>
            <a:ext cx="11176000" cy="3556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800" b="0" i="0" u="none" strike="noStrike">
                <a:solidFill>
                  <a:srgbClr val="475569"/>
                </a:solidFill>
                <a:latin typeface="Noto Sans SC"/>
                <a:ea typeface="Noto Sans SC"/>
                <a:cs typeface="Noto Sans SC"/>
                <a:sym typeface="Noto Sans SC"/>
              </a:rPr>
              <a:t>先建立数据产品分层,再理解算法落点</a:t>
            </a:r>
            <a:endParaRPr lang="en-US" sz="1100"/>
          </a:p>
        </p:txBody>
      </p:sp>
      <p:sp>
        <p:nvSpPr>
          <p:cNvPr id="4" name="AutoShape 4"/>
          <p:cNvSpPr/>
          <p:nvPr/>
        </p:nvSpPr>
        <p:spPr>
          <a:xfrm>
            <a:off x="508000" y="1422400"/>
            <a:ext cx="11176000" cy="7112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508000" y="1422400"/>
            <a:ext cx="38100" cy="7112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1422400"/>
            <a:ext cx="1079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E3A8A"/>
                </a:solidFill>
                <a:latin typeface="Noto Sans SC"/>
                <a:ea typeface="Noto Sans SC"/>
                <a:cs typeface="Noto Sans SC"/>
                <a:sym typeface="Noto Sans SC"/>
              </a:rPr>
              <a:t>核心结论 ·</a:t>
            </a:r>
            <a:r>
              <a:rPr lang="en-US" sz="1600" b="0" i="0" u="none" strike="noStrike">
                <a:solidFill>
                  <a:srgbClr val="334155"/>
                </a:solidFill>
                <a:latin typeface="Noto Sans SC"/>
                <a:ea typeface="Noto Sans SC"/>
                <a:cs typeface="Noto Sans SC"/>
                <a:sym typeface="Noto Sans SC"/>
              </a:rPr>
              <a:t>高光谱业务不是"一组光谱直接得到一个指标",而是拆分为多层数据产品,层层增值。</a:t>
            </a:r>
            <a:endParaRPr lang="en-US" sz="1100"/>
          </a:p>
        </p:txBody>
      </p:sp>
      <p:sp>
        <p:nvSpPr>
          <p:cNvPr id="7" name="AutoShape 7"/>
          <p:cNvSpPr/>
          <p:nvPr/>
        </p:nvSpPr>
        <p:spPr>
          <a:xfrm>
            <a:off x="762000" y="1778000"/>
            <a:ext cx="1079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64748B"/>
                </a:solidFill>
                <a:latin typeface="Noto Sans SC"/>
                <a:ea typeface="Noto Sans SC"/>
                <a:cs typeface="Noto Sans SC"/>
                <a:sym typeface="Noto Sans SC"/>
              </a:rPr>
              <a:t>本仓库分类小模型主要落在L2→L3;业务系统最终消费的多为L4产品。</a:t>
            </a:r>
            <a:endParaRPr lang="en-US" sz="1100"/>
          </a:p>
        </p:txBody>
      </p:sp>
      <p:sp>
        <p:nvSpPr>
          <p:cNvPr id="8" name="AutoShape 8"/>
          <p:cNvSpPr/>
          <p:nvPr/>
        </p:nvSpPr>
        <p:spPr>
          <a:xfrm>
            <a:off x="508000" y="2286000"/>
            <a:ext cx="11176000" cy="7620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508000" y="2286000"/>
            <a:ext cx="50800" cy="762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698500" y="2286000"/>
            <a:ext cx="127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4400" b="1" i="0" u="none" strike="noStrike" spc="200">
                <a:latin typeface="Poppins"/>
                <a:ea typeface="Poppins"/>
                <a:cs typeface="Poppins"/>
                <a:sym typeface="Poppins"/>
              </a:rPr>
              <a:t>L0</a:t>
            </a:r>
            <a:endParaRPr lang="en-US" sz="1100"/>
          </a:p>
        </p:txBody>
      </p:sp>
      <p:sp>
        <p:nvSpPr>
          <p:cNvPr id="11" name="AutoShape 11"/>
          <p:cNvSpPr/>
          <p:nvPr/>
        </p:nvSpPr>
        <p:spPr>
          <a:xfrm>
            <a:off x="2159000" y="2286000"/>
            <a:ext cx="5588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1E293B"/>
                </a:solidFill>
                <a:latin typeface="Noto Sans SC"/>
                <a:ea typeface="Noto Sans SC"/>
                <a:cs typeface="Noto Sans SC"/>
                <a:sym typeface="Noto Sans SC"/>
              </a:rPr>
              <a:t>原始DN计数+POS元数据</a:t>
            </a:r>
            <a:endParaRPr lang="en-US" sz="1100"/>
          </a:p>
        </p:txBody>
      </p:sp>
      <p:sp>
        <p:nvSpPr>
          <p:cNvPr id="12" name="AutoShape 12"/>
          <p:cNvSpPr/>
          <p:nvPr/>
        </p:nvSpPr>
        <p:spPr>
          <a:xfrm>
            <a:off x="2159000" y="2667000"/>
            <a:ext cx="5588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0" i="0" u="none" strike="noStrike">
                <a:solidFill>
                  <a:srgbClr val="475569"/>
                </a:solidFill>
                <a:latin typeface="Noto Sans SC"/>
                <a:ea typeface="Noto Sans SC"/>
                <a:cs typeface="Noto Sans SC"/>
                <a:sym typeface="Noto Sans SC"/>
              </a:rPr>
              <a:t>保住可追溯的原始观测,是所有数据产品的源头。</a:t>
            </a:r>
            <a:endParaRPr lang="en-US" sz="1100"/>
          </a:p>
        </p:txBody>
      </p:sp>
      <p:sp>
        <p:nvSpPr>
          <p:cNvPr id="13" name="AutoShape 13"/>
          <p:cNvSpPr/>
          <p:nvPr/>
        </p:nvSpPr>
        <p:spPr>
          <a:xfrm>
            <a:off x="8001000" y="2286000"/>
            <a:ext cx="3492500" cy="762000"/>
          </a:xfrm>
          <a:prstGeom prst="roundRect">
            <a:avLst>
              <a:gd name="adj" fmla="val 0"/>
            </a:avLst>
          </a:prstGeom>
          <a:solidFill>
            <a:srgbClr val="3B82F6">
              <a:alpha val="8000"/>
            </a:srgbClr>
          </a:solidFill>
          <a:ln cap="flat" cmpd="sng">
            <a:solidFill>
              <a:srgbClr val="1F67DD">
                <a:alpha val="8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8128000" y="2286000"/>
            <a:ext cx="330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1E3A8A"/>
                </a:solidFill>
                <a:latin typeface="Noto Sans SC"/>
                <a:ea typeface="Noto Sans SC"/>
                <a:cs typeface="Noto Sans SC"/>
                <a:sym typeface="Noto Sans SC"/>
              </a:rPr>
              <a:t>价值 ·</a:t>
            </a:r>
            <a:r>
              <a:rPr lang="en-US" sz="1300" b="0" i="0" u="none" strike="noStrike">
                <a:solidFill>
                  <a:srgbClr val="334155"/>
                </a:solidFill>
                <a:latin typeface="Noto Sans SC"/>
                <a:ea typeface="Noto Sans SC"/>
                <a:cs typeface="Noto Sans SC"/>
                <a:sym typeface="Noto Sans SC"/>
              </a:rPr>
              <a:t>可追溯的原始观测</a:t>
            </a:r>
            <a:endParaRPr lang="en-US" sz="1100"/>
          </a:p>
        </p:txBody>
      </p:sp>
      <p:sp>
        <p:nvSpPr>
          <p:cNvPr id="15" name="AutoShape 15"/>
          <p:cNvSpPr/>
          <p:nvPr/>
        </p:nvSpPr>
        <p:spPr>
          <a:xfrm>
            <a:off x="508000" y="3086100"/>
            <a:ext cx="11176000" cy="7620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508000" y="3086100"/>
            <a:ext cx="50800" cy="762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698500" y="3086100"/>
            <a:ext cx="127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4400" b="1" i="0" u="none" strike="noStrike" spc="200">
                <a:latin typeface="Poppins"/>
                <a:ea typeface="Poppins"/>
                <a:cs typeface="Poppins"/>
                <a:sym typeface="Poppins"/>
              </a:rPr>
              <a:t>L1</a:t>
            </a:r>
            <a:endParaRPr lang="en-US" sz="1100"/>
          </a:p>
        </p:txBody>
      </p:sp>
      <p:sp>
        <p:nvSpPr>
          <p:cNvPr id="18" name="AutoShape 18"/>
          <p:cNvSpPr/>
          <p:nvPr/>
        </p:nvSpPr>
        <p:spPr>
          <a:xfrm>
            <a:off x="2159000" y="3086100"/>
            <a:ext cx="5588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1E293B"/>
                </a:solidFill>
                <a:latin typeface="Noto Sans SC"/>
                <a:ea typeface="Noto Sans SC"/>
                <a:cs typeface="Noto Sans SC"/>
                <a:sym typeface="Noto Sans SC"/>
              </a:rPr>
              <a:t>辐亮度(具备物理单位)</a:t>
            </a:r>
            <a:endParaRPr lang="en-US" sz="1100"/>
          </a:p>
        </p:txBody>
      </p:sp>
      <p:sp>
        <p:nvSpPr>
          <p:cNvPr id="19" name="AutoShape 19"/>
          <p:cNvSpPr/>
          <p:nvPr/>
        </p:nvSpPr>
        <p:spPr>
          <a:xfrm>
            <a:off x="2159000" y="3467100"/>
            <a:ext cx="5588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0" i="0" u="none" strike="noStrike">
                <a:solidFill>
                  <a:srgbClr val="475569"/>
                </a:solidFill>
                <a:latin typeface="Noto Sans SC"/>
                <a:ea typeface="Noto Sans SC"/>
                <a:cs typeface="Noto Sans SC"/>
                <a:sym typeface="Noto Sans SC"/>
              </a:rPr>
              <a:t>从DN值进入可定量的物理量空间,可用于辐射定标。</a:t>
            </a:r>
            <a:endParaRPr lang="en-US" sz="1100"/>
          </a:p>
        </p:txBody>
      </p:sp>
      <p:sp>
        <p:nvSpPr>
          <p:cNvPr id="20" name="AutoShape 20"/>
          <p:cNvSpPr/>
          <p:nvPr/>
        </p:nvSpPr>
        <p:spPr>
          <a:xfrm>
            <a:off x="8001000" y="3086100"/>
            <a:ext cx="3492500" cy="762000"/>
          </a:xfrm>
          <a:prstGeom prst="roundRect">
            <a:avLst>
              <a:gd name="adj" fmla="val 0"/>
            </a:avLst>
          </a:prstGeom>
          <a:solidFill>
            <a:srgbClr val="3B82F6">
              <a:alpha val="8000"/>
            </a:srgbClr>
          </a:solidFill>
          <a:ln cap="flat" cmpd="sng">
            <a:solidFill>
              <a:srgbClr val="1F67DD">
                <a:alpha val="8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8128000" y="3086100"/>
            <a:ext cx="330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1E3A8A"/>
                </a:solidFill>
                <a:latin typeface="Noto Sans SC"/>
                <a:ea typeface="Noto Sans SC"/>
                <a:cs typeface="Noto Sans SC"/>
                <a:sym typeface="Noto Sans SC"/>
              </a:rPr>
              <a:t>价值 ·</a:t>
            </a:r>
            <a:r>
              <a:rPr lang="en-US" sz="1300" b="0" i="0" u="none" strike="noStrike">
                <a:solidFill>
                  <a:srgbClr val="334155"/>
                </a:solidFill>
                <a:latin typeface="Noto Sans SC"/>
                <a:ea typeface="Noto Sans SC"/>
                <a:cs typeface="Noto Sans SC"/>
                <a:sym typeface="Noto Sans SC"/>
              </a:rPr>
              <a:t>进入可定量的物理量空间</a:t>
            </a:r>
            <a:endParaRPr lang="en-US" sz="1100"/>
          </a:p>
        </p:txBody>
      </p:sp>
      <p:sp>
        <p:nvSpPr>
          <p:cNvPr id="22" name="AutoShape 22"/>
          <p:cNvSpPr/>
          <p:nvPr/>
        </p:nvSpPr>
        <p:spPr>
          <a:xfrm>
            <a:off x="508000" y="3886200"/>
            <a:ext cx="11176000" cy="7620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508000" y="3886200"/>
            <a:ext cx="50800" cy="762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698500" y="3886200"/>
            <a:ext cx="127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4400" b="1" i="0" u="none" strike="noStrike" spc="200">
                <a:latin typeface="Poppins"/>
                <a:ea typeface="Poppins"/>
                <a:cs typeface="Poppins"/>
                <a:sym typeface="Poppins"/>
              </a:rPr>
              <a:t>L2</a:t>
            </a:r>
            <a:endParaRPr lang="en-US" sz="1100"/>
          </a:p>
        </p:txBody>
      </p:sp>
      <p:sp>
        <p:nvSpPr>
          <p:cNvPr id="25" name="AutoShape 25"/>
          <p:cNvSpPr/>
          <p:nvPr/>
        </p:nvSpPr>
        <p:spPr>
          <a:xfrm>
            <a:off x="2159000" y="3886200"/>
            <a:ext cx="5588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1E293B"/>
                </a:solidFill>
                <a:latin typeface="Noto Sans SC"/>
                <a:ea typeface="Noto Sans SC"/>
                <a:cs typeface="Noto Sans SC"/>
                <a:sym typeface="Noto Sans SC"/>
              </a:rPr>
              <a:t>反射率正射立方体(可上地图)</a:t>
            </a:r>
            <a:endParaRPr lang="en-US" sz="1100"/>
          </a:p>
        </p:txBody>
      </p:sp>
      <p:sp>
        <p:nvSpPr>
          <p:cNvPr id="26" name="AutoShape 26"/>
          <p:cNvSpPr/>
          <p:nvPr/>
        </p:nvSpPr>
        <p:spPr>
          <a:xfrm>
            <a:off x="2159000" y="4267200"/>
            <a:ext cx="5588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0" i="0" u="none" strike="noStrike">
                <a:solidFill>
                  <a:srgbClr val="475569"/>
                </a:solidFill>
                <a:latin typeface="Noto Sans SC"/>
                <a:ea typeface="Noto Sans SC"/>
                <a:cs typeface="Noto Sans SC"/>
                <a:sym typeface="Noto Sans SC"/>
              </a:rPr>
              <a:t>几何校正与大气校正后,形成算法可消费的标准底图。</a:t>
            </a:r>
            <a:endParaRPr lang="en-US" sz="1100"/>
          </a:p>
        </p:txBody>
      </p:sp>
      <p:sp>
        <p:nvSpPr>
          <p:cNvPr id="27" name="AutoShape 27"/>
          <p:cNvSpPr/>
          <p:nvPr/>
        </p:nvSpPr>
        <p:spPr>
          <a:xfrm>
            <a:off x="8001000" y="3886200"/>
            <a:ext cx="3492500" cy="762000"/>
          </a:xfrm>
          <a:prstGeom prst="roundRect">
            <a:avLst>
              <a:gd name="adj" fmla="val 0"/>
            </a:avLst>
          </a:prstGeom>
          <a:solidFill>
            <a:srgbClr val="3B82F6">
              <a:alpha val="8000"/>
            </a:srgbClr>
          </a:solidFill>
          <a:ln cap="flat" cmpd="sng">
            <a:solidFill>
              <a:srgbClr val="1F67DD">
                <a:alpha val="8000"/>
              </a:srgbClr>
            </a:solidFill>
            <a:prstDash val="solid"/>
            <a:round/>
          </a:ln>
        </p:spPr>
        <p:txBody>
          <a:bodyPr vert="horz" wrap="square" lIns="63500" tIns="63500" rIns="63500" bIns="63500" rtlCol="0" anchor="ctr"/>
          <a:lstStyle/>
          <a:p>
            <a:pPr algn="ctr">
              <a:defRPr/>
            </a:pPr>
          </a:p>
        </p:txBody>
      </p:sp>
      <p:sp>
        <p:nvSpPr>
          <p:cNvPr id="28" name="AutoShape 28"/>
          <p:cNvSpPr/>
          <p:nvPr/>
        </p:nvSpPr>
        <p:spPr>
          <a:xfrm>
            <a:off x="8128000" y="3886200"/>
            <a:ext cx="330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1E3A8A"/>
                </a:solidFill>
                <a:latin typeface="Noto Sans SC"/>
                <a:ea typeface="Noto Sans SC"/>
                <a:cs typeface="Noto Sans SC"/>
                <a:sym typeface="Noto Sans SC"/>
              </a:rPr>
              <a:t>价值 ·</a:t>
            </a:r>
            <a:r>
              <a:rPr lang="en-US" sz="1300" b="0" i="0" u="none" strike="noStrike">
                <a:solidFill>
                  <a:srgbClr val="334155"/>
                </a:solidFill>
                <a:latin typeface="Noto Sans SC"/>
                <a:ea typeface="Noto Sans SC"/>
                <a:cs typeface="Noto Sans SC"/>
                <a:sym typeface="Noto Sans SC"/>
              </a:rPr>
              <a:t>形成算法可消费的标准底图</a:t>
            </a:r>
            <a:endParaRPr lang="en-US" sz="1100"/>
          </a:p>
        </p:txBody>
      </p:sp>
      <p:sp>
        <p:nvSpPr>
          <p:cNvPr id="29" name="AutoShape 29"/>
          <p:cNvSpPr/>
          <p:nvPr/>
        </p:nvSpPr>
        <p:spPr>
          <a:xfrm>
            <a:off x="508000" y="4686300"/>
            <a:ext cx="11176000" cy="7620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30" name="AutoShape 30"/>
          <p:cNvSpPr/>
          <p:nvPr/>
        </p:nvSpPr>
        <p:spPr>
          <a:xfrm>
            <a:off x="508000" y="4686300"/>
            <a:ext cx="50800" cy="762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31" name="AutoShape 31"/>
          <p:cNvSpPr/>
          <p:nvPr/>
        </p:nvSpPr>
        <p:spPr>
          <a:xfrm>
            <a:off x="698500" y="4686300"/>
            <a:ext cx="127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4400" b="1" i="0" u="none" strike="noStrike" spc="200">
                <a:latin typeface="Poppins"/>
                <a:ea typeface="Poppins"/>
                <a:cs typeface="Poppins"/>
                <a:sym typeface="Poppins"/>
              </a:rPr>
              <a:t>L3</a:t>
            </a:r>
            <a:endParaRPr lang="en-US" sz="1100"/>
          </a:p>
        </p:txBody>
      </p:sp>
      <p:sp>
        <p:nvSpPr>
          <p:cNvPr id="32" name="AutoShape 32"/>
          <p:cNvSpPr/>
          <p:nvPr/>
        </p:nvSpPr>
        <p:spPr>
          <a:xfrm>
            <a:off x="2159000" y="4686300"/>
            <a:ext cx="5588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1E293B"/>
                </a:solidFill>
                <a:latin typeface="Noto Sans SC"/>
                <a:ea typeface="Noto Sans SC"/>
                <a:cs typeface="Noto Sans SC"/>
                <a:sym typeface="Noto Sans SC"/>
              </a:rPr>
              <a:t>分类图/指数图/反演图</a:t>
            </a:r>
            <a:endParaRPr lang="en-US" sz="1100"/>
          </a:p>
        </p:txBody>
      </p:sp>
      <p:sp>
        <p:nvSpPr>
          <p:cNvPr id="33" name="AutoShape 33"/>
          <p:cNvSpPr/>
          <p:nvPr/>
        </p:nvSpPr>
        <p:spPr>
          <a:xfrm>
            <a:off x="2159000" y="5067300"/>
            <a:ext cx="5588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0" i="0" u="none" strike="noStrike">
                <a:solidFill>
                  <a:srgbClr val="475569"/>
                </a:solidFill>
                <a:latin typeface="Noto Sans SC"/>
                <a:ea typeface="Noto Sans SC"/>
                <a:cs typeface="Noto Sans SC"/>
                <a:sym typeface="Noto Sans SC"/>
              </a:rPr>
              <a:t>提取类别、长势、胁迫等关键信息,是业务价值的直接体现。</a:t>
            </a:r>
            <a:endParaRPr lang="en-US" sz="1100"/>
          </a:p>
        </p:txBody>
      </p:sp>
      <p:sp>
        <p:nvSpPr>
          <p:cNvPr id="34" name="AutoShape 34"/>
          <p:cNvSpPr/>
          <p:nvPr/>
        </p:nvSpPr>
        <p:spPr>
          <a:xfrm>
            <a:off x="8001000" y="4686300"/>
            <a:ext cx="3492500" cy="762000"/>
          </a:xfrm>
          <a:prstGeom prst="roundRect">
            <a:avLst>
              <a:gd name="adj" fmla="val 0"/>
            </a:avLst>
          </a:prstGeom>
          <a:solidFill>
            <a:srgbClr val="3B82F6">
              <a:alpha val="8000"/>
            </a:srgbClr>
          </a:solidFill>
          <a:ln cap="flat" cmpd="sng">
            <a:solidFill>
              <a:srgbClr val="1F67DD">
                <a:alpha val="8000"/>
              </a:srgbClr>
            </a:solidFill>
            <a:prstDash val="solid"/>
            <a:round/>
          </a:ln>
        </p:spPr>
        <p:txBody>
          <a:bodyPr vert="horz" wrap="square" lIns="63500" tIns="63500" rIns="63500" bIns="63500" rtlCol="0" anchor="ctr"/>
          <a:lstStyle/>
          <a:p>
            <a:pPr algn="ctr">
              <a:defRPr/>
            </a:pPr>
          </a:p>
        </p:txBody>
      </p:sp>
      <p:sp>
        <p:nvSpPr>
          <p:cNvPr id="35" name="AutoShape 35"/>
          <p:cNvSpPr/>
          <p:nvPr/>
        </p:nvSpPr>
        <p:spPr>
          <a:xfrm>
            <a:off x="8128000" y="4686300"/>
            <a:ext cx="330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1E3A8A"/>
                </a:solidFill>
                <a:latin typeface="Noto Sans SC"/>
                <a:ea typeface="Noto Sans SC"/>
                <a:cs typeface="Noto Sans SC"/>
                <a:sym typeface="Noto Sans SC"/>
              </a:rPr>
              <a:t>价值 ·</a:t>
            </a:r>
            <a:r>
              <a:rPr lang="en-US" sz="1300" b="0" i="0" u="none" strike="noStrike">
                <a:solidFill>
                  <a:srgbClr val="334155"/>
                </a:solidFill>
                <a:latin typeface="Noto Sans SC"/>
                <a:ea typeface="Noto Sans SC"/>
                <a:cs typeface="Noto Sans SC"/>
                <a:sym typeface="Noto Sans SC"/>
              </a:rPr>
              <a:t>提取类别、长势、胁迫等信息</a:t>
            </a:r>
            <a:endParaRPr lang="en-US" sz="1100"/>
          </a:p>
        </p:txBody>
      </p:sp>
      <p:sp>
        <p:nvSpPr>
          <p:cNvPr id="36" name="AutoShape 36"/>
          <p:cNvSpPr/>
          <p:nvPr/>
        </p:nvSpPr>
        <p:spPr>
          <a:xfrm>
            <a:off x="508000" y="5486400"/>
            <a:ext cx="11176000" cy="7620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37" name="AutoShape 37"/>
          <p:cNvSpPr/>
          <p:nvPr/>
        </p:nvSpPr>
        <p:spPr>
          <a:xfrm>
            <a:off x="508000" y="5486400"/>
            <a:ext cx="50800" cy="762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38" name="AutoShape 38"/>
          <p:cNvSpPr/>
          <p:nvPr/>
        </p:nvSpPr>
        <p:spPr>
          <a:xfrm>
            <a:off x="698500" y="5486400"/>
            <a:ext cx="127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4400" b="1" i="0" u="none" strike="noStrike" spc="200">
                <a:latin typeface="Poppins"/>
                <a:ea typeface="Poppins"/>
                <a:cs typeface="Poppins"/>
                <a:sym typeface="Poppins"/>
              </a:rPr>
              <a:t>L4</a:t>
            </a:r>
            <a:endParaRPr lang="en-US" sz="1100"/>
          </a:p>
        </p:txBody>
      </p:sp>
      <p:sp>
        <p:nvSpPr>
          <p:cNvPr id="39" name="AutoShape 39"/>
          <p:cNvSpPr/>
          <p:nvPr/>
        </p:nvSpPr>
        <p:spPr>
          <a:xfrm>
            <a:off x="2159000" y="5486400"/>
            <a:ext cx="5588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1E293B"/>
                </a:solidFill>
                <a:latin typeface="Noto Sans SC"/>
                <a:ea typeface="Noto Sans SC"/>
                <a:cs typeface="Noto Sans SC"/>
                <a:sym typeface="Noto Sans SC"/>
              </a:rPr>
              <a:t>面积、报表、告警、业务API</a:t>
            </a:r>
            <a:endParaRPr lang="en-US" sz="1100"/>
          </a:p>
        </p:txBody>
      </p:sp>
      <p:sp>
        <p:nvSpPr>
          <p:cNvPr id="40" name="AutoShape 40"/>
          <p:cNvSpPr/>
          <p:nvPr/>
        </p:nvSpPr>
        <p:spPr>
          <a:xfrm>
            <a:off x="2159000" y="5867400"/>
            <a:ext cx="5588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0" i="0" u="none" strike="noStrike">
                <a:solidFill>
                  <a:srgbClr val="475569"/>
                </a:solidFill>
                <a:latin typeface="Noto Sans SC"/>
                <a:ea typeface="Noto Sans SC"/>
                <a:cs typeface="Noto Sans SC"/>
                <a:sym typeface="Noto Sans SC"/>
              </a:rPr>
              <a:t>转化为可管理、可对接的结论,支撑业务决策。</a:t>
            </a:r>
            <a:endParaRPr lang="en-US" sz="1100"/>
          </a:p>
        </p:txBody>
      </p:sp>
      <p:sp>
        <p:nvSpPr>
          <p:cNvPr id="41" name="AutoShape 41"/>
          <p:cNvSpPr/>
          <p:nvPr/>
        </p:nvSpPr>
        <p:spPr>
          <a:xfrm>
            <a:off x="8001000" y="5486400"/>
            <a:ext cx="3492500" cy="762000"/>
          </a:xfrm>
          <a:prstGeom prst="roundRect">
            <a:avLst>
              <a:gd name="adj" fmla="val 0"/>
            </a:avLst>
          </a:prstGeom>
          <a:solidFill>
            <a:srgbClr val="3B82F6">
              <a:alpha val="8000"/>
            </a:srgbClr>
          </a:solidFill>
          <a:ln cap="flat" cmpd="sng">
            <a:solidFill>
              <a:srgbClr val="1F67DD">
                <a:alpha val="8000"/>
              </a:srgbClr>
            </a:solidFill>
            <a:prstDash val="solid"/>
            <a:round/>
          </a:ln>
        </p:spPr>
        <p:txBody>
          <a:bodyPr vert="horz" wrap="square" lIns="63500" tIns="63500" rIns="63500" bIns="63500" rtlCol="0" anchor="ctr"/>
          <a:lstStyle/>
          <a:p>
            <a:pPr algn="ctr">
              <a:defRPr/>
            </a:pPr>
          </a:p>
        </p:txBody>
      </p:sp>
      <p:sp>
        <p:nvSpPr>
          <p:cNvPr id="42" name="AutoShape 42"/>
          <p:cNvSpPr/>
          <p:nvPr/>
        </p:nvSpPr>
        <p:spPr>
          <a:xfrm>
            <a:off x="8128000" y="5486400"/>
            <a:ext cx="330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1E3A8A"/>
                </a:solidFill>
                <a:latin typeface="Noto Sans SC"/>
                <a:ea typeface="Noto Sans SC"/>
                <a:cs typeface="Noto Sans SC"/>
                <a:sym typeface="Noto Sans SC"/>
              </a:rPr>
              <a:t>价值 ·</a:t>
            </a:r>
            <a:r>
              <a:rPr lang="en-US" sz="1300" b="0" i="0" u="none" strike="noStrike">
                <a:solidFill>
                  <a:srgbClr val="334155"/>
                </a:solidFill>
                <a:latin typeface="Noto Sans SC"/>
                <a:ea typeface="Noto Sans SC"/>
                <a:cs typeface="Noto Sans SC"/>
                <a:sym typeface="Noto Sans SC"/>
              </a:rPr>
              <a:t>转化为可管理、可对接的结论</a:t>
            </a:r>
            <a:endParaRPr lang="en-US" sz="1100"/>
          </a:p>
        </p:txBody>
      </p:sp>
      <p:sp>
        <p:nvSpPr>
          <p:cNvPr id="43" name="AutoShape 43"/>
          <p:cNvSpPr/>
          <p:nvPr/>
        </p:nvSpPr>
        <p:spPr>
          <a:xfrm>
            <a:off x="508000" y="6350000"/>
            <a:ext cx="11176000" cy="431800"/>
          </a:xfrm>
          <a:prstGeom prst="roundRect">
            <a:avLst>
              <a:gd name="adj" fmla="val 0"/>
            </a:avLst>
          </a:prstGeom>
          <a:solidFill>
            <a:srgbClr val="F59E0B">
              <a:alpha val="10000"/>
            </a:srgbClr>
          </a:solidFill>
          <a:ln cap="flat" cmpd="sng">
            <a:solidFill>
              <a:srgbClr val="DC8A00">
                <a:alpha val="10000"/>
              </a:srgbClr>
            </a:solidFill>
            <a:prstDash val="solid"/>
            <a:round/>
          </a:ln>
        </p:spPr>
        <p:txBody>
          <a:bodyPr vert="horz" wrap="square" lIns="63500" tIns="63500" rIns="63500" bIns="63500" rtlCol="0" anchor="ctr"/>
          <a:lstStyle/>
          <a:p>
            <a:pPr algn="ctr">
              <a:defRPr/>
            </a:pPr>
          </a:p>
        </p:txBody>
      </p:sp>
      <p:sp>
        <p:nvSpPr>
          <p:cNvPr id="44" name="AutoShape 44"/>
          <p:cNvSpPr/>
          <p:nvPr/>
        </p:nvSpPr>
        <p:spPr>
          <a:xfrm>
            <a:off x="508000" y="6350000"/>
            <a:ext cx="38100" cy="431800"/>
          </a:xfrm>
          <a:prstGeom prst="roundRect">
            <a:avLst>
              <a:gd name="adj" fmla="val 0"/>
            </a:avLst>
          </a:prstGeom>
          <a:solidFill>
            <a:srgbClr val="F59E0B">
              <a:alpha val="100000"/>
            </a:srgbClr>
          </a:solidFill>
          <a:ln cap="flat" cmpd="sng">
            <a:solidFill>
              <a:srgbClr val="DC8A00">
                <a:alpha val="100000"/>
              </a:srgbClr>
            </a:solidFill>
            <a:prstDash val="solid"/>
            <a:round/>
          </a:ln>
        </p:spPr>
        <p:txBody>
          <a:bodyPr vert="horz" wrap="square" lIns="63500" tIns="63500" rIns="63500" bIns="63500" rtlCol="0" anchor="ctr"/>
          <a:lstStyle/>
          <a:p>
            <a:pPr algn="ctr">
              <a:defRPr/>
            </a:pPr>
          </a:p>
        </p:txBody>
      </p:sp>
      <p:sp>
        <p:nvSpPr>
          <p:cNvPr id="45" name="AutoShape 45"/>
          <p:cNvSpPr/>
          <p:nvPr/>
        </p:nvSpPr>
        <p:spPr>
          <a:xfrm>
            <a:off x="762000" y="6350000"/>
            <a:ext cx="10795000" cy="431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1" i="0" u="none" strike="noStrike">
                <a:solidFill>
                  <a:srgbClr val="F59E0B"/>
                </a:solidFill>
                <a:latin typeface="Noto Sans SC"/>
                <a:ea typeface="Noto Sans SC"/>
                <a:cs typeface="Noto Sans SC"/>
                <a:sym typeface="Noto Sans SC"/>
              </a:rPr>
              <a:t>培训重点 ·</a:t>
            </a:r>
            <a:r>
              <a:rPr lang="en-US" sz="1300" b="0" i="0" u="none" strike="noStrike">
                <a:solidFill>
                  <a:srgbClr val="475569"/>
                </a:solidFill>
                <a:latin typeface="Noto Sans SC"/>
                <a:ea typeface="Noto Sans SC"/>
                <a:cs typeface="Noto Sans SC"/>
                <a:sym typeface="Noto Sans SC"/>
              </a:rPr>
              <a:t>先记住分层,再记算法名称;两条并行分析链路(分类链/指标链)均建立在L2之上。</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985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3000" b="1" i="0" u="none" strike="noStrike" spc="100">
                <a:solidFill>
                  <a:srgbClr val="1E3A8A"/>
                </a:solidFill>
                <a:latin typeface="Noto Sans SC"/>
                <a:ea typeface="Noto Sans SC"/>
                <a:cs typeface="Noto Sans SC"/>
                <a:sym typeface="Noto Sans SC"/>
              </a:rPr>
              <a:t>数据层级 L0-L4</a:t>
            </a:r>
            <a:endParaRPr lang="en-US" sz="1100"/>
          </a:p>
        </p:txBody>
      </p:sp>
      <p:sp>
        <p:nvSpPr>
          <p:cNvPr id="3" name="AutoShape 3"/>
          <p:cNvSpPr/>
          <p:nvPr/>
        </p:nvSpPr>
        <p:spPr>
          <a:xfrm>
            <a:off x="508000" y="1041400"/>
            <a:ext cx="11176000" cy="3302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600" b="0" i="0" u="none" strike="noStrike" spc="100">
                <a:solidFill>
                  <a:srgbClr val="475569"/>
                </a:solidFill>
                <a:latin typeface="Noto Sans SC"/>
                <a:ea typeface="Noto Sans SC"/>
                <a:cs typeface="Noto Sans SC"/>
                <a:sym typeface="Noto Sans SC"/>
              </a:rPr>
              <a:t>从原始采集到业务决策,五层数据的形态、用户与价值演进</a:t>
            </a:r>
            <a:endParaRPr lang="en-US" sz="1100"/>
          </a:p>
        </p:txBody>
      </p:sp>
      <p:sp>
        <p:nvSpPr>
          <p:cNvPr id="4" name="AutoShape 4"/>
          <p:cNvSpPr/>
          <p:nvPr/>
        </p:nvSpPr>
        <p:spPr>
          <a:xfrm>
            <a:off x="508000" y="1524000"/>
            <a:ext cx="2235200" cy="42545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508000" y="1524000"/>
            <a:ext cx="50800" cy="4254500"/>
          </a:xfrm>
          <a:prstGeom prst="roundRect">
            <a:avLst>
              <a:gd name="adj" fmla="val 0"/>
            </a:avLst>
          </a:prstGeom>
          <a:solidFill>
            <a:srgbClr val="93C5FD">
              <a:alpha val="100000"/>
            </a:srgbClr>
          </a:solidFill>
          <a:ln cap="flat" cmpd="sng">
            <a:solidFill>
              <a:srgbClr val="6DA5E4">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508000" y="1524000"/>
            <a:ext cx="2235200" cy="7874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4200" b="1" i="0" u="none" strike="noStrike">
                <a:latin typeface="Noto Sans SC"/>
                <a:ea typeface="Noto Sans SC"/>
                <a:cs typeface="Noto Sans SC"/>
                <a:sym typeface="Noto Sans SC"/>
              </a:rPr>
              <a:t>L0</a:t>
            </a:r>
            <a:endParaRPr lang="en-US" sz="1100"/>
          </a:p>
        </p:txBody>
      </p:sp>
      <p:sp>
        <p:nvSpPr>
          <p:cNvPr id="7" name="AutoShape 7"/>
          <p:cNvSpPr/>
          <p:nvPr/>
        </p:nvSpPr>
        <p:spPr>
          <a:xfrm>
            <a:off x="508000" y="2336800"/>
            <a:ext cx="2235200" cy="3302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800" b="1" i="0" u="none" strike="noStrike">
                <a:solidFill>
                  <a:srgbClr val="1E293B"/>
                </a:solidFill>
                <a:latin typeface="Noto Sans SC"/>
                <a:ea typeface="Noto Sans SC"/>
                <a:cs typeface="Noto Sans SC"/>
                <a:sym typeface="Noto Sans SC"/>
              </a:rPr>
              <a:t>原始层</a:t>
            </a:r>
            <a:endParaRPr lang="en-US" sz="1100"/>
          </a:p>
        </p:txBody>
      </p:sp>
      <p:cxnSp>
        <p:nvCxnSpPr>
          <p:cNvPr id="8" name="Connector 8"/>
          <p:cNvCxnSpPr/>
          <p:nvPr/>
        </p:nvCxnSpPr>
        <p:spPr>
          <a:xfrm rot="-25277">
            <a:off x="762023" y="2787650"/>
            <a:ext cx="1727200" cy="12700"/>
          </a:xfrm>
          <a:prstGeom prst="straightConnector1">
            <a:avLst/>
          </a:prstGeom>
          <a:solidFill>
            <a:srgbClr val="DEE0E3">
              <a:alpha val="100000"/>
            </a:srgbClr>
          </a:solidFill>
          <a:ln w="12700" cap="flat" cmpd="sng">
            <a:solidFill>
              <a:srgbClr val="93C5FD">
                <a:alpha val="55000"/>
              </a:srgbClr>
            </a:solidFill>
            <a:prstDash val="solid"/>
            <a:round/>
            <a:headEnd type="none" w="med" len="med"/>
            <a:tailEnd type="none" w="med" len="med"/>
          </a:ln>
        </p:spPr>
      </p:cxnSp>
      <p:sp>
        <p:nvSpPr>
          <p:cNvPr id="9" name="AutoShape 9"/>
          <p:cNvSpPr/>
          <p:nvPr/>
        </p:nvSpPr>
        <p:spPr>
          <a:xfrm>
            <a:off x="635000" y="2857500"/>
            <a:ext cx="1981200" cy="2286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100" b="1" i="0" u="none" strike="noStrike">
                <a:solidFill>
                  <a:srgbClr val="64748B"/>
                </a:solidFill>
                <a:latin typeface="Noto Sans SC"/>
                <a:ea typeface="Noto Sans SC"/>
                <a:cs typeface="Noto Sans SC"/>
                <a:sym typeface="Noto Sans SC"/>
              </a:rPr>
              <a:t>形态</a:t>
            </a:r>
            <a:endParaRPr lang="en-US" sz="1100"/>
          </a:p>
        </p:txBody>
      </p:sp>
      <p:sp>
        <p:nvSpPr>
          <p:cNvPr id="10" name="AutoShape 10"/>
          <p:cNvSpPr/>
          <p:nvPr/>
        </p:nvSpPr>
        <p:spPr>
          <a:xfrm>
            <a:off x="635000" y="3086100"/>
            <a:ext cx="1981200" cy="609600"/>
          </a:xfrm>
          <a:prstGeom prst="rect">
            <a:avLst/>
          </a:prstGeom>
          <a:noFill/>
          <a:ln w="12700" cap="flat" cmpd="sng">
            <a:noFill/>
            <a:prstDash val="solid"/>
            <a:round/>
          </a:ln>
        </p:spPr>
        <p:txBody>
          <a:bodyPr vert="horz" wrap="square" lIns="0" tIns="0" rIns="0" bIns="0" rtlCol="0" anchor="t" anchorCtr="0"/>
          <a:lstStyle/>
          <a:p>
            <a:pPr marL="0" indent="0" algn="l">
              <a:lnSpc>
                <a:spcPct val="113000"/>
              </a:lnSpc>
              <a:defRPr/>
            </a:pPr>
            <a:r>
              <a:rPr lang="en-US" sz="1200" b="0" i="0" u="none" strike="noStrike">
                <a:solidFill>
                  <a:srgbClr val="334155"/>
                </a:solidFill>
                <a:latin typeface="Noto Sans SC"/>
                <a:ea typeface="Noto Sans SC"/>
                <a:cs typeface="Noto Sans SC"/>
                <a:sym typeface="Noto Sans SC"/>
              </a:rPr>
              <a:t>DN帧/条带</a:t>
            </a:r>
            <a:endParaRPr lang="en-US" sz="1100"/>
          </a:p>
          <a:p>
            <a:pPr marL="0" indent="0" algn="l">
              <a:lnSpc>
                <a:spcPct val="113000"/>
              </a:lnSpc>
            </a:pPr>
            <a:r>
              <a:rPr lang="en-US" sz="1200" b="0" i="0" u="none" strike="noStrike">
                <a:solidFill>
                  <a:srgbClr val="334155"/>
                </a:solidFill>
                <a:latin typeface="Noto Sans SC"/>
                <a:ea typeface="Noto Sans SC"/>
                <a:cs typeface="Noto Sans SC"/>
                <a:sym typeface="Noto Sans SC"/>
              </a:rPr>
              <a:t>POS、定标板</a:t>
            </a:r>
            <a:endParaRPr lang="en-US" sz="1200" b="0" i="0" u="none" strike="noStrike">
              <a:solidFill>
                <a:srgbClr val="334155"/>
              </a:solidFill>
              <a:latin typeface="Noto Sans SC"/>
              <a:ea typeface="Noto Sans SC"/>
              <a:cs typeface="Noto Sans SC"/>
              <a:sym typeface="Noto Sans SC"/>
            </a:endParaRPr>
          </a:p>
        </p:txBody>
      </p:sp>
      <p:sp>
        <p:nvSpPr>
          <p:cNvPr id="11" name="AutoShape 11"/>
          <p:cNvSpPr/>
          <p:nvPr/>
        </p:nvSpPr>
        <p:spPr>
          <a:xfrm>
            <a:off x="635000" y="3721100"/>
            <a:ext cx="1981200" cy="2286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100" b="1" i="0" u="none" strike="noStrike">
                <a:solidFill>
                  <a:srgbClr val="64748B"/>
                </a:solidFill>
                <a:latin typeface="Noto Sans SC"/>
                <a:ea typeface="Noto Sans SC"/>
                <a:cs typeface="Noto Sans SC"/>
                <a:sym typeface="Noto Sans SC"/>
              </a:rPr>
              <a:t>用户</a:t>
            </a:r>
            <a:endParaRPr lang="en-US" sz="1100"/>
          </a:p>
        </p:txBody>
      </p:sp>
      <p:sp>
        <p:nvSpPr>
          <p:cNvPr id="12" name="AutoShape 12"/>
          <p:cNvSpPr/>
          <p:nvPr/>
        </p:nvSpPr>
        <p:spPr>
          <a:xfrm>
            <a:off x="635000" y="3949700"/>
            <a:ext cx="19812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0" i="0" u="none" strike="noStrike">
                <a:solidFill>
                  <a:srgbClr val="334155"/>
                </a:solidFill>
                <a:latin typeface="Noto Sans SC"/>
                <a:ea typeface="Noto Sans SC"/>
                <a:cs typeface="Noto Sans SC"/>
                <a:sym typeface="Noto Sans SC"/>
              </a:rPr>
              <a:t>采集与预处理</a:t>
            </a:r>
            <a:endParaRPr lang="en-US" sz="1100"/>
          </a:p>
        </p:txBody>
      </p:sp>
      <p:sp>
        <p:nvSpPr>
          <p:cNvPr id="13" name="AutoShape 13"/>
          <p:cNvSpPr/>
          <p:nvPr/>
        </p:nvSpPr>
        <p:spPr>
          <a:xfrm>
            <a:off x="635000" y="4381500"/>
            <a:ext cx="1981200" cy="2286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100" b="1" i="0" u="none" strike="noStrike">
                <a:solidFill>
                  <a:srgbClr val="64748B"/>
                </a:solidFill>
                <a:latin typeface="Noto Sans SC"/>
                <a:ea typeface="Noto Sans SC"/>
                <a:cs typeface="Noto Sans SC"/>
                <a:sym typeface="Noto Sans SC"/>
              </a:rPr>
              <a:t>价值</a:t>
            </a:r>
            <a:endParaRPr lang="en-US" sz="1100"/>
          </a:p>
        </p:txBody>
      </p:sp>
      <p:sp>
        <p:nvSpPr>
          <p:cNvPr id="14" name="AutoShape 14"/>
          <p:cNvSpPr/>
          <p:nvPr/>
        </p:nvSpPr>
        <p:spPr>
          <a:xfrm>
            <a:off x="635000" y="4610100"/>
            <a:ext cx="19812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0" i="0" u="none" strike="noStrike">
                <a:solidFill>
                  <a:srgbClr val="334155"/>
                </a:solidFill>
                <a:latin typeface="Noto Sans SC"/>
                <a:ea typeface="Noto Sans SC"/>
                <a:cs typeface="Noto Sans SC"/>
                <a:sym typeface="Noto Sans SC"/>
              </a:rPr>
              <a:t>原始可追溯</a:t>
            </a:r>
            <a:endParaRPr lang="en-US" sz="1100"/>
          </a:p>
        </p:txBody>
      </p:sp>
      <p:sp>
        <p:nvSpPr>
          <p:cNvPr id="15" name="AutoShape 15"/>
          <p:cNvSpPr/>
          <p:nvPr/>
        </p:nvSpPr>
        <p:spPr>
          <a:xfrm>
            <a:off x="635000" y="5207000"/>
            <a:ext cx="1981200" cy="431800"/>
          </a:xfrm>
          <a:prstGeom prst="roundRect">
            <a:avLst>
              <a:gd name="adj" fmla="val 0"/>
            </a:avLst>
          </a:prstGeom>
          <a:solidFill>
            <a:srgbClr val="94A3B8">
              <a:alpha val="14000"/>
            </a:srgbClr>
          </a:solidFill>
          <a:ln cap="flat" cmpd="sng">
            <a:solidFill>
              <a:srgbClr val="70839F">
                <a:alpha val="14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635000" y="5207000"/>
            <a:ext cx="1981200" cy="4318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200" b="1" i="0" u="none" strike="noStrike">
                <a:solidFill>
                  <a:srgbClr val="475569"/>
                </a:solidFill>
                <a:latin typeface="Noto Sans SC"/>
                <a:ea typeface="Noto Sans SC"/>
                <a:cs typeface="Noto Sans SC"/>
                <a:sym typeface="Noto Sans SC"/>
              </a:rPr>
              <a:t>决策 ·</a:t>
            </a:r>
            <a:r>
              <a:rPr lang="en-US" sz="1200" b="1" i="0" u="none" strike="noStrike">
                <a:solidFill>
                  <a:srgbClr val="64748B"/>
                </a:solidFill>
                <a:latin typeface="Noto Sans SC"/>
                <a:ea typeface="Noto Sans SC"/>
                <a:cs typeface="Noto Sans SC"/>
                <a:sym typeface="Noto Sans SC"/>
              </a:rPr>
              <a:t>否</a:t>
            </a:r>
            <a:endParaRPr lang="en-US" sz="1100"/>
          </a:p>
        </p:txBody>
      </p:sp>
      <p:sp>
        <p:nvSpPr>
          <p:cNvPr id="17" name="AutoShape 17"/>
          <p:cNvSpPr/>
          <p:nvPr/>
        </p:nvSpPr>
        <p:spPr>
          <a:xfrm>
            <a:off x="2844800" y="1524000"/>
            <a:ext cx="2235200" cy="42545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2844800" y="1524000"/>
            <a:ext cx="50800" cy="4254500"/>
          </a:xfrm>
          <a:prstGeom prst="roundRect">
            <a:avLst>
              <a:gd name="adj" fmla="val 0"/>
            </a:avLst>
          </a:prstGeom>
          <a:solidFill>
            <a:srgbClr val="60A5FA">
              <a:alpha val="100000"/>
            </a:srgbClr>
          </a:solidFill>
          <a:ln cap="flat" cmpd="sng">
            <a:solidFill>
              <a:srgbClr val="4088E1">
                <a:alpha val="10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2844800" y="1524000"/>
            <a:ext cx="2235200" cy="7874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4200" b="1" i="0" u="none" strike="noStrike">
                <a:latin typeface="Noto Sans SC"/>
                <a:ea typeface="Noto Sans SC"/>
                <a:cs typeface="Noto Sans SC"/>
                <a:sym typeface="Noto Sans SC"/>
              </a:rPr>
              <a:t>L1</a:t>
            </a:r>
            <a:endParaRPr lang="en-US" sz="1100"/>
          </a:p>
        </p:txBody>
      </p:sp>
      <p:sp>
        <p:nvSpPr>
          <p:cNvPr id="20" name="AutoShape 20"/>
          <p:cNvSpPr/>
          <p:nvPr/>
        </p:nvSpPr>
        <p:spPr>
          <a:xfrm>
            <a:off x="2844800" y="2336800"/>
            <a:ext cx="2235200" cy="3302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800" b="1" i="0" u="none" strike="noStrike">
                <a:solidFill>
                  <a:srgbClr val="1E293B"/>
                </a:solidFill>
                <a:latin typeface="Noto Sans SC"/>
                <a:ea typeface="Noto Sans SC"/>
                <a:cs typeface="Noto Sans SC"/>
                <a:sym typeface="Noto Sans SC"/>
              </a:rPr>
              <a:t>传感器产品</a:t>
            </a:r>
            <a:endParaRPr lang="en-US" sz="1100"/>
          </a:p>
        </p:txBody>
      </p:sp>
      <p:cxnSp>
        <p:nvCxnSpPr>
          <p:cNvPr id="21" name="Connector 21"/>
          <p:cNvCxnSpPr/>
          <p:nvPr/>
        </p:nvCxnSpPr>
        <p:spPr>
          <a:xfrm rot="-25277">
            <a:off x="3098823" y="2787650"/>
            <a:ext cx="1727200" cy="12700"/>
          </a:xfrm>
          <a:prstGeom prst="straightConnector1">
            <a:avLst/>
          </a:prstGeom>
          <a:solidFill>
            <a:srgbClr val="DEE0E3">
              <a:alpha val="100000"/>
            </a:srgbClr>
          </a:solidFill>
          <a:ln w="12700" cap="flat" cmpd="sng">
            <a:solidFill>
              <a:srgbClr val="60A5FA">
                <a:alpha val="55000"/>
              </a:srgbClr>
            </a:solidFill>
            <a:prstDash val="solid"/>
            <a:round/>
            <a:headEnd type="none" w="med" len="med"/>
            <a:tailEnd type="none" w="med" len="med"/>
          </a:ln>
        </p:spPr>
      </p:cxnSp>
      <p:sp>
        <p:nvSpPr>
          <p:cNvPr id="22" name="AutoShape 22"/>
          <p:cNvSpPr/>
          <p:nvPr/>
        </p:nvSpPr>
        <p:spPr>
          <a:xfrm>
            <a:off x="2971800" y="2857500"/>
            <a:ext cx="1981200" cy="2286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100" b="1" i="0" u="none" strike="noStrike">
                <a:solidFill>
                  <a:srgbClr val="64748B"/>
                </a:solidFill>
                <a:latin typeface="Noto Sans SC"/>
                <a:ea typeface="Noto Sans SC"/>
                <a:cs typeface="Noto Sans SC"/>
                <a:sym typeface="Noto Sans SC"/>
              </a:rPr>
              <a:t>形态</a:t>
            </a:r>
            <a:endParaRPr lang="en-US" sz="1100"/>
          </a:p>
        </p:txBody>
      </p:sp>
      <p:sp>
        <p:nvSpPr>
          <p:cNvPr id="23" name="AutoShape 23"/>
          <p:cNvSpPr/>
          <p:nvPr/>
        </p:nvSpPr>
        <p:spPr>
          <a:xfrm>
            <a:off x="2971800" y="3086100"/>
            <a:ext cx="1981200" cy="609600"/>
          </a:xfrm>
          <a:prstGeom prst="rect">
            <a:avLst/>
          </a:prstGeom>
          <a:noFill/>
          <a:ln w="12700" cap="flat" cmpd="sng">
            <a:noFill/>
            <a:prstDash val="solid"/>
            <a:round/>
          </a:ln>
        </p:spPr>
        <p:txBody>
          <a:bodyPr vert="horz" wrap="square" lIns="0" tIns="0" rIns="0" bIns="0" rtlCol="0" anchor="t" anchorCtr="0"/>
          <a:lstStyle/>
          <a:p>
            <a:pPr marL="0" indent="0" algn="l">
              <a:lnSpc>
                <a:spcPct val="113000"/>
              </a:lnSpc>
              <a:defRPr/>
            </a:pPr>
            <a:r>
              <a:rPr lang="en-US" sz="1200" b="0" i="0" u="none" strike="noStrike">
                <a:solidFill>
                  <a:srgbClr val="334155"/>
                </a:solidFill>
                <a:latin typeface="Noto Sans SC"/>
                <a:ea typeface="Noto Sans SC"/>
                <a:cs typeface="Noto Sans SC"/>
                <a:sym typeface="Noto Sans SC"/>
              </a:rPr>
              <a:t>辐亮度</a:t>
            </a:r>
            <a:endParaRPr lang="en-US" sz="1100"/>
          </a:p>
          <a:p>
            <a:pPr marL="0" indent="0" algn="l">
              <a:lnSpc>
                <a:spcPct val="113000"/>
              </a:lnSpc>
            </a:pPr>
            <a:r>
              <a:rPr lang="en-US" sz="1200" b="0" i="0" u="none" strike="noStrike">
                <a:solidFill>
                  <a:srgbClr val="334155"/>
                </a:solidFill>
                <a:latin typeface="Noto Sans SC"/>
                <a:ea typeface="Noto Sans SC"/>
                <a:cs typeface="Noto Sans SC"/>
                <a:sym typeface="Noto Sans SC"/>
              </a:rPr>
              <a:t>可含粗几何</a:t>
            </a:r>
            <a:endParaRPr lang="en-US" sz="1200" b="0" i="0" u="none" strike="noStrike">
              <a:solidFill>
                <a:srgbClr val="334155"/>
              </a:solidFill>
              <a:latin typeface="Noto Sans SC"/>
              <a:ea typeface="Noto Sans SC"/>
              <a:cs typeface="Noto Sans SC"/>
              <a:sym typeface="Noto Sans SC"/>
            </a:endParaRPr>
          </a:p>
        </p:txBody>
      </p:sp>
      <p:sp>
        <p:nvSpPr>
          <p:cNvPr id="24" name="AutoShape 24"/>
          <p:cNvSpPr/>
          <p:nvPr/>
        </p:nvSpPr>
        <p:spPr>
          <a:xfrm>
            <a:off x="2971800" y="3721100"/>
            <a:ext cx="1981200" cy="2286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100" b="1" i="0" u="none" strike="noStrike">
                <a:solidFill>
                  <a:srgbClr val="64748B"/>
                </a:solidFill>
                <a:latin typeface="Noto Sans SC"/>
                <a:ea typeface="Noto Sans SC"/>
                <a:cs typeface="Noto Sans SC"/>
                <a:sym typeface="Noto Sans SC"/>
              </a:rPr>
              <a:t>用户</a:t>
            </a:r>
            <a:endParaRPr lang="en-US" sz="1100"/>
          </a:p>
        </p:txBody>
      </p:sp>
      <p:sp>
        <p:nvSpPr>
          <p:cNvPr id="25" name="AutoShape 25"/>
          <p:cNvSpPr/>
          <p:nvPr/>
        </p:nvSpPr>
        <p:spPr>
          <a:xfrm>
            <a:off x="2971800" y="3949700"/>
            <a:ext cx="19812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0" i="0" u="none" strike="noStrike">
                <a:solidFill>
                  <a:srgbClr val="334155"/>
                </a:solidFill>
                <a:latin typeface="Noto Sans SC"/>
                <a:ea typeface="Noto Sans SC"/>
                <a:cs typeface="Noto Sans SC"/>
                <a:sym typeface="Noto Sans SC"/>
              </a:rPr>
              <a:t>处理中心</a:t>
            </a:r>
            <a:endParaRPr lang="en-US" sz="1100"/>
          </a:p>
        </p:txBody>
      </p:sp>
      <p:sp>
        <p:nvSpPr>
          <p:cNvPr id="26" name="AutoShape 26"/>
          <p:cNvSpPr/>
          <p:nvPr/>
        </p:nvSpPr>
        <p:spPr>
          <a:xfrm>
            <a:off x="2971800" y="4381500"/>
            <a:ext cx="1981200" cy="2286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100" b="1" i="0" u="none" strike="noStrike">
                <a:solidFill>
                  <a:srgbClr val="64748B"/>
                </a:solidFill>
                <a:latin typeface="Noto Sans SC"/>
                <a:ea typeface="Noto Sans SC"/>
                <a:cs typeface="Noto Sans SC"/>
                <a:sym typeface="Noto Sans SC"/>
              </a:rPr>
              <a:t>价值</a:t>
            </a:r>
            <a:endParaRPr lang="en-US" sz="1100"/>
          </a:p>
        </p:txBody>
      </p:sp>
      <p:sp>
        <p:nvSpPr>
          <p:cNvPr id="27" name="AutoShape 27"/>
          <p:cNvSpPr/>
          <p:nvPr/>
        </p:nvSpPr>
        <p:spPr>
          <a:xfrm>
            <a:off x="2971800" y="4610100"/>
            <a:ext cx="19812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0" i="0" u="none" strike="noStrike">
                <a:solidFill>
                  <a:srgbClr val="334155"/>
                </a:solidFill>
                <a:latin typeface="Noto Sans SC"/>
                <a:ea typeface="Noto Sans SC"/>
                <a:cs typeface="Noto Sans SC"/>
                <a:sym typeface="Noto Sans SC"/>
              </a:rPr>
              <a:t>物理可比</a:t>
            </a:r>
            <a:endParaRPr lang="en-US" sz="1100"/>
          </a:p>
        </p:txBody>
      </p:sp>
      <p:sp>
        <p:nvSpPr>
          <p:cNvPr id="28" name="AutoShape 28"/>
          <p:cNvSpPr/>
          <p:nvPr/>
        </p:nvSpPr>
        <p:spPr>
          <a:xfrm>
            <a:off x="2971800" y="5207000"/>
            <a:ext cx="1981200" cy="431800"/>
          </a:xfrm>
          <a:prstGeom prst="roundRect">
            <a:avLst>
              <a:gd name="adj" fmla="val 0"/>
            </a:avLst>
          </a:prstGeom>
          <a:solidFill>
            <a:srgbClr val="94A3B8">
              <a:alpha val="14000"/>
            </a:srgbClr>
          </a:solidFill>
          <a:ln cap="flat" cmpd="sng">
            <a:solidFill>
              <a:srgbClr val="70839F">
                <a:alpha val="14000"/>
              </a:srgbClr>
            </a:solidFill>
            <a:prstDash val="solid"/>
            <a:round/>
          </a:ln>
        </p:spPr>
        <p:txBody>
          <a:bodyPr vert="horz" wrap="square" lIns="63500" tIns="63500" rIns="63500" bIns="63500" rtlCol="0" anchor="ctr"/>
          <a:lstStyle/>
          <a:p>
            <a:pPr algn="ctr">
              <a:defRPr/>
            </a:pPr>
          </a:p>
        </p:txBody>
      </p:sp>
      <p:sp>
        <p:nvSpPr>
          <p:cNvPr id="29" name="AutoShape 29"/>
          <p:cNvSpPr/>
          <p:nvPr/>
        </p:nvSpPr>
        <p:spPr>
          <a:xfrm>
            <a:off x="2971800" y="5207000"/>
            <a:ext cx="1981200" cy="4318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200" b="1" i="0" u="none" strike="noStrike">
                <a:solidFill>
                  <a:srgbClr val="475569"/>
                </a:solidFill>
                <a:latin typeface="Noto Sans SC"/>
                <a:ea typeface="Noto Sans SC"/>
                <a:cs typeface="Noto Sans SC"/>
                <a:sym typeface="Noto Sans SC"/>
              </a:rPr>
              <a:t>决策 ·</a:t>
            </a:r>
            <a:r>
              <a:rPr lang="en-US" sz="1200" b="1" i="0" u="none" strike="noStrike">
                <a:solidFill>
                  <a:srgbClr val="64748B"/>
                </a:solidFill>
                <a:latin typeface="Noto Sans SC"/>
                <a:ea typeface="Noto Sans SC"/>
                <a:cs typeface="Noto Sans SC"/>
                <a:sym typeface="Noto Sans SC"/>
              </a:rPr>
              <a:t>否</a:t>
            </a:r>
            <a:endParaRPr lang="en-US" sz="1100"/>
          </a:p>
        </p:txBody>
      </p:sp>
      <p:sp>
        <p:nvSpPr>
          <p:cNvPr id="30" name="AutoShape 30"/>
          <p:cNvSpPr/>
          <p:nvPr/>
        </p:nvSpPr>
        <p:spPr>
          <a:xfrm>
            <a:off x="5181600" y="1524000"/>
            <a:ext cx="2235200" cy="42545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31" name="AutoShape 31"/>
          <p:cNvSpPr/>
          <p:nvPr/>
        </p:nvSpPr>
        <p:spPr>
          <a:xfrm>
            <a:off x="5181600" y="1524000"/>
            <a:ext cx="50800" cy="4254500"/>
          </a:xfrm>
          <a:prstGeom prst="roundRect">
            <a:avLst>
              <a:gd name="adj" fmla="val 0"/>
            </a:avLst>
          </a:prstGeom>
          <a:solidFill>
            <a:srgbClr val="3B82F6">
              <a:alpha val="100000"/>
            </a:srgbClr>
          </a:solidFill>
          <a:ln cap="flat" cmpd="sng">
            <a:solidFill>
              <a:srgbClr val="1F67DD">
                <a:alpha val="100000"/>
              </a:srgbClr>
            </a:solidFill>
            <a:prstDash val="solid"/>
            <a:round/>
          </a:ln>
        </p:spPr>
        <p:txBody>
          <a:bodyPr vert="horz" wrap="square" lIns="63500" tIns="63500" rIns="63500" bIns="63500" rtlCol="0" anchor="ctr"/>
          <a:lstStyle/>
          <a:p>
            <a:pPr algn="ctr">
              <a:defRPr/>
            </a:pPr>
          </a:p>
        </p:txBody>
      </p:sp>
      <p:sp>
        <p:nvSpPr>
          <p:cNvPr id="32" name="AutoShape 32"/>
          <p:cNvSpPr/>
          <p:nvPr/>
        </p:nvSpPr>
        <p:spPr>
          <a:xfrm>
            <a:off x="5181600" y="1524000"/>
            <a:ext cx="2235200" cy="7874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4200" b="1" i="0" u="none" strike="noStrike">
                <a:latin typeface="Noto Sans SC"/>
                <a:ea typeface="Noto Sans SC"/>
                <a:cs typeface="Noto Sans SC"/>
                <a:sym typeface="Noto Sans SC"/>
              </a:rPr>
              <a:t>L2</a:t>
            </a:r>
            <a:endParaRPr lang="en-US" sz="1100"/>
          </a:p>
        </p:txBody>
      </p:sp>
      <p:sp>
        <p:nvSpPr>
          <p:cNvPr id="33" name="AutoShape 33"/>
          <p:cNvSpPr/>
          <p:nvPr/>
        </p:nvSpPr>
        <p:spPr>
          <a:xfrm>
            <a:off x="5181600" y="2336800"/>
            <a:ext cx="2235200" cy="3302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800" b="1" i="0" u="none" strike="noStrike">
                <a:solidFill>
                  <a:srgbClr val="1E293B"/>
                </a:solidFill>
                <a:latin typeface="Noto Sans SC"/>
                <a:ea typeface="Noto Sans SC"/>
                <a:cs typeface="Noto Sans SC"/>
                <a:sym typeface="Noto Sans SC"/>
              </a:rPr>
              <a:t>分析底图</a:t>
            </a:r>
            <a:endParaRPr lang="en-US" sz="1100"/>
          </a:p>
        </p:txBody>
      </p:sp>
      <p:cxnSp>
        <p:nvCxnSpPr>
          <p:cNvPr id="34" name="Connector 34"/>
          <p:cNvCxnSpPr/>
          <p:nvPr/>
        </p:nvCxnSpPr>
        <p:spPr>
          <a:xfrm rot="-25277">
            <a:off x="5435623" y="2787650"/>
            <a:ext cx="1727200" cy="12700"/>
          </a:xfrm>
          <a:prstGeom prst="straightConnector1">
            <a:avLst/>
          </a:prstGeom>
          <a:solidFill>
            <a:srgbClr val="DEE0E3">
              <a:alpha val="100000"/>
            </a:srgbClr>
          </a:solidFill>
          <a:ln w="12700" cap="flat" cmpd="sng">
            <a:solidFill>
              <a:srgbClr val="3B82F6">
                <a:alpha val="55000"/>
              </a:srgbClr>
            </a:solidFill>
            <a:prstDash val="solid"/>
            <a:round/>
            <a:headEnd type="none" w="med" len="med"/>
            <a:tailEnd type="none" w="med" len="med"/>
          </a:ln>
        </p:spPr>
      </p:cxnSp>
      <p:sp>
        <p:nvSpPr>
          <p:cNvPr id="35" name="AutoShape 35"/>
          <p:cNvSpPr/>
          <p:nvPr/>
        </p:nvSpPr>
        <p:spPr>
          <a:xfrm>
            <a:off x="5308600" y="2857500"/>
            <a:ext cx="1981200" cy="2286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100" b="1" i="0" u="none" strike="noStrike">
                <a:solidFill>
                  <a:srgbClr val="64748B"/>
                </a:solidFill>
                <a:latin typeface="Noto Sans SC"/>
                <a:ea typeface="Noto Sans SC"/>
                <a:cs typeface="Noto Sans SC"/>
                <a:sym typeface="Noto Sans SC"/>
              </a:rPr>
              <a:t>形态</a:t>
            </a:r>
            <a:endParaRPr lang="en-US" sz="1100"/>
          </a:p>
        </p:txBody>
      </p:sp>
      <p:sp>
        <p:nvSpPr>
          <p:cNvPr id="36" name="AutoShape 36"/>
          <p:cNvSpPr/>
          <p:nvPr/>
        </p:nvSpPr>
        <p:spPr>
          <a:xfrm>
            <a:off x="5308600" y="3086100"/>
            <a:ext cx="1981200" cy="609600"/>
          </a:xfrm>
          <a:prstGeom prst="rect">
            <a:avLst/>
          </a:prstGeom>
          <a:noFill/>
          <a:ln w="12700" cap="flat" cmpd="sng">
            <a:noFill/>
            <a:prstDash val="solid"/>
            <a:round/>
          </a:ln>
        </p:spPr>
        <p:txBody>
          <a:bodyPr vert="horz" wrap="square" lIns="0" tIns="0" rIns="0" bIns="0" rtlCol="0" anchor="t" anchorCtr="0"/>
          <a:lstStyle/>
          <a:p>
            <a:pPr marL="0" indent="0" algn="l">
              <a:lnSpc>
                <a:spcPct val="113000"/>
              </a:lnSpc>
              <a:defRPr/>
            </a:pPr>
            <a:r>
              <a:rPr lang="en-US" sz="1200" b="0" i="0" u="none" strike="noStrike">
                <a:solidFill>
                  <a:srgbClr val="334155"/>
                </a:solidFill>
                <a:latin typeface="Noto Sans SC"/>
                <a:ea typeface="Noto Sans SC"/>
                <a:cs typeface="Noto Sans SC"/>
                <a:sym typeface="Noto Sans SC"/>
              </a:rPr>
              <a:t>反射率</a:t>
            </a:r>
            <a:endParaRPr lang="en-US" sz="1100"/>
          </a:p>
          <a:p>
            <a:pPr marL="0" indent="0" algn="l">
              <a:lnSpc>
                <a:spcPct val="113000"/>
              </a:lnSpc>
            </a:pPr>
            <a:r>
              <a:rPr lang="en-US" sz="1200" b="0" i="0" u="none" strike="noStrike">
                <a:solidFill>
                  <a:srgbClr val="334155"/>
                </a:solidFill>
                <a:latin typeface="Noto Sans SC"/>
                <a:ea typeface="Noto Sans SC"/>
                <a:cs typeface="Noto Sans SC"/>
                <a:sym typeface="Noto Sans SC"/>
              </a:rPr>
              <a:t>正射立方体</a:t>
            </a:r>
            <a:endParaRPr lang="en-US" sz="1200" b="0" i="0" u="none" strike="noStrike">
              <a:solidFill>
                <a:srgbClr val="334155"/>
              </a:solidFill>
              <a:latin typeface="Noto Sans SC"/>
              <a:ea typeface="Noto Sans SC"/>
              <a:cs typeface="Noto Sans SC"/>
              <a:sym typeface="Noto Sans SC"/>
            </a:endParaRPr>
          </a:p>
        </p:txBody>
      </p:sp>
      <p:sp>
        <p:nvSpPr>
          <p:cNvPr id="37" name="AutoShape 37"/>
          <p:cNvSpPr/>
          <p:nvPr/>
        </p:nvSpPr>
        <p:spPr>
          <a:xfrm>
            <a:off x="5308600" y="3721100"/>
            <a:ext cx="1981200" cy="2286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100" b="1" i="0" u="none" strike="noStrike">
                <a:solidFill>
                  <a:srgbClr val="64748B"/>
                </a:solidFill>
                <a:latin typeface="Noto Sans SC"/>
                <a:ea typeface="Noto Sans SC"/>
                <a:cs typeface="Noto Sans SC"/>
                <a:sym typeface="Noto Sans SC"/>
              </a:rPr>
              <a:t>用户</a:t>
            </a:r>
            <a:endParaRPr lang="en-US" sz="1100"/>
          </a:p>
        </p:txBody>
      </p:sp>
      <p:sp>
        <p:nvSpPr>
          <p:cNvPr id="38" name="AutoShape 38"/>
          <p:cNvSpPr/>
          <p:nvPr/>
        </p:nvSpPr>
        <p:spPr>
          <a:xfrm>
            <a:off x="5308600" y="3949700"/>
            <a:ext cx="19812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0" i="0" u="none" strike="noStrike">
                <a:solidFill>
                  <a:srgbClr val="334155"/>
                </a:solidFill>
                <a:latin typeface="Noto Sans SC"/>
                <a:ea typeface="Noto Sans SC"/>
                <a:cs typeface="Noto Sans SC"/>
                <a:sym typeface="Noto Sans SC"/>
              </a:rPr>
              <a:t>算法研发</a:t>
            </a:r>
            <a:endParaRPr lang="en-US" sz="1100"/>
          </a:p>
        </p:txBody>
      </p:sp>
      <p:sp>
        <p:nvSpPr>
          <p:cNvPr id="39" name="AutoShape 39"/>
          <p:cNvSpPr/>
          <p:nvPr/>
        </p:nvSpPr>
        <p:spPr>
          <a:xfrm>
            <a:off x="5308600" y="4381500"/>
            <a:ext cx="1981200" cy="2286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100" b="1" i="0" u="none" strike="noStrike">
                <a:solidFill>
                  <a:srgbClr val="64748B"/>
                </a:solidFill>
                <a:latin typeface="Noto Sans SC"/>
                <a:ea typeface="Noto Sans SC"/>
                <a:cs typeface="Noto Sans SC"/>
                <a:sym typeface="Noto Sans SC"/>
              </a:rPr>
              <a:t>价值</a:t>
            </a:r>
            <a:endParaRPr lang="en-US" sz="1100"/>
          </a:p>
        </p:txBody>
      </p:sp>
      <p:sp>
        <p:nvSpPr>
          <p:cNvPr id="40" name="AutoShape 40"/>
          <p:cNvSpPr/>
          <p:nvPr/>
        </p:nvSpPr>
        <p:spPr>
          <a:xfrm>
            <a:off x="5308600" y="4610100"/>
            <a:ext cx="19812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0" i="0" u="none" strike="noStrike">
                <a:solidFill>
                  <a:srgbClr val="334155"/>
                </a:solidFill>
                <a:latin typeface="Noto Sans SC"/>
                <a:ea typeface="Noto Sans SC"/>
                <a:cs typeface="Noto Sans SC"/>
                <a:sym typeface="Noto Sans SC"/>
              </a:rPr>
              <a:t>标准输入</a:t>
            </a:r>
            <a:endParaRPr lang="en-US" sz="1100"/>
          </a:p>
        </p:txBody>
      </p:sp>
      <p:sp>
        <p:nvSpPr>
          <p:cNvPr id="41" name="AutoShape 41"/>
          <p:cNvSpPr/>
          <p:nvPr/>
        </p:nvSpPr>
        <p:spPr>
          <a:xfrm>
            <a:off x="5308600" y="5207000"/>
            <a:ext cx="1981200" cy="431800"/>
          </a:xfrm>
          <a:prstGeom prst="roundRect">
            <a:avLst>
              <a:gd name="adj" fmla="val 0"/>
            </a:avLst>
          </a:prstGeom>
          <a:solidFill>
            <a:srgbClr val="F59E0B">
              <a:alpha val="13000"/>
            </a:srgbClr>
          </a:solidFill>
          <a:ln cap="flat" cmpd="sng">
            <a:solidFill>
              <a:srgbClr val="DC8A00">
                <a:alpha val="13000"/>
              </a:srgbClr>
            </a:solidFill>
            <a:prstDash val="solid"/>
            <a:round/>
          </a:ln>
        </p:spPr>
        <p:txBody>
          <a:bodyPr vert="horz" wrap="square" lIns="63500" tIns="63500" rIns="63500" bIns="63500" rtlCol="0" anchor="ctr"/>
          <a:lstStyle/>
          <a:p>
            <a:pPr algn="ctr">
              <a:defRPr/>
            </a:pPr>
          </a:p>
        </p:txBody>
      </p:sp>
      <p:sp>
        <p:nvSpPr>
          <p:cNvPr id="42" name="AutoShape 42"/>
          <p:cNvSpPr/>
          <p:nvPr/>
        </p:nvSpPr>
        <p:spPr>
          <a:xfrm>
            <a:off x="5308600" y="5207000"/>
            <a:ext cx="1981200" cy="4318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200" b="1" i="0" u="none" strike="noStrike">
                <a:solidFill>
                  <a:srgbClr val="475569"/>
                </a:solidFill>
                <a:latin typeface="Noto Sans SC"/>
                <a:ea typeface="Noto Sans SC"/>
                <a:cs typeface="Noto Sans SC"/>
                <a:sym typeface="Noto Sans SC"/>
              </a:rPr>
              <a:t>决策 ·</a:t>
            </a:r>
            <a:r>
              <a:rPr lang="en-US" sz="1200" b="1" i="0" u="none" strike="noStrike">
                <a:solidFill>
                  <a:srgbClr val="B45309"/>
                </a:solidFill>
                <a:latin typeface="Noto Sans SC"/>
                <a:ea typeface="Noto Sans SC"/>
                <a:cs typeface="Noto Sans SC"/>
                <a:sym typeface="Noto Sans SC"/>
              </a:rPr>
              <a:t>专业预览</a:t>
            </a:r>
            <a:endParaRPr lang="en-US" sz="1100"/>
          </a:p>
        </p:txBody>
      </p:sp>
      <p:sp>
        <p:nvSpPr>
          <p:cNvPr id="43" name="AutoShape 43"/>
          <p:cNvSpPr/>
          <p:nvPr/>
        </p:nvSpPr>
        <p:spPr>
          <a:xfrm>
            <a:off x="7518400" y="1524000"/>
            <a:ext cx="2235200" cy="42545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44" name="AutoShape 44"/>
          <p:cNvSpPr/>
          <p:nvPr/>
        </p:nvSpPr>
        <p:spPr>
          <a:xfrm>
            <a:off x="7518400" y="1524000"/>
            <a:ext cx="50800" cy="4254500"/>
          </a:xfrm>
          <a:prstGeom prst="roundRect">
            <a:avLst>
              <a:gd name="adj" fmla="val 0"/>
            </a:avLst>
          </a:prstGeom>
          <a:solidFill>
            <a:srgbClr val="2563EB">
              <a:alpha val="100000"/>
            </a:srgbClr>
          </a:solidFill>
          <a:ln cap="flat" cmpd="sng">
            <a:solidFill>
              <a:srgbClr val="0C4AD2">
                <a:alpha val="100000"/>
              </a:srgbClr>
            </a:solidFill>
            <a:prstDash val="solid"/>
            <a:round/>
          </a:ln>
        </p:spPr>
        <p:txBody>
          <a:bodyPr vert="horz" wrap="square" lIns="63500" tIns="63500" rIns="63500" bIns="63500" rtlCol="0" anchor="ctr"/>
          <a:lstStyle/>
          <a:p>
            <a:pPr algn="ctr">
              <a:defRPr/>
            </a:pPr>
          </a:p>
        </p:txBody>
      </p:sp>
      <p:sp>
        <p:nvSpPr>
          <p:cNvPr id="45" name="AutoShape 45"/>
          <p:cNvSpPr/>
          <p:nvPr/>
        </p:nvSpPr>
        <p:spPr>
          <a:xfrm>
            <a:off x="7518400" y="1524000"/>
            <a:ext cx="2235200" cy="7874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4200" b="1" i="0" u="none" strike="noStrike">
                <a:latin typeface="Noto Sans SC"/>
                <a:ea typeface="Noto Sans SC"/>
                <a:cs typeface="Noto Sans SC"/>
                <a:sym typeface="Noto Sans SC"/>
              </a:rPr>
              <a:t>L3</a:t>
            </a:r>
            <a:endParaRPr lang="en-US" sz="1100"/>
          </a:p>
        </p:txBody>
      </p:sp>
      <p:sp>
        <p:nvSpPr>
          <p:cNvPr id="46" name="AutoShape 46"/>
          <p:cNvSpPr/>
          <p:nvPr/>
        </p:nvSpPr>
        <p:spPr>
          <a:xfrm>
            <a:off x="7518400" y="2336800"/>
            <a:ext cx="2235200" cy="3302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800" b="1" i="0" u="none" strike="noStrike">
                <a:solidFill>
                  <a:srgbClr val="1E293B"/>
                </a:solidFill>
                <a:latin typeface="Noto Sans SC"/>
                <a:ea typeface="Noto Sans SC"/>
                <a:cs typeface="Noto Sans SC"/>
                <a:sym typeface="Noto Sans SC"/>
              </a:rPr>
              <a:t>信息产品</a:t>
            </a:r>
            <a:endParaRPr lang="en-US" sz="1100"/>
          </a:p>
        </p:txBody>
      </p:sp>
      <p:cxnSp>
        <p:nvCxnSpPr>
          <p:cNvPr id="47" name="Connector 47"/>
          <p:cNvCxnSpPr/>
          <p:nvPr/>
        </p:nvCxnSpPr>
        <p:spPr>
          <a:xfrm rot="-25277">
            <a:off x="7772423" y="2787650"/>
            <a:ext cx="1727200" cy="12700"/>
          </a:xfrm>
          <a:prstGeom prst="straightConnector1">
            <a:avLst/>
          </a:prstGeom>
          <a:solidFill>
            <a:srgbClr val="DEE0E3">
              <a:alpha val="100000"/>
            </a:srgbClr>
          </a:solidFill>
          <a:ln w="12700" cap="flat" cmpd="sng">
            <a:solidFill>
              <a:srgbClr val="2563EB">
                <a:alpha val="55000"/>
              </a:srgbClr>
            </a:solidFill>
            <a:prstDash val="solid"/>
            <a:round/>
            <a:headEnd type="none" w="med" len="med"/>
            <a:tailEnd type="none" w="med" len="med"/>
          </a:ln>
        </p:spPr>
      </p:cxnSp>
      <p:sp>
        <p:nvSpPr>
          <p:cNvPr id="48" name="AutoShape 48"/>
          <p:cNvSpPr/>
          <p:nvPr/>
        </p:nvSpPr>
        <p:spPr>
          <a:xfrm>
            <a:off x="7645400" y="2857500"/>
            <a:ext cx="1981200" cy="2286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100" b="1" i="0" u="none" strike="noStrike">
                <a:solidFill>
                  <a:srgbClr val="64748B"/>
                </a:solidFill>
                <a:latin typeface="Noto Sans SC"/>
                <a:ea typeface="Noto Sans SC"/>
                <a:cs typeface="Noto Sans SC"/>
                <a:sym typeface="Noto Sans SC"/>
              </a:rPr>
              <a:t>形态</a:t>
            </a:r>
            <a:endParaRPr lang="en-US" sz="1100"/>
          </a:p>
        </p:txBody>
      </p:sp>
      <p:sp>
        <p:nvSpPr>
          <p:cNvPr id="49" name="AutoShape 49"/>
          <p:cNvSpPr/>
          <p:nvPr/>
        </p:nvSpPr>
        <p:spPr>
          <a:xfrm>
            <a:off x="7645400" y="3086100"/>
            <a:ext cx="1981200" cy="609600"/>
          </a:xfrm>
          <a:prstGeom prst="rect">
            <a:avLst/>
          </a:prstGeom>
          <a:noFill/>
          <a:ln w="12700" cap="flat" cmpd="sng">
            <a:noFill/>
            <a:prstDash val="solid"/>
            <a:round/>
          </a:ln>
        </p:spPr>
        <p:txBody>
          <a:bodyPr vert="horz" wrap="square" lIns="0" tIns="0" rIns="0" bIns="0" rtlCol="0" anchor="t" anchorCtr="0"/>
          <a:lstStyle/>
          <a:p>
            <a:pPr marL="0" indent="0" algn="l">
              <a:lnSpc>
                <a:spcPct val="113000"/>
              </a:lnSpc>
              <a:defRPr/>
            </a:pPr>
            <a:r>
              <a:rPr lang="en-US" sz="1200" b="0" i="0" u="none" strike="noStrike">
                <a:solidFill>
                  <a:srgbClr val="334155"/>
                </a:solidFill>
                <a:latin typeface="Noto Sans SC"/>
                <a:ea typeface="Noto Sans SC"/>
                <a:cs typeface="Noto Sans SC"/>
                <a:sym typeface="Noto Sans SC"/>
              </a:rPr>
              <a:t>分类/指数</a:t>
            </a:r>
            <a:endParaRPr lang="en-US" sz="1100"/>
          </a:p>
          <a:p>
            <a:pPr marL="0" indent="0" algn="l">
              <a:lnSpc>
                <a:spcPct val="113000"/>
              </a:lnSpc>
            </a:pPr>
            <a:r>
              <a:rPr lang="en-US" sz="1200" b="0" i="0" u="none" strike="noStrike">
                <a:solidFill>
                  <a:srgbClr val="334155"/>
                </a:solidFill>
                <a:latin typeface="Noto Sans SC"/>
                <a:ea typeface="Noto Sans SC"/>
                <a:cs typeface="Noto Sans SC"/>
                <a:sym typeface="Noto Sans SC"/>
              </a:rPr>
              <a:t>反演矢量</a:t>
            </a:r>
            <a:endParaRPr lang="en-US" sz="1200" b="0" i="0" u="none" strike="noStrike">
              <a:solidFill>
                <a:srgbClr val="334155"/>
              </a:solidFill>
              <a:latin typeface="Noto Sans SC"/>
              <a:ea typeface="Noto Sans SC"/>
              <a:cs typeface="Noto Sans SC"/>
              <a:sym typeface="Noto Sans SC"/>
            </a:endParaRPr>
          </a:p>
        </p:txBody>
      </p:sp>
      <p:sp>
        <p:nvSpPr>
          <p:cNvPr id="50" name="AutoShape 50"/>
          <p:cNvSpPr/>
          <p:nvPr/>
        </p:nvSpPr>
        <p:spPr>
          <a:xfrm>
            <a:off x="7645400" y="3721100"/>
            <a:ext cx="1981200" cy="2286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100" b="1" i="0" u="none" strike="noStrike">
                <a:solidFill>
                  <a:srgbClr val="64748B"/>
                </a:solidFill>
                <a:latin typeface="Noto Sans SC"/>
                <a:ea typeface="Noto Sans SC"/>
                <a:cs typeface="Noto Sans SC"/>
                <a:sym typeface="Noto Sans SC"/>
              </a:rPr>
              <a:t>用户</a:t>
            </a:r>
            <a:endParaRPr lang="en-US" sz="1100"/>
          </a:p>
        </p:txBody>
      </p:sp>
      <p:sp>
        <p:nvSpPr>
          <p:cNvPr id="51" name="AutoShape 51"/>
          <p:cNvSpPr/>
          <p:nvPr/>
        </p:nvSpPr>
        <p:spPr>
          <a:xfrm>
            <a:off x="7645400" y="3949700"/>
            <a:ext cx="19812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0" i="0" u="none" strike="noStrike">
                <a:solidFill>
                  <a:srgbClr val="334155"/>
                </a:solidFill>
                <a:latin typeface="Noto Sans SC"/>
                <a:ea typeface="Noto Sans SC"/>
                <a:cs typeface="Noto Sans SC"/>
                <a:sym typeface="Noto Sans SC"/>
              </a:rPr>
              <a:t>分析与产品</a:t>
            </a:r>
            <a:endParaRPr lang="en-US" sz="1100"/>
          </a:p>
        </p:txBody>
      </p:sp>
      <p:sp>
        <p:nvSpPr>
          <p:cNvPr id="52" name="AutoShape 52"/>
          <p:cNvSpPr/>
          <p:nvPr/>
        </p:nvSpPr>
        <p:spPr>
          <a:xfrm>
            <a:off x="7645400" y="4381500"/>
            <a:ext cx="1981200" cy="2286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100" b="1" i="0" u="none" strike="noStrike">
                <a:solidFill>
                  <a:srgbClr val="64748B"/>
                </a:solidFill>
                <a:latin typeface="Noto Sans SC"/>
                <a:ea typeface="Noto Sans SC"/>
                <a:cs typeface="Noto Sans SC"/>
                <a:sym typeface="Noto Sans SC"/>
              </a:rPr>
              <a:t>价值</a:t>
            </a:r>
            <a:endParaRPr lang="en-US" sz="1100"/>
          </a:p>
        </p:txBody>
      </p:sp>
      <p:sp>
        <p:nvSpPr>
          <p:cNvPr id="53" name="AutoShape 53"/>
          <p:cNvSpPr/>
          <p:nvPr/>
        </p:nvSpPr>
        <p:spPr>
          <a:xfrm>
            <a:off x="7645400" y="4610100"/>
            <a:ext cx="19812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0" i="0" u="none" strike="noStrike">
                <a:solidFill>
                  <a:srgbClr val="334155"/>
                </a:solidFill>
                <a:latin typeface="Noto Sans SC"/>
                <a:ea typeface="Noto Sans SC"/>
                <a:cs typeface="Noto Sans SC"/>
                <a:sym typeface="Noto Sans SC"/>
              </a:rPr>
              <a:t>信息提取</a:t>
            </a:r>
            <a:endParaRPr lang="en-US" sz="1100"/>
          </a:p>
        </p:txBody>
      </p:sp>
      <p:sp>
        <p:nvSpPr>
          <p:cNvPr id="54" name="AutoShape 54"/>
          <p:cNvSpPr/>
          <p:nvPr/>
        </p:nvSpPr>
        <p:spPr>
          <a:xfrm>
            <a:off x="7645400" y="5207000"/>
            <a:ext cx="1981200" cy="431800"/>
          </a:xfrm>
          <a:prstGeom prst="roundRect">
            <a:avLst>
              <a:gd name="adj" fmla="val 0"/>
            </a:avLst>
          </a:prstGeom>
          <a:solidFill>
            <a:srgbClr val="2563EB">
              <a:alpha val="10000"/>
            </a:srgbClr>
          </a:solidFill>
          <a:ln cap="flat" cmpd="sng">
            <a:solidFill>
              <a:srgbClr val="0C4AD2">
                <a:alpha val="10000"/>
              </a:srgbClr>
            </a:solidFill>
            <a:prstDash val="solid"/>
            <a:round/>
          </a:ln>
        </p:spPr>
        <p:txBody>
          <a:bodyPr vert="horz" wrap="square" lIns="63500" tIns="63500" rIns="63500" bIns="63500" rtlCol="0" anchor="ctr"/>
          <a:lstStyle/>
          <a:p>
            <a:pPr algn="ctr">
              <a:defRPr/>
            </a:pPr>
          </a:p>
        </p:txBody>
      </p:sp>
      <p:sp>
        <p:nvSpPr>
          <p:cNvPr id="55" name="AutoShape 55"/>
          <p:cNvSpPr/>
          <p:nvPr/>
        </p:nvSpPr>
        <p:spPr>
          <a:xfrm>
            <a:off x="7645400" y="5207000"/>
            <a:ext cx="1981200" cy="4318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200" b="1" i="0" u="none" strike="noStrike">
                <a:solidFill>
                  <a:srgbClr val="475569"/>
                </a:solidFill>
                <a:latin typeface="Noto Sans SC"/>
                <a:ea typeface="Noto Sans SC"/>
                <a:cs typeface="Noto Sans SC"/>
                <a:sym typeface="Noto Sans SC"/>
              </a:rPr>
              <a:t>决策 ·</a:t>
            </a:r>
            <a:r>
              <a:rPr lang="en-US" sz="1200" b="1" i="0" u="none" strike="noStrike">
                <a:solidFill>
                  <a:srgbClr val="2563EB"/>
                </a:solidFill>
                <a:latin typeface="Noto Sans SC"/>
                <a:ea typeface="Noto Sans SC"/>
                <a:cs typeface="Noto Sans SC"/>
                <a:sym typeface="Noto Sans SC"/>
              </a:rPr>
              <a:t>部分可读</a:t>
            </a:r>
            <a:endParaRPr lang="en-US" sz="1100"/>
          </a:p>
        </p:txBody>
      </p:sp>
      <p:sp>
        <p:nvSpPr>
          <p:cNvPr id="56" name="AutoShape 56"/>
          <p:cNvSpPr/>
          <p:nvPr/>
        </p:nvSpPr>
        <p:spPr>
          <a:xfrm>
            <a:off x="9855200" y="1524000"/>
            <a:ext cx="2235200" cy="42545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57" name="AutoShape 57"/>
          <p:cNvSpPr/>
          <p:nvPr/>
        </p:nvSpPr>
        <p:spPr>
          <a:xfrm>
            <a:off x="9855200" y="1524000"/>
            <a:ext cx="50800" cy="42545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58" name="AutoShape 58"/>
          <p:cNvSpPr/>
          <p:nvPr/>
        </p:nvSpPr>
        <p:spPr>
          <a:xfrm>
            <a:off x="9855200" y="1524000"/>
            <a:ext cx="2235200" cy="7874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4200" b="1" i="0" u="none" strike="noStrike">
                <a:latin typeface="Noto Sans SC"/>
                <a:ea typeface="Noto Sans SC"/>
                <a:cs typeface="Noto Sans SC"/>
                <a:sym typeface="Noto Sans SC"/>
              </a:rPr>
              <a:t>L4</a:t>
            </a:r>
            <a:endParaRPr lang="en-US" sz="1100"/>
          </a:p>
        </p:txBody>
      </p:sp>
      <p:sp>
        <p:nvSpPr>
          <p:cNvPr id="59" name="AutoShape 59"/>
          <p:cNvSpPr/>
          <p:nvPr/>
        </p:nvSpPr>
        <p:spPr>
          <a:xfrm>
            <a:off x="9855200" y="2336800"/>
            <a:ext cx="2235200" cy="3302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800" b="1" i="0" u="none" strike="noStrike">
                <a:solidFill>
                  <a:srgbClr val="1E293B"/>
                </a:solidFill>
                <a:latin typeface="Noto Sans SC"/>
                <a:ea typeface="Noto Sans SC"/>
                <a:cs typeface="Noto Sans SC"/>
                <a:sym typeface="Noto Sans SC"/>
              </a:rPr>
              <a:t>业务决策</a:t>
            </a:r>
            <a:endParaRPr lang="en-US" sz="1100"/>
          </a:p>
        </p:txBody>
      </p:sp>
      <p:cxnSp>
        <p:nvCxnSpPr>
          <p:cNvPr id="60" name="Connector 60"/>
          <p:cNvCxnSpPr/>
          <p:nvPr/>
        </p:nvCxnSpPr>
        <p:spPr>
          <a:xfrm rot="-25277">
            <a:off x="10109223" y="2787650"/>
            <a:ext cx="1727200" cy="12700"/>
          </a:xfrm>
          <a:prstGeom prst="straightConnector1">
            <a:avLst/>
          </a:prstGeom>
          <a:solidFill>
            <a:srgbClr val="DEE0E3">
              <a:alpha val="100000"/>
            </a:srgbClr>
          </a:solidFill>
          <a:ln w="12700" cap="flat" cmpd="sng">
            <a:solidFill>
              <a:srgbClr val="1E3A8A">
                <a:alpha val="55000"/>
              </a:srgbClr>
            </a:solidFill>
            <a:prstDash val="solid"/>
            <a:round/>
            <a:headEnd type="none" w="med" len="med"/>
            <a:tailEnd type="none" w="med" len="med"/>
          </a:ln>
        </p:spPr>
      </p:cxnSp>
      <p:sp>
        <p:nvSpPr>
          <p:cNvPr id="61" name="AutoShape 61"/>
          <p:cNvSpPr/>
          <p:nvPr/>
        </p:nvSpPr>
        <p:spPr>
          <a:xfrm>
            <a:off x="9982200" y="2857500"/>
            <a:ext cx="1981200" cy="2286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100" b="1" i="0" u="none" strike="noStrike">
                <a:solidFill>
                  <a:srgbClr val="64748B"/>
                </a:solidFill>
                <a:latin typeface="Noto Sans SC"/>
                <a:ea typeface="Noto Sans SC"/>
                <a:cs typeface="Noto Sans SC"/>
                <a:sym typeface="Noto Sans SC"/>
              </a:rPr>
              <a:t>形态</a:t>
            </a:r>
            <a:endParaRPr lang="en-US" sz="1100"/>
          </a:p>
        </p:txBody>
      </p:sp>
      <p:sp>
        <p:nvSpPr>
          <p:cNvPr id="62" name="AutoShape 62"/>
          <p:cNvSpPr/>
          <p:nvPr/>
        </p:nvSpPr>
        <p:spPr>
          <a:xfrm>
            <a:off x="9982200" y="3086100"/>
            <a:ext cx="1981200" cy="609600"/>
          </a:xfrm>
          <a:prstGeom prst="rect">
            <a:avLst/>
          </a:prstGeom>
          <a:noFill/>
          <a:ln w="12700" cap="flat" cmpd="sng">
            <a:noFill/>
            <a:prstDash val="solid"/>
            <a:round/>
          </a:ln>
        </p:spPr>
        <p:txBody>
          <a:bodyPr vert="horz" wrap="square" lIns="0" tIns="0" rIns="0" bIns="0" rtlCol="0" anchor="t" anchorCtr="0"/>
          <a:lstStyle/>
          <a:p>
            <a:pPr marL="0" indent="0" algn="l">
              <a:lnSpc>
                <a:spcPct val="113000"/>
              </a:lnSpc>
              <a:defRPr/>
            </a:pPr>
            <a:r>
              <a:rPr lang="en-US" sz="1200" b="0" i="0" u="none" strike="noStrike">
                <a:solidFill>
                  <a:srgbClr val="334155"/>
                </a:solidFill>
                <a:latin typeface="Noto Sans SC"/>
                <a:ea typeface="Noto Sans SC"/>
                <a:cs typeface="Noto Sans SC"/>
                <a:sym typeface="Noto Sans SC"/>
              </a:rPr>
              <a:t>函数报表</a:t>
            </a:r>
            <a:endParaRPr lang="en-US" sz="1100"/>
          </a:p>
          <a:p>
            <a:pPr marL="0" indent="0" algn="l">
              <a:lnSpc>
                <a:spcPct val="113000"/>
              </a:lnSpc>
            </a:pPr>
            <a:r>
              <a:rPr lang="en-US" sz="1200" b="0" i="0" u="none" strike="noStrike">
                <a:solidFill>
                  <a:srgbClr val="334155"/>
                </a:solidFill>
                <a:latin typeface="Noto Sans SC"/>
                <a:ea typeface="Noto Sans SC"/>
                <a:cs typeface="Noto Sans SC"/>
                <a:sym typeface="Noto Sans SC"/>
              </a:rPr>
              <a:t>告警与API</a:t>
            </a:r>
            <a:endParaRPr lang="en-US" sz="1200" b="0" i="0" u="none" strike="noStrike">
              <a:solidFill>
                <a:srgbClr val="334155"/>
              </a:solidFill>
              <a:latin typeface="Noto Sans SC"/>
              <a:ea typeface="Noto Sans SC"/>
              <a:cs typeface="Noto Sans SC"/>
              <a:sym typeface="Noto Sans SC"/>
            </a:endParaRPr>
          </a:p>
        </p:txBody>
      </p:sp>
      <p:sp>
        <p:nvSpPr>
          <p:cNvPr id="63" name="AutoShape 63"/>
          <p:cNvSpPr/>
          <p:nvPr/>
        </p:nvSpPr>
        <p:spPr>
          <a:xfrm>
            <a:off x="9982200" y="3721100"/>
            <a:ext cx="1981200" cy="2286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100" b="1" i="0" u="none" strike="noStrike">
                <a:solidFill>
                  <a:srgbClr val="64748B"/>
                </a:solidFill>
                <a:latin typeface="Noto Sans SC"/>
                <a:ea typeface="Noto Sans SC"/>
                <a:cs typeface="Noto Sans SC"/>
                <a:sym typeface="Noto Sans SC"/>
              </a:rPr>
              <a:t>用户</a:t>
            </a:r>
            <a:endParaRPr lang="en-US" sz="1100"/>
          </a:p>
        </p:txBody>
      </p:sp>
      <p:sp>
        <p:nvSpPr>
          <p:cNvPr id="64" name="AutoShape 64"/>
          <p:cNvSpPr/>
          <p:nvPr/>
        </p:nvSpPr>
        <p:spPr>
          <a:xfrm>
            <a:off x="9982200" y="3949700"/>
            <a:ext cx="19812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0" i="0" u="none" strike="noStrike">
                <a:solidFill>
                  <a:srgbClr val="334155"/>
                </a:solidFill>
                <a:latin typeface="Noto Sans SC"/>
                <a:ea typeface="Noto Sans SC"/>
                <a:cs typeface="Noto Sans SC"/>
                <a:sym typeface="Noto Sans SC"/>
              </a:rPr>
              <a:t>业务与系统</a:t>
            </a:r>
            <a:endParaRPr lang="en-US" sz="1100"/>
          </a:p>
        </p:txBody>
      </p:sp>
      <p:sp>
        <p:nvSpPr>
          <p:cNvPr id="65" name="AutoShape 65"/>
          <p:cNvSpPr/>
          <p:nvPr/>
        </p:nvSpPr>
        <p:spPr>
          <a:xfrm>
            <a:off x="9982200" y="4381500"/>
            <a:ext cx="1981200" cy="2286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100" b="1" i="0" u="none" strike="noStrike">
                <a:solidFill>
                  <a:srgbClr val="64748B"/>
                </a:solidFill>
                <a:latin typeface="Noto Sans SC"/>
                <a:ea typeface="Noto Sans SC"/>
                <a:cs typeface="Noto Sans SC"/>
                <a:sym typeface="Noto Sans SC"/>
              </a:rPr>
              <a:t>价值</a:t>
            </a:r>
            <a:endParaRPr lang="en-US" sz="1100"/>
          </a:p>
        </p:txBody>
      </p:sp>
      <p:sp>
        <p:nvSpPr>
          <p:cNvPr id="66" name="AutoShape 66"/>
          <p:cNvSpPr/>
          <p:nvPr/>
        </p:nvSpPr>
        <p:spPr>
          <a:xfrm>
            <a:off x="9982200" y="4610100"/>
            <a:ext cx="19812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0" i="0" u="none" strike="noStrike">
                <a:solidFill>
                  <a:srgbClr val="334155"/>
                </a:solidFill>
                <a:latin typeface="Noto Sans SC"/>
                <a:ea typeface="Noto Sans SC"/>
                <a:cs typeface="Noto Sans SC"/>
                <a:sym typeface="Noto Sans SC"/>
              </a:rPr>
              <a:t>管理闭环</a:t>
            </a:r>
            <a:endParaRPr lang="en-US" sz="1100"/>
          </a:p>
        </p:txBody>
      </p:sp>
      <p:sp>
        <p:nvSpPr>
          <p:cNvPr id="67" name="AutoShape 67"/>
          <p:cNvSpPr/>
          <p:nvPr/>
        </p:nvSpPr>
        <p:spPr>
          <a:xfrm>
            <a:off x="9982200" y="5207000"/>
            <a:ext cx="1981200" cy="4318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68" name="AutoShape 68"/>
          <p:cNvSpPr/>
          <p:nvPr/>
        </p:nvSpPr>
        <p:spPr>
          <a:xfrm>
            <a:off x="9982200" y="5207000"/>
            <a:ext cx="1981200" cy="4318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200" b="1" i="0" u="none" strike="noStrike">
                <a:solidFill>
                  <a:srgbClr val="FFFFFF">
                    <a:alpha val="87843"/>
                  </a:srgbClr>
                </a:solidFill>
                <a:latin typeface="Noto Sans SC"/>
                <a:ea typeface="Noto Sans SC"/>
                <a:cs typeface="Noto Sans SC"/>
                <a:sym typeface="Noto Sans SC"/>
              </a:rPr>
              <a:t>决策 ·</a:t>
            </a:r>
            <a:r>
              <a:rPr lang="en-US" sz="1200" b="1" i="0" u="none" strike="noStrike">
                <a:solidFill>
                  <a:srgbClr val="FFFFFF"/>
                </a:solidFill>
                <a:latin typeface="Noto Sans SC"/>
                <a:ea typeface="Noto Sans SC"/>
                <a:cs typeface="Noto Sans SC"/>
                <a:sym typeface="Noto Sans SC"/>
              </a:rPr>
              <a:t>是</a:t>
            </a:r>
            <a:endParaRPr lang="en-US" sz="1100"/>
          </a:p>
        </p:txBody>
      </p:sp>
      <p:sp>
        <p:nvSpPr>
          <p:cNvPr id="69" name="AutoShape 69"/>
          <p:cNvSpPr/>
          <p:nvPr/>
        </p:nvSpPr>
        <p:spPr>
          <a:xfrm>
            <a:off x="508000" y="5994400"/>
            <a:ext cx="11531600" cy="6604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70" name="AutoShape 70"/>
          <p:cNvSpPr/>
          <p:nvPr/>
        </p:nvSpPr>
        <p:spPr>
          <a:xfrm>
            <a:off x="508000" y="5994400"/>
            <a:ext cx="50800" cy="660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71" name="AutoShape 71"/>
          <p:cNvSpPr/>
          <p:nvPr/>
        </p:nvSpPr>
        <p:spPr>
          <a:xfrm>
            <a:off x="762000" y="5994400"/>
            <a:ext cx="11150600" cy="660400"/>
          </a:xfrm>
          <a:prstGeom prst="rect">
            <a:avLst/>
          </a:prstGeom>
          <a:noFill/>
          <a:ln w="12700" cap="flat" cmpd="sng">
            <a:noFill/>
            <a:prstDash val="solid"/>
            <a:round/>
          </a:ln>
        </p:spPr>
        <p:txBody>
          <a:bodyPr vert="horz" wrap="square" lIns="0" tIns="0" rIns="0" bIns="0" rtlCol="0" anchor="ctr" anchorCtr="0"/>
          <a:lstStyle/>
          <a:p>
            <a:pPr marL="0" indent="0" algn="l">
              <a:lnSpc>
                <a:spcPct val="113000"/>
              </a:lnSpc>
              <a:defRPr/>
            </a:pPr>
            <a:r>
              <a:rPr lang="en-US" sz="1300" b="0" i="0" u="none" strike="noStrike">
                <a:solidFill>
                  <a:srgbClr val="334155"/>
                </a:solidFill>
                <a:latin typeface="Noto Sans SC"/>
                <a:ea typeface="Noto Sans SC"/>
                <a:cs typeface="Noto Sans SC"/>
                <a:sym typeface="Noto Sans SC"/>
              </a:rPr>
              <a:t>L0、L1由技术团队处理,为后续分析做准备;L2是算法研发的基础;L3开始产生可分析的信息;只有到了</a:t>
            </a:r>
            <a:r>
              <a:rPr lang="en-US" sz="1300" b="1" i="0" u="none" strike="noStrike">
                <a:solidFill>
                  <a:srgbClr val="1E3A8A"/>
                </a:solidFill>
                <a:latin typeface="Noto Sans SC"/>
                <a:ea typeface="Noto Sans SC"/>
                <a:cs typeface="Noto Sans SC"/>
                <a:sym typeface="Noto Sans SC"/>
              </a:rPr>
              <a:t>L4</a:t>
            </a:r>
            <a:r>
              <a:rPr lang="en-US" sz="1300" b="0" i="0" u="none" strike="noStrike">
                <a:solidFill>
                  <a:srgbClr val="334155"/>
                </a:solidFill>
                <a:latin typeface="Noto Sans SC"/>
                <a:ea typeface="Noto Sans SC"/>
                <a:cs typeface="Noto Sans SC"/>
                <a:sym typeface="Noto Sans SC"/>
              </a:rPr>
              <a:t>,数据才真正转化为可直接用于业务决策的报表与告警,形成管理闭环。</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604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3200" b="1" i="0" u="none" strike="noStrike" spc="100">
                <a:solidFill>
                  <a:srgbClr val="1E3A8A"/>
                </a:solidFill>
                <a:latin typeface="Noto Sans SC"/>
                <a:ea typeface="Noto Sans SC"/>
                <a:cs typeface="Noto Sans SC"/>
                <a:sym typeface="Noto Sans SC"/>
              </a:rPr>
              <a:t>端到端处理路径(以作物分类为例)</a:t>
            </a:r>
            <a:endParaRPr lang="en-US" sz="1100"/>
          </a:p>
        </p:txBody>
      </p:sp>
      <p:sp>
        <p:nvSpPr>
          <p:cNvPr id="3" name="AutoShape 3"/>
          <p:cNvSpPr/>
          <p:nvPr/>
        </p:nvSpPr>
        <p:spPr>
          <a:xfrm>
            <a:off x="508000" y="1041400"/>
            <a:ext cx="11176000" cy="3302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700" b="0" i="0" u="none" strike="noStrike" spc="200">
                <a:solidFill>
                  <a:srgbClr val="475569"/>
                </a:solidFill>
                <a:latin typeface="Noto Sans SC"/>
                <a:ea typeface="Noto Sans SC"/>
                <a:cs typeface="Noto Sans SC"/>
                <a:sym typeface="Noto Sans SC"/>
              </a:rPr>
              <a:t>从飞行采集到业务系统可读结果</a:t>
            </a:r>
            <a:endParaRPr lang="en-US" sz="1100"/>
          </a:p>
        </p:txBody>
      </p:sp>
      <p:sp>
        <p:nvSpPr>
          <p:cNvPr id="4" name="AutoShape 4"/>
          <p:cNvSpPr/>
          <p:nvPr/>
        </p:nvSpPr>
        <p:spPr>
          <a:xfrm>
            <a:off x="508000" y="1524000"/>
            <a:ext cx="1854200" cy="40640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508000" y="1524000"/>
            <a:ext cx="50800" cy="4064000"/>
          </a:xfrm>
          <a:prstGeom prst="roundRect">
            <a:avLst>
              <a:gd name="adj" fmla="val 0"/>
            </a:avLst>
          </a:prstGeom>
          <a:gradFill rotWithShape="1">
            <a:gsLst>
              <a:gs pos="0">
                <a:srgbClr val="1E3A8A">
                  <a:alpha val="100000"/>
                </a:srgbClr>
              </a:gs>
              <a:gs pos="100000">
                <a:srgbClr val="38BDF8">
                  <a:alpha val="100000"/>
                </a:srgbClr>
              </a:gs>
            </a:gsLst>
            <a:lin ang="5400000"/>
          </a:gradFill>
          <a:ln cap="flat" cmpd="sng">
            <a:gradFill rotWithShape="1">
              <a:gsLst>
                <a:gs pos="0">
                  <a:srgbClr val="0D2771">
                    <a:alpha val="100000"/>
                  </a:srgbClr>
                </a:gs>
                <a:gs pos="100000">
                  <a:srgbClr val="1CA3DF">
                    <a:alpha val="100000"/>
                  </a:srgbClr>
                </a:gs>
              </a:gsLst>
              <a:lin ang="5400000"/>
            </a:gradFill>
            <a:prstDash val="solid"/>
            <a:round/>
          </a:ln>
        </p:spPr>
        <p:txBody>
          <a:bodyPr vert="horz" wrap="square" lIns="63500" tIns="63500" rIns="63500" bIns="63500" rtlCol="0" anchor="ctr"/>
          <a:lstStyle/>
          <a:p>
            <a:pPr algn="ctr">
              <a:defRPr/>
            </a:pPr>
          </a:p>
        </p:txBody>
      </p:sp>
      <p:sp>
        <p:nvSpPr>
          <p:cNvPr id="6" name="AutoShape 6"/>
          <p:cNvSpPr/>
          <p:nvPr/>
        </p:nvSpPr>
        <p:spPr>
          <a:xfrm>
            <a:off x="508000" y="1524000"/>
            <a:ext cx="1854200" cy="8382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4000" b="1" i="0" u="none" strike="noStrike">
                <a:solidFill>
                  <a:srgbClr val="1E3A8A">
                    <a:alpha val="12941"/>
                  </a:srgbClr>
                </a:solidFill>
                <a:latin typeface="Inter"/>
                <a:ea typeface="Inter"/>
                <a:cs typeface="Inter"/>
                <a:sym typeface="Inter"/>
              </a:rPr>
              <a:t>01</a:t>
            </a:r>
            <a:endParaRPr lang="en-US" sz="1100"/>
          </a:p>
        </p:txBody>
      </p:sp>
      <p:sp>
        <p:nvSpPr>
          <p:cNvPr id="7" name="AutoShape 7"/>
          <p:cNvSpPr/>
          <p:nvPr/>
        </p:nvSpPr>
        <p:spPr>
          <a:xfrm>
            <a:off x="508000" y="2387600"/>
            <a:ext cx="1854200" cy="4318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2000" b="1" i="0" u="none" strike="noStrike">
                <a:solidFill>
                  <a:srgbClr val="1E3A8A"/>
                </a:solidFill>
                <a:latin typeface="Noto Sans SC"/>
                <a:ea typeface="Noto Sans SC"/>
                <a:cs typeface="Noto Sans SC"/>
                <a:sym typeface="Noto Sans SC"/>
              </a:rPr>
              <a:t>采集</a:t>
            </a:r>
            <a:endParaRPr lang="en-US" sz="1100"/>
          </a:p>
        </p:txBody>
      </p:sp>
      <p:cxnSp>
        <p:nvCxnSpPr>
          <p:cNvPr id="8" name="Connector 8"/>
          <p:cNvCxnSpPr/>
          <p:nvPr/>
        </p:nvCxnSpPr>
        <p:spPr>
          <a:xfrm rot="-29635">
            <a:off x="698527" y="2889250"/>
            <a:ext cx="14732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9" name="AutoShape 9"/>
          <p:cNvSpPr/>
          <p:nvPr/>
        </p:nvSpPr>
        <p:spPr>
          <a:xfrm>
            <a:off x="584200" y="2971800"/>
            <a:ext cx="1701800" cy="1143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300" b="0" i="0" u="none" strike="noStrike">
                <a:solidFill>
                  <a:srgbClr val="334155"/>
                </a:solidFill>
                <a:latin typeface="Noto Sans SC"/>
                <a:ea typeface="Noto Sans SC"/>
                <a:cs typeface="Noto Sans SC"/>
                <a:sym typeface="Noto Sans SC"/>
              </a:rPr>
              <a:t>无人机高光谱(可选RGB)飞行;布置白板;记录样点类别与地块边界。</a:t>
            </a:r>
            <a:endParaRPr lang="en-US" sz="1100"/>
          </a:p>
        </p:txBody>
      </p:sp>
      <p:cxnSp>
        <p:nvCxnSpPr>
          <p:cNvPr id="10" name="Connector 10"/>
          <p:cNvCxnSpPr/>
          <p:nvPr/>
        </p:nvCxnSpPr>
        <p:spPr>
          <a:xfrm rot="-190789">
            <a:off x="2362376" y="3016250"/>
            <a:ext cx="228600" cy="12700"/>
          </a:xfrm>
          <a:prstGeom prst="straightConnector1">
            <a:avLst/>
          </a:prstGeom>
          <a:solidFill>
            <a:srgbClr val="DEE0E3">
              <a:alpha val="100000"/>
            </a:srgbClr>
          </a:solidFill>
          <a:ln w="25400" cap="flat" cmpd="sng">
            <a:solidFill>
              <a:srgbClr val="38BDF8">
                <a:alpha val="55000"/>
              </a:srgbClr>
            </a:solidFill>
            <a:prstDash val="solid"/>
            <a:round/>
            <a:headEnd type="none" w="lg" len="lg"/>
            <a:tailEnd type="arrow" w="med" len="med"/>
          </a:ln>
        </p:spPr>
      </p:cxnSp>
      <p:sp>
        <p:nvSpPr>
          <p:cNvPr id="11" name="AutoShape 11"/>
          <p:cNvSpPr/>
          <p:nvPr/>
        </p:nvSpPr>
        <p:spPr>
          <a:xfrm>
            <a:off x="2590800" y="1524000"/>
            <a:ext cx="1854200" cy="40640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2590800" y="1524000"/>
            <a:ext cx="50800" cy="4064000"/>
          </a:xfrm>
          <a:prstGeom prst="roundRect">
            <a:avLst>
              <a:gd name="adj" fmla="val 0"/>
            </a:avLst>
          </a:prstGeom>
          <a:gradFill rotWithShape="1">
            <a:gsLst>
              <a:gs pos="0">
                <a:srgbClr val="1E3A8A">
                  <a:alpha val="100000"/>
                </a:srgbClr>
              </a:gs>
              <a:gs pos="100000">
                <a:srgbClr val="38BDF8">
                  <a:alpha val="100000"/>
                </a:srgbClr>
              </a:gs>
            </a:gsLst>
            <a:lin ang="5400000"/>
          </a:gradFill>
          <a:ln cap="flat" cmpd="sng">
            <a:gradFill rotWithShape="1">
              <a:gsLst>
                <a:gs pos="0">
                  <a:srgbClr val="0D2771">
                    <a:alpha val="100000"/>
                  </a:srgbClr>
                </a:gs>
                <a:gs pos="100000">
                  <a:srgbClr val="1CA3DF">
                    <a:alpha val="100000"/>
                  </a:srgbClr>
                </a:gs>
              </a:gsLst>
              <a:lin ang="5400000"/>
            </a:gradFill>
            <a:prstDash val="solid"/>
            <a:round/>
          </a:ln>
        </p:spPr>
        <p:txBody>
          <a:bodyPr vert="horz" wrap="square" lIns="63500" tIns="63500" rIns="63500" bIns="63500" rtlCol="0" anchor="ctr"/>
          <a:lstStyle/>
          <a:p>
            <a:pPr algn="ctr">
              <a:defRPr/>
            </a:pPr>
          </a:p>
        </p:txBody>
      </p:sp>
      <p:sp>
        <p:nvSpPr>
          <p:cNvPr id="13" name="AutoShape 13"/>
          <p:cNvSpPr/>
          <p:nvPr/>
        </p:nvSpPr>
        <p:spPr>
          <a:xfrm>
            <a:off x="2590800" y="1524000"/>
            <a:ext cx="1854200" cy="8382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4000" b="1" i="0" u="none" strike="noStrike">
                <a:solidFill>
                  <a:srgbClr val="1E3A8A">
                    <a:alpha val="12941"/>
                  </a:srgbClr>
                </a:solidFill>
                <a:latin typeface="Inter"/>
                <a:ea typeface="Inter"/>
                <a:cs typeface="Inter"/>
                <a:sym typeface="Inter"/>
              </a:rPr>
              <a:t>02</a:t>
            </a:r>
            <a:endParaRPr lang="en-US" sz="1100"/>
          </a:p>
        </p:txBody>
      </p:sp>
      <p:sp>
        <p:nvSpPr>
          <p:cNvPr id="14" name="AutoShape 14"/>
          <p:cNvSpPr/>
          <p:nvPr/>
        </p:nvSpPr>
        <p:spPr>
          <a:xfrm>
            <a:off x="2590800" y="2387600"/>
            <a:ext cx="1854200" cy="4318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2000" b="1" i="0" u="none" strike="noStrike">
                <a:solidFill>
                  <a:srgbClr val="1E3A8A"/>
                </a:solidFill>
                <a:latin typeface="Noto Sans SC"/>
                <a:ea typeface="Noto Sans SC"/>
                <a:cs typeface="Noto Sans SC"/>
                <a:sym typeface="Noto Sans SC"/>
              </a:rPr>
              <a:t>预处理</a:t>
            </a:r>
            <a:endParaRPr lang="en-US" sz="1100"/>
          </a:p>
        </p:txBody>
      </p:sp>
      <p:cxnSp>
        <p:nvCxnSpPr>
          <p:cNvPr id="15" name="Connector 15"/>
          <p:cNvCxnSpPr/>
          <p:nvPr/>
        </p:nvCxnSpPr>
        <p:spPr>
          <a:xfrm rot="-29635">
            <a:off x="2781327" y="2889250"/>
            <a:ext cx="14732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16" name="AutoShape 16"/>
          <p:cNvSpPr/>
          <p:nvPr/>
        </p:nvSpPr>
        <p:spPr>
          <a:xfrm>
            <a:off x="2667000" y="2971800"/>
            <a:ext cx="1701800" cy="1016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300" b="0" i="0" u="none" strike="noStrike">
                <a:solidFill>
                  <a:srgbClr val="334155"/>
                </a:solidFill>
                <a:latin typeface="Noto Sans SC"/>
                <a:ea typeface="Noto Sans SC"/>
                <a:cs typeface="Noto Sans SC"/>
                <a:sym typeface="Noto Sans SC"/>
              </a:rPr>
              <a:t>暗电流/坏线/定标→正射→镶嵌,形成</a:t>
            </a:r>
            <a:r>
              <a:rPr lang="en-US" sz="1400" b="1" i="0" u="none" strike="noStrike">
                <a:solidFill>
                  <a:srgbClr val="38BDF8"/>
                </a:solidFill>
                <a:latin typeface="Noto Sans SC"/>
                <a:ea typeface="Noto Sans SC"/>
                <a:cs typeface="Noto Sans SC"/>
                <a:sym typeface="Noto Sans SC"/>
              </a:rPr>
              <a:t>L2</a:t>
            </a:r>
            <a:r>
              <a:rPr lang="en-US" sz="1300" b="0" i="0" u="none" strike="noStrike">
                <a:solidFill>
                  <a:srgbClr val="334155"/>
                </a:solidFill>
                <a:latin typeface="Noto Sans SC"/>
                <a:ea typeface="Noto Sans SC"/>
                <a:cs typeface="Noto Sans SC"/>
                <a:sym typeface="Noto Sans SC"/>
              </a:rPr>
              <a:t>反射率正射立方体(GeoTIFF)。</a:t>
            </a:r>
            <a:endParaRPr lang="en-US" sz="1100"/>
          </a:p>
        </p:txBody>
      </p:sp>
      <p:cxnSp>
        <p:nvCxnSpPr>
          <p:cNvPr id="17" name="Connector 17"/>
          <p:cNvCxnSpPr/>
          <p:nvPr/>
        </p:nvCxnSpPr>
        <p:spPr>
          <a:xfrm rot="-190789">
            <a:off x="4445176" y="3016250"/>
            <a:ext cx="228600" cy="12700"/>
          </a:xfrm>
          <a:prstGeom prst="straightConnector1">
            <a:avLst/>
          </a:prstGeom>
          <a:solidFill>
            <a:srgbClr val="DEE0E3">
              <a:alpha val="100000"/>
            </a:srgbClr>
          </a:solidFill>
          <a:ln w="25400" cap="flat" cmpd="sng">
            <a:solidFill>
              <a:srgbClr val="38BDF8">
                <a:alpha val="55000"/>
              </a:srgbClr>
            </a:solidFill>
            <a:prstDash val="solid"/>
            <a:round/>
            <a:headEnd type="none" w="lg" len="lg"/>
            <a:tailEnd type="arrow" w="med" len="med"/>
          </a:ln>
        </p:spPr>
      </p:cxnSp>
      <p:sp>
        <p:nvSpPr>
          <p:cNvPr id="18" name="AutoShape 18"/>
          <p:cNvSpPr/>
          <p:nvPr/>
        </p:nvSpPr>
        <p:spPr>
          <a:xfrm>
            <a:off x="4673600" y="1524000"/>
            <a:ext cx="1854200" cy="40640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4673600" y="1524000"/>
            <a:ext cx="50800" cy="4064000"/>
          </a:xfrm>
          <a:prstGeom prst="roundRect">
            <a:avLst>
              <a:gd name="adj" fmla="val 0"/>
            </a:avLst>
          </a:prstGeom>
          <a:gradFill rotWithShape="1">
            <a:gsLst>
              <a:gs pos="0">
                <a:srgbClr val="1E3A8A">
                  <a:alpha val="100000"/>
                </a:srgbClr>
              </a:gs>
              <a:gs pos="100000">
                <a:srgbClr val="38BDF8">
                  <a:alpha val="100000"/>
                </a:srgbClr>
              </a:gs>
            </a:gsLst>
            <a:lin ang="5400000"/>
          </a:gradFill>
          <a:ln cap="flat" cmpd="sng">
            <a:gradFill rotWithShape="1">
              <a:gsLst>
                <a:gs pos="0">
                  <a:srgbClr val="0D2771">
                    <a:alpha val="100000"/>
                  </a:srgbClr>
                </a:gs>
                <a:gs pos="100000">
                  <a:srgbClr val="1CA3DF">
                    <a:alpha val="100000"/>
                  </a:srgbClr>
                </a:gs>
              </a:gsLst>
              <a:lin ang="5400000"/>
            </a:gradFill>
            <a:prstDash val="solid"/>
            <a:round/>
          </a:ln>
        </p:spPr>
        <p:txBody>
          <a:bodyPr vert="horz" wrap="square" lIns="63500" tIns="63500" rIns="63500" bIns="63500" rtlCol="0" anchor="ctr"/>
          <a:lstStyle/>
          <a:p>
            <a:pPr algn="ctr">
              <a:defRPr/>
            </a:pPr>
          </a:p>
        </p:txBody>
      </p:sp>
      <p:sp>
        <p:nvSpPr>
          <p:cNvPr id="20" name="AutoShape 20"/>
          <p:cNvSpPr/>
          <p:nvPr/>
        </p:nvSpPr>
        <p:spPr>
          <a:xfrm>
            <a:off x="4673600" y="1524000"/>
            <a:ext cx="1854200" cy="8382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4000" b="1" i="0" u="none" strike="noStrike">
                <a:solidFill>
                  <a:srgbClr val="1E3A8A">
                    <a:alpha val="12941"/>
                  </a:srgbClr>
                </a:solidFill>
                <a:latin typeface="Inter"/>
                <a:ea typeface="Inter"/>
                <a:cs typeface="Inter"/>
                <a:sym typeface="Inter"/>
              </a:rPr>
              <a:t>03</a:t>
            </a:r>
            <a:endParaRPr lang="en-US" sz="1100"/>
          </a:p>
        </p:txBody>
      </p:sp>
      <p:sp>
        <p:nvSpPr>
          <p:cNvPr id="21" name="AutoShape 21"/>
          <p:cNvSpPr/>
          <p:nvPr/>
        </p:nvSpPr>
        <p:spPr>
          <a:xfrm>
            <a:off x="4673600" y="2387600"/>
            <a:ext cx="1854200" cy="4318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2000" b="1" i="0" u="none" strike="noStrike">
                <a:solidFill>
                  <a:srgbClr val="1E3A8A"/>
                </a:solidFill>
                <a:latin typeface="Noto Sans SC"/>
                <a:ea typeface="Noto Sans SC"/>
                <a:cs typeface="Noto Sans SC"/>
                <a:sym typeface="Noto Sans SC"/>
              </a:rPr>
              <a:t>分析</a:t>
            </a:r>
            <a:endParaRPr lang="en-US" sz="1100"/>
          </a:p>
        </p:txBody>
      </p:sp>
      <p:cxnSp>
        <p:nvCxnSpPr>
          <p:cNvPr id="22" name="Connector 22"/>
          <p:cNvCxnSpPr/>
          <p:nvPr/>
        </p:nvCxnSpPr>
        <p:spPr>
          <a:xfrm rot="-29635">
            <a:off x="4864127" y="2889250"/>
            <a:ext cx="14732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23" name="AutoShape 23"/>
          <p:cNvSpPr/>
          <p:nvPr/>
        </p:nvSpPr>
        <p:spPr>
          <a:xfrm>
            <a:off x="4749800" y="2971800"/>
            <a:ext cx="1701800" cy="1016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300" b="0" i="0" u="none" strike="noStrike">
                <a:solidFill>
                  <a:srgbClr val="334155"/>
                </a:solidFill>
                <a:latin typeface="Noto Sans SC"/>
                <a:ea typeface="Noto Sans SC"/>
                <a:cs typeface="Noto Sans SC"/>
                <a:sym typeface="Noto Sans SC"/>
              </a:rPr>
              <a:t>样本标注+分类模型(传统ML/空谱CNN等)→</a:t>
            </a:r>
            <a:r>
              <a:rPr lang="en-US" sz="1400" b="1" i="0" u="none" strike="noStrike">
                <a:solidFill>
                  <a:srgbClr val="38BDF8"/>
                </a:solidFill>
                <a:latin typeface="Noto Sans SC"/>
                <a:ea typeface="Noto Sans SC"/>
                <a:cs typeface="Noto Sans SC"/>
                <a:sym typeface="Noto Sans SC"/>
              </a:rPr>
              <a:t>L3</a:t>
            </a:r>
            <a:r>
              <a:rPr lang="en-US" sz="1300" b="0" i="0" u="none" strike="noStrike">
                <a:solidFill>
                  <a:srgbClr val="334155"/>
                </a:solidFill>
                <a:latin typeface="Noto Sans SC"/>
                <a:ea typeface="Noto Sans SC"/>
                <a:cs typeface="Noto Sans SC"/>
                <a:sym typeface="Noto Sans SC"/>
              </a:rPr>
              <a:t>分类着色图。</a:t>
            </a:r>
            <a:endParaRPr lang="en-US" sz="1100"/>
          </a:p>
        </p:txBody>
      </p:sp>
      <p:cxnSp>
        <p:nvCxnSpPr>
          <p:cNvPr id="24" name="Connector 24"/>
          <p:cNvCxnSpPr/>
          <p:nvPr/>
        </p:nvCxnSpPr>
        <p:spPr>
          <a:xfrm rot="-190789">
            <a:off x="6527976" y="3016250"/>
            <a:ext cx="228600" cy="12700"/>
          </a:xfrm>
          <a:prstGeom prst="straightConnector1">
            <a:avLst/>
          </a:prstGeom>
          <a:solidFill>
            <a:srgbClr val="DEE0E3">
              <a:alpha val="100000"/>
            </a:srgbClr>
          </a:solidFill>
          <a:ln w="25400" cap="flat" cmpd="sng">
            <a:solidFill>
              <a:srgbClr val="38BDF8">
                <a:alpha val="55000"/>
              </a:srgbClr>
            </a:solidFill>
            <a:prstDash val="solid"/>
            <a:round/>
            <a:headEnd type="none" w="lg" len="lg"/>
            <a:tailEnd type="arrow" w="med" len="med"/>
          </a:ln>
        </p:spPr>
      </p:cxnSp>
      <p:sp>
        <p:nvSpPr>
          <p:cNvPr id="25" name="AutoShape 25"/>
          <p:cNvSpPr/>
          <p:nvPr/>
        </p:nvSpPr>
        <p:spPr>
          <a:xfrm>
            <a:off x="6756400" y="1524000"/>
            <a:ext cx="1854200" cy="40640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6756400" y="1524000"/>
            <a:ext cx="50800" cy="4064000"/>
          </a:xfrm>
          <a:prstGeom prst="roundRect">
            <a:avLst>
              <a:gd name="adj" fmla="val 0"/>
            </a:avLst>
          </a:prstGeom>
          <a:gradFill rotWithShape="1">
            <a:gsLst>
              <a:gs pos="0">
                <a:srgbClr val="1E3A8A">
                  <a:alpha val="100000"/>
                </a:srgbClr>
              </a:gs>
              <a:gs pos="100000">
                <a:srgbClr val="38BDF8">
                  <a:alpha val="100000"/>
                </a:srgbClr>
              </a:gs>
            </a:gsLst>
            <a:lin ang="5400000"/>
          </a:gradFill>
          <a:ln cap="flat" cmpd="sng">
            <a:gradFill rotWithShape="1">
              <a:gsLst>
                <a:gs pos="0">
                  <a:srgbClr val="0D2771">
                    <a:alpha val="100000"/>
                  </a:srgbClr>
                </a:gs>
                <a:gs pos="100000">
                  <a:srgbClr val="1CA3DF">
                    <a:alpha val="100000"/>
                  </a:srgbClr>
                </a:gs>
              </a:gsLst>
              <a:lin ang="5400000"/>
            </a:gradFill>
            <a:prstDash val="solid"/>
            <a:round/>
          </a:ln>
        </p:spPr>
        <p:txBody>
          <a:bodyPr vert="horz" wrap="square" lIns="63500" tIns="63500" rIns="63500" bIns="63500" rtlCol="0" anchor="ctr"/>
          <a:lstStyle/>
          <a:p>
            <a:pPr algn="ctr">
              <a:defRPr/>
            </a:pPr>
          </a:p>
        </p:txBody>
      </p:sp>
      <p:sp>
        <p:nvSpPr>
          <p:cNvPr id="27" name="AutoShape 27"/>
          <p:cNvSpPr/>
          <p:nvPr/>
        </p:nvSpPr>
        <p:spPr>
          <a:xfrm>
            <a:off x="6756400" y="1524000"/>
            <a:ext cx="1854200" cy="8382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4000" b="1" i="0" u="none" strike="noStrike">
                <a:solidFill>
                  <a:srgbClr val="1E3A8A">
                    <a:alpha val="12941"/>
                  </a:srgbClr>
                </a:solidFill>
                <a:latin typeface="Inter"/>
                <a:ea typeface="Inter"/>
                <a:cs typeface="Inter"/>
                <a:sym typeface="Inter"/>
              </a:rPr>
              <a:t>04</a:t>
            </a:r>
            <a:endParaRPr lang="en-US" sz="1100"/>
          </a:p>
        </p:txBody>
      </p:sp>
      <p:sp>
        <p:nvSpPr>
          <p:cNvPr id="28" name="AutoShape 28"/>
          <p:cNvSpPr/>
          <p:nvPr/>
        </p:nvSpPr>
        <p:spPr>
          <a:xfrm>
            <a:off x="6756400" y="2387600"/>
            <a:ext cx="1854200" cy="4318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2000" b="1" i="0" u="none" strike="noStrike">
                <a:solidFill>
                  <a:srgbClr val="1E3A8A"/>
                </a:solidFill>
                <a:latin typeface="Noto Sans SC"/>
                <a:ea typeface="Noto Sans SC"/>
                <a:cs typeface="Noto Sans SC"/>
                <a:sym typeface="Noto Sans SC"/>
              </a:rPr>
              <a:t>后处理</a:t>
            </a:r>
            <a:endParaRPr lang="en-US" sz="1100"/>
          </a:p>
        </p:txBody>
      </p:sp>
      <p:cxnSp>
        <p:nvCxnSpPr>
          <p:cNvPr id="29" name="Connector 29"/>
          <p:cNvCxnSpPr/>
          <p:nvPr/>
        </p:nvCxnSpPr>
        <p:spPr>
          <a:xfrm rot="-29635">
            <a:off x="6946927" y="2889250"/>
            <a:ext cx="14732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30" name="AutoShape 30"/>
          <p:cNvSpPr/>
          <p:nvPr/>
        </p:nvSpPr>
        <p:spPr>
          <a:xfrm>
            <a:off x="6832600" y="2971800"/>
            <a:ext cx="1701800" cy="1016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300" b="0" i="0" u="none" strike="noStrike">
                <a:solidFill>
                  <a:srgbClr val="334155"/>
                </a:solidFill>
                <a:latin typeface="Noto Sans SC"/>
                <a:ea typeface="Noto Sans SC"/>
                <a:cs typeface="Noto Sans SC"/>
                <a:sym typeface="Noto Sans SC"/>
              </a:rPr>
              <a:t>平滑与小斑剔除,提升图斑连续性,稳定面积统计。</a:t>
            </a:r>
            <a:endParaRPr lang="en-US" sz="1100"/>
          </a:p>
        </p:txBody>
      </p:sp>
      <p:cxnSp>
        <p:nvCxnSpPr>
          <p:cNvPr id="31" name="Connector 31"/>
          <p:cNvCxnSpPr/>
          <p:nvPr/>
        </p:nvCxnSpPr>
        <p:spPr>
          <a:xfrm rot="-190789">
            <a:off x="8610776" y="3016250"/>
            <a:ext cx="228600" cy="12700"/>
          </a:xfrm>
          <a:prstGeom prst="straightConnector1">
            <a:avLst/>
          </a:prstGeom>
          <a:solidFill>
            <a:srgbClr val="DEE0E3">
              <a:alpha val="100000"/>
            </a:srgbClr>
          </a:solidFill>
          <a:ln w="25400" cap="flat" cmpd="sng">
            <a:solidFill>
              <a:srgbClr val="38BDF8">
                <a:alpha val="55000"/>
              </a:srgbClr>
            </a:solidFill>
            <a:prstDash val="solid"/>
            <a:round/>
            <a:headEnd type="none" w="lg" len="lg"/>
            <a:tailEnd type="arrow" w="med" len="med"/>
          </a:ln>
        </p:spPr>
      </p:cxnSp>
      <p:sp>
        <p:nvSpPr>
          <p:cNvPr id="32" name="AutoShape 32"/>
          <p:cNvSpPr/>
          <p:nvPr/>
        </p:nvSpPr>
        <p:spPr>
          <a:xfrm>
            <a:off x="8839200" y="1524000"/>
            <a:ext cx="1854200" cy="40640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33" name="AutoShape 33"/>
          <p:cNvSpPr/>
          <p:nvPr/>
        </p:nvSpPr>
        <p:spPr>
          <a:xfrm>
            <a:off x="8839200" y="1524000"/>
            <a:ext cx="50800" cy="4064000"/>
          </a:xfrm>
          <a:prstGeom prst="roundRect">
            <a:avLst>
              <a:gd name="adj" fmla="val 0"/>
            </a:avLst>
          </a:prstGeom>
          <a:gradFill rotWithShape="1">
            <a:gsLst>
              <a:gs pos="0">
                <a:srgbClr val="1E3A8A">
                  <a:alpha val="100000"/>
                </a:srgbClr>
              </a:gs>
              <a:gs pos="100000">
                <a:srgbClr val="38BDF8">
                  <a:alpha val="100000"/>
                </a:srgbClr>
              </a:gs>
            </a:gsLst>
            <a:lin ang="5400000"/>
          </a:gradFill>
          <a:ln cap="flat" cmpd="sng">
            <a:gradFill rotWithShape="1">
              <a:gsLst>
                <a:gs pos="0">
                  <a:srgbClr val="0D2771">
                    <a:alpha val="100000"/>
                  </a:srgbClr>
                </a:gs>
                <a:gs pos="100000">
                  <a:srgbClr val="1CA3DF">
                    <a:alpha val="100000"/>
                  </a:srgbClr>
                </a:gs>
              </a:gsLst>
              <a:lin ang="5400000"/>
            </a:gradFill>
            <a:prstDash val="solid"/>
            <a:round/>
          </a:ln>
        </p:spPr>
        <p:txBody>
          <a:bodyPr vert="horz" wrap="square" lIns="63500" tIns="63500" rIns="63500" bIns="63500" rtlCol="0" anchor="ctr"/>
          <a:lstStyle/>
          <a:p>
            <a:pPr algn="ctr">
              <a:defRPr/>
            </a:pPr>
          </a:p>
        </p:txBody>
      </p:sp>
      <p:sp>
        <p:nvSpPr>
          <p:cNvPr id="34" name="AutoShape 34"/>
          <p:cNvSpPr/>
          <p:nvPr/>
        </p:nvSpPr>
        <p:spPr>
          <a:xfrm>
            <a:off x="8839200" y="1524000"/>
            <a:ext cx="1854200" cy="8382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4000" b="1" i="0" u="none" strike="noStrike">
                <a:solidFill>
                  <a:srgbClr val="1E3A8A">
                    <a:alpha val="12941"/>
                  </a:srgbClr>
                </a:solidFill>
                <a:latin typeface="Inter"/>
                <a:ea typeface="Inter"/>
                <a:cs typeface="Inter"/>
                <a:sym typeface="Inter"/>
              </a:rPr>
              <a:t>05</a:t>
            </a:r>
            <a:endParaRPr lang="en-US" sz="1100"/>
          </a:p>
        </p:txBody>
      </p:sp>
      <p:sp>
        <p:nvSpPr>
          <p:cNvPr id="35" name="AutoShape 35"/>
          <p:cNvSpPr/>
          <p:nvPr/>
        </p:nvSpPr>
        <p:spPr>
          <a:xfrm>
            <a:off x="8839200" y="2387600"/>
            <a:ext cx="1854200" cy="4318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2000" b="1" i="0" u="none" strike="noStrike">
                <a:solidFill>
                  <a:srgbClr val="1E3A8A"/>
                </a:solidFill>
                <a:latin typeface="Noto Sans SC"/>
                <a:ea typeface="Noto Sans SC"/>
                <a:cs typeface="Noto Sans SC"/>
                <a:sym typeface="Noto Sans SC"/>
              </a:rPr>
              <a:t>汇总</a:t>
            </a:r>
            <a:endParaRPr lang="en-US" sz="1100"/>
          </a:p>
        </p:txBody>
      </p:sp>
      <p:cxnSp>
        <p:nvCxnSpPr>
          <p:cNvPr id="36" name="Connector 36"/>
          <p:cNvCxnSpPr/>
          <p:nvPr/>
        </p:nvCxnSpPr>
        <p:spPr>
          <a:xfrm rot="-29635">
            <a:off x="9029727" y="2889250"/>
            <a:ext cx="14732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37" name="AutoShape 37"/>
          <p:cNvSpPr/>
          <p:nvPr/>
        </p:nvSpPr>
        <p:spPr>
          <a:xfrm>
            <a:off x="8915400" y="2971800"/>
            <a:ext cx="1701800" cy="1016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300" b="0" i="0" u="none" strike="noStrike">
                <a:solidFill>
                  <a:srgbClr val="334155"/>
                </a:solidFill>
                <a:latin typeface="Noto Sans SC"/>
                <a:ea typeface="Noto Sans SC"/>
                <a:cs typeface="Noto Sans SC"/>
                <a:sym typeface="Noto Sans SC"/>
              </a:rPr>
              <a:t>按地块分区统计亩数与占比→</a:t>
            </a:r>
            <a:r>
              <a:rPr lang="en-US" sz="1400" b="1" i="0" u="none" strike="noStrike">
                <a:solidFill>
                  <a:srgbClr val="38BDF8"/>
                </a:solidFill>
                <a:latin typeface="Noto Sans SC"/>
                <a:ea typeface="Noto Sans SC"/>
                <a:cs typeface="Noto Sans SC"/>
                <a:sym typeface="Noto Sans SC"/>
              </a:rPr>
              <a:t>L4</a:t>
            </a:r>
            <a:r>
              <a:rPr lang="en-US" sz="1300" b="0" i="0" u="none" strike="noStrike">
                <a:solidFill>
                  <a:srgbClr val="334155"/>
                </a:solidFill>
                <a:latin typeface="Noto Sans SC"/>
                <a:ea typeface="Noto Sans SC"/>
                <a:cs typeface="Noto Sans SC"/>
                <a:sym typeface="Noto Sans SC"/>
              </a:rPr>
              <a:t>报表/JSON/专题图。</a:t>
            </a:r>
            <a:endParaRPr lang="en-US" sz="1100"/>
          </a:p>
        </p:txBody>
      </p:sp>
      <p:cxnSp>
        <p:nvCxnSpPr>
          <p:cNvPr id="38" name="Connector 38"/>
          <p:cNvCxnSpPr/>
          <p:nvPr/>
        </p:nvCxnSpPr>
        <p:spPr>
          <a:xfrm rot="-190789">
            <a:off x="10693576" y="3016250"/>
            <a:ext cx="228600" cy="12700"/>
          </a:xfrm>
          <a:prstGeom prst="straightConnector1">
            <a:avLst/>
          </a:prstGeom>
          <a:solidFill>
            <a:srgbClr val="DEE0E3">
              <a:alpha val="100000"/>
            </a:srgbClr>
          </a:solidFill>
          <a:ln w="25400" cap="flat" cmpd="sng">
            <a:solidFill>
              <a:srgbClr val="38BDF8">
                <a:alpha val="55000"/>
              </a:srgbClr>
            </a:solidFill>
            <a:prstDash val="solid"/>
            <a:round/>
            <a:headEnd type="none" w="lg" len="lg"/>
            <a:tailEnd type="arrow" w="med" len="med"/>
          </a:ln>
        </p:spPr>
      </p:cxnSp>
      <p:sp>
        <p:nvSpPr>
          <p:cNvPr id="39" name="AutoShape 39"/>
          <p:cNvSpPr/>
          <p:nvPr/>
        </p:nvSpPr>
        <p:spPr>
          <a:xfrm>
            <a:off x="10922000" y="1524000"/>
            <a:ext cx="1168400" cy="40640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40" name="AutoShape 40"/>
          <p:cNvSpPr/>
          <p:nvPr/>
        </p:nvSpPr>
        <p:spPr>
          <a:xfrm>
            <a:off x="10922000" y="1524000"/>
            <a:ext cx="50800" cy="4064000"/>
          </a:xfrm>
          <a:prstGeom prst="roundRect">
            <a:avLst>
              <a:gd name="adj" fmla="val 0"/>
            </a:avLst>
          </a:prstGeom>
          <a:gradFill rotWithShape="1">
            <a:gsLst>
              <a:gs pos="0">
                <a:srgbClr val="1E3A8A">
                  <a:alpha val="100000"/>
                </a:srgbClr>
              </a:gs>
              <a:gs pos="100000">
                <a:srgbClr val="38BDF8">
                  <a:alpha val="100000"/>
                </a:srgbClr>
              </a:gs>
            </a:gsLst>
            <a:lin ang="5400000"/>
          </a:gradFill>
          <a:ln cap="flat" cmpd="sng">
            <a:gradFill rotWithShape="1">
              <a:gsLst>
                <a:gs pos="0">
                  <a:srgbClr val="0D2771">
                    <a:alpha val="100000"/>
                  </a:srgbClr>
                </a:gs>
                <a:gs pos="100000">
                  <a:srgbClr val="1CA3DF">
                    <a:alpha val="100000"/>
                  </a:srgbClr>
                </a:gs>
              </a:gsLst>
              <a:lin ang="5400000"/>
            </a:gradFill>
            <a:prstDash val="solid"/>
            <a:round/>
          </a:ln>
        </p:spPr>
        <p:txBody>
          <a:bodyPr vert="horz" wrap="square" lIns="63500" tIns="63500" rIns="63500" bIns="63500" rtlCol="0" anchor="ctr"/>
          <a:lstStyle/>
          <a:p>
            <a:pPr algn="ctr">
              <a:defRPr/>
            </a:pPr>
          </a:p>
        </p:txBody>
      </p:sp>
      <p:sp>
        <p:nvSpPr>
          <p:cNvPr id="41" name="AutoShape 41"/>
          <p:cNvSpPr/>
          <p:nvPr/>
        </p:nvSpPr>
        <p:spPr>
          <a:xfrm>
            <a:off x="10922000" y="1524000"/>
            <a:ext cx="1168400" cy="8382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4000" b="1" i="0" u="none" strike="noStrike">
                <a:solidFill>
                  <a:srgbClr val="1E3A8A">
                    <a:alpha val="12941"/>
                  </a:srgbClr>
                </a:solidFill>
                <a:latin typeface="Inter"/>
                <a:ea typeface="Inter"/>
                <a:cs typeface="Inter"/>
                <a:sym typeface="Inter"/>
              </a:rPr>
              <a:t>06</a:t>
            </a:r>
            <a:endParaRPr lang="en-US" sz="1100"/>
          </a:p>
        </p:txBody>
      </p:sp>
      <p:sp>
        <p:nvSpPr>
          <p:cNvPr id="42" name="AutoShape 42"/>
          <p:cNvSpPr/>
          <p:nvPr/>
        </p:nvSpPr>
        <p:spPr>
          <a:xfrm>
            <a:off x="10922000" y="2387600"/>
            <a:ext cx="1168400" cy="4318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2000" b="1" i="0" u="none" strike="noStrike">
                <a:solidFill>
                  <a:srgbClr val="1E3A8A"/>
                </a:solidFill>
                <a:latin typeface="Noto Sans SC"/>
                <a:ea typeface="Noto Sans SC"/>
                <a:cs typeface="Noto Sans SC"/>
                <a:sym typeface="Noto Sans SC"/>
              </a:rPr>
              <a:t>应用</a:t>
            </a:r>
            <a:endParaRPr lang="en-US" sz="1100"/>
          </a:p>
        </p:txBody>
      </p:sp>
      <p:cxnSp>
        <p:nvCxnSpPr>
          <p:cNvPr id="43" name="Connector 43"/>
          <p:cNvCxnSpPr/>
          <p:nvPr/>
        </p:nvCxnSpPr>
        <p:spPr>
          <a:xfrm rot="-44643">
            <a:off x="11023641" y="2889250"/>
            <a:ext cx="9779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44" name="AutoShape 44"/>
          <p:cNvSpPr/>
          <p:nvPr/>
        </p:nvSpPr>
        <p:spPr>
          <a:xfrm>
            <a:off x="10947400" y="2971800"/>
            <a:ext cx="1117600" cy="1143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300" b="0" i="0" u="none" strike="noStrike">
                <a:solidFill>
                  <a:srgbClr val="334155"/>
                </a:solidFill>
                <a:latin typeface="Noto Sans SC"/>
                <a:ea typeface="Noto Sans SC"/>
                <a:cs typeface="Noto Sans SC"/>
                <a:sym typeface="Noto Sans SC"/>
              </a:rPr>
              <a:t>业务系统、GIS、大屏消费L4;并可行走NDVI/NDRE长势监测链。</a:t>
            </a:r>
            <a:endParaRPr lang="en-US" sz="1100"/>
          </a:p>
        </p:txBody>
      </p:sp>
      <p:sp>
        <p:nvSpPr>
          <p:cNvPr id="45" name="AutoShape 45"/>
          <p:cNvSpPr/>
          <p:nvPr/>
        </p:nvSpPr>
        <p:spPr>
          <a:xfrm>
            <a:off x="508000" y="5778500"/>
            <a:ext cx="11176000" cy="7620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46" name="AutoShape 46"/>
          <p:cNvSpPr/>
          <p:nvPr/>
        </p:nvSpPr>
        <p:spPr>
          <a:xfrm>
            <a:off x="508000" y="5778500"/>
            <a:ext cx="38100" cy="762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47" name="AutoShape 47"/>
          <p:cNvSpPr/>
          <p:nvPr/>
        </p:nvSpPr>
        <p:spPr>
          <a:xfrm>
            <a:off x="762000" y="5778500"/>
            <a:ext cx="1079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1" i="0" u="none" strike="noStrike">
                <a:solidFill>
                  <a:srgbClr val="1E3A8A"/>
                </a:solidFill>
                <a:latin typeface="Noto Sans SC"/>
                <a:ea typeface="Noto Sans SC"/>
                <a:cs typeface="Noto Sans SC"/>
                <a:sym typeface="Noto Sans SC"/>
              </a:rPr>
              <a:t>完整闭环 ·</a:t>
            </a:r>
            <a:r>
              <a:rPr lang="en-US" sz="1500" b="0" i="0" u="none" strike="noStrike">
                <a:solidFill>
                  <a:srgbClr val="334155"/>
                </a:solidFill>
                <a:latin typeface="Noto Sans SC"/>
                <a:ea typeface="Noto Sans SC"/>
                <a:cs typeface="Noto Sans SC"/>
                <a:sym typeface="Noto Sans SC"/>
              </a:rPr>
              <a:t>从无人机数据采集到业务系统落地,实现了数据价值的层层传递与业务化落地。</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985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3200" b="1" i="0" u="none" strike="noStrike" spc="200">
                <a:solidFill>
                  <a:srgbClr val="1E3A8A"/>
                </a:solidFill>
                <a:latin typeface="Noto Sans SC"/>
                <a:ea typeface="Noto Sans SC"/>
                <a:cs typeface="Noto Sans SC"/>
                <a:sym typeface="Noto Sans SC"/>
              </a:rPr>
              <a:t>两条业务主链路</a:t>
            </a:r>
            <a:endParaRPr lang="en-US" sz="1100"/>
          </a:p>
        </p:txBody>
      </p:sp>
      <p:sp>
        <p:nvSpPr>
          <p:cNvPr id="3" name="AutoShape 3"/>
          <p:cNvSpPr/>
          <p:nvPr/>
        </p:nvSpPr>
        <p:spPr>
          <a:xfrm>
            <a:off x="508000" y="1041400"/>
            <a:ext cx="11176000" cy="3302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600" b="0" i="0" u="none" strike="noStrike" spc="100">
                <a:solidFill>
                  <a:srgbClr val="475569"/>
                </a:solidFill>
                <a:latin typeface="Noto Sans SC"/>
                <a:ea typeface="Noto Sans SC"/>
                <a:cs typeface="Noto Sans SC"/>
                <a:sym typeface="Noto Sans SC"/>
              </a:rPr>
              <a:t>均以L2反射率正射立方体为共同输入</a:t>
            </a:r>
            <a:endParaRPr lang="en-US" sz="1100"/>
          </a:p>
        </p:txBody>
      </p:sp>
      <p:sp>
        <p:nvSpPr>
          <p:cNvPr id="4" name="AutoShape 4"/>
          <p:cNvSpPr/>
          <p:nvPr/>
        </p:nvSpPr>
        <p:spPr>
          <a:xfrm>
            <a:off x="508000" y="1460500"/>
            <a:ext cx="11176000" cy="25400"/>
          </a:xfrm>
          <a:prstGeom prst="roundRect">
            <a:avLst>
              <a:gd name="adj" fmla="val 0"/>
            </a:avLst>
          </a:prstGeom>
          <a:solidFill>
            <a:srgbClr val="1E3A8A">
              <a:alpha val="15000"/>
            </a:srgbClr>
          </a:solidFill>
          <a:ln cap="flat" cmpd="sng">
            <a:solidFill>
              <a:srgbClr val="0D2771">
                <a:alpha val="1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508000" y="1625600"/>
            <a:ext cx="101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6400" b="1" i="0" u="none" strike="noStrike">
                <a:latin typeface="Noto Sans SC"/>
                <a:ea typeface="Noto Sans SC"/>
                <a:cs typeface="Noto Sans SC"/>
                <a:sym typeface="Noto Sans SC"/>
              </a:rPr>
              <a:t>A</a:t>
            </a:r>
            <a:endParaRPr lang="en-US" sz="1100"/>
          </a:p>
        </p:txBody>
      </p:sp>
      <p:sp>
        <p:nvSpPr>
          <p:cNvPr id="6" name="AutoShape 6"/>
          <p:cNvSpPr/>
          <p:nvPr/>
        </p:nvSpPr>
        <p:spPr>
          <a:xfrm>
            <a:off x="1625600" y="1651000"/>
            <a:ext cx="4699000" cy="431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2200" b="1" i="0" u="none" strike="noStrike">
                <a:solidFill>
                  <a:srgbClr val="1E3A8A"/>
                </a:solidFill>
                <a:latin typeface="Noto Sans SC"/>
                <a:ea typeface="Noto Sans SC"/>
                <a:cs typeface="Noto Sans SC"/>
                <a:sym typeface="Noto Sans SC"/>
              </a:rPr>
              <a:t>作物/地物分类链</a:t>
            </a:r>
            <a:endParaRPr lang="en-US" sz="1100"/>
          </a:p>
        </p:txBody>
      </p:sp>
      <p:sp>
        <p:nvSpPr>
          <p:cNvPr id="7" name="AutoShape 7"/>
          <p:cNvSpPr/>
          <p:nvPr/>
        </p:nvSpPr>
        <p:spPr>
          <a:xfrm>
            <a:off x="1625600" y="2108200"/>
            <a:ext cx="4699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300" b="0" i="0" u="none" strike="noStrike">
                <a:solidFill>
                  <a:srgbClr val="64748B"/>
                </a:solidFill>
                <a:latin typeface="Noto Sans SC"/>
                <a:ea typeface="Noto Sans SC"/>
                <a:cs typeface="Noto Sans SC"/>
                <a:sym typeface="Noto Sans SC"/>
              </a:rPr>
              <a:t>输入:L2反射率正射立方体</a:t>
            </a:r>
            <a:endParaRPr lang="en-US" sz="1100"/>
          </a:p>
        </p:txBody>
      </p:sp>
      <p:sp>
        <p:nvSpPr>
          <p:cNvPr id="8" name="AutoShape 8"/>
          <p:cNvSpPr/>
          <p:nvPr/>
        </p:nvSpPr>
        <p:spPr>
          <a:xfrm>
            <a:off x="508000" y="2540000"/>
            <a:ext cx="5524500" cy="533400"/>
          </a:xfrm>
          <a:prstGeom prst="roundRect">
            <a:avLst>
              <a:gd name="adj" fmla="val 0"/>
            </a:avLst>
          </a:prstGeom>
          <a:solidFill>
            <a:srgbClr val="3B82F6">
              <a:alpha val="9000"/>
            </a:srgbClr>
          </a:solidFill>
          <a:ln cap="flat" cmpd="sng">
            <a:solidFill>
              <a:srgbClr val="1F67DD">
                <a:alpha val="9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508000" y="2540000"/>
            <a:ext cx="38100" cy="533400"/>
          </a:xfrm>
          <a:prstGeom prst="roundRect">
            <a:avLst>
              <a:gd name="adj" fmla="val 0"/>
            </a:avLst>
          </a:prstGeom>
          <a:solidFill>
            <a:srgbClr val="3B82F6">
              <a:alpha val="100000"/>
            </a:srgbClr>
          </a:solidFill>
          <a:ln cap="flat" cmpd="sng">
            <a:solidFill>
              <a:srgbClr val="1F67DD">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660400" y="2540000"/>
            <a:ext cx="5207000" cy="533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400" b="0" i="0" u="none" strike="noStrike">
                <a:solidFill>
                  <a:srgbClr val="334155"/>
                </a:solidFill>
                <a:latin typeface="Noto Sans SC"/>
                <a:ea typeface="Noto Sans SC"/>
                <a:cs typeface="Noto Sans SC"/>
                <a:sym typeface="Noto Sans SC"/>
              </a:rPr>
              <a:t>样本构建与特征处理</a:t>
            </a:r>
            <a:r>
              <a:rPr lang="en-US" sz="1200" b="0" i="0" u="none" strike="noStrike">
                <a:solidFill>
                  <a:srgbClr val="94A3B8"/>
                </a:solidFill>
                <a:latin typeface="Noto Sans SC"/>
                <a:ea typeface="Noto Sans SC"/>
                <a:cs typeface="Noto Sans SC"/>
                <a:sym typeface="Noto Sans SC"/>
              </a:rPr>
              <a:t>· #20-26</a:t>
            </a:r>
            <a:endParaRPr lang="en-US" sz="1100"/>
          </a:p>
        </p:txBody>
      </p:sp>
      <p:sp>
        <p:nvSpPr>
          <p:cNvPr id="11" name="AutoShape 11"/>
          <p:cNvSpPr/>
          <p:nvPr/>
        </p:nvSpPr>
        <p:spPr>
          <a:xfrm>
            <a:off x="508000" y="3111500"/>
            <a:ext cx="5524500" cy="533400"/>
          </a:xfrm>
          <a:prstGeom prst="roundRect">
            <a:avLst>
              <a:gd name="adj" fmla="val 0"/>
            </a:avLst>
          </a:prstGeom>
          <a:solidFill>
            <a:srgbClr val="3B82F6">
              <a:alpha val="9000"/>
            </a:srgbClr>
          </a:solidFill>
          <a:ln cap="flat" cmpd="sng">
            <a:solidFill>
              <a:srgbClr val="1F67DD">
                <a:alpha val="9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508000" y="3111500"/>
            <a:ext cx="38100" cy="533400"/>
          </a:xfrm>
          <a:prstGeom prst="roundRect">
            <a:avLst>
              <a:gd name="adj" fmla="val 0"/>
            </a:avLst>
          </a:prstGeom>
          <a:solidFill>
            <a:srgbClr val="3B82F6">
              <a:alpha val="100000"/>
            </a:srgbClr>
          </a:solidFill>
          <a:ln cap="flat" cmpd="sng">
            <a:solidFill>
              <a:srgbClr val="1F67DD">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660400" y="3111500"/>
            <a:ext cx="5207000" cy="533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400" b="0" i="0" u="none" strike="noStrike">
                <a:solidFill>
                  <a:srgbClr val="334155"/>
                </a:solidFill>
                <a:latin typeface="Noto Sans SC"/>
                <a:ea typeface="Noto Sans SC"/>
                <a:cs typeface="Noto Sans SC"/>
                <a:sym typeface="Noto Sans SC"/>
              </a:rPr>
              <a:t>分类模型</a:t>
            </a:r>
            <a:r>
              <a:rPr lang="en-US" sz="1200" b="0" i="0" u="none" strike="noStrike">
                <a:solidFill>
                  <a:srgbClr val="94A3B8"/>
                </a:solidFill>
                <a:latin typeface="Noto Sans SC"/>
                <a:ea typeface="Noto Sans SC"/>
                <a:cs typeface="Noto Sans SC"/>
                <a:sym typeface="Noto Sans SC"/>
              </a:rPr>
              <a:t>· #34-39</a:t>
            </a:r>
            <a:endParaRPr lang="en-US" sz="1100"/>
          </a:p>
        </p:txBody>
      </p:sp>
      <p:sp>
        <p:nvSpPr>
          <p:cNvPr id="14" name="AutoShape 14"/>
          <p:cNvSpPr/>
          <p:nvPr/>
        </p:nvSpPr>
        <p:spPr>
          <a:xfrm>
            <a:off x="508000" y="3683000"/>
            <a:ext cx="5524500" cy="533400"/>
          </a:xfrm>
          <a:prstGeom prst="roundRect">
            <a:avLst>
              <a:gd name="adj" fmla="val 0"/>
            </a:avLst>
          </a:prstGeom>
          <a:solidFill>
            <a:srgbClr val="3B82F6">
              <a:alpha val="9000"/>
            </a:srgbClr>
          </a:solidFill>
          <a:ln cap="flat" cmpd="sng">
            <a:solidFill>
              <a:srgbClr val="1F67DD">
                <a:alpha val="9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508000" y="3683000"/>
            <a:ext cx="38100" cy="533400"/>
          </a:xfrm>
          <a:prstGeom prst="roundRect">
            <a:avLst>
              <a:gd name="adj" fmla="val 0"/>
            </a:avLst>
          </a:prstGeom>
          <a:solidFill>
            <a:srgbClr val="3B82F6">
              <a:alpha val="100000"/>
            </a:srgbClr>
          </a:solidFill>
          <a:ln cap="flat" cmpd="sng">
            <a:solidFill>
              <a:srgbClr val="1F67DD">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660400" y="3683000"/>
            <a:ext cx="5207000" cy="533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400" b="0" i="0" u="none" strike="noStrike">
                <a:solidFill>
                  <a:srgbClr val="334155"/>
                </a:solidFill>
                <a:latin typeface="Noto Sans SC"/>
                <a:ea typeface="Noto Sans SC"/>
                <a:cs typeface="Noto Sans SC"/>
                <a:sym typeface="Noto Sans SC"/>
              </a:rPr>
              <a:t>分类后处理</a:t>
            </a:r>
            <a:r>
              <a:rPr lang="en-US" sz="1200" b="0" i="0" u="none" strike="noStrike">
                <a:solidFill>
                  <a:srgbClr val="94A3B8"/>
                </a:solidFill>
                <a:latin typeface="Noto Sans SC"/>
                <a:ea typeface="Noto Sans SC"/>
                <a:cs typeface="Noto Sans SC"/>
                <a:sym typeface="Noto Sans SC"/>
              </a:rPr>
              <a:t>· #44</a:t>
            </a:r>
            <a:endParaRPr lang="en-US" sz="1100"/>
          </a:p>
        </p:txBody>
      </p:sp>
      <p:sp>
        <p:nvSpPr>
          <p:cNvPr id="17" name="AutoShape 17"/>
          <p:cNvSpPr/>
          <p:nvPr/>
        </p:nvSpPr>
        <p:spPr>
          <a:xfrm>
            <a:off x="508000" y="4254500"/>
            <a:ext cx="5524500" cy="533400"/>
          </a:xfrm>
          <a:prstGeom prst="roundRect">
            <a:avLst>
              <a:gd name="adj" fmla="val 0"/>
            </a:avLst>
          </a:prstGeom>
          <a:solidFill>
            <a:srgbClr val="3B82F6">
              <a:alpha val="9000"/>
            </a:srgbClr>
          </a:solidFill>
          <a:ln cap="flat" cmpd="sng">
            <a:solidFill>
              <a:srgbClr val="1F67DD">
                <a:alpha val="9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508000" y="4254500"/>
            <a:ext cx="38100" cy="533400"/>
          </a:xfrm>
          <a:prstGeom prst="roundRect">
            <a:avLst>
              <a:gd name="adj" fmla="val 0"/>
            </a:avLst>
          </a:prstGeom>
          <a:solidFill>
            <a:srgbClr val="3B82F6">
              <a:alpha val="100000"/>
            </a:srgbClr>
          </a:solidFill>
          <a:ln cap="flat" cmpd="sng">
            <a:solidFill>
              <a:srgbClr val="1F67DD">
                <a:alpha val="10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660400" y="4254500"/>
            <a:ext cx="5207000" cy="533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400" b="0" i="0" u="none" strike="noStrike">
                <a:solidFill>
                  <a:srgbClr val="334155"/>
                </a:solidFill>
                <a:latin typeface="Noto Sans SC"/>
                <a:ea typeface="Noto Sans SC"/>
                <a:cs typeface="Noto Sans SC"/>
                <a:sym typeface="Noto Sans SC"/>
              </a:rPr>
              <a:t>地块面积与专题图</a:t>
            </a:r>
            <a:r>
              <a:rPr lang="en-US" sz="1200" b="0" i="0" u="none" strike="noStrike">
                <a:solidFill>
                  <a:srgbClr val="94A3B8"/>
                </a:solidFill>
                <a:latin typeface="Noto Sans SC"/>
                <a:ea typeface="Noto Sans SC"/>
                <a:cs typeface="Noto Sans SC"/>
                <a:sym typeface="Noto Sans SC"/>
              </a:rPr>
              <a:t>· #45</a:t>
            </a:r>
            <a:endParaRPr lang="en-US" sz="1100"/>
          </a:p>
        </p:txBody>
      </p:sp>
      <p:sp>
        <p:nvSpPr>
          <p:cNvPr id="20" name="AutoShape 20"/>
          <p:cNvSpPr/>
          <p:nvPr/>
        </p:nvSpPr>
        <p:spPr>
          <a:xfrm>
            <a:off x="508000" y="4851400"/>
            <a:ext cx="55245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300" b="1" i="0" u="none" strike="noStrike" spc="100">
                <a:solidFill>
                  <a:srgbClr val="1E3A8A"/>
                </a:solidFill>
                <a:latin typeface="Noto Sans SC"/>
                <a:ea typeface="Noto Sans SC"/>
                <a:cs typeface="Noto Sans SC"/>
                <a:sym typeface="Noto Sans SC"/>
              </a:rPr>
              <a:t>回答的问题</a:t>
            </a:r>
            <a:endParaRPr lang="en-US" sz="1100"/>
          </a:p>
        </p:txBody>
      </p:sp>
      <p:sp>
        <p:nvSpPr>
          <p:cNvPr id="21" name="AutoShape 21"/>
          <p:cNvSpPr/>
          <p:nvPr/>
        </p:nvSpPr>
        <p:spPr>
          <a:xfrm>
            <a:off x="508000" y="5143500"/>
            <a:ext cx="5524500" cy="558800"/>
          </a:xfrm>
          <a:prstGeom prst="rect">
            <a:avLst/>
          </a:prstGeom>
          <a:noFill/>
          <a:ln w="12700" cap="flat" cmpd="sng">
            <a:noFill/>
            <a:prstDash val="solid"/>
            <a:round/>
          </a:ln>
        </p:spPr>
        <p:txBody>
          <a:bodyPr vert="horz" wrap="square" lIns="0" tIns="0" rIns="0" bIns="0" rtlCol="0" anchor="t" anchorCtr="0"/>
          <a:lstStyle/>
          <a:p>
            <a:pPr marL="0" indent="0" algn="l">
              <a:lnSpc>
                <a:spcPct val="113000"/>
              </a:lnSpc>
              <a:defRPr/>
            </a:pPr>
            <a:r>
              <a:rPr lang="en-US" sz="1200" b="0" i="0" u="none" strike="noStrike">
                <a:solidFill>
                  <a:srgbClr val="475569"/>
                </a:solidFill>
                <a:latin typeface="Noto Sans SC"/>
                <a:ea typeface="Noto Sans SC"/>
                <a:cs typeface="Noto Sans SC"/>
                <a:sym typeface="Noto Sans SC"/>
              </a:rPr>
              <a:t>· 各类地块种了什么?</a:t>
            </a:r>
            <a:endParaRPr lang="en-US" sz="1100"/>
          </a:p>
          <a:p>
            <a:pPr marL="0" indent="0" algn="l">
              <a:lnSpc>
                <a:spcPct val="113000"/>
              </a:lnSpc>
            </a:pPr>
            <a:r>
              <a:rPr lang="en-US" sz="1200" b="0" i="0" u="none" strike="noStrike">
                <a:solidFill>
                  <a:srgbClr val="475569"/>
                </a:solidFill>
                <a:latin typeface="Noto Sans SC"/>
                <a:ea typeface="Noto Sans SC"/>
                <a:cs typeface="Noto Sans SC"/>
                <a:sym typeface="Noto Sans SC"/>
              </a:rPr>
              <a:t>· 各类面积与空间分布如何?</a:t>
            </a:r>
            <a:endParaRPr lang="en-US" sz="1200" b="0" i="0" u="none" strike="noStrike">
              <a:solidFill>
                <a:srgbClr val="475569"/>
              </a:solidFill>
              <a:latin typeface="Noto Sans SC"/>
              <a:ea typeface="Noto Sans SC"/>
              <a:cs typeface="Noto Sans SC"/>
              <a:sym typeface="Noto Sans SC"/>
            </a:endParaRPr>
          </a:p>
        </p:txBody>
      </p:sp>
      <p:sp>
        <p:nvSpPr>
          <p:cNvPr id="22" name="AutoShape 22"/>
          <p:cNvSpPr/>
          <p:nvPr/>
        </p:nvSpPr>
        <p:spPr>
          <a:xfrm>
            <a:off x="508000" y="5715000"/>
            <a:ext cx="5524500" cy="406400"/>
          </a:xfrm>
          <a:prstGeom prst="roundRect">
            <a:avLst>
              <a:gd name="adj" fmla="val 0"/>
            </a:avLst>
          </a:prstGeom>
          <a:solidFill>
            <a:srgbClr val="3B82F6">
              <a:alpha val="13000"/>
            </a:srgbClr>
          </a:solidFill>
          <a:ln cap="flat" cmpd="sng">
            <a:solidFill>
              <a:srgbClr val="1F67DD">
                <a:alpha val="13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660400" y="5715000"/>
            <a:ext cx="5270500" cy="406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200" b="1" i="0" u="none" strike="noStrike">
                <a:solidFill>
                  <a:srgbClr val="1E3A8A"/>
                </a:solidFill>
                <a:latin typeface="Noto Sans SC"/>
                <a:ea typeface="Noto Sans SC"/>
                <a:cs typeface="Noto Sans SC"/>
                <a:sym typeface="Noto Sans SC"/>
              </a:rPr>
              <a:t>本仓库小模型主要服务本链路。</a:t>
            </a:r>
            <a:r>
              <a:rPr lang="en-US" sz="1200" b="0" i="0" u="none" strike="noStrike">
                <a:solidFill>
                  <a:srgbClr val="475569"/>
                </a:solidFill>
                <a:latin typeface="Noto Sans SC"/>
                <a:ea typeface="Noto Sans SC"/>
                <a:cs typeface="Noto Sans SC"/>
                <a:sym typeface="Noto Sans SC"/>
              </a:rPr>
              <a:t>验收关注:OA/Kappa + 面积核对。</a:t>
            </a:r>
            <a:endParaRPr lang="en-US" sz="1100"/>
          </a:p>
        </p:txBody>
      </p:sp>
      <p:sp>
        <p:nvSpPr>
          <p:cNvPr id="24" name="AutoShape 24"/>
          <p:cNvSpPr/>
          <p:nvPr/>
        </p:nvSpPr>
        <p:spPr>
          <a:xfrm>
            <a:off x="6096000" y="1651000"/>
            <a:ext cx="25400" cy="4470400"/>
          </a:xfrm>
          <a:prstGeom prst="roundRect">
            <a:avLst>
              <a:gd name="adj" fmla="val 0"/>
            </a:avLst>
          </a:prstGeom>
          <a:solidFill>
            <a:srgbClr val="000000">
              <a:alpha val="9000"/>
            </a:srgbClr>
          </a:solidFill>
          <a:ln cap="flat" cmpd="sng">
            <a:solidFill>
              <a:srgbClr val="000000">
                <a:alpha val="9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6350000" y="1625600"/>
            <a:ext cx="101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6400" b="1" i="0" u="none" strike="noStrike">
                <a:latin typeface="Noto Sans SC"/>
                <a:ea typeface="Noto Sans SC"/>
                <a:cs typeface="Noto Sans SC"/>
                <a:sym typeface="Noto Sans SC"/>
              </a:rPr>
              <a:t>B</a:t>
            </a:r>
            <a:endParaRPr lang="en-US" sz="1100"/>
          </a:p>
        </p:txBody>
      </p:sp>
      <p:sp>
        <p:nvSpPr>
          <p:cNvPr id="26" name="AutoShape 26"/>
          <p:cNvSpPr/>
          <p:nvPr/>
        </p:nvSpPr>
        <p:spPr>
          <a:xfrm>
            <a:off x="7467600" y="1651000"/>
            <a:ext cx="4572000" cy="431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2200" b="1" i="0" u="none" strike="noStrike">
                <a:solidFill>
                  <a:srgbClr val="065F46"/>
                </a:solidFill>
                <a:latin typeface="Noto Sans SC"/>
                <a:ea typeface="Noto Sans SC"/>
                <a:cs typeface="Noto Sans SC"/>
                <a:sym typeface="Noto Sans SC"/>
              </a:rPr>
              <a:t>长势/胁迫指标链</a:t>
            </a:r>
            <a:endParaRPr lang="en-US" sz="1100"/>
          </a:p>
        </p:txBody>
      </p:sp>
      <p:sp>
        <p:nvSpPr>
          <p:cNvPr id="27" name="AutoShape 27"/>
          <p:cNvSpPr/>
          <p:nvPr/>
        </p:nvSpPr>
        <p:spPr>
          <a:xfrm>
            <a:off x="7467600" y="2108200"/>
            <a:ext cx="4572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300" b="0" i="0" u="none" strike="noStrike">
                <a:solidFill>
                  <a:srgbClr val="64748B"/>
                </a:solidFill>
                <a:latin typeface="Noto Sans SC"/>
                <a:ea typeface="Noto Sans SC"/>
                <a:cs typeface="Noto Sans SC"/>
                <a:sym typeface="Noto Sans SC"/>
              </a:rPr>
              <a:t>输入:L2反射率正射立方体</a:t>
            </a:r>
            <a:endParaRPr lang="en-US" sz="1100"/>
          </a:p>
        </p:txBody>
      </p:sp>
      <p:sp>
        <p:nvSpPr>
          <p:cNvPr id="28" name="AutoShape 28"/>
          <p:cNvSpPr/>
          <p:nvPr/>
        </p:nvSpPr>
        <p:spPr>
          <a:xfrm>
            <a:off x="6350000" y="2540000"/>
            <a:ext cx="5524500" cy="533400"/>
          </a:xfrm>
          <a:prstGeom prst="roundRect">
            <a:avLst>
              <a:gd name="adj" fmla="val 0"/>
            </a:avLst>
          </a:prstGeom>
          <a:solidFill>
            <a:srgbClr val="10B981">
              <a:alpha val="9000"/>
            </a:srgbClr>
          </a:solidFill>
          <a:ln cap="flat" cmpd="sng">
            <a:solidFill>
              <a:srgbClr val="00A06B">
                <a:alpha val="9000"/>
              </a:srgbClr>
            </a:solidFill>
            <a:prstDash val="solid"/>
            <a:round/>
          </a:ln>
        </p:spPr>
        <p:txBody>
          <a:bodyPr vert="horz" wrap="square" lIns="63500" tIns="63500" rIns="63500" bIns="63500" rtlCol="0" anchor="ctr"/>
          <a:lstStyle/>
          <a:p>
            <a:pPr algn="ctr">
              <a:defRPr/>
            </a:pPr>
          </a:p>
        </p:txBody>
      </p:sp>
      <p:sp>
        <p:nvSpPr>
          <p:cNvPr id="29" name="AutoShape 29"/>
          <p:cNvSpPr/>
          <p:nvPr/>
        </p:nvSpPr>
        <p:spPr>
          <a:xfrm>
            <a:off x="6350000" y="2540000"/>
            <a:ext cx="38100" cy="533400"/>
          </a:xfrm>
          <a:prstGeom prst="roundRect">
            <a:avLst>
              <a:gd name="adj" fmla="val 0"/>
            </a:avLst>
          </a:prstGeom>
          <a:solidFill>
            <a:srgbClr val="10B981">
              <a:alpha val="100000"/>
            </a:srgbClr>
          </a:solidFill>
          <a:ln cap="flat" cmpd="sng">
            <a:solidFill>
              <a:srgbClr val="00A06B">
                <a:alpha val="100000"/>
              </a:srgbClr>
            </a:solidFill>
            <a:prstDash val="solid"/>
            <a:round/>
          </a:ln>
        </p:spPr>
        <p:txBody>
          <a:bodyPr vert="horz" wrap="square" lIns="63500" tIns="63500" rIns="63500" bIns="63500" rtlCol="0" anchor="ctr"/>
          <a:lstStyle/>
          <a:p>
            <a:pPr algn="ctr">
              <a:defRPr/>
            </a:pPr>
          </a:p>
        </p:txBody>
      </p:sp>
      <p:sp>
        <p:nvSpPr>
          <p:cNvPr id="30" name="AutoShape 30"/>
          <p:cNvSpPr/>
          <p:nvPr/>
        </p:nvSpPr>
        <p:spPr>
          <a:xfrm>
            <a:off x="6502400" y="2540000"/>
            <a:ext cx="5270500" cy="533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400" b="0" i="0" u="none" strike="noStrike">
                <a:solidFill>
                  <a:srgbClr val="334155"/>
                </a:solidFill>
                <a:latin typeface="Noto Sans SC"/>
                <a:ea typeface="Noto Sans SC"/>
                <a:cs typeface="Noto Sans SC"/>
                <a:sym typeface="Noto Sans SC"/>
              </a:rPr>
              <a:t>NDVI/NDRE等指数</a:t>
            </a:r>
            <a:r>
              <a:rPr lang="en-US" sz="1200" b="0" i="0" u="none" strike="noStrike">
                <a:solidFill>
                  <a:srgbClr val="94A3B8"/>
                </a:solidFill>
                <a:latin typeface="Noto Sans SC"/>
                <a:ea typeface="Noto Sans SC"/>
                <a:cs typeface="Noto Sans SC"/>
                <a:sym typeface="Noto Sans SC"/>
              </a:rPr>
              <a:t>· #27-31</a:t>
            </a:r>
            <a:endParaRPr lang="en-US" sz="1100"/>
          </a:p>
        </p:txBody>
      </p:sp>
      <p:sp>
        <p:nvSpPr>
          <p:cNvPr id="31" name="AutoShape 31"/>
          <p:cNvSpPr/>
          <p:nvPr/>
        </p:nvSpPr>
        <p:spPr>
          <a:xfrm>
            <a:off x="6350000" y="3111500"/>
            <a:ext cx="5524500" cy="533400"/>
          </a:xfrm>
          <a:prstGeom prst="roundRect">
            <a:avLst>
              <a:gd name="adj" fmla="val 0"/>
            </a:avLst>
          </a:prstGeom>
          <a:solidFill>
            <a:srgbClr val="10B981">
              <a:alpha val="9000"/>
            </a:srgbClr>
          </a:solidFill>
          <a:ln cap="flat" cmpd="sng">
            <a:solidFill>
              <a:srgbClr val="00A06B">
                <a:alpha val="9000"/>
              </a:srgbClr>
            </a:solidFill>
            <a:prstDash val="solid"/>
            <a:round/>
          </a:ln>
        </p:spPr>
        <p:txBody>
          <a:bodyPr vert="horz" wrap="square" lIns="63500" tIns="63500" rIns="63500" bIns="63500" rtlCol="0" anchor="ctr"/>
          <a:lstStyle/>
          <a:p>
            <a:pPr algn="ctr">
              <a:defRPr/>
            </a:pPr>
          </a:p>
        </p:txBody>
      </p:sp>
      <p:sp>
        <p:nvSpPr>
          <p:cNvPr id="32" name="AutoShape 32"/>
          <p:cNvSpPr/>
          <p:nvPr/>
        </p:nvSpPr>
        <p:spPr>
          <a:xfrm>
            <a:off x="6350000" y="3111500"/>
            <a:ext cx="38100" cy="533400"/>
          </a:xfrm>
          <a:prstGeom prst="roundRect">
            <a:avLst>
              <a:gd name="adj" fmla="val 0"/>
            </a:avLst>
          </a:prstGeom>
          <a:solidFill>
            <a:srgbClr val="10B981">
              <a:alpha val="100000"/>
            </a:srgbClr>
          </a:solidFill>
          <a:ln cap="flat" cmpd="sng">
            <a:solidFill>
              <a:srgbClr val="00A06B">
                <a:alpha val="100000"/>
              </a:srgbClr>
            </a:solidFill>
            <a:prstDash val="solid"/>
            <a:round/>
          </a:ln>
        </p:spPr>
        <p:txBody>
          <a:bodyPr vert="horz" wrap="square" lIns="63500" tIns="63500" rIns="63500" bIns="63500" rtlCol="0" anchor="ctr"/>
          <a:lstStyle/>
          <a:p>
            <a:pPr algn="ctr">
              <a:defRPr/>
            </a:pPr>
          </a:p>
        </p:txBody>
      </p:sp>
      <p:sp>
        <p:nvSpPr>
          <p:cNvPr id="33" name="AutoShape 33"/>
          <p:cNvSpPr/>
          <p:nvPr/>
        </p:nvSpPr>
        <p:spPr>
          <a:xfrm>
            <a:off x="6502400" y="3111500"/>
            <a:ext cx="5270500" cy="533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400" b="0" i="0" u="none" strike="noStrike">
                <a:solidFill>
                  <a:srgbClr val="334155"/>
                </a:solidFill>
                <a:latin typeface="Noto Sans SC"/>
                <a:ea typeface="Noto Sans SC"/>
                <a:cs typeface="Noto Sans SC"/>
                <a:sym typeface="Noto Sans SC"/>
              </a:rPr>
              <a:t>可生化量反演</a:t>
            </a:r>
            <a:r>
              <a:rPr lang="en-US" sz="1200" b="0" i="0" u="none" strike="noStrike">
                <a:solidFill>
                  <a:srgbClr val="94A3B8"/>
                </a:solidFill>
                <a:latin typeface="Noto Sans SC"/>
                <a:ea typeface="Noto Sans SC"/>
                <a:cs typeface="Noto Sans SC"/>
                <a:sym typeface="Noto Sans SC"/>
              </a:rPr>
              <a:t>· #32-33</a:t>
            </a:r>
            <a:endParaRPr lang="en-US" sz="1100"/>
          </a:p>
        </p:txBody>
      </p:sp>
      <p:sp>
        <p:nvSpPr>
          <p:cNvPr id="34" name="AutoShape 34"/>
          <p:cNvSpPr/>
          <p:nvPr/>
        </p:nvSpPr>
        <p:spPr>
          <a:xfrm>
            <a:off x="6350000" y="3683000"/>
            <a:ext cx="5524500" cy="533400"/>
          </a:xfrm>
          <a:prstGeom prst="roundRect">
            <a:avLst>
              <a:gd name="adj" fmla="val 0"/>
            </a:avLst>
          </a:prstGeom>
          <a:solidFill>
            <a:srgbClr val="10B981">
              <a:alpha val="9000"/>
            </a:srgbClr>
          </a:solidFill>
          <a:ln cap="flat" cmpd="sng">
            <a:solidFill>
              <a:srgbClr val="00A06B">
                <a:alpha val="9000"/>
              </a:srgbClr>
            </a:solidFill>
            <a:prstDash val="solid"/>
            <a:round/>
          </a:ln>
        </p:spPr>
        <p:txBody>
          <a:bodyPr vert="horz" wrap="square" lIns="63500" tIns="63500" rIns="63500" bIns="63500" rtlCol="0" anchor="ctr"/>
          <a:lstStyle/>
          <a:p>
            <a:pPr algn="ctr">
              <a:defRPr/>
            </a:pPr>
          </a:p>
        </p:txBody>
      </p:sp>
      <p:sp>
        <p:nvSpPr>
          <p:cNvPr id="35" name="AutoShape 35"/>
          <p:cNvSpPr/>
          <p:nvPr/>
        </p:nvSpPr>
        <p:spPr>
          <a:xfrm>
            <a:off x="6350000" y="3683000"/>
            <a:ext cx="38100" cy="533400"/>
          </a:xfrm>
          <a:prstGeom prst="roundRect">
            <a:avLst>
              <a:gd name="adj" fmla="val 0"/>
            </a:avLst>
          </a:prstGeom>
          <a:solidFill>
            <a:srgbClr val="10B981">
              <a:alpha val="100000"/>
            </a:srgbClr>
          </a:solidFill>
          <a:ln cap="flat" cmpd="sng">
            <a:solidFill>
              <a:srgbClr val="00A06B">
                <a:alpha val="100000"/>
              </a:srgbClr>
            </a:solidFill>
            <a:prstDash val="solid"/>
            <a:round/>
          </a:ln>
        </p:spPr>
        <p:txBody>
          <a:bodyPr vert="horz" wrap="square" lIns="63500" tIns="63500" rIns="63500" bIns="63500" rtlCol="0" anchor="ctr"/>
          <a:lstStyle/>
          <a:p>
            <a:pPr algn="ctr">
              <a:defRPr/>
            </a:pPr>
          </a:p>
        </p:txBody>
      </p:sp>
      <p:sp>
        <p:nvSpPr>
          <p:cNvPr id="36" name="AutoShape 36"/>
          <p:cNvSpPr/>
          <p:nvPr/>
        </p:nvSpPr>
        <p:spPr>
          <a:xfrm>
            <a:off x="6502400" y="3683000"/>
            <a:ext cx="5270500" cy="533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400" b="0" i="0" u="none" strike="noStrike">
                <a:solidFill>
                  <a:srgbClr val="334155"/>
                </a:solidFill>
                <a:latin typeface="Noto Sans SC"/>
                <a:ea typeface="Noto Sans SC"/>
                <a:cs typeface="Noto Sans SC"/>
                <a:sym typeface="Noto Sans SC"/>
              </a:rPr>
              <a:t>热力专题图</a:t>
            </a:r>
            <a:endParaRPr lang="en-US" sz="1100"/>
          </a:p>
        </p:txBody>
      </p:sp>
      <p:sp>
        <p:nvSpPr>
          <p:cNvPr id="37" name="AutoShape 37"/>
          <p:cNvSpPr/>
          <p:nvPr/>
        </p:nvSpPr>
        <p:spPr>
          <a:xfrm>
            <a:off x="6350000" y="4254500"/>
            <a:ext cx="5524500" cy="533400"/>
          </a:xfrm>
          <a:prstGeom prst="roundRect">
            <a:avLst>
              <a:gd name="adj" fmla="val 0"/>
            </a:avLst>
          </a:prstGeom>
          <a:solidFill>
            <a:srgbClr val="10B981">
              <a:alpha val="9000"/>
            </a:srgbClr>
          </a:solidFill>
          <a:ln cap="flat" cmpd="sng">
            <a:solidFill>
              <a:srgbClr val="00A06B">
                <a:alpha val="9000"/>
              </a:srgbClr>
            </a:solidFill>
            <a:prstDash val="solid"/>
            <a:round/>
          </a:ln>
        </p:spPr>
        <p:txBody>
          <a:bodyPr vert="horz" wrap="square" lIns="63500" tIns="63500" rIns="63500" bIns="63500" rtlCol="0" anchor="ctr"/>
          <a:lstStyle/>
          <a:p>
            <a:pPr algn="ctr">
              <a:defRPr/>
            </a:pPr>
          </a:p>
        </p:txBody>
      </p:sp>
      <p:sp>
        <p:nvSpPr>
          <p:cNvPr id="38" name="AutoShape 38"/>
          <p:cNvSpPr/>
          <p:nvPr/>
        </p:nvSpPr>
        <p:spPr>
          <a:xfrm>
            <a:off x="6350000" y="4254500"/>
            <a:ext cx="38100" cy="533400"/>
          </a:xfrm>
          <a:prstGeom prst="roundRect">
            <a:avLst>
              <a:gd name="adj" fmla="val 0"/>
            </a:avLst>
          </a:prstGeom>
          <a:solidFill>
            <a:srgbClr val="10B981">
              <a:alpha val="100000"/>
            </a:srgbClr>
          </a:solidFill>
          <a:ln cap="flat" cmpd="sng">
            <a:solidFill>
              <a:srgbClr val="00A06B">
                <a:alpha val="100000"/>
              </a:srgbClr>
            </a:solidFill>
            <a:prstDash val="solid"/>
            <a:round/>
          </a:ln>
        </p:spPr>
        <p:txBody>
          <a:bodyPr vert="horz" wrap="square" lIns="63500" tIns="63500" rIns="63500" bIns="63500" rtlCol="0" anchor="ctr"/>
          <a:lstStyle/>
          <a:p>
            <a:pPr algn="ctr">
              <a:defRPr/>
            </a:pPr>
          </a:p>
        </p:txBody>
      </p:sp>
      <p:sp>
        <p:nvSpPr>
          <p:cNvPr id="39" name="AutoShape 39"/>
          <p:cNvSpPr/>
          <p:nvPr/>
        </p:nvSpPr>
        <p:spPr>
          <a:xfrm>
            <a:off x="6502400" y="4254500"/>
            <a:ext cx="5270500" cy="533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400" b="0" i="0" u="none" strike="noStrike">
                <a:solidFill>
                  <a:srgbClr val="334155"/>
                </a:solidFill>
                <a:latin typeface="Noto Sans SC"/>
                <a:ea typeface="Noto Sans SC"/>
                <a:cs typeface="Noto Sans SC"/>
                <a:sym typeface="Noto Sans SC"/>
              </a:rPr>
              <a:t>地块均值与阈值告警</a:t>
            </a:r>
            <a:r>
              <a:rPr lang="en-US" sz="1200" b="0" i="0" u="none" strike="noStrike">
                <a:solidFill>
                  <a:srgbClr val="94A3B8"/>
                </a:solidFill>
                <a:latin typeface="Noto Sans SC"/>
                <a:ea typeface="Noto Sans SC"/>
                <a:cs typeface="Noto Sans SC"/>
                <a:sym typeface="Noto Sans SC"/>
              </a:rPr>
              <a:t>· #45</a:t>
            </a:r>
            <a:endParaRPr lang="en-US" sz="1100"/>
          </a:p>
        </p:txBody>
      </p:sp>
      <p:sp>
        <p:nvSpPr>
          <p:cNvPr id="40" name="AutoShape 40"/>
          <p:cNvSpPr/>
          <p:nvPr/>
        </p:nvSpPr>
        <p:spPr>
          <a:xfrm>
            <a:off x="6350000" y="4851400"/>
            <a:ext cx="55245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300" b="1" i="0" u="none" strike="noStrike" spc="100">
                <a:solidFill>
                  <a:srgbClr val="065F46"/>
                </a:solidFill>
                <a:latin typeface="Noto Sans SC"/>
                <a:ea typeface="Noto Sans SC"/>
                <a:cs typeface="Noto Sans SC"/>
                <a:sym typeface="Noto Sans SC"/>
              </a:rPr>
              <a:t>回答的问题</a:t>
            </a:r>
            <a:endParaRPr lang="en-US" sz="1100"/>
          </a:p>
        </p:txBody>
      </p:sp>
      <p:sp>
        <p:nvSpPr>
          <p:cNvPr id="41" name="AutoShape 41"/>
          <p:cNvSpPr/>
          <p:nvPr/>
        </p:nvSpPr>
        <p:spPr>
          <a:xfrm>
            <a:off x="6350000" y="5143500"/>
            <a:ext cx="5524500" cy="558800"/>
          </a:xfrm>
          <a:prstGeom prst="rect">
            <a:avLst/>
          </a:prstGeom>
          <a:noFill/>
          <a:ln w="12700" cap="flat" cmpd="sng">
            <a:noFill/>
            <a:prstDash val="solid"/>
            <a:round/>
          </a:ln>
        </p:spPr>
        <p:txBody>
          <a:bodyPr vert="horz" wrap="square" lIns="0" tIns="0" rIns="0" bIns="0" rtlCol="0" anchor="t" anchorCtr="0"/>
          <a:lstStyle/>
          <a:p>
            <a:pPr marL="0" indent="0" algn="l">
              <a:lnSpc>
                <a:spcPct val="113000"/>
              </a:lnSpc>
              <a:defRPr/>
            </a:pPr>
            <a:r>
              <a:rPr lang="en-US" sz="1200" b="0" i="0" u="none" strike="noStrike">
                <a:solidFill>
                  <a:srgbClr val="475569"/>
                </a:solidFill>
                <a:latin typeface="Noto Sans SC"/>
                <a:ea typeface="Noto Sans SC"/>
                <a:cs typeface="Noto Sans SC"/>
                <a:sym typeface="Noto Sans SC"/>
              </a:rPr>
              <a:t>· 长势空间差异如何?</a:t>
            </a:r>
            <a:endParaRPr lang="en-US" sz="1100"/>
          </a:p>
          <a:p>
            <a:pPr marL="0" indent="0" algn="l">
              <a:lnSpc>
                <a:spcPct val="113000"/>
              </a:lnSpc>
            </a:pPr>
            <a:r>
              <a:rPr lang="en-US" sz="1200" b="0" i="0" u="none" strike="noStrike">
                <a:solidFill>
                  <a:srgbClr val="475569"/>
                </a:solidFill>
                <a:latin typeface="Noto Sans SC"/>
                <a:ea typeface="Noto Sans SC"/>
                <a:cs typeface="Noto Sans SC"/>
                <a:sym typeface="Noto Sans SC"/>
              </a:rPr>
              <a:t>· 是否存在干旱/缺肥/药害区?</a:t>
            </a:r>
            <a:endParaRPr lang="en-US" sz="1200" b="0" i="0" u="none" strike="noStrike">
              <a:solidFill>
                <a:srgbClr val="475569"/>
              </a:solidFill>
              <a:latin typeface="Noto Sans SC"/>
              <a:ea typeface="Noto Sans SC"/>
              <a:cs typeface="Noto Sans SC"/>
              <a:sym typeface="Noto Sans SC"/>
            </a:endParaRPr>
          </a:p>
        </p:txBody>
      </p:sp>
      <p:sp>
        <p:nvSpPr>
          <p:cNvPr id="42" name="AutoShape 42"/>
          <p:cNvSpPr/>
          <p:nvPr/>
        </p:nvSpPr>
        <p:spPr>
          <a:xfrm>
            <a:off x="6350000" y="5715000"/>
            <a:ext cx="5524500" cy="406400"/>
          </a:xfrm>
          <a:prstGeom prst="roundRect">
            <a:avLst>
              <a:gd name="adj" fmla="val 0"/>
            </a:avLst>
          </a:prstGeom>
          <a:solidFill>
            <a:srgbClr val="10B981">
              <a:alpha val="13000"/>
            </a:srgbClr>
          </a:solidFill>
          <a:ln cap="flat" cmpd="sng">
            <a:solidFill>
              <a:srgbClr val="00A06B">
                <a:alpha val="13000"/>
              </a:srgbClr>
            </a:solidFill>
            <a:prstDash val="solid"/>
            <a:round/>
          </a:ln>
        </p:spPr>
        <p:txBody>
          <a:bodyPr vert="horz" wrap="square" lIns="63500" tIns="63500" rIns="63500" bIns="63500" rtlCol="0" anchor="ctr"/>
          <a:lstStyle/>
          <a:p>
            <a:pPr algn="ctr">
              <a:defRPr/>
            </a:pPr>
          </a:p>
        </p:txBody>
      </p:sp>
      <p:sp>
        <p:nvSpPr>
          <p:cNvPr id="43" name="AutoShape 43"/>
          <p:cNvSpPr/>
          <p:nvPr/>
        </p:nvSpPr>
        <p:spPr>
          <a:xfrm>
            <a:off x="6502400" y="5715000"/>
            <a:ext cx="5270500" cy="406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200" b="1" i="0" u="none" strike="noStrike">
                <a:solidFill>
                  <a:srgbClr val="065F46"/>
                </a:solidFill>
                <a:latin typeface="Noto Sans SC"/>
                <a:ea typeface="Noto Sans SC"/>
                <a:cs typeface="Noto Sans SC"/>
                <a:sym typeface="Noto Sans SC"/>
              </a:rPr>
              <a:t>链路更轻,更适合高频监测。</a:t>
            </a:r>
            <a:r>
              <a:rPr lang="en-US" sz="1200" b="0" i="0" u="none" strike="noStrike">
                <a:solidFill>
                  <a:srgbClr val="475569"/>
                </a:solidFill>
                <a:latin typeface="Noto Sans SC"/>
                <a:ea typeface="Noto Sans SC"/>
                <a:cs typeface="Noto Sans SC"/>
                <a:sym typeface="Noto Sans SC"/>
              </a:rPr>
              <a:t>验收关注:阈值规则与告警闭环。</a:t>
            </a:r>
            <a:endParaRPr lang="en-US" sz="1100"/>
          </a:p>
        </p:txBody>
      </p:sp>
      <p:sp>
        <p:nvSpPr>
          <p:cNvPr id="44" name="AutoShape 44"/>
          <p:cNvSpPr/>
          <p:nvPr/>
        </p:nvSpPr>
        <p:spPr>
          <a:xfrm>
            <a:off x="508000" y="6261100"/>
            <a:ext cx="11176000" cy="431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0" i="0" u="none" strike="noStrike" spc="100">
                <a:solidFill>
                  <a:srgbClr val="64748B"/>
                </a:solidFill>
                <a:latin typeface="Noto Sans SC"/>
                <a:ea typeface="Noto Sans SC"/>
                <a:cs typeface="Noto Sans SC"/>
                <a:sym typeface="Noto Sans SC"/>
              </a:rPr>
              <a:t>两条链路最终都汇总到L4,为业务决策提供支持。</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604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3200" b="1" i="0" u="none" strike="noStrike" spc="100">
                <a:solidFill>
                  <a:srgbClr val="111827"/>
                </a:solidFill>
                <a:latin typeface="Noto Sans SC"/>
                <a:ea typeface="Noto Sans SC"/>
                <a:cs typeface="Noto Sans SC"/>
                <a:sym typeface="Noto Sans SC"/>
              </a:rPr>
              <a:t>业界文件格式约定</a:t>
            </a:r>
            <a:endParaRPr lang="en-US" sz="1100"/>
          </a:p>
        </p:txBody>
      </p:sp>
      <p:sp>
        <p:nvSpPr>
          <p:cNvPr id="3" name="AutoShape 3"/>
          <p:cNvSpPr/>
          <p:nvPr/>
        </p:nvSpPr>
        <p:spPr>
          <a:xfrm>
            <a:off x="508000" y="1041400"/>
            <a:ext cx="11176000" cy="381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600" b="0" i="0" u="none" strike="noStrike">
                <a:solidFill>
                  <a:srgbClr val="4B5563"/>
                </a:solidFill>
                <a:latin typeface="Noto Sans SC"/>
                <a:ea typeface="Noto Sans SC"/>
                <a:cs typeface="Noto Sans SC"/>
                <a:sym typeface="Noto Sans SC"/>
              </a:rPr>
              <a:t>服务与业务系统按标准格式交换,而非零散用numpy</a:t>
            </a:r>
            <a:endParaRPr lang="en-US" sz="1100"/>
          </a:p>
        </p:txBody>
      </p:sp>
      <p:sp>
        <p:nvSpPr>
          <p:cNvPr id="4" name="AutoShape 4"/>
          <p:cNvSpPr/>
          <p:nvPr/>
        </p:nvSpPr>
        <p:spPr>
          <a:xfrm>
            <a:off x="508000" y="1651000"/>
            <a:ext cx="2235200" cy="39370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508000" y="1651000"/>
            <a:ext cx="50800" cy="3937000"/>
          </a:xfrm>
          <a:prstGeom prst="roundRect">
            <a:avLst>
              <a:gd name="adj" fmla="val 0"/>
            </a:avLst>
          </a:prstGeom>
          <a:solidFill>
            <a:srgbClr val="2563EB">
              <a:alpha val="100000"/>
            </a:srgbClr>
          </a:solidFill>
          <a:ln cap="flat" cmpd="sng">
            <a:solidFill>
              <a:srgbClr val="0C4AD2">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660400" y="1752600"/>
            <a:ext cx="1981200" cy="431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11827"/>
                </a:solidFill>
                <a:latin typeface="Noto Sans SC"/>
                <a:ea typeface="Noto Sans SC"/>
                <a:cs typeface="Noto Sans SC"/>
                <a:sym typeface="Noto Sans SC"/>
              </a:rPr>
              <a:t>GeoTIFF</a:t>
            </a:r>
            <a:endParaRPr lang="en-US" sz="1100"/>
          </a:p>
        </p:txBody>
      </p:sp>
      <p:sp>
        <p:nvSpPr>
          <p:cNvPr id="7" name="AutoShape 7"/>
          <p:cNvSpPr/>
          <p:nvPr/>
        </p:nvSpPr>
        <p:spPr>
          <a:xfrm>
            <a:off x="660400" y="2184400"/>
            <a:ext cx="19812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0" i="0" u="none" strike="noStrike" spc="50">
                <a:solidFill>
                  <a:srgbClr val="6B7280"/>
                </a:solidFill>
                <a:latin typeface="Noto Sans SC"/>
                <a:ea typeface="Noto Sans SC"/>
                <a:cs typeface="Noto Sans SC"/>
                <a:sym typeface="Noto Sans SC"/>
              </a:rPr>
              <a:t>.tif</a:t>
            </a:r>
            <a:endParaRPr lang="en-US" sz="1100"/>
          </a:p>
        </p:txBody>
      </p:sp>
      <p:cxnSp>
        <p:nvCxnSpPr>
          <p:cNvPr id="8" name="Connector 8"/>
          <p:cNvCxnSpPr/>
          <p:nvPr/>
        </p:nvCxnSpPr>
        <p:spPr>
          <a:xfrm rot="-22616">
            <a:off x="660421" y="2559050"/>
            <a:ext cx="19304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9" name="AutoShape 9"/>
          <p:cNvSpPr/>
          <p:nvPr/>
        </p:nvSpPr>
        <p:spPr>
          <a:xfrm>
            <a:off x="660400" y="2667000"/>
            <a:ext cx="1981200" cy="8636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300" b="0" i="0" u="none" strike="noStrike">
                <a:solidFill>
                  <a:srgbClr val="374151"/>
                </a:solidFill>
                <a:latin typeface="Noto Sans SC"/>
                <a:ea typeface="Noto Sans SC"/>
                <a:cs typeface="Noto Sans SC"/>
                <a:sym typeface="Noto Sans SC"/>
              </a:rPr>
              <a:t>多波段栅格+地理参考;主格式</a:t>
            </a:r>
            <a:endParaRPr lang="en-US" sz="1100"/>
          </a:p>
        </p:txBody>
      </p:sp>
      <p:sp>
        <p:nvSpPr>
          <p:cNvPr id="10" name="AutoShape 10"/>
          <p:cNvSpPr/>
          <p:nvPr/>
        </p:nvSpPr>
        <p:spPr>
          <a:xfrm>
            <a:off x="660400" y="3683000"/>
            <a:ext cx="19812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100" b="1" i="0" u="none" strike="noStrike" spc="100">
                <a:solidFill>
                  <a:srgbClr val="2563EB"/>
                </a:solidFill>
                <a:latin typeface="Noto Sans SC"/>
                <a:ea typeface="Noto Sans SC"/>
                <a:cs typeface="Noto Sans SC"/>
                <a:sym typeface="Noto Sans SC"/>
              </a:rPr>
              <a:t>用途</a:t>
            </a:r>
            <a:endParaRPr lang="en-US" sz="1100"/>
          </a:p>
        </p:txBody>
      </p:sp>
      <p:sp>
        <p:nvSpPr>
          <p:cNvPr id="11" name="AutoShape 11"/>
          <p:cNvSpPr/>
          <p:nvPr/>
        </p:nvSpPr>
        <p:spPr>
          <a:xfrm>
            <a:off x="660400" y="3987800"/>
            <a:ext cx="1981200" cy="8382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200" b="0" i="0" u="none" strike="noStrike">
                <a:solidFill>
                  <a:srgbClr val="4B5563"/>
                </a:solidFill>
                <a:latin typeface="Noto Sans SC"/>
                <a:ea typeface="Noto Sans SC"/>
                <a:cs typeface="Noto Sans SC"/>
                <a:sym typeface="Noto Sans SC"/>
              </a:rPr>
              <a:t>L2立方体、指数图、分类图</a:t>
            </a:r>
            <a:endParaRPr lang="en-US" sz="1100"/>
          </a:p>
        </p:txBody>
      </p:sp>
      <p:sp>
        <p:nvSpPr>
          <p:cNvPr id="12" name="AutoShape 12"/>
          <p:cNvSpPr/>
          <p:nvPr/>
        </p:nvSpPr>
        <p:spPr>
          <a:xfrm>
            <a:off x="2844800" y="1651000"/>
            <a:ext cx="2235200" cy="39370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2844800" y="1651000"/>
            <a:ext cx="50800" cy="3937000"/>
          </a:xfrm>
          <a:prstGeom prst="roundRect">
            <a:avLst>
              <a:gd name="adj" fmla="val 0"/>
            </a:avLst>
          </a:prstGeom>
          <a:solidFill>
            <a:srgbClr val="2563EB">
              <a:alpha val="100000"/>
            </a:srgbClr>
          </a:solidFill>
          <a:ln cap="flat" cmpd="sng">
            <a:solidFill>
              <a:srgbClr val="0C4AD2">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2997200" y="1752600"/>
            <a:ext cx="1981200" cy="431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11827"/>
                </a:solidFill>
                <a:latin typeface="Noto Sans SC"/>
                <a:ea typeface="Noto Sans SC"/>
                <a:cs typeface="Noto Sans SC"/>
                <a:sym typeface="Noto Sans SC"/>
              </a:rPr>
              <a:t>ENVI</a:t>
            </a:r>
            <a:endParaRPr lang="en-US" sz="1100"/>
          </a:p>
        </p:txBody>
      </p:sp>
      <p:sp>
        <p:nvSpPr>
          <p:cNvPr id="15" name="AutoShape 15"/>
          <p:cNvSpPr/>
          <p:nvPr/>
        </p:nvSpPr>
        <p:spPr>
          <a:xfrm>
            <a:off x="2997200" y="2184400"/>
            <a:ext cx="19812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0" i="0" u="none" strike="noStrike" spc="50">
                <a:solidFill>
                  <a:srgbClr val="6B7280"/>
                </a:solidFill>
                <a:latin typeface="Noto Sans SC"/>
                <a:ea typeface="Noto Sans SC"/>
                <a:cs typeface="Noto Sans SC"/>
                <a:sym typeface="Noto Sans SC"/>
              </a:rPr>
              <a:t>经典高光谱格式</a:t>
            </a:r>
            <a:endParaRPr lang="en-US" sz="1100"/>
          </a:p>
        </p:txBody>
      </p:sp>
      <p:cxnSp>
        <p:nvCxnSpPr>
          <p:cNvPr id="16" name="Connector 16"/>
          <p:cNvCxnSpPr/>
          <p:nvPr/>
        </p:nvCxnSpPr>
        <p:spPr>
          <a:xfrm rot="-22616">
            <a:off x="2997221" y="2559050"/>
            <a:ext cx="19304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17" name="AutoShape 17"/>
          <p:cNvSpPr/>
          <p:nvPr/>
        </p:nvSpPr>
        <p:spPr>
          <a:xfrm>
            <a:off x="2997200" y="2667000"/>
            <a:ext cx="1981200" cy="8636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300" b="0" i="0" u="none" strike="noStrike">
                <a:solidFill>
                  <a:srgbClr val="374151"/>
                </a:solidFill>
                <a:latin typeface="Noto Sans SC"/>
                <a:ea typeface="Noto Sans SC"/>
                <a:cs typeface="Noto Sans SC"/>
                <a:sym typeface="Noto Sans SC"/>
              </a:rPr>
              <a:t>经典高光谱交换;服务侧可读</a:t>
            </a:r>
            <a:endParaRPr lang="en-US" sz="1100"/>
          </a:p>
        </p:txBody>
      </p:sp>
      <p:sp>
        <p:nvSpPr>
          <p:cNvPr id="18" name="AutoShape 18"/>
          <p:cNvSpPr/>
          <p:nvPr/>
        </p:nvSpPr>
        <p:spPr>
          <a:xfrm>
            <a:off x="2997200" y="3683000"/>
            <a:ext cx="19812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100" b="1" i="0" u="none" strike="noStrike" spc="100">
                <a:solidFill>
                  <a:srgbClr val="2563EB"/>
                </a:solidFill>
                <a:latin typeface="Noto Sans SC"/>
                <a:ea typeface="Noto Sans SC"/>
                <a:cs typeface="Noto Sans SC"/>
                <a:sym typeface="Noto Sans SC"/>
              </a:rPr>
              <a:t>用途</a:t>
            </a:r>
            <a:endParaRPr lang="en-US" sz="1100"/>
          </a:p>
        </p:txBody>
      </p:sp>
      <p:sp>
        <p:nvSpPr>
          <p:cNvPr id="19" name="AutoShape 19"/>
          <p:cNvSpPr/>
          <p:nvPr/>
        </p:nvSpPr>
        <p:spPr>
          <a:xfrm>
            <a:off x="2997200" y="3987800"/>
            <a:ext cx="1981200" cy="8382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200" b="0" i="0" u="none" strike="noStrike">
                <a:solidFill>
                  <a:srgbClr val="4B5563"/>
                </a:solidFill>
                <a:latin typeface="Noto Sans SC"/>
                <a:ea typeface="Noto Sans SC"/>
                <a:cs typeface="Noto Sans SC"/>
                <a:sym typeface="Noto Sans SC"/>
              </a:rPr>
              <a:t>处理中心存量数据接入</a:t>
            </a:r>
            <a:endParaRPr lang="en-US" sz="1100"/>
          </a:p>
        </p:txBody>
      </p:sp>
      <p:sp>
        <p:nvSpPr>
          <p:cNvPr id="20" name="AutoShape 20"/>
          <p:cNvSpPr/>
          <p:nvPr/>
        </p:nvSpPr>
        <p:spPr>
          <a:xfrm>
            <a:off x="5181600" y="1651000"/>
            <a:ext cx="2235200" cy="39370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5181600" y="1651000"/>
            <a:ext cx="50800" cy="3937000"/>
          </a:xfrm>
          <a:prstGeom prst="roundRect">
            <a:avLst>
              <a:gd name="adj" fmla="val 0"/>
            </a:avLst>
          </a:prstGeom>
          <a:solidFill>
            <a:srgbClr val="2563EB">
              <a:alpha val="100000"/>
            </a:srgbClr>
          </a:solidFill>
          <a:ln cap="flat" cmpd="sng">
            <a:solidFill>
              <a:srgbClr val="0C4AD2">
                <a:alpha val="10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5334000" y="1752600"/>
            <a:ext cx="1981200" cy="431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11827"/>
                </a:solidFill>
                <a:latin typeface="Noto Sans SC"/>
                <a:ea typeface="Noto Sans SC"/>
                <a:cs typeface="Noto Sans SC"/>
                <a:sym typeface="Noto Sans SC"/>
              </a:rPr>
              <a:t>GeoJSON</a:t>
            </a:r>
            <a:endParaRPr lang="en-US" sz="1100"/>
          </a:p>
        </p:txBody>
      </p:sp>
      <p:sp>
        <p:nvSpPr>
          <p:cNvPr id="23" name="AutoShape 23"/>
          <p:cNvSpPr/>
          <p:nvPr/>
        </p:nvSpPr>
        <p:spPr>
          <a:xfrm>
            <a:off x="5334000" y="2184400"/>
            <a:ext cx="19812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0" i="0" u="none" strike="noStrike" spc="50">
                <a:solidFill>
                  <a:srgbClr val="6B7280"/>
                </a:solidFill>
                <a:latin typeface="Noto Sans SC"/>
                <a:ea typeface="Noto Sans SC"/>
                <a:cs typeface="Noto Sans SC"/>
                <a:sym typeface="Noto Sans SC"/>
              </a:rPr>
              <a:t>矢量数据格式</a:t>
            </a:r>
            <a:endParaRPr lang="en-US" sz="1100"/>
          </a:p>
        </p:txBody>
      </p:sp>
      <p:cxnSp>
        <p:nvCxnSpPr>
          <p:cNvPr id="24" name="Connector 24"/>
          <p:cNvCxnSpPr/>
          <p:nvPr/>
        </p:nvCxnSpPr>
        <p:spPr>
          <a:xfrm rot="-22616">
            <a:off x="5334021" y="2559050"/>
            <a:ext cx="19304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25" name="AutoShape 25"/>
          <p:cNvSpPr/>
          <p:nvPr/>
        </p:nvSpPr>
        <p:spPr>
          <a:xfrm>
            <a:off x="5334000" y="2667000"/>
            <a:ext cx="1981200" cy="8636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300" b="0" i="0" u="none" strike="noStrike">
                <a:solidFill>
                  <a:srgbClr val="374151"/>
                </a:solidFill>
                <a:latin typeface="Noto Sans SC"/>
                <a:ea typeface="Noto Sans SC"/>
                <a:cs typeface="Noto Sans SC"/>
                <a:sym typeface="Noto Sans SC"/>
              </a:rPr>
              <a:t>测区、地块、斑块矢量</a:t>
            </a:r>
            <a:endParaRPr lang="en-US" sz="1100"/>
          </a:p>
        </p:txBody>
      </p:sp>
      <p:sp>
        <p:nvSpPr>
          <p:cNvPr id="26" name="AutoShape 26"/>
          <p:cNvSpPr/>
          <p:nvPr/>
        </p:nvSpPr>
        <p:spPr>
          <a:xfrm>
            <a:off x="5334000" y="3683000"/>
            <a:ext cx="19812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100" b="1" i="0" u="none" strike="noStrike" spc="100">
                <a:solidFill>
                  <a:srgbClr val="2563EB"/>
                </a:solidFill>
                <a:latin typeface="Noto Sans SC"/>
                <a:ea typeface="Noto Sans SC"/>
                <a:cs typeface="Noto Sans SC"/>
                <a:sym typeface="Noto Sans SC"/>
              </a:rPr>
              <a:t>用途</a:t>
            </a:r>
            <a:endParaRPr lang="en-US" sz="1100"/>
          </a:p>
        </p:txBody>
      </p:sp>
      <p:sp>
        <p:nvSpPr>
          <p:cNvPr id="27" name="AutoShape 27"/>
          <p:cNvSpPr/>
          <p:nvPr/>
        </p:nvSpPr>
        <p:spPr>
          <a:xfrm>
            <a:off x="5334000" y="3987800"/>
            <a:ext cx="1981200" cy="8382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200" b="0" i="0" u="none" strike="noStrike">
                <a:solidFill>
                  <a:srgbClr val="4B5563"/>
                </a:solidFill>
                <a:latin typeface="Noto Sans SC"/>
                <a:ea typeface="Noto Sans SC"/>
                <a:cs typeface="Noto Sans SC"/>
                <a:sym typeface="Noto Sans SC"/>
              </a:rPr>
              <a:t>分区统计、AOI裁剪</a:t>
            </a:r>
            <a:endParaRPr lang="en-US" sz="1100"/>
          </a:p>
        </p:txBody>
      </p:sp>
      <p:sp>
        <p:nvSpPr>
          <p:cNvPr id="28" name="AutoShape 28"/>
          <p:cNvSpPr/>
          <p:nvPr/>
        </p:nvSpPr>
        <p:spPr>
          <a:xfrm>
            <a:off x="7518400" y="1651000"/>
            <a:ext cx="2235200" cy="39370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29" name="AutoShape 29"/>
          <p:cNvSpPr/>
          <p:nvPr/>
        </p:nvSpPr>
        <p:spPr>
          <a:xfrm>
            <a:off x="7518400" y="1651000"/>
            <a:ext cx="50800" cy="3937000"/>
          </a:xfrm>
          <a:prstGeom prst="roundRect">
            <a:avLst>
              <a:gd name="adj" fmla="val 0"/>
            </a:avLst>
          </a:prstGeom>
          <a:solidFill>
            <a:srgbClr val="2563EB">
              <a:alpha val="100000"/>
            </a:srgbClr>
          </a:solidFill>
          <a:ln cap="flat" cmpd="sng">
            <a:solidFill>
              <a:srgbClr val="0C4AD2">
                <a:alpha val="100000"/>
              </a:srgbClr>
            </a:solidFill>
            <a:prstDash val="solid"/>
            <a:round/>
          </a:ln>
        </p:spPr>
        <p:txBody>
          <a:bodyPr vert="horz" wrap="square" lIns="63500" tIns="63500" rIns="63500" bIns="63500" rtlCol="0" anchor="ctr"/>
          <a:lstStyle/>
          <a:p>
            <a:pPr algn="ctr">
              <a:defRPr/>
            </a:pPr>
          </a:p>
        </p:txBody>
      </p:sp>
      <p:sp>
        <p:nvSpPr>
          <p:cNvPr id="30" name="AutoShape 30"/>
          <p:cNvSpPr/>
          <p:nvPr/>
        </p:nvSpPr>
        <p:spPr>
          <a:xfrm>
            <a:off x="7670800" y="1752600"/>
            <a:ext cx="1981200" cy="431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11827"/>
                </a:solidFill>
                <a:latin typeface="Noto Sans SC"/>
                <a:ea typeface="Noto Sans SC"/>
                <a:cs typeface="Noto Sans SC"/>
                <a:sym typeface="Noto Sans SC"/>
              </a:rPr>
              <a:t>CSV</a:t>
            </a:r>
            <a:endParaRPr lang="en-US" sz="1100"/>
          </a:p>
        </p:txBody>
      </p:sp>
      <p:sp>
        <p:nvSpPr>
          <p:cNvPr id="31" name="AutoShape 31"/>
          <p:cNvSpPr/>
          <p:nvPr/>
        </p:nvSpPr>
        <p:spPr>
          <a:xfrm>
            <a:off x="7670800" y="2184400"/>
            <a:ext cx="19812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0" i="0" u="none" strike="noStrike" spc="50">
                <a:solidFill>
                  <a:srgbClr val="6B7280"/>
                </a:solidFill>
                <a:latin typeface="Noto Sans SC"/>
                <a:ea typeface="Noto Sans SC"/>
                <a:cs typeface="Noto Sans SC"/>
                <a:sym typeface="Noto Sans SC"/>
              </a:rPr>
              <a:t>表格数据格式</a:t>
            </a:r>
            <a:endParaRPr lang="en-US" sz="1100"/>
          </a:p>
        </p:txBody>
      </p:sp>
      <p:cxnSp>
        <p:nvCxnSpPr>
          <p:cNvPr id="32" name="Connector 32"/>
          <p:cNvCxnSpPr/>
          <p:nvPr/>
        </p:nvCxnSpPr>
        <p:spPr>
          <a:xfrm rot="-22616">
            <a:off x="7670821" y="2559050"/>
            <a:ext cx="19304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33" name="AutoShape 33"/>
          <p:cNvSpPr/>
          <p:nvPr/>
        </p:nvSpPr>
        <p:spPr>
          <a:xfrm>
            <a:off x="7670800" y="2667000"/>
            <a:ext cx="1981200" cy="8636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300" b="0" i="0" u="none" strike="noStrike">
                <a:solidFill>
                  <a:srgbClr val="374151"/>
                </a:solidFill>
                <a:latin typeface="Noto Sans SC"/>
                <a:ea typeface="Noto Sans SC"/>
                <a:cs typeface="Noto Sans SC"/>
                <a:sym typeface="Noto Sans SC"/>
              </a:rPr>
              <a:t>POS轨迹、光谱库、端元表</a:t>
            </a:r>
            <a:endParaRPr lang="en-US" sz="1100"/>
          </a:p>
        </p:txBody>
      </p:sp>
      <p:sp>
        <p:nvSpPr>
          <p:cNvPr id="34" name="AutoShape 34"/>
          <p:cNvSpPr/>
          <p:nvPr/>
        </p:nvSpPr>
        <p:spPr>
          <a:xfrm>
            <a:off x="7670800" y="3683000"/>
            <a:ext cx="19812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100" b="1" i="0" u="none" strike="noStrike" spc="100">
                <a:solidFill>
                  <a:srgbClr val="2563EB"/>
                </a:solidFill>
                <a:latin typeface="Noto Sans SC"/>
                <a:ea typeface="Noto Sans SC"/>
                <a:cs typeface="Noto Sans SC"/>
                <a:sym typeface="Noto Sans SC"/>
              </a:rPr>
              <a:t>用途</a:t>
            </a:r>
            <a:endParaRPr lang="en-US" sz="1100"/>
          </a:p>
        </p:txBody>
      </p:sp>
      <p:sp>
        <p:nvSpPr>
          <p:cNvPr id="35" name="AutoShape 35"/>
          <p:cNvSpPr/>
          <p:nvPr/>
        </p:nvSpPr>
        <p:spPr>
          <a:xfrm>
            <a:off x="7670800" y="3987800"/>
            <a:ext cx="1981200" cy="8382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200" b="0" i="0" u="none" strike="noStrike">
                <a:solidFill>
                  <a:srgbClr val="4B5563"/>
                </a:solidFill>
                <a:latin typeface="Noto Sans SC"/>
                <a:ea typeface="Noto Sans SC"/>
                <a:cs typeface="Noto Sans SC"/>
                <a:sym typeface="Noto Sans SC"/>
              </a:rPr>
              <a:t>几何与光谱匹配辅助</a:t>
            </a:r>
            <a:endParaRPr lang="en-US" sz="1100"/>
          </a:p>
        </p:txBody>
      </p:sp>
      <p:sp>
        <p:nvSpPr>
          <p:cNvPr id="36" name="AutoShape 36"/>
          <p:cNvSpPr/>
          <p:nvPr/>
        </p:nvSpPr>
        <p:spPr>
          <a:xfrm>
            <a:off x="9779000" y="1651000"/>
            <a:ext cx="2235200" cy="39370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37" name="AutoShape 37"/>
          <p:cNvSpPr/>
          <p:nvPr/>
        </p:nvSpPr>
        <p:spPr>
          <a:xfrm>
            <a:off x="9779000" y="1651000"/>
            <a:ext cx="50800" cy="3937000"/>
          </a:xfrm>
          <a:prstGeom prst="roundRect">
            <a:avLst>
              <a:gd name="adj" fmla="val 0"/>
            </a:avLst>
          </a:prstGeom>
          <a:solidFill>
            <a:srgbClr val="2563EB">
              <a:alpha val="100000"/>
            </a:srgbClr>
          </a:solidFill>
          <a:ln cap="flat" cmpd="sng">
            <a:solidFill>
              <a:srgbClr val="0C4AD2">
                <a:alpha val="100000"/>
              </a:srgbClr>
            </a:solidFill>
            <a:prstDash val="solid"/>
            <a:round/>
          </a:ln>
        </p:spPr>
        <p:txBody>
          <a:bodyPr vert="horz" wrap="square" lIns="63500" tIns="63500" rIns="63500" bIns="63500" rtlCol="0" anchor="ctr"/>
          <a:lstStyle/>
          <a:p>
            <a:pPr algn="ctr">
              <a:defRPr/>
            </a:pPr>
          </a:p>
        </p:txBody>
      </p:sp>
      <p:sp>
        <p:nvSpPr>
          <p:cNvPr id="38" name="AutoShape 38"/>
          <p:cNvSpPr/>
          <p:nvPr/>
        </p:nvSpPr>
        <p:spPr>
          <a:xfrm>
            <a:off x="9931400" y="1752600"/>
            <a:ext cx="1981200" cy="431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11827"/>
                </a:solidFill>
                <a:latin typeface="Noto Sans SC"/>
                <a:ea typeface="Noto Sans SC"/>
                <a:cs typeface="Noto Sans SC"/>
                <a:sym typeface="Noto Sans SC"/>
              </a:rPr>
              <a:t>JSON报表</a:t>
            </a:r>
            <a:endParaRPr lang="en-US" sz="1100"/>
          </a:p>
        </p:txBody>
      </p:sp>
      <p:sp>
        <p:nvSpPr>
          <p:cNvPr id="39" name="AutoShape 39"/>
          <p:cNvSpPr/>
          <p:nvPr/>
        </p:nvSpPr>
        <p:spPr>
          <a:xfrm>
            <a:off x="9931400" y="2184400"/>
            <a:ext cx="19812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0" i="0" u="none" strike="noStrike" spc="50">
                <a:solidFill>
                  <a:srgbClr val="6B7280"/>
                </a:solidFill>
                <a:latin typeface="Noto Sans SC"/>
                <a:ea typeface="Noto Sans SC"/>
                <a:cs typeface="Noto Sans SC"/>
                <a:sym typeface="Noto Sans SC"/>
              </a:rPr>
              <a:t>结构化输出格式</a:t>
            </a:r>
            <a:endParaRPr lang="en-US" sz="1100"/>
          </a:p>
        </p:txBody>
      </p:sp>
      <p:cxnSp>
        <p:nvCxnSpPr>
          <p:cNvPr id="40" name="Connector 40"/>
          <p:cNvCxnSpPr/>
          <p:nvPr/>
        </p:nvCxnSpPr>
        <p:spPr>
          <a:xfrm rot="-23545">
            <a:off x="9931422" y="2559050"/>
            <a:ext cx="18542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41" name="AutoShape 41"/>
          <p:cNvSpPr/>
          <p:nvPr/>
        </p:nvSpPr>
        <p:spPr>
          <a:xfrm>
            <a:off x="9931400" y="2667000"/>
            <a:ext cx="1981200" cy="8636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300" b="0" i="0" u="none" strike="noStrike">
                <a:solidFill>
                  <a:srgbClr val="374151"/>
                </a:solidFill>
                <a:latin typeface="Noto Sans SC"/>
                <a:ea typeface="Noto Sans SC"/>
                <a:cs typeface="Noto Sans SC"/>
                <a:sym typeface="Noto Sans SC"/>
              </a:rPr>
              <a:t>统计指标+产物路径+告警</a:t>
            </a:r>
            <a:endParaRPr lang="en-US" sz="1100"/>
          </a:p>
        </p:txBody>
      </p:sp>
      <p:sp>
        <p:nvSpPr>
          <p:cNvPr id="42" name="AutoShape 42"/>
          <p:cNvSpPr/>
          <p:nvPr/>
        </p:nvSpPr>
        <p:spPr>
          <a:xfrm>
            <a:off x="9931400" y="3683000"/>
            <a:ext cx="19812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100" b="1" i="0" u="none" strike="noStrike" spc="100">
                <a:solidFill>
                  <a:srgbClr val="2563EB"/>
                </a:solidFill>
                <a:latin typeface="Noto Sans SC"/>
                <a:ea typeface="Noto Sans SC"/>
                <a:cs typeface="Noto Sans SC"/>
                <a:sym typeface="Noto Sans SC"/>
              </a:rPr>
              <a:t>用途</a:t>
            </a:r>
            <a:endParaRPr lang="en-US" sz="1100"/>
          </a:p>
        </p:txBody>
      </p:sp>
      <p:sp>
        <p:nvSpPr>
          <p:cNvPr id="43" name="AutoShape 43"/>
          <p:cNvSpPr/>
          <p:nvPr/>
        </p:nvSpPr>
        <p:spPr>
          <a:xfrm>
            <a:off x="9931400" y="3987800"/>
            <a:ext cx="1981200" cy="8382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200" b="0" i="0" u="none" strike="noStrike">
                <a:solidFill>
                  <a:srgbClr val="4B5563"/>
                </a:solidFill>
                <a:latin typeface="Noto Sans SC"/>
                <a:ea typeface="Noto Sans SC"/>
                <a:cs typeface="Noto Sans SC"/>
                <a:sym typeface="Noto Sans SC"/>
              </a:rPr>
              <a:t>业务系统/大屏直接消费</a:t>
            </a:r>
            <a:endParaRPr lang="en-US" sz="1100"/>
          </a:p>
        </p:txBody>
      </p:sp>
      <p:sp>
        <p:nvSpPr>
          <p:cNvPr id="44" name="AutoShape 44"/>
          <p:cNvSpPr/>
          <p:nvPr/>
        </p:nvSpPr>
        <p:spPr>
          <a:xfrm>
            <a:off x="508000" y="5842000"/>
            <a:ext cx="11176000" cy="698500"/>
          </a:xfrm>
          <a:prstGeom prst="roundRect">
            <a:avLst>
              <a:gd name="adj" fmla="val 0"/>
            </a:avLst>
          </a:prstGeom>
          <a:solidFill>
            <a:srgbClr val="2563EB">
              <a:alpha val="8000"/>
            </a:srgbClr>
          </a:solidFill>
          <a:ln cap="flat" cmpd="sng">
            <a:solidFill>
              <a:srgbClr val="0C4AD2">
                <a:alpha val="8000"/>
              </a:srgbClr>
            </a:solidFill>
            <a:prstDash val="solid"/>
            <a:round/>
          </a:ln>
        </p:spPr>
        <p:txBody>
          <a:bodyPr vert="horz" wrap="square" lIns="63500" tIns="63500" rIns="63500" bIns="63500" rtlCol="0" anchor="ctr"/>
          <a:lstStyle/>
          <a:p>
            <a:pPr algn="ctr">
              <a:defRPr/>
            </a:pPr>
          </a:p>
        </p:txBody>
      </p:sp>
      <p:sp>
        <p:nvSpPr>
          <p:cNvPr id="45" name="AutoShape 45"/>
          <p:cNvSpPr/>
          <p:nvPr/>
        </p:nvSpPr>
        <p:spPr>
          <a:xfrm>
            <a:off x="508000" y="5842000"/>
            <a:ext cx="38100" cy="698500"/>
          </a:xfrm>
          <a:prstGeom prst="roundRect">
            <a:avLst>
              <a:gd name="adj" fmla="val 0"/>
            </a:avLst>
          </a:prstGeom>
          <a:solidFill>
            <a:srgbClr val="2563EB">
              <a:alpha val="100000"/>
            </a:srgbClr>
          </a:solidFill>
          <a:ln cap="flat" cmpd="sng">
            <a:solidFill>
              <a:srgbClr val="0C4AD2">
                <a:alpha val="100000"/>
              </a:srgbClr>
            </a:solidFill>
            <a:prstDash val="solid"/>
            <a:round/>
          </a:ln>
        </p:spPr>
        <p:txBody>
          <a:bodyPr vert="horz" wrap="square" lIns="63500" tIns="63500" rIns="63500" bIns="63500" rtlCol="0" anchor="ctr"/>
          <a:lstStyle/>
          <a:p>
            <a:pPr algn="ctr">
              <a:defRPr/>
            </a:pPr>
          </a:p>
        </p:txBody>
      </p:sp>
      <p:sp>
        <p:nvSpPr>
          <p:cNvPr id="46" name="AutoShape 46"/>
          <p:cNvSpPr/>
          <p:nvPr/>
        </p:nvSpPr>
        <p:spPr>
          <a:xfrm>
            <a:off x="762000" y="5842000"/>
            <a:ext cx="10795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1000"/>
              </a:lnSpc>
              <a:defRPr/>
            </a:pPr>
            <a:r>
              <a:rPr lang="en-US" sz="1300" b="0" i="0" u="none" strike="noStrike">
                <a:solidFill>
                  <a:srgbClr val="374151"/>
                </a:solidFill>
                <a:latin typeface="Noto Sans SC"/>
                <a:ea typeface="Noto Sans SC"/>
                <a:cs typeface="Noto Sans SC"/>
                <a:sym typeface="Noto Sans SC"/>
              </a:rPr>
              <a:t>为了实现系统间的高效协作,我们遵循业界标准的文件格式约定,让数据流转清晰、可追溯。</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72A">
                <a:alpha val="100000"/>
              </a:srgbClr>
            </a:gs>
            <a:gs pos="100000">
              <a:srgbClr val="1E293B">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508000" y="381000"/>
            <a:ext cx="8890000" cy="6350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3200" b="1" i="0" u="none" strike="noStrike" spc="100">
                <a:solidFill>
                  <a:srgbClr val="FFFFFF"/>
                </a:solidFill>
                <a:latin typeface="Noto Sans SC"/>
                <a:ea typeface="Noto Sans SC"/>
                <a:cs typeface="Noto Sans SC"/>
                <a:sym typeface="Noto Sans SC"/>
              </a:rPr>
              <a:t>第二部分:算法清单</a:t>
            </a:r>
            <a:endParaRPr lang="en-US" sz="1100"/>
          </a:p>
        </p:txBody>
      </p:sp>
      <p:sp>
        <p:nvSpPr>
          <p:cNvPr id="3" name="AutoShape 3"/>
          <p:cNvSpPr/>
          <p:nvPr/>
        </p:nvSpPr>
        <p:spPr>
          <a:xfrm>
            <a:off x="508000" y="1041400"/>
            <a:ext cx="11176000" cy="4318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200" b="1" i="0" u="none" strike="noStrike">
                <a:solidFill>
                  <a:srgbClr val="38BDF8"/>
                </a:solidFill>
                <a:latin typeface="Noto Sans SC"/>
                <a:ea typeface="Noto Sans SC"/>
                <a:cs typeface="Noto Sans SC"/>
                <a:sym typeface="Noto Sans SC"/>
              </a:rPr>
              <a:t>45项</a:t>
            </a:r>
            <a:r>
              <a:rPr lang="en-US" sz="1600" b="0" i="0" u="none" strike="noStrike">
                <a:solidFill>
                  <a:srgbClr val="FFFFFF">
                    <a:alpha val="70196"/>
                  </a:srgbClr>
                </a:solidFill>
                <a:latin typeface="Noto Sans SC"/>
                <a:ea typeface="Noto Sans SC"/>
                <a:cs typeface="Noto Sans SC"/>
                <a:sym typeface="Noto Sans SC"/>
              </a:rPr>
              <a:t>核心算法,每项覆盖功能·方法·场景·输入输出·价值·影响·流程</a:t>
            </a:r>
            <a:endParaRPr lang="en-US" sz="1100"/>
          </a:p>
        </p:txBody>
      </p:sp>
      <p:sp>
        <p:nvSpPr>
          <p:cNvPr id="4" name="AutoShape 4"/>
          <p:cNvSpPr/>
          <p:nvPr/>
        </p:nvSpPr>
        <p:spPr>
          <a:xfrm>
            <a:off x="508000" y="1651000"/>
            <a:ext cx="2235200" cy="2730500"/>
          </a:xfrm>
          <a:prstGeom prst="roundRect">
            <a:avLst>
              <a:gd name="adj" fmla="val 0"/>
            </a:avLst>
          </a:prstGeom>
          <a:solidFill>
            <a:srgbClr val="FFFFFF">
              <a:alpha val="6000"/>
            </a:srgbClr>
          </a:solidFill>
          <a:ln cap="flat" cmpd="sng">
            <a:solidFill>
              <a:srgbClr val="E6CFCF">
                <a:alpha val="6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508000" y="1651000"/>
            <a:ext cx="50800" cy="2730500"/>
          </a:xfrm>
          <a:prstGeom prst="roundRect">
            <a:avLst>
              <a:gd name="adj" fmla="val 0"/>
            </a:avLst>
          </a:prstGeom>
          <a:gradFill rotWithShape="1">
            <a:gsLst>
              <a:gs pos="0">
                <a:srgbClr val="38BDF8">
                  <a:alpha val="100000"/>
                </a:srgbClr>
              </a:gs>
              <a:gs pos="100000">
                <a:srgbClr val="0E74BE">
                  <a:alpha val="100000"/>
                </a:srgbClr>
              </a:gs>
            </a:gsLst>
            <a:lin ang="5400000"/>
          </a:gradFill>
          <a:ln cap="flat" cmpd="sng">
            <a:gradFill rotWithShape="1">
              <a:gsLst>
                <a:gs pos="0">
                  <a:srgbClr val="1CA3DF">
                    <a:alpha val="100000"/>
                  </a:srgbClr>
                </a:gs>
                <a:gs pos="100000">
                  <a:srgbClr val="005FA5">
                    <a:alpha val="100000"/>
                  </a:srgbClr>
                </a:gs>
              </a:gsLst>
              <a:lin ang="5400000"/>
            </a:gradFill>
            <a:prstDash val="solid"/>
            <a:round/>
          </a:ln>
        </p:spPr>
        <p:txBody>
          <a:bodyPr vert="horz" wrap="square" lIns="63500" tIns="63500" rIns="63500" bIns="63500" rtlCol="0" anchor="ctr"/>
          <a:lstStyle/>
          <a:p>
            <a:pPr algn="ctr">
              <a:defRPr/>
            </a:pPr>
          </a:p>
        </p:txBody>
      </p:sp>
      <p:sp>
        <p:nvSpPr>
          <p:cNvPr id="6" name="AutoShape 6"/>
          <p:cNvSpPr/>
          <p:nvPr/>
        </p:nvSpPr>
        <p:spPr>
          <a:xfrm>
            <a:off x="508000" y="1651000"/>
            <a:ext cx="22352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2800" b="1" i="0" u="none" strike="noStrike">
                <a:solidFill>
                  <a:srgbClr val="38BDF8"/>
                </a:solidFill>
                <a:latin typeface="Noto Sans SC"/>
                <a:ea typeface="Noto Sans SC"/>
                <a:cs typeface="Noto Sans SC"/>
                <a:sym typeface="Noto Sans SC"/>
              </a:rPr>
              <a:t>01</a:t>
            </a:r>
            <a:r>
              <a:rPr lang="en-US" sz="1300" b="0" i="0" u="none" strike="noStrike">
                <a:solidFill>
                  <a:srgbClr val="FFFFFF">
                    <a:alpha val="54902"/>
                  </a:srgbClr>
                </a:solidFill>
                <a:latin typeface="Noto Sans SC"/>
                <a:ea typeface="Noto Sans SC"/>
                <a:cs typeface="Noto Sans SC"/>
                <a:sym typeface="Noto Sans SC"/>
              </a:rPr>
              <a:t>— 05</a:t>
            </a:r>
            <a:endParaRPr lang="en-US" sz="1100"/>
          </a:p>
        </p:txBody>
      </p:sp>
      <p:cxnSp>
        <p:nvCxnSpPr>
          <p:cNvPr id="7" name="Connector 7"/>
          <p:cNvCxnSpPr/>
          <p:nvPr/>
        </p:nvCxnSpPr>
        <p:spPr>
          <a:xfrm rot="-24554">
            <a:off x="736623" y="2482850"/>
            <a:ext cx="1778000" cy="12700"/>
          </a:xfrm>
          <a:prstGeom prst="straightConnector1">
            <a:avLst/>
          </a:prstGeom>
          <a:solidFill>
            <a:srgbClr val="DEE0E3">
              <a:alpha val="100000"/>
            </a:srgbClr>
          </a:solidFill>
          <a:ln w="12700" cap="flat" cmpd="sng">
            <a:solidFill>
              <a:srgbClr val="FFFFFF">
                <a:alpha val="14000"/>
              </a:srgbClr>
            </a:solidFill>
            <a:prstDash val="solid"/>
            <a:round/>
            <a:headEnd type="none" w="med" len="med"/>
            <a:tailEnd type="none" w="med" len="med"/>
          </a:ln>
        </p:spPr>
      </p:cxnSp>
      <p:sp>
        <p:nvSpPr>
          <p:cNvPr id="8" name="AutoShape 8"/>
          <p:cNvSpPr/>
          <p:nvPr/>
        </p:nvSpPr>
        <p:spPr>
          <a:xfrm>
            <a:off x="508000" y="2540000"/>
            <a:ext cx="22352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700" b="1" i="0" u="none" strike="noStrike">
                <a:solidFill>
                  <a:srgbClr val="FFFFFF"/>
                </a:solidFill>
                <a:latin typeface="Noto Sans SC"/>
                <a:ea typeface="Noto Sans SC"/>
                <a:cs typeface="Noto Sans SC"/>
                <a:sym typeface="Noto Sans SC"/>
              </a:rPr>
              <a:t>采集与质检</a:t>
            </a:r>
            <a:endParaRPr lang="en-US" sz="1100"/>
          </a:p>
        </p:txBody>
      </p:sp>
      <p:sp>
        <p:nvSpPr>
          <p:cNvPr id="9" name="AutoShape 9"/>
          <p:cNvSpPr/>
          <p:nvPr/>
        </p:nvSpPr>
        <p:spPr>
          <a:xfrm>
            <a:off x="609600" y="2971800"/>
            <a:ext cx="2032000" cy="762000"/>
          </a:xfrm>
          <a:prstGeom prst="rect">
            <a:avLst/>
          </a:prstGeom>
          <a:noFill/>
          <a:ln w="12700" cap="flat" cmpd="sng">
            <a:noFill/>
            <a:prstDash val="solid"/>
            <a:round/>
          </a:ln>
        </p:spPr>
        <p:txBody>
          <a:bodyPr vert="horz" wrap="square" lIns="0" tIns="0" rIns="0" bIns="0" rtlCol="0" anchor="t" anchorCtr="0"/>
          <a:lstStyle/>
          <a:p>
            <a:pPr marL="0" indent="0" algn="ctr">
              <a:lnSpc>
                <a:spcPct val="125000"/>
              </a:lnSpc>
              <a:defRPr/>
            </a:pPr>
            <a:r>
              <a:rPr lang="en-US" sz="1200" b="0" i="0" u="none" strike="noStrike">
                <a:solidFill>
                  <a:srgbClr val="FFFFFF">
                    <a:alpha val="60000"/>
                  </a:srgbClr>
                </a:solidFill>
                <a:latin typeface="Noto Sans SC"/>
                <a:ea typeface="Noto Sans SC"/>
                <a:cs typeface="Noto Sans SC"/>
                <a:sym typeface="Noto Sans SC"/>
              </a:rPr>
              <a:t>解决原始数据的</a:t>
            </a:r>
            <a:endParaRPr lang="en-US" sz="1100"/>
          </a:p>
          <a:p>
            <a:pPr marL="0" indent="0" algn="ctr">
              <a:lnSpc>
                <a:spcPct val="125000"/>
              </a:lnSpc>
            </a:pPr>
            <a:r>
              <a:rPr lang="en-US" sz="1200" b="0" i="0" u="none" strike="noStrike">
                <a:solidFill>
                  <a:srgbClr val="FFFFFF">
                    <a:alpha val="60000"/>
                  </a:srgbClr>
                </a:solidFill>
                <a:latin typeface="Noto Sans SC"/>
                <a:ea typeface="Noto Sans SC"/>
                <a:cs typeface="Noto Sans SC"/>
                <a:sym typeface="Noto Sans SC"/>
              </a:rPr>
              <a:t>接入与质量校验</a:t>
            </a:r>
            <a:endParaRPr lang="en-US" sz="1200" b="0" i="0" u="none" strike="noStrike">
              <a:solidFill>
                <a:srgbClr val="FFFFFF">
                  <a:alpha val="60000"/>
                </a:srgbClr>
              </a:solidFill>
              <a:latin typeface="Noto Sans SC"/>
              <a:ea typeface="Noto Sans SC"/>
              <a:cs typeface="Noto Sans SC"/>
              <a:sym typeface="Noto Sans SC"/>
            </a:endParaRPr>
          </a:p>
        </p:txBody>
      </p:sp>
      <p:sp>
        <p:nvSpPr>
          <p:cNvPr id="10" name="AutoShape 10"/>
          <p:cNvSpPr/>
          <p:nvPr/>
        </p:nvSpPr>
        <p:spPr>
          <a:xfrm>
            <a:off x="2921000" y="1651000"/>
            <a:ext cx="2235200" cy="2730500"/>
          </a:xfrm>
          <a:prstGeom prst="roundRect">
            <a:avLst>
              <a:gd name="adj" fmla="val 0"/>
            </a:avLst>
          </a:prstGeom>
          <a:solidFill>
            <a:srgbClr val="FFFFFF">
              <a:alpha val="6000"/>
            </a:srgbClr>
          </a:solidFill>
          <a:ln cap="flat" cmpd="sng">
            <a:solidFill>
              <a:srgbClr val="E6CFCF">
                <a:alpha val="6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2921000" y="1651000"/>
            <a:ext cx="50800" cy="2730500"/>
          </a:xfrm>
          <a:prstGeom prst="roundRect">
            <a:avLst>
              <a:gd name="adj" fmla="val 0"/>
            </a:avLst>
          </a:prstGeom>
          <a:gradFill rotWithShape="1">
            <a:gsLst>
              <a:gs pos="0">
                <a:srgbClr val="38BDF8">
                  <a:alpha val="100000"/>
                </a:srgbClr>
              </a:gs>
              <a:gs pos="100000">
                <a:srgbClr val="0E74BE">
                  <a:alpha val="100000"/>
                </a:srgbClr>
              </a:gs>
            </a:gsLst>
            <a:lin ang="5400000"/>
          </a:gradFill>
          <a:ln cap="flat" cmpd="sng">
            <a:gradFill rotWithShape="1">
              <a:gsLst>
                <a:gs pos="0">
                  <a:srgbClr val="1CA3DF">
                    <a:alpha val="100000"/>
                  </a:srgbClr>
                </a:gs>
                <a:gs pos="100000">
                  <a:srgbClr val="005FA5">
                    <a:alpha val="100000"/>
                  </a:srgbClr>
                </a:gs>
              </a:gsLst>
              <a:lin ang="5400000"/>
            </a:gradFill>
            <a:prstDash val="solid"/>
            <a:round/>
          </a:ln>
        </p:spPr>
        <p:txBody>
          <a:bodyPr vert="horz" wrap="square" lIns="63500" tIns="63500" rIns="63500" bIns="63500" rtlCol="0" anchor="ctr"/>
          <a:lstStyle/>
          <a:p>
            <a:pPr algn="ctr">
              <a:defRPr/>
            </a:pPr>
          </a:p>
        </p:txBody>
      </p:sp>
      <p:sp>
        <p:nvSpPr>
          <p:cNvPr id="12" name="AutoShape 12"/>
          <p:cNvSpPr/>
          <p:nvPr/>
        </p:nvSpPr>
        <p:spPr>
          <a:xfrm>
            <a:off x="2921000" y="1651000"/>
            <a:ext cx="22352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2800" b="1" i="0" u="none" strike="noStrike">
                <a:solidFill>
                  <a:srgbClr val="38BDF8"/>
                </a:solidFill>
                <a:latin typeface="Noto Sans SC"/>
                <a:ea typeface="Noto Sans SC"/>
                <a:cs typeface="Noto Sans SC"/>
                <a:sym typeface="Noto Sans SC"/>
              </a:rPr>
              <a:t>06</a:t>
            </a:r>
            <a:r>
              <a:rPr lang="en-US" sz="1300" b="0" i="0" u="none" strike="noStrike">
                <a:solidFill>
                  <a:srgbClr val="FFFFFF">
                    <a:alpha val="54902"/>
                  </a:srgbClr>
                </a:solidFill>
                <a:latin typeface="Noto Sans SC"/>
                <a:ea typeface="Noto Sans SC"/>
                <a:cs typeface="Noto Sans SC"/>
                <a:sym typeface="Noto Sans SC"/>
              </a:rPr>
              <a:t>— 11</a:t>
            </a:r>
            <a:endParaRPr lang="en-US" sz="1100"/>
          </a:p>
        </p:txBody>
      </p:sp>
      <p:cxnSp>
        <p:nvCxnSpPr>
          <p:cNvPr id="13" name="Connector 13"/>
          <p:cNvCxnSpPr/>
          <p:nvPr/>
        </p:nvCxnSpPr>
        <p:spPr>
          <a:xfrm rot="-24554">
            <a:off x="3149623" y="2482850"/>
            <a:ext cx="1778000" cy="12700"/>
          </a:xfrm>
          <a:prstGeom prst="straightConnector1">
            <a:avLst/>
          </a:prstGeom>
          <a:solidFill>
            <a:srgbClr val="DEE0E3">
              <a:alpha val="100000"/>
            </a:srgbClr>
          </a:solidFill>
          <a:ln w="12700" cap="flat" cmpd="sng">
            <a:solidFill>
              <a:srgbClr val="FFFFFF">
                <a:alpha val="14000"/>
              </a:srgbClr>
            </a:solidFill>
            <a:prstDash val="solid"/>
            <a:round/>
            <a:headEnd type="none" w="med" len="med"/>
            <a:tailEnd type="none" w="med" len="med"/>
          </a:ln>
        </p:spPr>
      </p:cxnSp>
      <p:sp>
        <p:nvSpPr>
          <p:cNvPr id="14" name="AutoShape 14"/>
          <p:cNvSpPr/>
          <p:nvPr/>
        </p:nvSpPr>
        <p:spPr>
          <a:xfrm>
            <a:off x="2921000" y="2540000"/>
            <a:ext cx="22352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700" b="1" i="0" u="none" strike="noStrike">
                <a:solidFill>
                  <a:srgbClr val="FFFFFF"/>
                </a:solidFill>
                <a:latin typeface="Noto Sans SC"/>
                <a:ea typeface="Noto Sans SC"/>
                <a:cs typeface="Noto Sans SC"/>
                <a:sym typeface="Noto Sans SC"/>
              </a:rPr>
              <a:t>传感器产品</a:t>
            </a:r>
            <a:endParaRPr lang="en-US" sz="1100"/>
          </a:p>
        </p:txBody>
      </p:sp>
      <p:sp>
        <p:nvSpPr>
          <p:cNvPr id="15" name="AutoShape 15"/>
          <p:cNvSpPr/>
          <p:nvPr/>
        </p:nvSpPr>
        <p:spPr>
          <a:xfrm>
            <a:off x="3022600" y="2971800"/>
            <a:ext cx="2032000" cy="762000"/>
          </a:xfrm>
          <a:prstGeom prst="rect">
            <a:avLst/>
          </a:prstGeom>
          <a:noFill/>
          <a:ln w="12700" cap="flat" cmpd="sng">
            <a:noFill/>
            <a:prstDash val="solid"/>
            <a:round/>
          </a:ln>
        </p:spPr>
        <p:txBody>
          <a:bodyPr vert="horz" wrap="square" lIns="0" tIns="0" rIns="0" bIns="0" rtlCol="0" anchor="t" anchorCtr="0"/>
          <a:lstStyle/>
          <a:p>
            <a:pPr marL="0" indent="0" algn="ctr">
              <a:lnSpc>
                <a:spcPct val="125000"/>
              </a:lnSpc>
              <a:defRPr/>
            </a:pPr>
            <a:r>
              <a:rPr lang="en-US" sz="1200" b="0" i="0" u="none" strike="noStrike">
                <a:solidFill>
                  <a:srgbClr val="FFFFFF">
                    <a:alpha val="60000"/>
                  </a:srgbClr>
                </a:solidFill>
                <a:latin typeface="Noto Sans SC"/>
                <a:ea typeface="Noto Sans SC"/>
                <a:cs typeface="Noto Sans SC"/>
                <a:sym typeface="Noto Sans SC"/>
              </a:rPr>
              <a:t>针对各类传感设备</a:t>
            </a:r>
            <a:endParaRPr lang="en-US" sz="1100"/>
          </a:p>
          <a:p>
            <a:pPr marL="0" indent="0" algn="ctr">
              <a:lnSpc>
                <a:spcPct val="125000"/>
              </a:lnSpc>
            </a:pPr>
            <a:r>
              <a:rPr lang="en-US" sz="1200" b="0" i="0" u="none" strike="noStrike">
                <a:solidFill>
                  <a:srgbClr val="FFFFFF">
                    <a:alpha val="60000"/>
                  </a:srgbClr>
                </a:solidFill>
                <a:latin typeface="Noto Sans SC"/>
                <a:ea typeface="Noto Sans SC"/>
                <a:cs typeface="Noto Sans SC"/>
                <a:sym typeface="Noto Sans SC"/>
              </a:rPr>
              <a:t>的标准化处理</a:t>
            </a:r>
            <a:endParaRPr lang="en-US" sz="1200" b="0" i="0" u="none" strike="noStrike">
              <a:solidFill>
                <a:srgbClr val="FFFFFF">
                  <a:alpha val="60000"/>
                </a:srgbClr>
              </a:solidFill>
              <a:latin typeface="Noto Sans SC"/>
              <a:ea typeface="Noto Sans SC"/>
              <a:cs typeface="Noto Sans SC"/>
              <a:sym typeface="Noto Sans SC"/>
            </a:endParaRPr>
          </a:p>
        </p:txBody>
      </p:sp>
      <p:sp>
        <p:nvSpPr>
          <p:cNvPr id="16" name="AutoShape 16"/>
          <p:cNvSpPr/>
          <p:nvPr/>
        </p:nvSpPr>
        <p:spPr>
          <a:xfrm>
            <a:off x="5334000" y="1651000"/>
            <a:ext cx="2235200" cy="2730500"/>
          </a:xfrm>
          <a:prstGeom prst="roundRect">
            <a:avLst>
              <a:gd name="adj" fmla="val 0"/>
            </a:avLst>
          </a:prstGeom>
          <a:solidFill>
            <a:srgbClr val="FFFFFF">
              <a:alpha val="6000"/>
            </a:srgbClr>
          </a:solidFill>
          <a:ln cap="flat" cmpd="sng">
            <a:solidFill>
              <a:srgbClr val="E6CFCF">
                <a:alpha val="6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5334000" y="1651000"/>
            <a:ext cx="50800" cy="2730500"/>
          </a:xfrm>
          <a:prstGeom prst="roundRect">
            <a:avLst>
              <a:gd name="adj" fmla="val 0"/>
            </a:avLst>
          </a:prstGeom>
          <a:gradFill rotWithShape="1">
            <a:gsLst>
              <a:gs pos="0">
                <a:srgbClr val="38BDF8">
                  <a:alpha val="100000"/>
                </a:srgbClr>
              </a:gs>
              <a:gs pos="100000">
                <a:srgbClr val="0E74BE">
                  <a:alpha val="100000"/>
                </a:srgbClr>
              </a:gs>
            </a:gsLst>
            <a:lin ang="5400000"/>
          </a:gradFill>
          <a:ln cap="flat" cmpd="sng">
            <a:gradFill rotWithShape="1">
              <a:gsLst>
                <a:gs pos="0">
                  <a:srgbClr val="1CA3DF">
                    <a:alpha val="100000"/>
                  </a:srgbClr>
                </a:gs>
                <a:gs pos="100000">
                  <a:srgbClr val="005FA5">
                    <a:alpha val="100000"/>
                  </a:srgbClr>
                </a:gs>
              </a:gsLst>
              <a:lin ang="5400000"/>
            </a:gradFill>
            <a:prstDash val="solid"/>
            <a:round/>
          </a:ln>
        </p:spPr>
        <p:txBody>
          <a:bodyPr vert="horz" wrap="square" lIns="63500" tIns="63500" rIns="63500" bIns="63500" rtlCol="0" anchor="ctr"/>
          <a:lstStyle/>
          <a:p>
            <a:pPr algn="ctr">
              <a:defRPr/>
            </a:pPr>
          </a:p>
        </p:txBody>
      </p:sp>
      <p:sp>
        <p:nvSpPr>
          <p:cNvPr id="18" name="AutoShape 18"/>
          <p:cNvSpPr/>
          <p:nvPr/>
        </p:nvSpPr>
        <p:spPr>
          <a:xfrm>
            <a:off x="5334000" y="1651000"/>
            <a:ext cx="22352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2800" b="1" i="0" u="none" strike="noStrike">
                <a:solidFill>
                  <a:srgbClr val="38BDF8"/>
                </a:solidFill>
                <a:latin typeface="Noto Sans SC"/>
                <a:ea typeface="Noto Sans SC"/>
                <a:cs typeface="Noto Sans SC"/>
                <a:sym typeface="Noto Sans SC"/>
              </a:rPr>
              <a:t>12</a:t>
            </a:r>
            <a:r>
              <a:rPr lang="en-US" sz="1300" b="0" i="0" u="none" strike="noStrike">
                <a:solidFill>
                  <a:srgbClr val="FFFFFF">
                    <a:alpha val="54902"/>
                  </a:srgbClr>
                </a:solidFill>
                <a:latin typeface="Noto Sans SC"/>
                <a:ea typeface="Noto Sans SC"/>
                <a:cs typeface="Noto Sans SC"/>
                <a:sym typeface="Noto Sans SC"/>
              </a:rPr>
              <a:t>— 26</a:t>
            </a:r>
            <a:endParaRPr lang="en-US" sz="1100"/>
          </a:p>
        </p:txBody>
      </p:sp>
      <p:cxnSp>
        <p:nvCxnSpPr>
          <p:cNvPr id="19" name="Connector 19"/>
          <p:cNvCxnSpPr/>
          <p:nvPr/>
        </p:nvCxnSpPr>
        <p:spPr>
          <a:xfrm rot="-24554">
            <a:off x="5562623" y="2482850"/>
            <a:ext cx="1778000" cy="12700"/>
          </a:xfrm>
          <a:prstGeom prst="straightConnector1">
            <a:avLst/>
          </a:prstGeom>
          <a:solidFill>
            <a:srgbClr val="DEE0E3">
              <a:alpha val="100000"/>
            </a:srgbClr>
          </a:solidFill>
          <a:ln w="12700" cap="flat" cmpd="sng">
            <a:solidFill>
              <a:srgbClr val="FFFFFF">
                <a:alpha val="14000"/>
              </a:srgbClr>
            </a:solidFill>
            <a:prstDash val="solid"/>
            <a:round/>
            <a:headEnd type="none" w="med" len="med"/>
            <a:tailEnd type="none" w="med" len="med"/>
          </a:ln>
        </p:spPr>
      </p:cxnSp>
      <p:sp>
        <p:nvSpPr>
          <p:cNvPr id="20" name="AutoShape 20"/>
          <p:cNvSpPr/>
          <p:nvPr/>
        </p:nvSpPr>
        <p:spPr>
          <a:xfrm>
            <a:off x="5334000" y="2540000"/>
            <a:ext cx="22352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700" b="1" i="0" u="none" strike="noStrike">
                <a:solidFill>
                  <a:srgbClr val="FFFFFF"/>
                </a:solidFill>
                <a:latin typeface="Noto Sans SC"/>
                <a:ea typeface="Noto Sans SC"/>
                <a:cs typeface="Noto Sans SC"/>
                <a:sym typeface="Noto Sans SC"/>
              </a:rPr>
              <a:t>分析底图与特征</a:t>
            </a:r>
            <a:endParaRPr lang="en-US" sz="1100"/>
          </a:p>
        </p:txBody>
      </p:sp>
      <p:sp>
        <p:nvSpPr>
          <p:cNvPr id="21" name="AutoShape 21"/>
          <p:cNvSpPr/>
          <p:nvPr/>
        </p:nvSpPr>
        <p:spPr>
          <a:xfrm>
            <a:off x="5435600" y="2971800"/>
            <a:ext cx="2032000" cy="762000"/>
          </a:xfrm>
          <a:prstGeom prst="rect">
            <a:avLst/>
          </a:prstGeom>
          <a:noFill/>
          <a:ln w="12700" cap="flat" cmpd="sng">
            <a:noFill/>
            <a:prstDash val="solid"/>
            <a:round/>
          </a:ln>
        </p:spPr>
        <p:txBody>
          <a:bodyPr vert="horz" wrap="square" lIns="0" tIns="0" rIns="0" bIns="0" rtlCol="0" anchor="t" anchorCtr="0"/>
          <a:lstStyle/>
          <a:p>
            <a:pPr marL="0" indent="0" algn="ctr">
              <a:lnSpc>
                <a:spcPct val="125000"/>
              </a:lnSpc>
              <a:defRPr/>
            </a:pPr>
            <a:r>
              <a:rPr lang="en-US" sz="1200" b="0" i="0" u="none" strike="noStrike">
                <a:solidFill>
                  <a:srgbClr val="FFFFFF">
                    <a:alpha val="60000"/>
                  </a:srgbClr>
                </a:solidFill>
                <a:latin typeface="Noto Sans SC"/>
                <a:ea typeface="Noto Sans SC"/>
                <a:cs typeface="Noto Sans SC"/>
                <a:sym typeface="Noto Sans SC"/>
              </a:rPr>
              <a:t>构建分析基础底座</a:t>
            </a:r>
            <a:endParaRPr lang="en-US" sz="1100"/>
          </a:p>
          <a:p>
            <a:pPr marL="0" indent="0" algn="ctr">
              <a:lnSpc>
                <a:spcPct val="125000"/>
              </a:lnSpc>
            </a:pPr>
            <a:r>
              <a:rPr lang="en-US" sz="1200" b="0" i="0" u="none" strike="noStrike">
                <a:solidFill>
                  <a:srgbClr val="FFFFFF">
                    <a:alpha val="60000"/>
                  </a:srgbClr>
                </a:solidFill>
                <a:latin typeface="Noto Sans SC"/>
                <a:ea typeface="Noto Sans SC"/>
                <a:cs typeface="Noto Sans SC"/>
                <a:sym typeface="Noto Sans SC"/>
              </a:rPr>
              <a:t>与特征工程沉淀</a:t>
            </a:r>
            <a:endParaRPr lang="en-US" sz="1200" b="0" i="0" u="none" strike="noStrike">
              <a:solidFill>
                <a:srgbClr val="FFFFFF">
                  <a:alpha val="60000"/>
                </a:srgbClr>
              </a:solidFill>
              <a:latin typeface="Noto Sans SC"/>
              <a:ea typeface="Noto Sans SC"/>
              <a:cs typeface="Noto Sans SC"/>
              <a:sym typeface="Noto Sans SC"/>
            </a:endParaRPr>
          </a:p>
        </p:txBody>
      </p:sp>
      <p:sp>
        <p:nvSpPr>
          <p:cNvPr id="22" name="AutoShape 22"/>
          <p:cNvSpPr/>
          <p:nvPr/>
        </p:nvSpPr>
        <p:spPr>
          <a:xfrm>
            <a:off x="7747000" y="1651000"/>
            <a:ext cx="2235200" cy="2730500"/>
          </a:xfrm>
          <a:prstGeom prst="roundRect">
            <a:avLst>
              <a:gd name="adj" fmla="val 0"/>
            </a:avLst>
          </a:prstGeom>
          <a:solidFill>
            <a:srgbClr val="FFFFFF">
              <a:alpha val="6000"/>
            </a:srgbClr>
          </a:solidFill>
          <a:ln cap="flat" cmpd="sng">
            <a:solidFill>
              <a:srgbClr val="E6CFCF">
                <a:alpha val="6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7747000" y="1651000"/>
            <a:ext cx="50800" cy="2730500"/>
          </a:xfrm>
          <a:prstGeom prst="roundRect">
            <a:avLst>
              <a:gd name="adj" fmla="val 0"/>
            </a:avLst>
          </a:prstGeom>
          <a:gradFill rotWithShape="1">
            <a:gsLst>
              <a:gs pos="0">
                <a:srgbClr val="38BDF8">
                  <a:alpha val="100000"/>
                </a:srgbClr>
              </a:gs>
              <a:gs pos="100000">
                <a:srgbClr val="0E74BE">
                  <a:alpha val="100000"/>
                </a:srgbClr>
              </a:gs>
            </a:gsLst>
            <a:lin ang="5400000"/>
          </a:gradFill>
          <a:ln cap="flat" cmpd="sng">
            <a:gradFill rotWithShape="1">
              <a:gsLst>
                <a:gs pos="0">
                  <a:srgbClr val="1CA3DF">
                    <a:alpha val="100000"/>
                  </a:srgbClr>
                </a:gs>
                <a:gs pos="100000">
                  <a:srgbClr val="005FA5">
                    <a:alpha val="100000"/>
                  </a:srgbClr>
                </a:gs>
              </a:gsLst>
              <a:lin ang="5400000"/>
            </a:gradFill>
            <a:prstDash val="solid"/>
            <a:round/>
          </a:ln>
        </p:spPr>
        <p:txBody>
          <a:bodyPr vert="horz" wrap="square" lIns="63500" tIns="63500" rIns="63500" bIns="63500" rtlCol="0" anchor="ctr"/>
          <a:lstStyle/>
          <a:p>
            <a:pPr algn="ctr">
              <a:defRPr/>
            </a:pPr>
          </a:p>
        </p:txBody>
      </p:sp>
      <p:sp>
        <p:nvSpPr>
          <p:cNvPr id="24" name="AutoShape 24"/>
          <p:cNvSpPr/>
          <p:nvPr/>
        </p:nvSpPr>
        <p:spPr>
          <a:xfrm>
            <a:off x="7747000" y="1651000"/>
            <a:ext cx="22352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2800" b="1" i="0" u="none" strike="noStrike">
                <a:solidFill>
                  <a:srgbClr val="38BDF8"/>
                </a:solidFill>
                <a:latin typeface="Noto Sans SC"/>
                <a:ea typeface="Noto Sans SC"/>
                <a:cs typeface="Noto Sans SC"/>
                <a:sym typeface="Noto Sans SC"/>
              </a:rPr>
              <a:t>27</a:t>
            </a:r>
            <a:r>
              <a:rPr lang="en-US" sz="1300" b="0" i="0" u="none" strike="noStrike">
                <a:solidFill>
                  <a:srgbClr val="FFFFFF">
                    <a:alpha val="54902"/>
                  </a:srgbClr>
                </a:solidFill>
                <a:latin typeface="Noto Sans SC"/>
                <a:ea typeface="Noto Sans SC"/>
                <a:cs typeface="Noto Sans SC"/>
                <a:sym typeface="Noto Sans SC"/>
              </a:rPr>
              <a:t>— 43</a:t>
            </a:r>
            <a:endParaRPr lang="en-US" sz="1100"/>
          </a:p>
        </p:txBody>
      </p:sp>
      <p:cxnSp>
        <p:nvCxnSpPr>
          <p:cNvPr id="25" name="Connector 25"/>
          <p:cNvCxnSpPr/>
          <p:nvPr/>
        </p:nvCxnSpPr>
        <p:spPr>
          <a:xfrm rot="-24554">
            <a:off x="7975623" y="2482850"/>
            <a:ext cx="1778000" cy="12700"/>
          </a:xfrm>
          <a:prstGeom prst="straightConnector1">
            <a:avLst/>
          </a:prstGeom>
          <a:solidFill>
            <a:srgbClr val="DEE0E3">
              <a:alpha val="100000"/>
            </a:srgbClr>
          </a:solidFill>
          <a:ln w="12700" cap="flat" cmpd="sng">
            <a:solidFill>
              <a:srgbClr val="FFFFFF">
                <a:alpha val="14000"/>
              </a:srgbClr>
            </a:solidFill>
            <a:prstDash val="solid"/>
            <a:round/>
            <a:headEnd type="none" w="med" len="med"/>
            <a:tailEnd type="none" w="med" len="med"/>
          </a:ln>
        </p:spPr>
      </p:cxnSp>
      <p:sp>
        <p:nvSpPr>
          <p:cNvPr id="26" name="AutoShape 26"/>
          <p:cNvSpPr/>
          <p:nvPr/>
        </p:nvSpPr>
        <p:spPr>
          <a:xfrm>
            <a:off x="7747000" y="2540000"/>
            <a:ext cx="22352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700" b="1" i="0" u="none" strike="noStrike">
                <a:solidFill>
                  <a:srgbClr val="FFFFFF"/>
                </a:solidFill>
                <a:latin typeface="Noto Sans SC"/>
                <a:ea typeface="Noto Sans SC"/>
                <a:cs typeface="Noto Sans SC"/>
                <a:sym typeface="Noto Sans SC"/>
              </a:rPr>
              <a:t>信息提取</a:t>
            </a:r>
            <a:endParaRPr lang="en-US" sz="1100"/>
          </a:p>
        </p:txBody>
      </p:sp>
      <p:sp>
        <p:nvSpPr>
          <p:cNvPr id="27" name="AutoShape 27"/>
          <p:cNvSpPr/>
          <p:nvPr/>
        </p:nvSpPr>
        <p:spPr>
          <a:xfrm>
            <a:off x="7848600" y="2971800"/>
            <a:ext cx="2032000" cy="762000"/>
          </a:xfrm>
          <a:prstGeom prst="rect">
            <a:avLst/>
          </a:prstGeom>
          <a:noFill/>
          <a:ln w="12700" cap="flat" cmpd="sng">
            <a:noFill/>
            <a:prstDash val="solid"/>
            <a:round/>
          </a:ln>
        </p:spPr>
        <p:txBody>
          <a:bodyPr vert="horz" wrap="square" lIns="0" tIns="0" rIns="0" bIns="0" rtlCol="0" anchor="t" anchorCtr="0"/>
          <a:lstStyle/>
          <a:p>
            <a:pPr marL="0" indent="0" algn="ctr">
              <a:lnSpc>
                <a:spcPct val="125000"/>
              </a:lnSpc>
              <a:defRPr/>
            </a:pPr>
            <a:r>
              <a:rPr lang="en-US" sz="1200" b="0" i="0" u="none" strike="noStrike">
                <a:solidFill>
                  <a:srgbClr val="FFFFFF">
                    <a:alpha val="60000"/>
                  </a:srgbClr>
                </a:solidFill>
                <a:latin typeface="Noto Sans SC"/>
                <a:ea typeface="Noto Sans SC"/>
                <a:cs typeface="Noto Sans SC"/>
                <a:sym typeface="Noto Sans SC"/>
              </a:rPr>
              <a:t>从数据中高效提取</a:t>
            </a:r>
            <a:endParaRPr lang="en-US" sz="1100"/>
          </a:p>
          <a:p>
            <a:pPr marL="0" indent="0" algn="ctr">
              <a:lnSpc>
                <a:spcPct val="125000"/>
              </a:lnSpc>
            </a:pPr>
            <a:r>
              <a:rPr lang="en-US" sz="1200" b="0" i="0" u="none" strike="noStrike">
                <a:solidFill>
                  <a:srgbClr val="FFFFFF">
                    <a:alpha val="60000"/>
                  </a:srgbClr>
                </a:solidFill>
                <a:latin typeface="Noto Sans SC"/>
                <a:ea typeface="Noto Sans SC"/>
                <a:cs typeface="Noto Sans SC"/>
                <a:sym typeface="Noto Sans SC"/>
              </a:rPr>
              <a:t>关键业务信息</a:t>
            </a:r>
            <a:endParaRPr lang="en-US" sz="1200" b="0" i="0" u="none" strike="noStrike">
              <a:solidFill>
                <a:srgbClr val="FFFFFF">
                  <a:alpha val="60000"/>
                </a:srgbClr>
              </a:solidFill>
              <a:latin typeface="Noto Sans SC"/>
              <a:ea typeface="Noto Sans SC"/>
              <a:cs typeface="Noto Sans SC"/>
              <a:sym typeface="Noto Sans SC"/>
            </a:endParaRPr>
          </a:p>
        </p:txBody>
      </p:sp>
      <p:sp>
        <p:nvSpPr>
          <p:cNvPr id="28" name="AutoShape 28"/>
          <p:cNvSpPr/>
          <p:nvPr/>
        </p:nvSpPr>
        <p:spPr>
          <a:xfrm>
            <a:off x="10058400" y="1651000"/>
            <a:ext cx="2006600" cy="2730500"/>
          </a:xfrm>
          <a:prstGeom prst="roundRect">
            <a:avLst>
              <a:gd name="adj" fmla="val 0"/>
            </a:avLst>
          </a:prstGeom>
          <a:solidFill>
            <a:srgbClr val="FFFFFF">
              <a:alpha val="6000"/>
            </a:srgbClr>
          </a:solidFill>
          <a:ln cap="flat" cmpd="sng">
            <a:solidFill>
              <a:srgbClr val="E6CFCF">
                <a:alpha val="6000"/>
              </a:srgbClr>
            </a:solidFill>
            <a:prstDash val="solid"/>
            <a:round/>
          </a:ln>
        </p:spPr>
        <p:txBody>
          <a:bodyPr vert="horz" wrap="square" lIns="63500" tIns="63500" rIns="63500" bIns="63500" rtlCol="0" anchor="ctr"/>
          <a:lstStyle/>
          <a:p>
            <a:pPr algn="ctr">
              <a:defRPr/>
            </a:pPr>
          </a:p>
        </p:txBody>
      </p:sp>
      <p:sp>
        <p:nvSpPr>
          <p:cNvPr id="29" name="AutoShape 29"/>
          <p:cNvSpPr/>
          <p:nvPr/>
        </p:nvSpPr>
        <p:spPr>
          <a:xfrm>
            <a:off x="10058400" y="1651000"/>
            <a:ext cx="50800" cy="2730500"/>
          </a:xfrm>
          <a:prstGeom prst="roundRect">
            <a:avLst>
              <a:gd name="adj" fmla="val 0"/>
            </a:avLst>
          </a:prstGeom>
          <a:gradFill rotWithShape="1">
            <a:gsLst>
              <a:gs pos="0">
                <a:srgbClr val="38BDF8">
                  <a:alpha val="100000"/>
                </a:srgbClr>
              </a:gs>
              <a:gs pos="100000">
                <a:srgbClr val="0E74BE">
                  <a:alpha val="100000"/>
                </a:srgbClr>
              </a:gs>
            </a:gsLst>
            <a:lin ang="5400000"/>
          </a:gradFill>
          <a:ln cap="flat" cmpd="sng">
            <a:gradFill rotWithShape="1">
              <a:gsLst>
                <a:gs pos="0">
                  <a:srgbClr val="1CA3DF">
                    <a:alpha val="100000"/>
                  </a:srgbClr>
                </a:gs>
                <a:gs pos="100000">
                  <a:srgbClr val="005FA5">
                    <a:alpha val="100000"/>
                  </a:srgbClr>
                </a:gs>
              </a:gsLst>
              <a:lin ang="5400000"/>
            </a:gradFill>
            <a:prstDash val="solid"/>
            <a:round/>
          </a:ln>
        </p:spPr>
        <p:txBody>
          <a:bodyPr vert="horz" wrap="square" lIns="63500" tIns="63500" rIns="63500" bIns="63500" rtlCol="0" anchor="ctr"/>
          <a:lstStyle/>
          <a:p>
            <a:pPr algn="ctr">
              <a:defRPr/>
            </a:pPr>
          </a:p>
        </p:txBody>
      </p:sp>
      <p:sp>
        <p:nvSpPr>
          <p:cNvPr id="30" name="AutoShape 30"/>
          <p:cNvSpPr/>
          <p:nvPr/>
        </p:nvSpPr>
        <p:spPr>
          <a:xfrm>
            <a:off x="10058400" y="1651000"/>
            <a:ext cx="20066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2800" b="1" i="0" u="none" strike="noStrike">
                <a:solidFill>
                  <a:srgbClr val="38BDF8"/>
                </a:solidFill>
                <a:latin typeface="Noto Sans SC"/>
                <a:ea typeface="Noto Sans SC"/>
                <a:cs typeface="Noto Sans SC"/>
                <a:sym typeface="Noto Sans SC"/>
              </a:rPr>
              <a:t>44</a:t>
            </a:r>
            <a:r>
              <a:rPr lang="en-US" sz="1300" b="0" i="0" u="none" strike="noStrike">
                <a:solidFill>
                  <a:srgbClr val="FFFFFF">
                    <a:alpha val="54902"/>
                  </a:srgbClr>
                </a:solidFill>
                <a:latin typeface="Noto Sans SC"/>
                <a:ea typeface="Noto Sans SC"/>
                <a:cs typeface="Noto Sans SC"/>
                <a:sym typeface="Noto Sans SC"/>
              </a:rPr>
              <a:t>— 45</a:t>
            </a:r>
            <a:endParaRPr lang="en-US" sz="1100"/>
          </a:p>
        </p:txBody>
      </p:sp>
      <p:cxnSp>
        <p:nvCxnSpPr>
          <p:cNvPr id="31" name="Connector 31"/>
          <p:cNvCxnSpPr/>
          <p:nvPr/>
        </p:nvCxnSpPr>
        <p:spPr>
          <a:xfrm rot="-26043">
            <a:off x="10236224" y="2482850"/>
            <a:ext cx="1676400" cy="12700"/>
          </a:xfrm>
          <a:prstGeom prst="straightConnector1">
            <a:avLst/>
          </a:prstGeom>
          <a:solidFill>
            <a:srgbClr val="DEE0E3">
              <a:alpha val="100000"/>
            </a:srgbClr>
          </a:solidFill>
          <a:ln w="12700" cap="flat" cmpd="sng">
            <a:solidFill>
              <a:srgbClr val="FFFFFF">
                <a:alpha val="14000"/>
              </a:srgbClr>
            </a:solidFill>
            <a:prstDash val="solid"/>
            <a:round/>
            <a:headEnd type="none" w="med" len="med"/>
            <a:tailEnd type="none" w="med" len="med"/>
          </a:ln>
        </p:spPr>
      </p:cxnSp>
      <p:sp>
        <p:nvSpPr>
          <p:cNvPr id="32" name="AutoShape 32"/>
          <p:cNvSpPr/>
          <p:nvPr/>
        </p:nvSpPr>
        <p:spPr>
          <a:xfrm>
            <a:off x="10058400" y="2540000"/>
            <a:ext cx="20066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700" b="1" i="0" u="none" strike="noStrike">
                <a:solidFill>
                  <a:srgbClr val="FFFFFF"/>
                </a:solidFill>
                <a:latin typeface="Noto Sans SC"/>
                <a:ea typeface="Noto Sans SC"/>
                <a:cs typeface="Noto Sans SC"/>
                <a:sym typeface="Noto Sans SC"/>
              </a:rPr>
              <a:t>出图与汇总</a:t>
            </a:r>
            <a:endParaRPr lang="en-US" sz="1100"/>
          </a:p>
        </p:txBody>
      </p:sp>
      <p:sp>
        <p:nvSpPr>
          <p:cNvPr id="33" name="AutoShape 33"/>
          <p:cNvSpPr/>
          <p:nvPr/>
        </p:nvSpPr>
        <p:spPr>
          <a:xfrm>
            <a:off x="10160000" y="2971800"/>
            <a:ext cx="1803400" cy="762000"/>
          </a:xfrm>
          <a:prstGeom prst="rect">
            <a:avLst/>
          </a:prstGeom>
          <a:noFill/>
          <a:ln w="12700" cap="flat" cmpd="sng">
            <a:noFill/>
            <a:prstDash val="solid"/>
            <a:round/>
          </a:ln>
        </p:spPr>
        <p:txBody>
          <a:bodyPr vert="horz" wrap="square" lIns="0" tIns="0" rIns="0" bIns="0" rtlCol="0" anchor="t" anchorCtr="0"/>
          <a:lstStyle/>
          <a:p>
            <a:pPr marL="0" indent="0" algn="ctr">
              <a:lnSpc>
                <a:spcPct val="125000"/>
              </a:lnSpc>
              <a:defRPr/>
            </a:pPr>
            <a:r>
              <a:rPr lang="en-US" sz="1200" b="0" i="0" u="none" strike="noStrike">
                <a:solidFill>
                  <a:srgbClr val="FFFFFF">
                    <a:alpha val="60000"/>
                  </a:srgbClr>
                </a:solidFill>
                <a:latin typeface="Noto Sans SC"/>
                <a:ea typeface="Noto Sans SC"/>
                <a:cs typeface="Noto Sans SC"/>
                <a:sym typeface="Noto Sans SC"/>
              </a:rPr>
              <a:t>业务报表出图</a:t>
            </a:r>
            <a:endParaRPr lang="en-US" sz="1100"/>
          </a:p>
          <a:p>
            <a:pPr marL="0" indent="0" algn="ctr">
              <a:lnSpc>
                <a:spcPct val="125000"/>
              </a:lnSpc>
            </a:pPr>
            <a:r>
              <a:rPr lang="en-US" sz="1200" b="0" i="0" u="none" strike="noStrike">
                <a:solidFill>
                  <a:srgbClr val="FFFFFF">
                    <a:alpha val="60000"/>
                  </a:srgbClr>
                </a:solidFill>
                <a:latin typeface="Noto Sans SC"/>
                <a:ea typeface="Noto Sans SC"/>
                <a:cs typeface="Noto Sans SC"/>
                <a:sym typeface="Noto Sans SC"/>
              </a:rPr>
              <a:t>与结果价值汇总</a:t>
            </a:r>
            <a:endParaRPr lang="en-US" sz="1200" b="0" i="0" u="none" strike="noStrike">
              <a:solidFill>
                <a:srgbClr val="FFFFFF">
                  <a:alpha val="60000"/>
                </a:srgbClr>
              </a:solidFill>
              <a:latin typeface="Noto Sans SC"/>
              <a:ea typeface="Noto Sans SC"/>
              <a:cs typeface="Noto Sans SC"/>
              <a:sym typeface="Noto Sans SC"/>
            </a:endParaRPr>
          </a:p>
        </p:txBody>
      </p:sp>
      <p:cxnSp>
        <p:nvCxnSpPr>
          <p:cNvPr id="34" name="Connector 34"/>
          <p:cNvCxnSpPr/>
          <p:nvPr/>
        </p:nvCxnSpPr>
        <p:spPr>
          <a:xfrm rot="-3906">
            <a:off x="508004" y="4629150"/>
            <a:ext cx="11176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35" name="AutoShape 35"/>
          <p:cNvSpPr/>
          <p:nvPr/>
        </p:nvSpPr>
        <p:spPr>
          <a:xfrm>
            <a:off x="508000" y="4737100"/>
            <a:ext cx="571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600" b="1" i="0" u="none" strike="noStrike">
                <a:solidFill>
                  <a:srgbClr val="38BDF8"/>
                </a:solidFill>
                <a:latin typeface="Noto Sans SC"/>
                <a:ea typeface="Noto Sans SC"/>
                <a:cs typeface="Noto Sans SC"/>
                <a:sym typeface="Noto Sans SC"/>
              </a:rPr>
              <a:t>阅读与培训建议</a:t>
            </a:r>
            <a:endParaRPr lang="en-US" sz="1100"/>
          </a:p>
        </p:txBody>
      </p:sp>
      <p:sp>
        <p:nvSpPr>
          <p:cNvPr id="36" name="AutoShape 36"/>
          <p:cNvSpPr/>
          <p:nvPr/>
        </p:nvSpPr>
        <p:spPr>
          <a:xfrm>
            <a:off x="508000" y="5207000"/>
            <a:ext cx="5715000" cy="889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300" b="1" i="0" u="none" strike="noStrike">
                <a:solidFill>
                  <a:srgbClr val="E2E8F0"/>
                </a:solidFill>
                <a:latin typeface="Noto Sans SC"/>
                <a:ea typeface="Noto Sans SC"/>
                <a:cs typeface="Noto Sans SC"/>
                <a:sym typeface="Noto Sans SC"/>
              </a:rPr>
              <a:t>1.先按层级理解「本层解决什么业务问题」,再记忆算法名称。</a:t>
            </a:r>
            <a:endParaRPr lang="en-US" sz="1100"/>
          </a:p>
          <a:p>
            <a:pPr marL="0" indent="0" algn="l">
              <a:lnSpc>
                <a:spcPct val="129000"/>
              </a:lnSpc>
            </a:pPr>
            <a:r>
              <a:rPr lang="en-US" sz="1300" b="0" i="0" u="none" strike="noStrike">
                <a:solidFill>
                  <a:srgbClr val="E2E8F0">
                    <a:alpha val="78039"/>
                  </a:srgbClr>
                </a:solidFill>
                <a:latin typeface="Noto Sans SC"/>
                <a:ea typeface="Noto Sans SC"/>
                <a:cs typeface="Noto Sans SC"/>
                <a:sym typeface="Noto Sans SC"/>
              </a:rPr>
              <a:t>2.标注「可运行」:当前HTTP服务可取调(数字实现);其余为业界能力地图,接口已预留。</a:t>
            </a:r>
            <a:endParaRPr lang="en-US" sz="1300" b="0" i="0" u="none" strike="noStrike">
              <a:solidFill>
                <a:srgbClr val="E2E8F0">
                  <a:alpha val="78039"/>
                </a:srgbClr>
              </a:solidFill>
              <a:latin typeface="Noto Sans SC"/>
              <a:ea typeface="Noto Sans SC"/>
              <a:cs typeface="Noto Sans SC"/>
              <a:sym typeface="Noto Sans SC"/>
            </a:endParaRPr>
          </a:p>
        </p:txBody>
      </p:sp>
      <p:cxnSp>
        <p:nvCxnSpPr>
          <p:cNvPr id="37" name="Connector 37"/>
          <p:cNvCxnSpPr/>
          <p:nvPr/>
        </p:nvCxnSpPr>
        <p:spPr>
          <a:xfrm rot="5371822">
            <a:off x="5702300" y="5505476"/>
            <a:ext cx="15494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38" name="AutoShape 38"/>
          <p:cNvSpPr/>
          <p:nvPr/>
        </p:nvSpPr>
        <p:spPr>
          <a:xfrm>
            <a:off x="6731000" y="47371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600" b="1" i="0" u="none" strike="noStrike">
                <a:solidFill>
                  <a:srgbClr val="38BDF8"/>
                </a:solidFill>
                <a:latin typeface="Noto Sans SC"/>
                <a:ea typeface="Noto Sans SC"/>
                <a:cs typeface="Noto Sans SC"/>
                <a:sym typeface="Noto Sans SC"/>
              </a:rPr>
              <a:t>与仓库关系</a:t>
            </a:r>
            <a:endParaRPr lang="en-US" sz="1100"/>
          </a:p>
        </p:txBody>
      </p:sp>
      <p:sp>
        <p:nvSpPr>
          <p:cNvPr id="39" name="AutoShape 39"/>
          <p:cNvSpPr/>
          <p:nvPr/>
        </p:nvSpPr>
        <p:spPr>
          <a:xfrm>
            <a:off x="6731000" y="5207000"/>
            <a:ext cx="5016500" cy="889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300" b="0" i="0" u="none" strike="noStrike">
                <a:solidFill>
                  <a:srgbClr val="E2E8F0">
                    <a:alpha val="85098"/>
                  </a:srgbClr>
                </a:solidFill>
                <a:latin typeface="Noto Sans SC"/>
                <a:ea typeface="Noto Sans SC"/>
                <a:cs typeface="Noto Sans SC"/>
                <a:sym typeface="Noto Sans SC"/>
              </a:rPr>
              <a:t>L0-L2工程能力多在处理中心;本仓库强项在</a:t>
            </a:r>
            <a:r>
              <a:rPr lang="en-US" sz="1300" b="1" i="0" u="none" strike="noStrike">
                <a:solidFill>
                  <a:srgbClr val="38BDF8"/>
                </a:solidFill>
                <a:latin typeface="Noto Sans SC"/>
                <a:ea typeface="Noto Sans SC"/>
                <a:cs typeface="Noto Sans SC"/>
                <a:sym typeface="Noto Sans SC"/>
              </a:rPr>
              <a:t>L2→L3分类</a:t>
            </a:r>
            <a:r>
              <a:rPr lang="en-US" sz="1300" b="0" i="0" u="none" strike="noStrike">
                <a:solidFill>
                  <a:srgbClr val="E2E8F0">
                    <a:alpha val="85098"/>
                  </a:srgbClr>
                </a:solidFill>
                <a:latin typeface="Noto Sans SC"/>
                <a:ea typeface="Noto Sans SC"/>
                <a:cs typeface="Noto Sans SC"/>
                <a:sym typeface="Noto Sans SC"/>
              </a:rPr>
              <a:t>及可运行数字API。</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604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3000" b="1" i="0" u="none" strike="noStrike" spc="100">
                <a:solidFill>
                  <a:srgbClr val="1E3A8A"/>
                </a:solidFill>
                <a:latin typeface="Noto Sans SC"/>
                <a:ea typeface="Noto Sans SC"/>
                <a:cs typeface="Noto Sans SC"/>
                <a:sym typeface="Noto Sans SC"/>
              </a:rPr>
              <a:t>算法分层总览(上)</a:t>
            </a:r>
            <a:endParaRPr lang="en-US" sz="1100"/>
          </a:p>
        </p:txBody>
      </p:sp>
      <p:sp>
        <p:nvSpPr>
          <p:cNvPr id="3" name="AutoShape 3"/>
          <p:cNvSpPr/>
          <p:nvPr/>
        </p:nvSpPr>
        <p:spPr>
          <a:xfrm>
            <a:off x="508000" y="1041400"/>
            <a:ext cx="11176000" cy="3556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700" b="0" i="0" u="none" strike="noStrike" spc="200">
                <a:solidFill>
                  <a:srgbClr val="475569"/>
                </a:solidFill>
                <a:latin typeface="Noto Sans SC"/>
                <a:ea typeface="Noto Sans SC"/>
                <a:cs typeface="Noto Sans SC"/>
                <a:sym typeface="Noto Sans SC"/>
              </a:rPr>
              <a:t>45项能力与业务问题的对应关系</a:t>
            </a:r>
            <a:endParaRPr lang="en-US" sz="1100"/>
          </a:p>
        </p:txBody>
      </p:sp>
      <p:sp>
        <p:nvSpPr>
          <p:cNvPr id="4" name="AutoShape 4"/>
          <p:cNvSpPr/>
          <p:nvPr/>
        </p:nvSpPr>
        <p:spPr>
          <a:xfrm>
            <a:off x="508000" y="1524000"/>
            <a:ext cx="3683000" cy="44704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508000" y="1524000"/>
            <a:ext cx="50800" cy="4470400"/>
          </a:xfrm>
          <a:prstGeom prst="roundRect">
            <a:avLst>
              <a:gd name="adj" fmla="val 0"/>
            </a:avLst>
          </a:prstGeom>
          <a:gradFill rotWithShape="1">
            <a:gsLst>
              <a:gs pos="0">
                <a:srgbClr val="3B82F6">
                  <a:alpha val="100000"/>
                </a:srgbClr>
              </a:gs>
              <a:gs pos="100000">
                <a:srgbClr val="60A5FA">
                  <a:alpha val="100000"/>
                </a:srgbClr>
              </a:gs>
            </a:gsLst>
            <a:lin ang="5400000"/>
          </a:gradFill>
          <a:ln cap="flat" cmpd="sng">
            <a:gradFill rotWithShape="1">
              <a:gsLst>
                <a:gs pos="0">
                  <a:srgbClr val="1F67DD">
                    <a:alpha val="100000"/>
                  </a:srgbClr>
                </a:gs>
                <a:gs pos="100000">
                  <a:srgbClr val="4088E1">
                    <a:alpha val="100000"/>
                  </a:srgbClr>
                </a:gs>
              </a:gsLst>
              <a:lin ang="5400000"/>
            </a:gradFill>
            <a:prstDash val="solid"/>
            <a:round/>
          </a:ln>
        </p:spPr>
        <p:txBody>
          <a:bodyPr vert="horz" wrap="square" lIns="63500" tIns="63500" rIns="63500" bIns="63500" rtlCol="0" anchor="ctr"/>
          <a:lstStyle/>
          <a:p>
            <a:pPr algn="ctr">
              <a:defRPr/>
            </a:pPr>
          </a:p>
        </p:txBody>
      </p:sp>
      <p:sp>
        <p:nvSpPr>
          <p:cNvPr id="6" name="AutoShape 6"/>
          <p:cNvSpPr/>
          <p:nvPr/>
        </p:nvSpPr>
        <p:spPr>
          <a:xfrm>
            <a:off x="711200" y="1625600"/>
            <a:ext cx="1270000" cy="762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4400" b="1" i="0" u="none" strike="noStrike">
                <a:latin typeface="Noto Sans SC"/>
                <a:ea typeface="Noto Sans SC"/>
                <a:cs typeface="Noto Sans SC"/>
                <a:sym typeface="Noto Sans SC"/>
              </a:rPr>
              <a:t>01</a:t>
            </a:r>
            <a:endParaRPr lang="en-US" sz="1100"/>
          </a:p>
        </p:txBody>
      </p:sp>
      <p:sp>
        <p:nvSpPr>
          <p:cNvPr id="7" name="AutoShape 7"/>
          <p:cNvSpPr/>
          <p:nvPr/>
        </p:nvSpPr>
        <p:spPr>
          <a:xfrm>
            <a:off x="1905000" y="1676400"/>
            <a:ext cx="2235200" cy="381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900" b="1" i="0" u="none" strike="noStrike">
                <a:solidFill>
                  <a:srgbClr val="1E293B"/>
                </a:solidFill>
                <a:latin typeface="Noto Sans SC"/>
                <a:ea typeface="Noto Sans SC"/>
                <a:cs typeface="Noto Sans SC"/>
                <a:sym typeface="Noto Sans SC"/>
              </a:rPr>
              <a:t>L0及上机前</a:t>
            </a:r>
            <a:endParaRPr lang="en-US" sz="1100"/>
          </a:p>
        </p:txBody>
      </p:sp>
      <p:sp>
        <p:nvSpPr>
          <p:cNvPr id="8" name="AutoShape 8"/>
          <p:cNvSpPr/>
          <p:nvPr/>
        </p:nvSpPr>
        <p:spPr>
          <a:xfrm>
            <a:off x="1905000" y="2070100"/>
            <a:ext cx="22352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0" i="0" u="none" strike="noStrike" spc="100">
                <a:solidFill>
                  <a:srgbClr val="64748B"/>
                </a:solidFill>
                <a:latin typeface="Noto Sans SC"/>
                <a:ea typeface="Noto Sans SC"/>
                <a:cs typeface="Noto Sans SC"/>
                <a:sym typeface="Noto Sans SC"/>
              </a:rPr>
              <a:t>#1-5</a:t>
            </a:r>
            <a:endParaRPr lang="en-US" sz="1100"/>
          </a:p>
        </p:txBody>
      </p:sp>
      <p:sp>
        <p:nvSpPr>
          <p:cNvPr id="9" name="AutoShape 9"/>
          <p:cNvSpPr/>
          <p:nvPr/>
        </p:nvSpPr>
        <p:spPr>
          <a:xfrm>
            <a:off x="711200" y="2540000"/>
            <a:ext cx="3276600" cy="38100"/>
          </a:xfrm>
          <a:prstGeom prst="roundRect">
            <a:avLst>
              <a:gd name="adj" fmla="val 0"/>
            </a:avLst>
          </a:prstGeom>
          <a:solidFill>
            <a:srgbClr val="3B82F6">
              <a:alpha val="18000"/>
            </a:srgbClr>
          </a:solidFill>
          <a:ln cap="flat" cmpd="sng">
            <a:solidFill>
              <a:srgbClr val="1F67DD">
                <a:alpha val="18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11200" y="2667000"/>
            <a:ext cx="3276600" cy="6604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1700" b="1" i="0" u="none" strike="noStrike">
                <a:solidFill>
                  <a:srgbClr val="1E3A8A"/>
                </a:solidFill>
                <a:latin typeface="Noto Sans SC"/>
                <a:ea typeface="Noto Sans SC"/>
                <a:cs typeface="Noto Sans SC"/>
                <a:sym typeface="Noto Sans SC"/>
              </a:rPr>
              <a:t>飞行与原始数据质量控制</a:t>
            </a:r>
            <a:endParaRPr lang="en-US" sz="1100"/>
          </a:p>
        </p:txBody>
      </p:sp>
      <p:cxnSp>
        <p:nvCxnSpPr>
          <p:cNvPr id="11" name="Connector 11"/>
          <p:cNvCxnSpPr/>
          <p:nvPr/>
        </p:nvCxnSpPr>
        <p:spPr>
          <a:xfrm rot="-13324">
            <a:off x="711212" y="3346450"/>
            <a:ext cx="3276600" cy="12700"/>
          </a:xfrm>
          <a:prstGeom prst="straightConnector1">
            <a:avLst/>
          </a:prstGeom>
          <a:solidFill>
            <a:srgbClr val="DEE0E3">
              <a:alpha val="100000"/>
            </a:srgbClr>
          </a:solidFill>
          <a:ln w="12700" cap="flat" cmpd="sng">
            <a:solidFill>
              <a:srgbClr val="1E3A8A">
                <a:alpha val="14000"/>
              </a:srgbClr>
            </a:solidFill>
            <a:prstDash val="solid"/>
            <a:round/>
            <a:headEnd type="none" w="med" len="med"/>
            <a:tailEnd type="none" w="med" len="med"/>
          </a:ln>
        </p:spPr>
      </p:cxnSp>
      <p:sp>
        <p:nvSpPr>
          <p:cNvPr id="12" name="AutoShape 12"/>
          <p:cNvSpPr/>
          <p:nvPr/>
        </p:nvSpPr>
        <p:spPr>
          <a:xfrm>
            <a:off x="711200" y="3429000"/>
            <a:ext cx="32766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1" i="0" u="none" strike="noStrike" spc="200">
                <a:solidFill>
                  <a:srgbClr val="3B82F6"/>
                </a:solidFill>
                <a:latin typeface="Noto Sans SC"/>
                <a:ea typeface="Noto Sans SC"/>
                <a:cs typeface="Noto Sans SC"/>
                <a:sym typeface="Noto Sans SC"/>
              </a:rPr>
              <a:t>核心算法</a:t>
            </a:r>
            <a:endParaRPr lang="en-US" sz="1100"/>
          </a:p>
        </p:txBody>
      </p:sp>
      <p:sp>
        <p:nvSpPr>
          <p:cNvPr id="13" name="AutoShape 13"/>
          <p:cNvSpPr/>
          <p:nvPr/>
        </p:nvSpPr>
        <p:spPr>
          <a:xfrm>
            <a:off x="711200" y="3759200"/>
            <a:ext cx="3276600" cy="14986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300" b="0" i="0" u="none" strike="noStrike">
                <a:solidFill>
                  <a:srgbClr val="334155"/>
                </a:solidFill>
                <a:latin typeface="Noto Sans SC"/>
                <a:ea typeface="Noto Sans SC"/>
                <a:cs typeface="Noto Sans SC"/>
                <a:sym typeface="Noto Sans SC"/>
              </a:rPr>
              <a:t>航线规划与覆盖优化、同步曝光与时间戳对齐、POS解算、架次质检、云/云影检测</a:t>
            </a:r>
            <a:endParaRPr lang="en-US" sz="1100"/>
          </a:p>
        </p:txBody>
      </p:sp>
      <p:sp>
        <p:nvSpPr>
          <p:cNvPr id="14" name="AutoShape 14"/>
          <p:cNvSpPr/>
          <p:nvPr/>
        </p:nvSpPr>
        <p:spPr>
          <a:xfrm>
            <a:off x="4381500" y="1524000"/>
            <a:ext cx="3683000" cy="44704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4381500" y="1524000"/>
            <a:ext cx="50800" cy="4470400"/>
          </a:xfrm>
          <a:prstGeom prst="roundRect">
            <a:avLst>
              <a:gd name="adj" fmla="val 0"/>
            </a:avLst>
          </a:prstGeom>
          <a:gradFill rotWithShape="1">
            <a:gsLst>
              <a:gs pos="0">
                <a:srgbClr val="0EA5E9">
                  <a:alpha val="100000"/>
                </a:srgbClr>
              </a:gs>
              <a:gs pos="100000">
                <a:srgbClr val="38BDF8">
                  <a:alpha val="100000"/>
                </a:srgbClr>
              </a:gs>
            </a:gsLst>
            <a:lin ang="5400000"/>
          </a:gradFill>
          <a:ln cap="flat" cmpd="sng">
            <a:gradFill rotWithShape="1">
              <a:gsLst>
                <a:gs pos="0">
                  <a:srgbClr val="008FD0">
                    <a:alpha val="100000"/>
                  </a:srgbClr>
                </a:gs>
                <a:gs pos="100000">
                  <a:srgbClr val="1CA3DF">
                    <a:alpha val="100000"/>
                  </a:srgbClr>
                </a:gs>
              </a:gsLst>
              <a:lin ang="5400000"/>
            </a:gradFill>
            <a:prstDash val="solid"/>
            <a:round/>
          </a:ln>
        </p:spPr>
        <p:txBody>
          <a:bodyPr vert="horz" wrap="square" lIns="63500" tIns="63500" rIns="63500" bIns="63500" rtlCol="0" anchor="ctr"/>
          <a:lstStyle/>
          <a:p>
            <a:pPr algn="ctr">
              <a:defRPr/>
            </a:pPr>
          </a:p>
        </p:txBody>
      </p:sp>
      <p:sp>
        <p:nvSpPr>
          <p:cNvPr id="16" name="AutoShape 16"/>
          <p:cNvSpPr/>
          <p:nvPr/>
        </p:nvSpPr>
        <p:spPr>
          <a:xfrm>
            <a:off x="4584700" y="1625600"/>
            <a:ext cx="1270000" cy="762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4400" b="1" i="0" u="none" strike="noStrike">
                <a:latin typeface="Noto Sans SC"/>
                <a:ea typeface="Noto Sans SC"/>
                <a:cs typeface="Noto Sans SC"/>
                <a:sym typeface="Noto Sans SC"/>
              </a:rPr>
              <a:t>02</a:t>
            </a:r>
            <a:endParaRPr lang="en-US" sz="1100"/>
          </a:p>
        </p:txBody>
      </p:sp>
      <p:sp>
        <p:nvSpPr>
          <p:cNvPr id="17" name="AutoShape 17"/>
          <p:cNvSpPr/>
          <p:nvPr/>
        </p:nvSpPr>
        <p:spPr>
          <a:xfrm>
            <a:off x="5778500" y="1676400"/>
            <a:ext cx="2235200" cy="381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900" b="1" i="0" u="none" strike="noStrike">
                <a:solidFill>
                  <a:srgbClr val="1E293B"/>
                </a:solidFill>
                <a:latin typeface="Noto Sans SC"/>
                <a:ea typeface="Noto Sans SC"/>
                <a:cs typeface="Noto Sans SC"/>
                <a:sym typeface="Noto Sans SC"/>
              </a:rPr>
              <a:t>L0→L1传感器产品</a:t>
            </a:r>
            <a:endParaRPr lang="en-US" sz="1100"/>
          </a:p>
        </p:txBody>
      </p:sp>
      <p:sp>
        <p:nvSpPr>
          <p:cNvPr id="18" name="AutoShape 18"/>
          <p:cNvSpPr/>
          <p:nvPr/>
        </p:nvSpPr>
        <p:spPr>
          <a:xfrm>
            <a:off x="5778500" y="2070100"/>
            <a:ext cx="22352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0" i="0" u="none" strike="noStrike" spc="100">
                <a:solidFill>
                  <a:srgbClr val="64748B"/>
                </a:solidFill>
                <a:latin typeface="Noto Sans SC"/>
                <a:ea typeface="Noto Sans SC"/>
                <a:cs typeface="Noto Sans SC"/>
                <a:sym typeface="Noto Sans SC"/>
              </a:rPr>
              <a:t>#6-11</a:t>
            </a:r>
            <a:endParaRPr lang="en-US" sz="1100"/>
          </a:p>
        </p:txBody>
      </p:sp>
      <p:sp>
        <p:nvSpPr>
          <p:cNvPr id="19" name="AutoShape 19"/>
          <p:cNvSpPr/>
          <p:nvPr/>
        </p:nvSpPr>
        <p:spPr>
          <a:xfrm>
            <a:off x="4584700" y="2540000"/>
            <a:ext cx="3276600" cy="38100"/>
          </a:xfrm>
          <a:prstGeom prst="roundRect">
            <a:avLst>
              <a:gd name="adj" fmla="val 0"/>
            </a:avLst>
          </a:prstGeom>
          <a:solidFill>
            <a:srgbClr val="0EA5E9">
              <a:alpha val="18000"/>
            </a:srgbClr>
          </a:solidFill>
          <a:ln cap="flat" cmpd="sng">
            <a:solidFill>
              <a:srgbClr val="008FD0">
                <a:alpha val="18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4584700" y="2667000"/>
            <a:ext cx="3276600" cy="6604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1700" b="1" i="0" u="none" strike="noStrike">
                <a:solidFill>
                  <a:srgbClr val="1E3A8A"/>
                </a:solidFill>
                <a:latin typeface="Noto Sans SC"/>
                <a:ea typeface="Noto Sans SC"/>
                <a:cs typeface="Noto Sans SC"/>
                <a:sym typeface="Noto Sans SC"/>
              </a:rPr>
              <a:t>从DN到物理辐亮度</a:t>
            </a:r>
            <a:endParaRPr lang="en-US" sz="1100"/>
          </a:p>
        </p:txBody>
      </p:sp>
      <p:cxnSp>
        <p:nvCxnSpPr>
          <p:cNvPr id="21" name="Connector 21"/>
          <p:cNvCxnSpPr/>
          <p:nvPr/>
        </p:nvCxnSpPr>
        <p:spPr>
          <a:xfrm rot="-13324">
            <a:off x="4584712" y="3346450"/>
            <a:ext cx="3276600" cy="12700"/>
          </a:xfrm>
          <a:prstGeom prst="straightConnector1">
            <a:avLst/>
          </a:prstGeom>
          <a:solidFill>
            <a:srgbClr val="DEE0E3">
              <a:alpha val="100000"/>
            </a:srgbClr>
          </a:solidFill>
          <a:ln w="12700" cap="flat" cmpd="sng">
            <a:solidFill>
              <a:srgbClr val="1E3A8A">
                <a:alpha val="14000"/>
              </a:srgbClr>
            </a:solidFill>
            <a:prstDash val="solid"/>
            <a:round/>
            <a:headEnd type="none" w="med" len="med"/>
            <a:tailEnd type="none" w="med" len="med"/>
          </a:ln>
        </p:spPr>
      </p:cxnSp>
      <p:sp>
        <p:nvSpPr>
          <p:cNvPr id="22" name="AutoShape 22"/>
          <p:cNvSpPr/>
          <p:nvPr/>
        </p:nvSpPr>
        <p:spPr>
          <a:xfrm>
            <a:off x="4584700" y="3429000"/>
            <a:ext cx="32766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1" i="0" u="none" strike="noStrike" spc="200">
                <a:solidFill>
                  <a:srgbClr val="0EA5E9"/>
                </a:solidFill>
                <a:latin typeface="Noto Sans SC"/>
                <a:ea typeface="Noto Sans SC"/>
                <a:cs typeface="Noto Sans SC"/>
                <a:sym typeface="Noto Sans SC"/>
              </a:rPr>
              <a:t>核心算法</a:t>
            </a:r>
            <a:endParaRPr lang="en-US" sz="1100"/>
          </a:p>
        </p:txBody>
      </p:sp>
      <p:sp>
        <p:nvSpPr>
          <p:cNvPr id="23" name="AutoShape 23"/>
          <p:cNvSpPr/>
          <p:nvPr/>
        </p:nvSpPr>
        <p:spPr>
          <a:xfrm>
            <a:off x="4584700" y="3759200"/>
            <a:ext cx="3276600" cy="14986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300" b="0" i="0" u="none" strike="noStrike">
                <a:solidFill>
                  <a:srgbClr val="334155"/>
                </a:solidFill>
                <a:latin typeface="Noto Sans SC"/>
                <a:ea typeface="Noto Sans SC"/>
                <a:cs typeface="Noto Sans SC"/>
                <a:sym typeface="Noto Sans SC"/>
              </a:rPr>
              <a:t>暗电流校正、坏线/坏像元修复、条带噪声去除、光谱微笑/关键畸变校正、辐射定标、相对辐射归一</a:t>
            </a:r>
            <a:endParaRPr lang="en-US" sz="1100"/>
          </a:p>
        </p:txBody>
      </p:sp>
      <p:sp>
        <p:nvSpPr>
          <p:cNvPr id="24" name="AutoShape 24"/>
          <p:cNvSpPr/>
          <p:nvPr/>
        </p:nvSpPr>
        <p:spPr>
          <a:xfrm>
            <a:off x="8255000" y="1524000"/>
            <a:ext cx="3683000" cy="44704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8255000" y="1524000"/>
            <a:ext cx="50800" cy="4470400"/>
          </a:xfrm>
          <a:prstGeom prst="roundRect">
            <a:avLst>
              <a:gd name="adj" fmla="val 0"/>
            </a:avLst>
          </a:prstGeom>
          <a:gradFill rotWithShape="1">
            <a:gsLst>
              <a:gs pos="0">
                <a:srgbClr val="10B981">
                  <a:alpha val="100000"/>
                </a:srgbClr>
              </a:gs>
              <a:gs pos="100000">
                <a:srgbClr val="34D399">
                  <a:alpha val="100000"/>
                </a:srgbClr>
              </a:gs>
            </a:gsLst>
            <a:lin ang="5400000"/>
          </a:gradFill>
          <a:ln cap="flat" cmpd="sng">
            <a:gradFill rotWithShape="1">
              <a:gsLst>
                <a:gs pos="0">
                  <a:srgbClr val="00A06B">
                    <a:alpha val="100000"/>
                  </a:srgbClr>
                </a:gs>
                <a:gs pos="100000">
                  <a:srgbClr val="1BB980">
                    <a:alpha val="100000"/>
                  </a:srgbClr>
                </a:gs>
              </a:gsLst>
              <a:lin ang="5400000"/>
            </a:gradFill>
            <a:prstDash val="solid"/>
            <a:round/>
          </a:ln>
        </p:spPr>
        <p:txBody>
          <a:bodyPr vert="horz" wrap="square" lIns="63500" tIns="63500" rIns="63500" bIns="63500" rtlCol="0" anchor="ctr"/>
          <a:lstStyle/>
          <a:p>
            <a:pPr algn="ctr">
              <a:defRPr/>
            </a:pPr>
          </a:p>
        </p:txBody>
      </p:sp>
      <p:sp>
        <p:nvSpPr>
          <p:cNvPr id="26" name="AutoShape 26"/>
          <p:cNvSpPr/>
          <p:nvPr/>
        </p:nvSpPr>
        <p:spPr>
          <a:xfrm>
            <a:off x="8458200" y="1625600"/>
            <a:ext cx="1270000" cy="762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4400" b="1" i="0" u="none" strike="noStrike">
                <a:latin typeface="Noto Sans SC"/>
                <a:ea typeface="Noto Sans SC"/>
                <a:cs typeface="Noto Sans SC"/>
                <a:sym typeface="Noto Sans SC"/>
              </a:rPr>
              <a:t>03</a:t>
            </a:r>
            <a:endParaRPr lang="en-US" sz="1100"/>
          </a:p>
        </p:txBody>
      </p:sp>
      <p:sp>
        <p:nvSpPr>
          <p:cNvPr id="27" name="AutoShape 27"/>
          <p:cNvSpPr/>
          <p:nvPr/>
        </p:nvSpPr>
        <p:spPr>
          <a:xfrm>
            <a:off x="9652000" y="1676400"/>
            <a:ext cx="2235200" cy="381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900" b="1" i="0" u="none" strike="noStrike">
                <a:solidFill>
                  <a:srgbClr val="1E293B"/>
                </a:solidFill>
                <a:latin typeface="Noto Sans SC"/>
                <a:ea typeface="Noto Sans SC"/>
                <a:cs typeface="Noto Sans SC"/>
                <a:sym typeface="Noto Sans SC"/>
              </a:rPr>
              <a:t>L1→L2分析底图(上)</a:t>
            </a:r>
            <a:endParaRPr lang="en-US" sz="1100"/>
          </a:p>
        </p:txBody>
      </p:sp>
      <p:sp>
        <p:nvSpPr>
          <p:cNvPr id="28" name="AutoShape 28"/>
          <p:cNvSpPr/>
          <p:nvPr/>
        </p:nvSpPr>
        <p:spPr>
          <a:xfrm>
            <a:off x="9652000" y="2070100"/>
            <a:ext cx="22352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0" i="0" u="none" strike="noStrike" spc="100">
                <a:solidFill>
                  <a:srgbClr val="64748B"/>
                </a:solidFill>
                <a:latin typeface="Noto Sans SC"/>
                <a:ea typeface="Noto Sans SC"/>
                <a:cs typeface="Noto Sans SC"/>
                <a:sym typeface="Noto Sans SC"/>
              </a:rPr>
              <a:t>#12-19</a:t>
            </a:r>
            <a:endParaRPr lang="en-US" sz="1100"/>
          </a:p>
        </p:txBody>
      </p:sp>
      <p:sp>
        <p:nvSpPr>
          <p:cNvPr id="29" name="AutoShape 29"/>
          <p:cNvSpPr/>
          <p:nvPr/>
        </p:nvSpPr>
        <p:spPr>
          <a:xfrm>
            <a:off x="8458200" y="2540000"/>
            <a:ext cx="3276600" cy="38100"/>
          </a:xfrm>
          <a:prstGeom prst="roundRect">
            <a:avLst>
              <a:gd name="adj" fmla="val 0"/>
            </a:avLst>
          </a:prstGeom>
          <a:solidFill>
            <a:srgbClr val="10B981">
              <a:alpha val="18000"/>
            </a:srgbClr>
          </a:solidFill>
          <a:ln cap="flat" cmpd="sng">
            <a:solidFill>
              <a:srgbClr val="00A06B">
                <a:alpha val="18000"/>
              </a:srgbClr>
            </a:solidFill>
            <a:prstDash val="solid"/>
            <a:round/>
          </a:ln>
        </p:spPr>
        <p:txBody>
          <a:bodyPr vert="horz" wrap="square" lIns="63500" tIns="63500" rIns="63500" bIns="63500" rtlCol="0" anchor="ctr"/>
          <a:lstStyle/>
          <a:p>
            <a:pPr algn="ctr">
              <a:defRPr/>
            </a:pPr>
          </a:p>
        </p:txBody>
      </p:sp>
      <p:sp>
        <p:nvSpPr>
          <p:cNvPr id="30" name="AutoShape 30"/>
          <p:cNvSpPr/>
          <p:nvPr/>
        </p:nvSpPr>
        <p:spPr>
          <a:xfrm>
            <a:off x="8458200" y="2667000"/>
            <a:ext cx="3276600" cy="6604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1700" b="1" i="0" u="none" strike="noStrike">
                <a:solidFill>
                  <a:srgbClr val="1E3A8A"/>
                </a:solidFill>
                <a:latin typeface="Noto Sans SC"/>
                <a:ea typeface="Noto Sans SC"/>
                <a:cs typeface="Noto Sans SC"/>
                <a:sym typeface="Noto Sans SC"/>
              </a:rPr>
              <a:t>反射率、几何、镶嵌、配准</a:t>
            </a:r>
            <a:endParaRPr lang="en-US" sz="1100"/>
          </a:p>
        </p:txBody>
      </p:sp>
      <p:cxnSp>
        <p:nvCxnSpPr>
          <p:cNvPr id="31" name="Connector 31"/>
          <p:cNvCxnSpPr/>
          <p:nvPr/>
        </p:nvCxnSpPr>
        <p:spPr>
          <a:xfrm rot="-13324">
            <a:off x="8458212" y="3346450"/>
            <a:ext cx="3276600" cy="12700"/>
          </a:xfrm>
          <a:prstGeom prst="straightConnector1">
            <a:avLst/>
          </a:prstGeom>
          <a:solidFill>
            <a:srgbClr val="DEE0E3">
              <a:alpha val="100000"/>
            </a:srgbClr>
          </a:solidFill>
          <a:ln w="12700" cap="flat" cmpd="sng">
            <a:solidFill>
              <a:srgbClr val="1E3A8A">
                <a:alpha val="14000"/>
              </a:srgbClr>
            </a:solidFill>
            <a:prstDash val="solid"/>
            <a:round/>
            <a:headEnd type="none" w="med" len="med"/>
            <a:tailEnd type="none" w="med" len="med"/>
          </a:ln>
        </p:spPr>
      </p:cxnSp>
      <p:sp>
        <p:nvSpPr>
          <p:cNvPr id="32" name="AutoShape 32"/>
          <p:cNvSpPr/>
          <p:nvPr/>
        </p:nvSpPr>
        <p:spPr>
          <a:xfrm>
            <a:off x="8458200" y="3429000"/>
            <a:ext cx="32766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1" i="0" u="none" strike="noStrike" spc="200">
                <a:solidFill>
                  <a:srgbClr val="10B981"/>
                </a:solidFill>
                <a:latin typeface="Noto Sans SC"/>
                <a:ea typeface="Noto Sans SC"/>
                <a:cs typeface="Noto Sans SC"/>
                <a:sym typeface="Noto Sans SC"/>
              </a:rPr>
              <a:t>核心算法</a:t>
            </a:r>
            <a:endParaRPr lang="en-US" sz="1100"/>
          </a:p>
        </p:txBody>
      </p:sp>
      <p:sp>
        <p:nvSpPr>
          <p:cNvPr id="33" name="AutoShape 33"/>
          <p:cNvSpPr/>
          <p:nvPr/>
        </p:nvSpPr>
        <p:spPr>
          <a:xfrm>
            <a:off x="8458200" y="3759200"/>
            <a:ext cx="3276600" cy="14986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300" b="0" i="0" u="none" strike="noStrike">
                <a:solidFill>
                  <a:srgbClr val="334155"/>
                </a:solidFill>
                <a:latin typeface="Noto Sans SC"/>
                <a:ea typeface="Noto Sans SC"/>
                <a:cs typeface="Noto Sans SC"/>
                <a:sym typeface="Noto Sans SC"/>
              </a:rPr>
              <a:t>白板/灰板反射率定标、大气校正、BRDF/观测几何校正、几何粗校正/地理定位、正射校正、影像匹配与镶嵌、匀色与接缝线优化、多源配准</a:t>
            </a:r>
            <a:endParaRPr lang="en-US" sz="1100"/>
          </a:p>
        </p:txBody>
      </p:sp>
      <p:sp>
        <p:nvSpPr>
          <p:cNvPr id="34" name="AutoShape 34"/>
          <p:cNvSpPr/>
          <p:nvPr/>
        </p:nvSpPr>
        <p:spPr>
          <a:xfrm>
            <a:off x="508000" y="6121400"/>
            <a:ext cx="11176000" cy="5334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35" name="AutoShape 35"/>
          <p:cNvSpPr/>
          <p:nvPr/>
        </p:nvSpPr>
        <p:spPr>
          <a:xfrm>
            <a:off x="508000" y="6121400"/>
            <a:ext cx="38100" cy="533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36" name="AutoShape 36"/>
          <p:cNvSpPr/>
          <p:nvPr/>
        </p:nvSpPr>
        <p:spPr>
          <a:xfrm>
            <a:off x="762000" y="6121400"/>
            <a:ext cx="10858500" cy="5334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4155"/>
                </a:solidFill>
                <a:latin typeface="Noto Sans SC"/>
                <a:ea typeface="Noto Sans SC"/>
                <a:cs typeface="Noto Sans SC"/>
                <a:sym typeface="Noto Sans SC"/>
              </a:rPr>
              <a:t>这些算法共同确保了我们从原始数据中得到高质量、标准化的分析底图,为后续的信息提取奠定了坚实的基础。</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17500"/>
            <a:ext cx="11176000" cy="5842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2800" b="1" i="0" u="none" strike="noStrike" spc="100">
                <a:solidFill>
                  <a:srgbClr val="1E3A8A"/>
                </a:solidFill>
                <a:latin typeface="Noto Sans SC"/>
                <a:ea typeface="Noto Sans SC"/>
                <a:cs typeface="Noto Sans SC"/>
                <a:sym typeface="Noto Sans SC"/>
              </a:rPr>
              <a:t>算法分层总览(下)</a:t>
            </a:r>
            <a:endParaRPr lang="en-US" sz="1100"/>
          </a:p>
        </p:txBody>
      </p:sp>
      <p:sp>
        <p:nvSpPr>
          <p:cNvPr id="3" name="AutoShape 3"/>
          <p:cNvSpPr/>
          <p:nvPr/>
        </p:nvSpPr>
        <p:spPr>
          <a:xfrm>
            <a:off x="508000" y="914400"/>
            <a:ext cx="11176000" cy="3302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600" b="0" i="0" u="none" strike="noStrike" spc="200">
                <a:solidFill>
                  <a:srgbClr val="4B5563"/>
                </a:solidFill>
                <a:latin typeface="Noto Sans SC"/>
                <a:ea typeface="Noto Sans SC"/>
                <a:cs typeface="Noto Sans SC"/>
                <a:sym typeface="Noto Sans SC"/>
              </a:rPr>
              <a:t>45项能力与业务问题的对应关系</a:t>
            </a:r>
            <a:endParaRPr lang="en-US" sz="1100"/>
          </a:p>
        </p:txBody>
      </p:sp>
      <p:sp>
        <p:nvSpPr>
          <p:cNvPr id="4" name="AutoShape 4"/>
          <p:cNvSpPr/>
          <p:nvPr/>
        </p:nvSpPr>
        <p:spPr>
          <a:xfrm>
            <a:off x="508000" y="1397000"/>
            <a:ext cx="11176000" cy="12192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508000" y="1397000"/>
            <a:ext cx="50800" cy="12192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558800" y="1397000"/>
            <a:ext cx="2286000" cy="1219200"/>
          </a:xfrm>
          <a:prstGeom prst="roundRect">
            <a:avLst>
              <a:gd name="adj" fmla="val 0"/>
            </a:avLst>
          </a:prstGeom>
          <a:gradFill rotWithShape="1">
            <a:gsLst>
              <a:gs pos="0">
                <a:srgbClr val="1E3A8A">
                  <a:alpha val="100000"/>
                </a:srgbClr>
              </a:gs>
              <a:gs pos="100000">
                <a:srgbClr val="3B59B2">
                  <a:alpha val="100000"/>
                </a:srgbClr>
              </a:gs>
            </a:gsLst>
            <a:lin ang="2700000"/>
          </a:gradFill>
          <a:ln cap="flat" cmpd="sng">
            <a:gradFill rotWithShape="1">
              <a:gsLst>
                <a:gs pos="0">
                  <a:srgbClr val="0D2771">
                    <a:alpha val="100000"/>
                  </a:srgbClr>
                </a:gs>
                <a:gs pos="100000">
                  <a:srgbClr val="234199">
                    <a:alpha val="100000"/>
                  </a:srgbClr>
                </a:gs>
              </a:gsLst>
              <a:lin ang="2700000"/>
            </a:gradFill>
            <a:prstDash val="solid"/>
            <a:round/>
          </a:ln>
        </p:spPr>
        <p:txBody>
          <a:bodyPr vert="horz" wrap="square" lIns="63500" tIns="63500" rIns="63500" bIns="63500" rtlCol="0" anchor="ctr"/>
          <a:lstStyle/>
          <a:p>
            <a:pPr algn="ctr">
              <a:defRPr/>
            </a:pPr>
          </a:p>
        </p:txBody>
      </p:sp>
      <p:sp>
        <p:nvSpPr>
          <p:cNvPr id="7" name="AutoShape 7"/>
          <p:cNvSpPr/>
          <p:nvPr/>
        </p:nvSpPr>
        <p:spPr>
          <a:xfrm>
            <a:off x="558800" y="1397000"/>
            <a:ext cx="2286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3400" b="1" i="0" u="none" strike="noStrike">
                <a:solidFill>
                  <a:srgbClr val="FFFFFF"/>
                </a:solidFill>
                <a:latin typeface="Noto Sans SC"/>
                <a:ea typeface="Noto Sans SC"/>
                <a:cs typeface="Noto Sans SC"/>
                <a:sym typeface="Noto Sans SC"/>
              </a:rPr>
              <a:t>01</a:t>
            </a:r>
            <a:endParaRPr lang="en-US" sz="1100"/>
          </a:p>
        </p:txBody>
      </p:sp>
      <p:sp>
        <p:nvSpPr>
          <p:cNvPr id="8" name="AutoShape 8"/>
          <p:cNvSpPr/>
          <p:nvPr/>
        </p:nvSpPr>
        <p:spPr>
          <a:xfrm>
            <a:off x="558800" y="2032000"/>
            <a:ext cx="22860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500" b="1" i="0" u="none" strike="noStrike">
                <a:solidFill>
                  <a:srgbClr val="FFFFFF">
                    <a:alpha val="94902"/>
                  </a:srgbClr>
                </a:solidFill>
                <a:latin typeface="Noto Sans SC"/>
                <a:ea typeface="Noto Sans SC"/>
                <a:cs typeface="Noto Sans SC"/>
                <a:sym typeface="Noto Sans SC"/>
              </a:rPr>
              <a:t>L2分析前处理</a:t>
            </a:r>
            <a:endParaRPr lang="en-US" sz="1100"/>
          </a:p>
        </p:txBody>
      </p:sp>
      <p:sp>
        <p:nvSpPr>
          <p:cNvPr id="9" name="AutoShape 9"/>
          <p:cNvSpPr/>
          <p:nvPr/>
        </p:nvSpPr>
        <p:spPr>
          <a:xfrm>
            <a:off x="558800" y="2336800"/>
            <a:ext cx="2286000" cy="2286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200" b="0" i="0" u="none" strike="noStrike" spc="100">
                <a:solidFill>
                  <a:srgbClr val="FFFFFF">
                    <a:alpha val="70196"/>
                  </a:srgbClr>
                </a:solidFill>
                <a:latin typeface="Noto Sans SC"/>
                <a:ea typeface="Noto Sans SC"/>
                <a:cs typeface="Noto Sans SC"/>
                <a:sym typeface="Noto Sans SC"/>
              </a:rPr>
              <a:t>#20-26</a:t>
            </a:r>
            <a:endParaRPr lang="en-US" sz="1100"/>
          </a:p>
        </p:txBody>
      </p:sp>
      <p:cxnSp>
        <p:nvCxnSpPr>
          <p:cNvPr id="10" name="Connector 10"/>
          <p:cNvCxnSpPr/>
          <p:nvPr/>
        </p:nvCxnSpPr>
        <p:spPr>
          <a:xfrm rot="5354769">
            <a:off x="2489200" y="2000292"/>
            <a:ext cx="9652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11" name="AutoShape 11"/>
          <p:cNvSpPr/>
          <p:nvPr/>
        </p:nvSpPr>
        <p:spPr>
          <a:xfrm>
            <a:off x="3175000" y="1422400"/>
            <a:ext cx="831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清洗、特征、样本构建</a:t>
            </a:r>
            <a:endParaRPr lang="en-US" sz="1100"/>
          </a:p>
        </p:txBody>
      </p:sp>
      <p:sp>
        <p:nvSpPr>
          <p:cNvPr id="12" name="AutoShape 12"/>
          <p:cNvSpPr/>
          <p:nvPr/>
        </p:nvSpPr>
        <p:spPr>
          <a:xfrm>
            <a:off x="3175000" y="1803400"/>
            <a:ext cx="8318500" cy="762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74151"/>
                </a:solidFill>
                <a:latin typeface="Noto Sans SC"/>
                <a:ea typeface="Noto Sans SC"/>
                <a:cs typeface="Noto Sans SC"/>
                <a:sym typeface="Noto Sans SC"/>
              </a:rPr>
              <a:t>坏波段剔除与光谱去噪、Savitzky-Golay平滑/包络线去除、标准化/归一化、降维、波段选择/特征选择、图像素/面向对象分割、Patch/样本构建</a:t>
            </a:r>
            <a:endParaRPr lang="en-US" sz="1100"/>
          </a:p>
        </p:txBody>
      </p:sp>
      <p:sp>
        <p:nvSpPr>
          <p:cNvPr id="13" name="AutoShape 13"/>
          <p:cNvSpPr/>
          <p:nvPr/>
        </p:nvSpPr>
        <p:spPr>
          <a:xfrm>
            <a:off x="508000" y="2667000"/>
            <a:ext cx="11176000" cy="12192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508000" y="2667000"/>
            <a:ext cx="50800" cy="12192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558800" y="2667000"/>
            <a:ext cx="2286000" cy="1219200"/>
          </a:xfrm>
          <a:prstGeom prst="roundRect">
            <a:avLst>
              <a:gd name="adj" fmla="val 0"/>
            </a:avLst>
          </a:prstGeom>
          <a:gradFill rotWithShape="1">
            <a:gsLst>
              <a:gs pos="0">
                <a:srgbClr val="1E3A8A">
                  <a:alpha val="100000"/>
                </a:srgbClr>
              </a:gs>
              <a:gs pos="100000">
                <a:srgbClr val="3B59B2">
                  <a:alpha val="100000"/>
                </a:srgbClr>
              </a:gs>
            </a:gsLst>
            <a:lin ang="2700000"/>
          </a:gradFill>
          <a:ln cap="flat" cmpd="sng">
            <a:gradFill rotWithShape="1">
              <a:gsLst>
                <a:gs pos="0">
                  <a:srgbClr val="0D2771">
                    <a:alpha val="100000"/>
                  </a:srgbClr>
                </a:gs>
                <a:gs pos="100000">
                  <a:srgbClr val="234199">
                    <a:alpha val="100000"/>
                  </a:srgbClr>
                </a:gs>
              </a:gsLst>
              <a:lin ang="2700000"/>
            </a:gradFill>
            <a:prstDash val="solid"/>
            <a:round/>
          </a:ln>
        </p:spPr>
        <p:txBody>
          <a:bodyPr vert="horz" wrap="square" lIns="63500" tIns="63500" rIns="63500" bIns="63500" rtlCol="0" anchor="ctr"/>
          <a:lstStyle/>
          <a:p>
            <a:pPr algn="ctr">
              <a:defRPr/>
            </a:pPr>
          </a:p>
        </p:txBody>
      </p:sp>
      <p:sp>
        <p:nvSpPr>
          <p:cNvPr id="16" name="AutoShape 16"/>
          <p:cNvSpPr/>
          <p:nvPr/>
        </p:nvSpPr>
        <p:spPr>
          <a:xfrm>
            <a:off x="558800" y="2667000"/>
            <a:ext cx="2286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3400" b="1" i="0" u="none" strike="noStrike">
                <a:solidFill>
                  <a:srgbClr val="FFFFFF"/>
                </a:solidFill>
                <a:latin typeface="Noto Sans SC"/>
                <a:ea typeface="Noto Sans SC"/>
                <a:cs typeface="Noto Sans SC"/>
                <a:sym typeface="Noto Sans SC"/>
              </a:rPr>
              <a:t>02</a:t>
            </a:r>
            <a:endParaRPr lang="en-US" sz="1100"/>
          </a:p>
        </p:txBody>
      </p:sp>
      <p:sp>
        <p:nvSpPr>
          <p:cNvPr id="17" name="AutoShape 17"/>
          <p:cNvSpPr/>
          <p:nvPr/>
        </p:nvSpPr>
        <p:spPr>
          <a:xfrm>
            <a:off x="558800" y="3302000"/>
            <a:ext cx="22860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500" b="1" i="0" u="none" strike="noStrike">
                <a:solidFill>
                  <a:srgbClr val="FFFFFF">
                    <a:alpha val="94902"/>
                  </a:srgbClr>
                </a:solidFill>
                <a:latin typeface="Noto Sans SC"/>
                <a:ea typeface="Noto Sans SC"/>
                <a:cs typeface="Noto Sans SC"/>
                <a:sym typeface="Noto Sans SC"/>
              </a:rPr>
              <a:t>L3指数与反演</a:t>
            </a:r>
            <a:endParaRPr lang="en-US" sz="1100"/>
          </a:p>
        </p:txBody>
      </p:sp>
      <p:sp>
        <p:nvSpPr>
          <p:cNvPr id="18" name="AutoShape 18"/>
          <p:cNvSpPr/>
          <p:nvPr/>
        </p:nvSpPr>
        <p:spPr>
          <a:xfrm>
            <a:off x="558800" y="3606800"/>
            <a:ext cx="2286000" cy="2286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200" b="0" i="0" u="none" strike="noStrike" spc="100">
                <a:solidFill>
                  <a:srgbClr val="FFFFFF">
                    <a:alpha val="70196"/>
                  </a:srgbClr>
                </a:solidFill>
                <a:latin typeface="Noto Sans SC"/>
                <a:ea typeface="Noto Sans SC"/>
                <a:cs typeface="Noto Sans SC"/>
                <a:sym typeface="Noto Sans SC"/>
              </a:rPr>
              <a:t>#27-33</a:t>
            </a:r>
            <a:endParaRPr lang="en-US" sz="1100"/>
          </a:p>
        </p:txBody>
      </p:sp>
      <p:cxnSp>
        <p:nvCxnSpPr>
          <p:cNvPr id="19" name="Connector 19"/>
          <p:cNvCxnSpPr/>
          <p:nvPr/>
        </p:nvCxnSpPr>
        <p:spPr>
          <a:xfrm rot="5354769">
            <a:off x="2489200" y="3270292"/>
            <a:ext cx="9652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20" name="AutoShape 20"/>
          <p:cNvSpPr/>
          <p:nvPr/>
        </p:nvSpPr>
        <p:spPr>
          <a:xfrm>
            <a:off x="3175000" y="2692400"/>
            <a:ext cx="831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长势、水分、生化量</a:t>
            </a:r>
            <a:endParaRPr lang="en-US" sz="1100"/>
          </a:p>
        </p:txBody>
      </p:sp>
      <p:sp>
        <p:nvSpPr>
          <p:cNvPr id="21" name="AutoShape 21"/>
          <p:cNvSpPr/>
          <p:nvPr/>
        </p:nvSpPr>
        <p:spPr>
          <a:xfrm>
            <a:off x="3175000" y="3073400"/>
            <a:ext cx="8318500" cy="762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74151"/>
                </a:solidFill>
                <a:latin typeface="Noto Sans SC"/>
                <a:ea typeface="Noto Sans SC"/>
                <a:cs typeface="Noto Sans SC"/>
                <a:sym typeface="Noto Sans SC"/>
              </a:rPr>
              <a:t>NDVI、NDRE/红边植被指数、EVI/SAVI/、NDM/NDWI、红边位置与光谱特征参数、经验回归反演、辐射传输物理模型反演</a:t>
            </a:r>
            <a:endParaRPr lang="en-US" sz="1100"/>
          </a:p>
        </p:txBody>
      </p:sp>
      <p:sp>
        <p:nvSpPr>
          <p:cNvPr id="22" name="AutoShape 22"/>
          <p:cNvSpPr/>
          <p:nvPr/>
        </p:nvSpPr>
        <p:spPr>
          <a:xfrm>
            <a:off x="508000" y="3937000"/>
            <a:ext cx="11176000" cy="12192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508000" y="3937000"/>
            <a:ext cx="50800" cy="12192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558800" y="3937000"/>
            <a:ext cx="2286000" cy="1219200"/>
          </a:xfrm>
          <a:prstGeom prst="roundRect">
            <a:avLst>
              <a:gd name="adj" fmla="val 0"/>
            </a:avLst>
          </a:prstGeom>
          <a:gradFill rotWithShape="1">
            <a:gsLst>
              <a:gs pos="0">
                <a:srgbClr val="1E3A8A">
                  <a:alpha val="100000"/>
                </a:srgbClr>
              </a:gs>
              <a:gs pos="100000">
                <a:srgbClr val="3B59B2">
                  <a:alpha val="100000"/>
                </a:srgbClr>
              </a:gs>
            </a:gsLst>
            <a:lin ang="2700000"/>
          </a:gradFill>
          <a:ln cap="flat" cmpd="sng">
            <a:gradFill rotWithShape="1">
              <a:gsLst>
                <a:gs pos="0">
                  <a:srgbClr val="0D2771">
                    <a:alpha val="100000"/>
                  </a:srgbClr>
                </a:gs>
                <a:gs pos="100000">
                  <a:srgbClr val="234199">
                    <a:alpha val="100000"/>
                  </a:srgbClr>
                </a:gs>
              </a:gsLst>
              <a:lin ang="2700000"/>
            </a:gradFill>
            <a:prstDash val="solid"/>
            <a:round/>
          </a:ln>
        </p:spPr>
        <p:txBody>
          <a:bodyPr vert="horz" wrap="square" lIns="63500" tIns="63500" rIns="63500" bIns="63500" rtlCol="0" anchor="ctr"/>
          <a:lstStyle/>
          <a:p>
            <a:pPr algn="ctr">
              <a:defRPr/>
            </a:pPr>
          </a:p>
        </p:txBody>
      </p:sp>
      <p:sp>
        <p:nvSpPr>
          <p:cNvPr id="25" name="AutoShape 25"/>
          <p:cNvSpPr/>
          <p:nvPr/>
        </p:nvSpPr>
        <p:spPr>
          <a:xfrm>
            <a:off x="558800" y="3937000"/>
            <a:ext cx="2286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3400" b="1" i="0" u="none" strike="noStrike">
                <a:solidFill>
                  <a:srgbClr val="FFFFFF"/>
                </a:solidFill>
                <a:latin typeface="Noto Sans SC"/>
                <a:ea typeface="Noto Sans SC"/>
                <a:cs typeface="Noto Sans SC"/>
                <a:sym typeface="Noto Sans SC"/>
              </a:rPr>
              <a:t>03</a:t>
            </a:r>
            <a:endParaRPr lang="en-US" sz="1100"/>
          </a:p>
        </p:txBody>
      </p:sp>
      <p:sp>
        <p:nvSpPr>
          <p:cNvPr id="26" name="AutoShape 26"/>
          <p:cNvSpPr/>
          <p:nvPr/>
        </p:nvSpPr>
        <p:spPr>
          <a:xfrm>
            <a:off x="558800" y="4572000"/>
            <a:ext cx="22860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500" b="1" i="0" u="none" strike="noStrike">
                <a:solidFill>
                  <a:srgbClr val="FFFFFF">
                    <a:alpha val="94902"/>
                  </a:srgbClr>
                </a:solidFill>
                <a:latin typeface="Noto Sans SC"/>
                <a:ea typeface="Noto Sans SC"/>
                <a:cs typeface="Noto Sans SC"/>
                <a:sym typeface="Noto Sans SC"/>
              </a:rPr>
              <a:t>L3分类与检测</a:t>
            </a:r>
            <a:endParaRPr lang="en-US" sz="1100"/>
          </a:p>
        </p:txBody>
      </p:sp>
      <p:sp>
        <p:nvSpPr>
          <p:cNvPr id="27" name="AutoShape 27"/>
          <p:cNvSpPr/>
          <p:nvPr/>
        </p:nvSpPr>
        <p:spPr>
          <a:xfrm>
            <a:off x="558800" y="4876800"/>
            <a:ext cx="2286000" cy="2286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200" b="0" i="0" u="none" strike="noStrike" spc="100">
                <a:solidFill>
                  <a:srgbClr val="FFFFFF">
                    <a:alpha val="70196"/>
                  </a:srgbClr>
                </a:solidFill>
                <a:latin typeface="Noto Sans SC"/>
                <a:ea typeface="Noto Sans SC"/>
                <a:cs typeface="Noto Sans SC"/>
                <a:sym typeface="Noto Sans SC"/>
              </a:rPr>
              <a:t>#34-43</a:t>
            </a:r>
            <a:endParaRPr lang="en-US" sz="1100"/>
          </a:p>
        </p:txBody>
      </p:sp>
      <p:cxnSp>
        <p:nvCxnSpPr>
          <p:cNvPr id="28" name="Connector 28"/>
          <p:cNvCxnSpPr/>
          <p:nvPr/>
        </p:nvCxnSpPr>
        <p:spPr>
          <a:xfrm rot="5354769">
            <a:off x="2489200" y="4540292"/>
            <a:ext cx="9652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29" name="AutoShape 29"/>
          <p:cNvSpPr/>
          <p:nvPr/>
        </p:nvSpPr>
        <p:spPr>
          <a:xfrm>
            <a:off x="3175000" y="3962400"/>
            <a:ext cx="831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类别、斑块、异常、变化</a:t>
            </a:r>
            <a:endParaRPr lang="en-US" sz="1100"/>
          </a:p>
        </p:txBody>
      </p:sp>
      <p:sp>
        <p:nvSpPr>
          <p:cNvPr id="30" name="AutoShape 30"/>
          <p:cNvSpPr/>
          <p:nvPr/>
        </p:nvSpPr>
        <p:spPr>
          <a:xfrm>
            <a:off x="3175000" y="4343400"/>
            <a:ext cx="8318500" cy="762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74151"/>
                </a:solidFill>
                <a:latin typeface="Noto Sans SC"/>
                <a:ea typeface="Noto Sans SC"/>
                <a:cs typeface="Noto Sans SC"/>
                <a:sym typeface="Noto Sans SC"/>
              </a:rPr>
              <a:t>传统机器学习分类、光谱端元分类、光谱深度学习分类、空-谱CNN分类、Transformer、少样本/迁移学习分类、语义分割/目标检测、适合像元分解、异常检测、多时相变化检测</a:t>
            </a:r>
            <a:endParaRPr lang="en-US" sz="1100"/>
          </a:p>
        </p:txBody>
      </p:sp>
      <p:sp>
        <p:nvSpPr>
          <p:cNvPr id="31" name="AutoShape 31"/>
          <p:cNvSpPr/>
          <p:nvPr/>
        </p:nvSpPr>
        <p:spPr>
          <a:xfrm>
            <a:off x="508000" y="5207000"/>
            <a:ext cx="11176000" cy="10922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32" name="AutoShape 32"/>
          <p:cNvSpPr/>
          <p:nvPr/>
        </p:nvSpPr>
        <p:spPr>
          <a:xfrm>
            <a:off x="508000" y="5207000"/>
            <a:ext cx="50800" cy="10922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33" name="AutoShape 33"/>
          <p:cNvSpPr/>
          <p:nvPr/>
        </p:nvSpPr>
        <p:spPr>
          <a:xfrm>
            <a:off x="558800" y="5207000"/>
            <a:ext cx="2286000" cy="1092200"/>
          </a:xfrm>
          <a:prstGeom prst="roundRect">
            <a:avLst>
              <a:gd name="adj" fmla="val 0"/>
            </a:avLst>
          </a:prstGeom>
          <a:gradFill rotWithShape="1">
            <a:gsLst>
              <a:gs pos="0">
                <a:srgbClr val="1E3A8A">
                  <a:alpha val="100000"/>
                </a:srgbClr>
              </a:gs>
              <a:gs pos="100000">
                <a:srgbClr val="3B59B2">
                  <a:alpha val="100000"/>
                </a:srgbClr>
              </a:gs>
            </a:gsLst>
            <a:lin ang="2700000"/>
          </a:gradFill>
          <a:ln cap="flat" cmpd="sng">
            <a:gradFill rotWithShape="1">
              <a:gsLst>
                <a:gs pos="0">
                  <a:srgbClr val="0D2771">
                    <a:alpha val="100000"/>
                  </a:srgbClr>
                </a:gs>
                <a:gs pos="100000">
                  <a:srgbClr val="234199">
                    <a:alpha val="100000"/>
                  </a:srgbClr>
                </a:gs>
              </a:gsLst>
              <a:lin ang="2700000"/>
            </a:gradFill>
            <a:prstDash val="solid"/>
            <a:round/>
          </a:ln>
        </p:spPr>
        <p:txBody>
          <a:bodyPr vert="horz" wrap="square" lIns="63500" tIns="63500" rIns="63500" bIns="63500" rtlCol="0" anchor="ctr"/>
          <a:lstStyle/>
          <a:p>
            <a:pPr algn="ctr">
              <a:defRPr/>
            </a:pPr>
          </a:p>
        </p:txBody>
      </p:sp>
      <p:sp>
        <p:nvSpPr>
          <p:cNvPr id="34" name="AutoShape 34"/>
          <p:cNvSpPr/>
          <p:nvPr/>
        </p:nvSpPr>
        <p:spPr>
          <a:xfrm>
            <a:off x="558800" y="5207000"/>
            <a:ext cx="2286000" cy="5842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3400" b="1" i="0" u="none" strike="noStrike">
                <a:solidFill>
                  <a:srgbClr val="FFFFFF"/>
                </a:solidFill>
                <a:latin typeface="Noto Sans SC"/>
                <a:ea typeface="Noto Sans SC"/>
                <a:cs typeface="Noto Sans SC"/>
                <a:sym typeface="Noto Sans SC"/>
              </a:rPr>
              <a:t>04</a:t>
            </a:r>
            <a:endParaRPr lang="en-US" sz="1100"/>
          </a:p>
        </p:txBody>
      </p:sp>
      <p:sp>
        <p:nvSpPr>
          <p:cNvPr id="35" name="AutoShape 35"/>
          <p:cNvSpPr/>
          <p:nvPr/>
        </p:nvSpPr>
        <p:spPr>
          <a:xfrm>
            <a:off x="558800" y="5740400"/>
            <a:ext cx="22860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500" b="1" i="0" u="none" strike="noStrike">
                <a:solidFill>
                  <a:srgbClr val="FFFFFF">
                    <a:alpha val="94902"/>
                  </a:srgbClr>
                </a:solidFill>
                <a:latin typeface="Noto Sans SC"/>
                <a:ea typeface="Noto Sans SC"/>
                <a:cs typeface="Noto Sans SC"/>
                <a:sym typeface="Noto Sans SC"/>
              </a:rPr>
              <a:t>L3→L4业务出口</a:t>
            </a:r>
            <a:endParaRPr lang="en-US" sz="1100"/>
          </a:p>
        </p:txBody>
      </p:sp>
      <p:sp>
        <p:nvSpPr>
          <p:cNvPr id="36" name="AutoShape 36"/>
          <p:cNvSpPr/>
          <p:nvPr/>
        </p:nvSpPr>
        <p:spPr>
          <a:xfrm>
            <a:off x="558800" y="6096000"/>
            <a:ext cx="2286000" cy="2032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200" b="0" i="0" u="none" strike="noStrike" spc="100">
                <a:solidFill>
                  <a:srgbClr val="FFFFFF">
                    <a:alpha val="70196"/>
                  </a:srgbClr>
                </a:solidFill>
                <a:latin typeface="Noto Sans SC"/>
                <a:ea typeface="Noto Sans SC"/>
                <a:cs typeface="Noto Sans SC"/>
                <a:sym typeface="Noto Sans SC"/>
              </a:rPr>
              <a:t>#44-45</a:t>
            </a:r>
            <a:endParaRPr lang="en-US" sz="1100"/>
          </a:p>
        </p:txBody>
      </p:sp>
      <p:cxnSp>
        <p:nvCxnSpPr>
          <p:cNvPr id="37" name="Connector 37"/>
          <p:cNvCxnSpPr/>
          <p:nvPr/>
        </p:nvCxnSpPr>
        <p:spPr>
          <a:xfrm rot="5350892">
            <a:off x="2527300" y="5772195"/>
            <a:ext cx="8890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38" name="AutoShape 38"/>
          <p:cNvSpPr/>
          <p:nvPr/>
        </p:nvSpPr>
        <p:spPr>
          <a:xfrm>
            <a:off x="3175000" y="5232400"/>
            <a:ext cx="831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后处理与决策产品</a:t>
            </a:r>
            <a:endParaRPr lang="en-US" sz="1100"/>
          </a:p>
        </p:txBody>
      </p:sp>
      <p:sp>
        <p:nvSpPr>
          <p:cNvPr id="39" name="AutoShape 39"/>
          <p:cNvSpPr/>
          <p:nvPr/>
        </p:nvSpPr>
        <p:spPr>
          <a:xfrm>
            <a:off x="3175000" y="5664200"/>
            <a:ext cx="8318500" cy="533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分类后处理、地块汇总、专题制图与业务</a:t>
            </a:r>
            <a:endParaRPr lang="en-US" sz="1100"/>
          </a:p>
        </p:txBody>
      </p:sp>
      <p:sp>
        <p:nvSpPr>
          <p:cNvPr id="40" name="AutoShape 40"/>
          <p:cNvSpPr/>
          <p:nvPr/>
        </p:nvSpPr>
        <p:spPr>
          <a:xfrm>
            <a:off x="508000" y="6375400"/>
            <a:ext cx="11176000" cy="3810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41" name="AutoShape 41"/>
          <p:cNvSpPr/>
          <p:nvPr/>
        </p:nvSpPr>
        <p:spPr>
          <a:xfrm>
            <a:off x="508000" y="6375400"/>
            <a:ext cx="11176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300" b="0" i="0" u="none" strike="noStrike" spc="200">
                <a:solidFill>
                  <a:srgbClr val="1E3A8A">
                    <a:alpha val="70196"/>
                  </a:srgbClr>
                </a:solidFill>
                <a:latin typeface="Noto Sans SC"/>
                <a:ea typeface="Noto Sans SC"/>
                <a:cs typeface="Noto Sans SC"/>
                <a:sym typeface="Noto Sans SC"/>
              </a:rPr>
              <a:t>流程脉络:L2底图清洗 → L3信息提取(指数/分类) → L4业务决策输出</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0160000" cy="5842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2800" b="1" i="0" u="none" strike="noStrike" spc="100">
                <a:solidFill>
                  <a:srgbClr val="1E3A8A"/>
                </a:solidFill>
                <a:latin typeface="Noto Sans SC"/>
                <a:ea typeface="Noto Sans SC"/>
                <a:cs typeface="Noto Sans SC"/>
                <a:sym typeface="Noto Sans SC"/>
              </a:rPr>
              <a:t>01.航线规划与覆盖优化</a:t>
            </a:r>
            <a:endParaRPr lang="en-US" sz="1100"/>
          </a:p>
        </p:txBody>
      </p:sp>
      <p:sp>
        <p:nvSpPr>
          <p:cNvPr id="3" name="AutoShape 3"/>
          <p:cNvSpPr/>
          <p:nvPr/>
        </p:nvSpPr>
        <p:spPr>
          <a:xfrm>
            <a:off x="508000" y="1016000"/>
            <a:ext cx="10160000" cy="2794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200" b="0" i="0" u="none" strike="noStrike" spc="200">
                <a:solidFill>
                  <a:srgbClr val="64748B"/>
                </a:solidFill>
                <a:latin typeface="Noto Sans SC"/>
                <a:ea typeface="Noto Sans SC"/>
                <a:cs typeface="Noto Sans SC"/>
                <a:sym typeface="Noto Sans SC"/>
              </a:rPr>
              <a:t>所属层级:L0前 ｜ 编号#1 ｜ 辅导材料:算法清单与API</a:t>
            </a:r>
            <a:endParaRPr lang="en-US" sz="1100"/>
          </a:p>
        </p:txBody>
      </p:sp>
      <p:cxnSp>
        <p:nvCxnSpPr>
          <p:cNvPr id="4" name="Connector 4"/>
          <p:cNvCxnSpPr/>
          <p:nvPr/>
        </p:nvCxnSpPr>
        <p:spPr>
          <a:xfrm rot="-3906">
            <a:off x="508004" y="1416050"/>
            <a:ext cx="111760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5" name="AutoShape 5"/>
          <p:cNvSpPr/>
          <p:nvPr/>
        </p:nvSpPr>
        <p:spPr>
          <a:xfrm>
            <a:off x="508000" y="1524000"/>
            <a:ext cx="3683000" cy="19050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508000" y="1524000"/>
            <a:ext cx="50800" cy="1905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762000" y="1600200"/>
            <a:ext cx="3302000" cy="3556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800" b="1" i="0" u="none" strike="noStrike" spc="100">
                <a:solidFill>
                  <a:srgbClr val="1E3A8A"/>
                </a:solidFill>
                <a:latin typeface="Noto Sans SC"/>
                <a:ea typeface="Noto Sans SC"/>
                <a:cs typeface="Noto Sans SC"/>
                <a:sym typeface="Noto Sans SC"/>
              </a:rPr>
              <a:t>功能定义</a:t>
            </a:r>
            <a:endParaRPr lang="en-US" sz="1100"/>
          </a:p>
        </p:txBody>
      </p:sp>
      <p:cxnSp>
        <p:nvCxnSpPr>
          <p:cNvPr id="8" name="Connector 8"/>
          <p:cNvCxnSpPr/>
          <p:nvPr/>
        </p:nvCxnSpPr>
        <p:spPr>
          <a:xfrm rot="-13481">
            <a:off x="762012" y="2000250"/>
            <a:ext cx="32385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9" name="AutoShape 9"/>
          <p:cNvSpPr/>
          <p:nvPr/>
        </p:nvSpPr>
        <p:spPr>
          <a:xfrm>
            <a:off x="762000" y="2082800"/>
            <a:ext cx="3365500" cy="762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规划航高、重叠、航速,保证测区全图、可拼接。</a:t>
            </a:r>
            <a:endParaRPr lang="en-US" sz="1100"/>
          </a:p>
        </p:txBody>
      </p:sp>
      <p:sp>
        <p:nvSpPr>
          <p:cNvPr id="10" name="AutoShape 10"/>
          <p:cNvSpPr/>
          <p:nvPr/>
        </p:nvSpPr>
        <p:spPr>
          <a:xfrm>
            <a:off x="4318000" y="1524000"/>
            <a:ext cx="3683000" cy="19050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4318000" y="1524000"/>
            <a:ext cx="50800" cy="1905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4572000" y="1600200"/>
            <a:ext cx="3302000" cy="3556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800" b="1" i="0" u="none" strike="noStrike" spc="100">
                <a:solidFill>
                  <a:srgbClr val="1E3A8A"/>
                </a:solidFill>
                <a:latin typeface="Noto Sans SC"/>
                <a:ea typeface="Noto Sans SC"/>
                <a:cs typeface="Noto Sans SC"/>
                <a:sym typeface="Noto Sans SC"/>
              </a:rPr>
              <a:t>方法要点</a:t>
            </a:r>
            <a:endParaRPr lang="en-US" sz="1100"/>
          </a:p>
        </p:txBody>
      </p:sp>
      <p:cxnSp>
        <p:nvCxnSpPr>
          <p:cNvPr id="13" name="Connector 13"/>
          <p:cNvCxnSpPr/>
          <p:nvPr/>
        </p:nvCxnSpPr>
        <p:spPr>
          <a:xfrm rot="-13481">
            <a:off x="4572012" y="2000250"/>
            <a:ext cx="32385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14" name="AutoShape 14"/>
          <p:cNvSpPr/>
          <p:nvPr/>
        </p:nvSpPr>
        <p:spPr>
          <a:xfrm>
            <a:off x="4572000" y="2082800"/>
            <a:ext cx="3365500" cy="1041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依据测区边界、DEM与相机视场,计算航高、旁向/航向重叠率与航速间距;输出可执行航点序列。</a:t>
            </a:r>
            <a:endParaRPr lang="en-US" sz="1100"/>
          </a:p>
        </p:txBody>
      </p:sp>
      <p:sp>
        <p:nvSpPr>
          <p:cNvPr id="15" name="AutoShape 15"/>
          <p:cNvSpPr/>
          <p:nvPr/>
        </p:nvSpPr>
        <p:spPr>
          <a:xfrm>
            <a:off x="8128000" y="1524000"/>
            <a:ext cx="3683000" cy="19050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8128000" y="1524000"/>
            <a:ext cx="50800" cy="1905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8382000" y="1600200"/>
            <a:ext cx="3302000" cy="3556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800" b="1" i="0" u="none" strike="noStrike" spc="100">
                <a:solidFill>
                  <a:srgbClr val="1E3A8A"/>
                </a:solidFill>
                <a:latin typeface="Noto Sans SC"/>
                <a:ea typeface="Noto Sans SC"/>
                <a:cs typeface="Noto Sans SC"/>
                <a:sym typeface="Noto Sans SC"/>
              </a:rPr>
              <a:t>适用场景</a:t>
            </a:r>
            <a:endParaRPr lang="en-US" sz="1100"/>
          </a:p>
        </p:txBody>
      </p:sp>
      <p:cxnSp>
        <p:nvCxnSpPr>
          <p:cNvPr id="18" name="Connector 18"/>
          <p:cNvCxnSpPr/>
          <p:nvPr/>
        </p:nvCxnSpPr>
        <p:spPr>
          <a:xfrm rot="-13481">
            <a:off x="8382012" y="2000250"/>
            <a:ext cx="32385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19" name="AutoShape 19"/>
          <p:cNvSpPr/>
          <p:nvPr/>
        </p:nvSpPr>
        <p:spPr>
          <a:xfrm>
            <a:off x="8382000" y="2082800"/>
            <a:ext cx="3365500" cy="762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无人机起降;大田、园区、矿区测绘任务。</a:t>
            </a:r>
            <a:endParaRPr lang="en-US" sz="1100"/>
          </a:p>
        </p:txBody>
      </p:sp>
      <p:sp>
        <p:nvSpPr>
          <p:cNvPr id="20" name="AutoShape 20"/>
          <p:cNvSpPr/>
          <p:nvPr/>
        </p:nvSpPr>
        <p:spPr>
          <a:xfrm>
            <a:off x="508000" y="3556000"/>
            <a:ext cx="5651500" cy="16256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508000" y="3556000"/>
            <a:ext cx="50800" cy="16256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762000" y="3632200"/>
            <a:ext cx="5207000" cy="3556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800" b="1" i="0" u="none" strike="noStrike" spc="100">
                <a:solidFill>
                  <a:srgbClr val="1E3A8A"/>
                </a:solidFill>
                <a:latin typeface="Noto Sans SC"/>
                <a:ea typeface="Noto Sans SC"/>
                <a:cs typeface="Noto Sans SC"/>
                <a:sym typeface="Noto Sans SC"/>
              </a:rPr>
              <a:t>业务价值</a:t>
            </a:r>
            <a:endParaRPr lang="en-US" sz="1100"/>
          </a:p>
        </p:txBody>
      </p:sp>
      <p:cxnSp>
        <p:nvCxnSpPr>
          <p:cNvPr id="23" name="Connector 23"/>
          <p:cNvCxnSpPr/>
          <p:nvPr/>
        </p:nvCxnSpPr>
        <p:spPr>
          <a:xfrm rot="-8384">
            <a:off x="762008" y="4057650"/>
            <a:ext cx="52070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24" name="AutoShape 24"/>
          <p:cNvSpPr/>
          <p:nvPr/>
        </p:nvSpPr>
        <p:spPr>
          <a:xfrm>
            <a:off x="762000" y="4140200"/>
            <a:ext cx="5270500" cy="889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保证飞行完整覆盖与可拼接性,是后续几何处理与面积统计的前提条件。</a:t>
            </a:r>
            <a:endParaRPr lang="en-US" sz="1100"/>
          </a:p>
        </p:txBody>
      </p:sp>
      <p:sp>
        <p:nvSpPr>
          <p:cNvPr id="25" name="AutoShape 25"/>
          <p:cNvSpPr/>
          <p:nvPr/>
        </p:nvSpPr>
        <p:spPr>
          <a:xfrm>
            <a:off x="6350000" y="3556000"/>
            <a:ext cx="5651500" cy="1625600"/>
          </a:xfrm>
          <a:prstGeom prst="roundRect">
            <a:avLst>
              <a:gd name="adj" fmla="val 0"/>
            </a:avLst>
          </a:prstGeom>
          <a:solidFill>
            <a:srgbClr val="F59E0B">
              <a:alpha val="7000"/>
            </a:srgbClr>
          </a:solidFill>
          <a:ln cap="flat" cmpd="sng">
            <a:solidFill>
              <a:srgbClr val="DC8A00">
                <a:alpha val="7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6350000" y="3556000"/>
            <a:ext cx="50800" cy="1625600"/>
          </a:xfrm>
          <a:prstGeom prst="roundRect">
            <a:avLst>
              <a:gd name="adj" fmla="val 0"/>
            </a:avLst>
          </a:prstGeom>
          <a:solidFill>
            <a:srgbClr val="F59E0B">
              <a:alpha val="100000"/>
            </a:srgbClr>
          </a:solidFill>
          <a:ln cap="flat" cmpd="sng">
            <a:solidFill>
              <a:srgbClr val="DC8A00">
                <a:alpha val="100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6604000" y="3632200"/>
            <a:ext cx="5207000" cy="3556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800" b="1" i="0" u="none" strike="noStrike" spc="100">
                <a:solidFill>
                  <a:srgbClr val="F59E0B"/>
                </a:solidFill>
                <a:latin typeface="Noto Sans SC"/>
                <a:ea typeface="Noto Sans SC"/>
                <a:cs typeface="Noto Sans SC"/>
                <a:sym typeface="Noto Sans SC"/>
              </a:rPr>
              <a:t>缺失影响</a:t>
            </a:r>
            <a:endParaRPr lang="en-US" sz="1100"/>
          </a:p>
        </p:txBody>
      </p:sp>
      <p:cxnSp>
        <p:nvCxnSpPr>
          <p:cNvPr id="28" name="Connector 28"/>
          <p:cNvCxnSpPr/>
          <p:nvPr/>
        </p:nvCxnSpPr>
        <p:spPr>
          <a:xfrm rot="-8594">
            <a:off x="6604008" y="4057650"/>
            <a:ext cx="5080000" cy="12700"/>
          </a:xfrm>
          <a:prstGeom prst="straightConnector1">
            <a:avLst/>
          </a:prstGeom>
          <a:solidFill>
            <a:srgbClr val="DEE0E3">
              <a:alpha val="100000"/>
            </a:srgbClr>
          </a:solidFill>
          <a:ln w="12700" cap="flat" cmpd="sng">
            <a:solidFill>
              <a:srgbClr val="F59E0B">
                <a:alpha val="22000"/>
              </a:srgbClr>
            </a:solidFill>
            <a:prstDash val="solid"/>
            <a:round/>
            <a:headEnd type="none" w="med" len="med"/>
            <a:tailEnd type="none" w="med" len="med"/>
          </a:ln>
        </p:spPr>
      </p:cxnSp>
      <p:sp>
        <p:nvSpPr>
          <p:cNvPr id="29" name="AutoShape 29"/>
          <p:cNvSpPr/>
          <p:nvPr/>
        </p:nvSpPr>
        <p:spPr>
          <a:xfrm>
            <a:off x="6604000" y="4140200"/>
            <a:ext cx="5270500" cy="889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覆盖不全会产生空洞,设计过密则增加架次与存储成本,延误交付周期。</a:t>
            </a:r>
            <a:endParaRPr lang="en-US" sz="1100"/>
          </a:p>
        </p:txBody>
      </p:sp>
      <p:sp>
        <p:nvSpPr>
          <p:cNvPr id="30" name="AutoShape 30"/>
          <p:cNvSpPr/>
          <p:nvPr/>
        </p:nvSpPr>
        <p:spPr>
          <a:xfrm>
            <a:off x="508000" y="5359400"/>
            <a:ext cx="11366500" cy="1117600"/>
          </a:xfrm>
          <a:prstGeom prst="roundRect">
            <a:avLst>
              <a:gd name="adj" fmla="val 0"/>
            </a:avLst>
          </a:prstGeom>
          <a:gradFill rotWithShape="1">
            <a:gsLst>
              <a:gs pos="0">
                <a:srgbClr val="1E3A8A">
                  <a:alpha val="100000"/>
                </a:srgbClr>
              </a:gs>
              <a:gs pos="100000">
                <a:srgbClr val="3352A8">
                  <a:alpha val="100000"/>
                </a:srgbClr>
              </a:gs>
            </a:gsLst>
            <a:lin ang="0"/>
          </a:gradFill>
          <a:ln cap="flat" cmpd="sng">
            <a:gradFill rotWithShape="1">
              <a:gsLst>
                <a:gs pos="0">
                  <a:srgbClr val="0D2771">
                    <a:alpha val="100000"/>
                  </a:srgbClr>
                </a:gs>
                <a:gs pos="100000">
                  <a:srgbClr val="1D3B8E">
                    <a:alpha val="100000"/>
                  </a:srgbClr>
                </a:gs>
              </a:gsLst>
              <a:lin ang="0"/>
            </a:gradFill>
            <a:prstDash val="solid"/>
            <a:round/>
          </a:ln>
        </p:spPr>
        <p:txBody>
          <a:bodyPr vert="horz" wrap="square" lIns="63500" tIns="63500" rIns="63500" bIns="63500" rtlCol="0" anchor="ctr"/>
          <a:lstStyle/>
          <a:p>
            <a:pPr algn="ctr">
              <a:defRPr/>
            </a:pPr>
          </a:p>
        </p:txBody>
      </p:sp>
      <p:sp>
        <p:nvSpPr>
          <p:cNvPr id="31" name="AutoShape 31"/>
          <p:cNvSpPr/>
          <p:nvPr/>
        </p:nvSpPr>
        <p:spPr>
          <a:xfrm>
            <a:off x="762000" y="5461000"/>
            <a:ext cx="5969000" cy="2794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300" b="1" i="0" u="none" strike="noStrike" spc="200">
                <a:solidFill>
                  <a:srgbClr val="FFFFFF">
                    <a:alpha val="90196"/>
                  </a:srgbClr>
                </a:solidFill>
                <a:latin typeface="Noto Sans SC"/>
                <a:ea typeface="Noto Sans SC"/>
                <a:cs typeface="Noto Sans SC"/>
                <a:sym typeface="Noto Sans SC"/>
              </a:rPr>
              <a:t>流程位置与关联</a:t>
            </a:r>
            <a:endParaRPr lang="en-US" sz="1100"/>
          </a:p>
        </p:txBody>
      </p:sp>
      <p:sp>
        <p:nvSpPr>
          <p:cNvPr id="32" name="AutoShape 32"/>
          <p:cNvSpPr/>
          <p:nvPr/>
        </p:nvSpPr>
        <p:spPr>
          <a:xfrm>
            <a:off x="762000" y="5765800"/>
            <a:ext cx="5969000" cy="254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200" b="0" i="0" u="none" strike="noStrike">
                <a:solidFill>
                  <a:srgbClr val="FFFFFF">
                    <a:alpha val="60000"/>
                  </a:srgbClr>
                </a:solidFill>
                <a:latin typeface="Noto Sans SC"/>
                <a:ea typeface="Noto Sans SC"/>
                <a:cs typeface="Noto Sans SC"/>
                <a:sym typeface="Noto Sans SC"/>
              </a:rPr>
              <a:t>在哪个环节:</a:t>
            </a:r>
            <a:r>
              <a:rPr lang="en-US" sz="1200" b="0" i="0" u="none" strike="noStrike">
                <a:solidFill>
                  <a:srgbClr val="FFFFFF">
                    <a:alpha val="90196"/>
                  </a:srgbClr>
                </a:solidFill>
                <a:latin typeface="Noto Sans SC"/>
                <a:ea typeface="Noto Sans SC"/>
                <a:cs typeface="Noto Sans SC"/>
                <a:sym typeface="Noto Sans SC"/>
              </a:rPr>
              <a:t>飞行采集 → #4架次质检</a:t>
            </a:r>
            <a:endParaRPr lang="en-US" sz="1100"/>
          </a:p>
        </p:txBody>
      </p:sp>
      <p:sp>
        <p:nvSpPr>
          <p:cNvPr id="33" name="AutoShape 33"/>
          <p:cNvSpPr/>
          <p:nvPr/>
        </p:nvSpPr>
        <p:spPr>
          <a:xfrm>
            <a:off x="762000" y="6121400"/>
            <a:ext cx="5969000" cy="254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200" b="0" i="0" u="none" strike="noStrike">
                <a:solidFill>
                  <a:srgbClr val="FFFFFF">
                    <a:alpha val="60000"/>
                  </a:srgbClr>
                </a:solidFill>
                <a:latin typeface="Noto Sans SC"/>
                <a:ea typeface="Noto Sans SC"/>
                <a:cs typeface="Noto Sans SC"/>
                <a:sym typeface="Noto Sans SC"/>
              </a:rPr>
              <a:t>关联:</a:t>
            </a:r>
            <a:r>
              <a:rPr lang="en-US" sz="1200" b="0" i="0" u="none" strike="noStrike">
                <a:solidFill>
                  <a:srgbClr val="FFFFFF">
                    <a:alpha val="90196"/>
                  </a:srgbClr>
                </a:solidFill>
                <a:latin typeface="Noto Sans SC"/>
                <a:ea typeface="Noto Sans SC"/>
                <a:cs typeface="Noto Sans SC"/>
                <a:sym typeface="Noto Sans SC"/>
              </a:rPr>
              <a:t>#3 POS解算,#16正射,#17镶嵌</a:t>
            </a:r>
            <a:endParaRPr lang="en-US" sz="1100"/>
          </a:p>
        </p:txBody>
      </p:sp>
      <p:cxnSp>
        <p:nvCxnSpPr>
          <p:cNvPr id="34" name="Connector 34"/>
          <p:cNvCxnSpPr/>
          <p:nvPr/>
        </p:nvCxnSpPr>
        <p:spPr>
          <a:xfrm rot="5350892">
            <a:off x="6604000" y="5899195"/>
            <a:ext cx="889000" cy="12700"/>
          </a:xfrm>
          <a:prstGeom prst="straightConnector1">
            <a:avLst/>
          </a:prstGeom>
          <a:solidFill>
            <a:srgbClr val="DEE0E3">
              <a:alpha val="100000"/>
            </a:srgbClr>
          </a:solidFill>
          <a:ln w="12700" cap="flat" cmpd="sng">
            <a:solidFill>
              <a:srgbClr val="FFFFFF">
                <a:alpha val="18000"/>
              </a:srgbClr>
            </a:solidFill>
            <a:prstDash val="solid"/>
            <a:round/>
            <a:headEnd type="none" w="med" len="med"/>
            <a:tailEnd type="none" w="med" len="med"/>
          </a:ln>
        </p:spPr>
      </p:cxnSp>
      <p:sp>
        <p:nvSpPr>
          <p:cNvPr id="35" name="AutoShape 35"/>
          <p:cNvSpPr/>
          <p:nvPr/>
        </p:nvSpPr>
        <p:spPr>
          <a:xfrm>
            <a:off x="7302500" y="5461000"/>
            <a:ext cx="4508500" cy="2794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300" b="1" i="0" u="none" strike="noStrike" spc="200">
                <a:solidFill>
                  <a:srgbClr val="FFFFFF">
                    <a:alpha val="90196"/>
                  </a:srgbClr>
                </a:solidFill>
                <a:latin typeface="Noto Sans SC"/>
                <a:ea typeface="Noto Sans SC"/>
                <a:cs typeface="Noto Sans SC"/>
                <a:sym typeface="Noto Sans SC"/>
              </a:rPr>
              <a:t>[API]</a:t>
            </a:r>
            <a:endParaRPr lang="en-US" sz="1100"/>
          </a:p>
        </p:txBody>
      </p:sp>
      <p:sp>
        <p:nvSpPr>
          <p:cNvPr id="36" name="AutoShape 36"/>
          <p:cNvSpPr/>
          <p:nvPr/>
        </p:nvSpPr>
        <p:spPr>
          <a:xfrm>
            <a:off x="7302500" y="5765800"/>
            <a:ext cx="4508500" cy="558800"/>
          </a:xfrm>
          <a:prstGeom prst="rect">
            <a:avLst/>
          </a:prstGeom>
          <a:noFill/>
          <a:ln w="12700" cap="flat" cmpd="sng">
            <a:noFill/>
            <a:prstDash val="solid"/>
            <a:round/>
          </a:ln>
        </p:spPr>
        <p:txBody>
          <a:bodyPr vert="horz" wrap="square" lIns="0" tIns="0" rIns="0" bIns="0" rtlCol="0" anchor="t" anchorCtr="0"/>
          <a:lstStyle/>
          <a:p>
            <a:pPr marL="0" indent="0" algn="l">
              <a:lnSpc>
                <a:spcPct val="113000"/>
              </a:lnSpc>
              <a:defRPr/>
            </a:pPr>
            <a:r>
              <a:rPr lang="en-US" sz="1400" b="0" i="0" u="none" strike="noStrike" spc="100">
                <a:solidFill>
                  <a:srgbClr val="FFFFFF">
                    <a:alpha val="94902"/>
                  </a:srgbClr>
                </a:solidFill>
                <a:latin typeface="Noto Sans SC"/>
                <a:ea typeface="Noto Sans SC"/>
                <a:cs typeface="Noto Sans SC"/>
                <a:sym typeface="Noto Sans SC"/>
              </a:rPr>
              <a:t>/api/v1/01_flight_planning/run</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604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2800" b="1" i="0" u="none" strike="noStrike" spc="100">
                <a:solidFill>
                  <a:srgbClr val="1E3A8A"/>
                </a:solidFill>
                <a:latin typeface="Noto Sans SC"/>
                <a:ea typeface="Noto Sans SC"/>
                <a:cs typeface="Noto Sans SC"/>
                <a:sym typeface="Noto Sans SC"/>
              </a:rPr>
              <a:t>02.同步曝光与时间戳对齐</a:t>
            </a:r>
            <a:endParaRPr lang="en-US" sz="1100"/>
          </a:p>
        </p:txBody>
      </p:sp>
      <p:sp>
        <p:nvSpPr>
          <p:cNvPr id="3" name="AutoShape 3"/>
          <p:cNvSpPr/>
          <p:nvPr/>
        </p:nvSpPr>
        <p:spPr>
          <a:xfrm>
            <a:off x="508000" y="1041400"/>
            <a:ext cx="11176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300" b="0" i="0" u="none" strike="noStrike">
                <a:solidFill>
                  <a:srgbClr val="64748B"/>
                </a:solidFill>
                <a:latin typeface="Noto Sans SC"/>
                <a:ea typeface="Noto Sans SC"/>
                <a:cs typeface="Noto Sans SC"/>
                <a:sym typeface="Noto Sans SC"/>
              </a:rPr>
              <a:t>所属层级:L0 ｜ 编号#2 ｜ 辅导材料:算法清单与API</a:t>
            </a:r>
            <a:endParaRPr lang="en-US" sz="1100"/>
          </a:p>
        </p:txBody>
      </p:sp>
      <p:cxnSp>
        <p:nvCxnSpPr>
          <p:cNvPr id="4" name="Connector 4"/>
          <p:cNvCxnSpPr/>
          <p:nvPr/>
        </p:nvCxnSpPr>
        <p:spPr>
          <a:xfrm rot="-3906">
            <a:off x="508004" y="1416050"/>
            <a:ext cx="111760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5" name="AutoShape 5"/>
          <p:cNvSpPr/>
          <p:nvPr/>
        </p:nvSpPr>
        <p:spPr>
          <a:xfrm>
            <a:off x="508000" y="1524000"/>
            <a:ext cx="3619500" cy="19050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508000" y="1524000"/>
            <a:ext cx="50800" cy="1905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711200" y="1524000"/>
            <a:ext cx="323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功能定义</a:t>
            </a:r>
            <a:endParaRPr lang="en-US" sz="1100"/>
          </a:p>
        </p:txBody>
      </p:sp>
      <p:cxnSp>
        <p:nvCxnSpPr>
          <p:cNvPr id="8" name="Connector 8"/>
          <p:cNvCxnSpPr/>
          <p:nvPr/>
        </p:nvCxnSpPr>
        <p:spPr>
          <a:xfrm rot="-13481">
            <a:off x="711212" y="1924050"/>
            <a:ext cx="3238500" cy="12700"/>
          </a:xfrm>
          <a:prstGeom prst="straightConnector1">
            <a:avLst/>
          </a:prstGeom>
          <a:solidFill>
            <a:srgbClr val="DEE0E3">
              <a:alpha val="100000"/>
            </a:srgbClr>
          </a:solidFill>
          <a:ln w="12700" cap="flat" cmpd="sng">
            <a:solidFill>
              <a:srgbClr val="1E3A8A">
                <a:alpha val="10000"/>
              </a:srgbClr>
            </a:solidFill>
            <a:prstDash val="solid"/>
            <a:round/>
            <a:headEnd type="none" w="med" len="med"/>
            <a:tailEnd type="none" w="med" len="med"/>
          </a:ln>
        </p:spPr>
      </p:cxnSp>
      <p:sp>
        <p:nvSpPr>
          <p:cNvPr id="9" name="AutoShape 9"/>
          <p:cNvSpPr/>
          <p:nvPr/>
        </p:nvSpPr>
        <p:spPr>
          <a:xfrm>
            <a:off x="711200" y="1981200"/>
            <a:ext cx="3238500" cy="914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让激光、RGB、POS在时间轴上对齐,避免「图对不上激光」。</a:t>
            </a:r>
            <a:endParaRPr lang="en-US" sz="1100"/>
          </a:p>
        </p:txBody>
      </p:sp>
      <p:sp>
        <p:nvSpPr>
          <p:cNvPr id="10" name="AutoShape 10"/>
          <p:cNvSpPr/>
          <p:nvPr/>
        </p:nvSpPr>
        <p:spPr>
          <a:xfrm>
            <a:off x="4318000" y="1524000"/>
            <a:ext cx="3619500" cy="19050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4318000" y="1524000"/>
            <a:ext cx="50800" cy="1905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4521200" y="1524000"/>
            <a:ext cx="323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方法要点</a:t>
            </a:r>
            <a:endParaRPr lang="en-US" sz="1100"/>
          </a:p>
        </p:txBody>
      </p:sp>
      <p:cxnSp>
        <p:nvCxnSpPr>
          <p:cNvPr id="13" name="Connector 13"/>
          <p:cNvCxnSpPr/>
          <p:nvPr/>
        </p:nvCxnSpPr>
        <p:spPr>
          <a:xfrm rot="-13481">
            <a:off x="4521212" y="1924050"/>
            <a:ext cx="3238500" cy="12700"/>
          </a:xfrm>
          <a:prstGeom prst="straightConnector1">
            <a:avLst/>
          </a:prstGeom>
          <a:solidFill>
            <a:srgbClr val="DEE0E3">
              <a:alpha val="100000"/>
            </a:srgbClr>
          </a:solidFill>
          <a:ln w="12700" cap="flat" cmpd="sng">
            <a:solidFill>
              <a:srgbClr val="1E3A8A">
                <a:alpha val="10000"/>
              </a:srgbClr>
            </a:solidFill>
            <a:prstDash val="solid"/>
            <a:round/>
            <a:headEnd type="none" w="med" len="med"/>
            <a:tailEnd type="none" w="med" len="med"/>
          </a:ln>
        </p:spPr>
      </p:cxnSp>
      <p:sp>
        <p:nvSpPr>
          <p:cNvPr id="14" name="AutoShape 14"/>
          <p:cNvSpPr/>
          <p:nvPr/>
        </p:nvSpPr>
        <p:spPr>
          <a:xfrm>
            <a:off x="4521200" y="1981200"/>
            <a:ext cx="3238500" cy="914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以统一时钟或硬件触发脉冲为基准,对齐激光、RGB、POS各传感器时间戳,建立帧对应关系。</a:t>
            </a:r>
            <a:endParaRPr lang="en-US" sz="1100"/>
          </a:p>
        </p:txBody>
      </p:sp>
      <p:sp>
        <p:nvSpPr>
          <p:cNvPr id="15" name="AutoShape 15"/>
          <p:cNvSpPr/>
          <p:nvPr/>
        </p:nvSpPr>
        <p:spPr>
          <a:xfrm>
            <a:off x="8128000" y="1524000"/>
            <a:ext cx="3619500" cy="19050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8128000" y="1524000"/>
            <a:ext cx="50800" cy="1905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8331200" y="1524000"/>
            <a:ext cx="323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适用场景</a:t>
            </a:r>
            <a:endParaRPr lang="en-US" sz="1100"/>
          </a:p>
        </p:txBody>
      </p:sp>
      <p:cxnSp>
        <p:nvCxnSpPr>
          <p:cNvPr id="18" name="Connector 18"/>
          <p:cNvCxnSpPr/>
          <p:nvPr/>
        </p:nvCxnSpPr>
        <p:spPr>
          <a:xfrm rot="-13481">
            <a:off x="8331212" y="1924050"/>
            <a:ext cx="3238500" cy="12700"/>
          </a:xfrm>
          <a:prstGeom prst="straightConnector1">
            <a:avLst/>
          </a:prstGeom>
          <a:solidFill>
            <a:srgbClr val="DEE0E3">
              <a:alpha val="100000"/>
            </a:srgbClr>
          </a:solidFill>
          <a:ln w="12700" cap="flat" cmpd="sng">
            <a:solidFill>
              <a:srgbClr val="1E3A8A">
                <a:alpha val="10000"/>
              </a:srgbClr>
            </a:solidFill>
            <a:prstDash val="solid"/>
            <a:round/>
            <a:headEnd type="none" w="med" len="med"/>
            <a:tailEnd type="none" w="med" len="med"/>
          </a:ln>
        </p:spPr>
      </p:cxnSp>
      <p:sp>
        <p:nvSpPr>
          <p:cNvPr id="19" name="AutoShape 19"/>
          <p:cNvSpPr/>
          <p:nvPr/>
        </p:nvSpPr>
        <p:spPr>
          <a:xfrm>
            <a:off x="8331200" y="1981200"/>
            <a:ext cx="3238500" cy="914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多传感器载荷同机飞;后续几何与融合的前提。</a:t>
            </a:r>
            <a:endParaRPr lang="en-US" sz="1100"/>
          </a:p>
        </p:txBody>
      </p:sp>
      <p:sp>
        <p:nvSpPr>
          <p:cNvPr id="20" name="AutoShape 20"/>
          <p:cNvSpPr/>
          <p:nvPr/>
        </p:nvSpPr>
        <p:spPr>
          <a:xfrm>
            <a:off x="508000" y="3556000"/>
            <a:ext cx="5588000" cy="1524000"/>
          </a:xfrm>
          <a:prstGeom prst="roundRect">
            <a:avLst>
              <a:gd name="adj" fmla="val 0"/>
            </a:avLst>
          </a:prstGeom>
          <a:solidFill>
            <a:srgbClr val="10B981">
              <a:alpha val="6000"/>
            </a:srgbClr>
          </a:solidFill>
          <a:ln cap="flat" cmpd="sng">
            <a:solidFill>
              <a:srgbClr val="00A06B">
                <a:alpha val="6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508000" y="3556000"/>
            <a:ext cx="50800" cy="1524000"/>
          </a:xfrm>
          <a:prstGeom prst="roundRect">
            <a:avLst>
              <a:gd name="adj" fmla="val 0"/>
            </a:avLst>
          </a:prstGeom>
          <a:solidFill>
            <a:srgbClr val="10B981">
              <a:alpha val="100000"/>
            </a:srgbClr>
          </a:solidFill>
          <a:ln cap="flat" cmpd="sng">
            <a:solidFill>
              <a:srgbClr val="00A06B">
                <a:alpha val="10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711200" y="3556000"/>
            <a:ext cx="520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10B981"/>
                </a:solidFill>
                <a:latin typeface="Noto Sans SC"/>
                <a:ea typeface="Noto Sans SC"/>
                <a:cs typeface="Noto Sans SC"/>
                <a:sym typeface="Noto Sans SC"/>
              </a:rPr>
              <a:t>业务价值</a:t>
            </a:r>
            <a:endParaRPr lang="en-US" sz="1100"/>
          </a:p>
        </p:txBody>
      </p:sp>
      <p:cxnSp>
        <p:nvCxnSpPr>
          <p:cNvPr id="23" name="Connector 23"/>
          <p:cNvCxnSpPr/>
          <p:nvPr/>
        </p:nvCxnSpPr>
        <p:spPr>
          <a:xfrm rot="-8425">
            <a:off x="711208" y="3956050"/>
            <a:ext cx="5181600" cy="12700"/>
          </a:xfrm>
          <a:prstGeom prst="straightConnector1">
            <a:avLst/>
          </a:prstGeom>
          <a:solidFill>
            <a:srgbClr val="DEE0E3">
              <a:alpha val="100000"/>
            </a:srgbClr>
          </a:solidFill>
          <a:ln w="12700" cap="flat" cmpd="sng">
            <a:solidFill>
              <a:srgbClr val="10B981">
                <a:alpha val="18000"/>
              </a:srgbClr>
            </a:solidFill>
            <a:prstDash val="solid"/>
            <a:round/>
            <a:headEnd type="none" w="med" len="med"/>
            <a:tailEnd type="none" w="med" len="med"/>
          </a:ln>
        </p:spPr>
      </p:cxnSp>
      <p:sp>
        <p:nvSpPr>
          <p:cNvPr id="24" name="AutoShape 24"/>
          <p:cNvSpPr/>
          <p:nvPr/>
        </p:nvSpPr>
        <p:spPr>
          <a:xfrm>
            <a:off x="711200" y="4013200"/>
            <a:ext cx="5207000" cy="914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保证多源数据时空一致,避免几何校正阶段因姿态错位导致的误差。</a:t>
            </a:r>
            <a:endParaRPr lang="en-US" sz="1100"/>
          </a:p>
        </p:txBody>
      </p:sp>
      <p:sp>
        <p:nvSpPr>
          <p:cNvPr id="25" name="AutoShape 25"/>
          <p:cNvSpPr/>
          <p:nvPr/>
        </p:nvSpPr>
        <p:spPr>
          <a:xfrm>
            <a:off x="6350000" y="3556000"/>
            <a:ext cx="5588000" cy="1524000"/>
          </a:xfrm>
          <a:prstGeom prst="roundRect">
            <a:avLst>
              <a:gd name="adj" fmla="val 0"/>
            </a:avLst>
          </a:prstGeom>
          <a:solidFill>
            <a:srgbClr val="EF4444">
              <a:alpha val="6000"/>
            </a:srgbClr>
          </a:solidFill>
          <a:ln cap="flat" cmpd="sng">
            <a:solidFill>
              <a:srgbClr val="D52727">
                <a:alpha val="6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6350000" y="3556000"/>
            <a:ext cx="50800" cy="1524000"/>
          </a:xfrm>
          <a:prstGeom prst="roundRect">
            <a:avLst>
              <a:gd name="adj" fmla="val 0"/>
            </a:avLst>
          </a:prstGeom>
          <a:solidFill>
            <a:srgbClr val="EF4444">
              <a:alpha val="100000"/>
            </a:srgbClr>
          </a:solidFill>
          <a:ln cap="flat" cmpd="sng">
            <a:solidFill>
              <a:srgbClr val="D52727">
                <a:alpha val="100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6553200" y="3556000"/>
            <a:ext cx="520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EF4444"/>
                </a:solidFill>
                <a:latin typeface="Noto Sans SC"/>
                <a:ea typeface="Noto Sans SC"/>
                <a:cs typeface="Noto Sans SC"/>
                <a:sym typeface="Noto Sans SC"/>
              </a:rPr>
              <a:t>缺失影响</a:t>
            </a:r>
            <a:endParaRPr lang="en-US" sz="1100"/>
          </a:p>
        </p:txBody>
      </p:sp>
      <p:cxnSp>
        <p:nvCxnSpPr>
          <p:cNvPr id="28" name="Connector 28"/>
          <p:cNvCxnSpPr/>
          <p:nvPr/>
        </p:nvCxnSpPr>
        <p:spPr>
          <a:xfrm rot="-8425">
            <a:off x="6553208" y="3956050"/>
            <a:ext cx="5181600" cy="12700"/>
          </a:xfrm>
          <a:prstGeom prst="straightConnector1">
            <a:avLst/>
          </a:prstGeom>
          <a:solidFill>
            <a:srgbClr val="DEE0E3">
              <a:alpha val="100000"/>
            </a:srgbClr>
          </a:solidFill>
          <a:ln w="12700" cap="flat" cmpd="sng">
            <a:solidFill>
              <a:srgbClr val="EF4444">
                <a:alpha val="18000"/>
              </a:srgbClr>
            </a:solidFill>
            <a:prstDash val="solid"/>
            <a:round/>
            <a:headEnd type="none" w="med" len="med"/>
            <a:tailEnd type="none" w="med" len="med"/>
          </a:ln>
        </p:spPr>
      </p:cxnSp>
      <p:sp>
        <p:nvSpPr>
          <p:cNvPr id="29" name="AutoShape 29"/>
          <p:cNvSpPr/>
          <p:nvPr/>
        </p:nvSpPr>
        <p:spPr>
          <a:xfrm>
            <a:off x="6553200" y="4013200"/>
            <a:ext cx="5207000" cy="914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时间对齐将导致正射偏移、镶嵌错位,后续排查成本高。</a:t>
            </a:r>
            <a:endParaRPr lang="en-US" sz="1100"/>
          </a:p>
        </p:txBody>
      </p:sp>
      <p:cxnSp>
        <p:nvCxnSpPr>
          <p:cNvPr id="30" name="Connector 30"/>
          <p:cNvCxnSpPr/>
          <p:nvPr/>
        </p:nvCxnSpPr>
        <p:spPr>
          <a:xfrm rot="-3906">
            <a:off x="508004" y="5264150"/>
            <a:ext cx="11176000" cy="12700"/>
          </a:xfrm>
          <a:prstGeom prst="straightConnector1">
            <a:avLst/>
          </a:prstGeom>
          <a:solidFill>
            <a:srgbClr val="DEE0E3">
              <a:alpha val="100000"/>
            </a:srgbClr>
          </a:solidFill>
          <a:ln w="12700" cap="flat" cmpd="sng">
            <a:solidFill>
              <a:srgbClr val="1E3A8A">
                <a:alpha val="10000"/>
              </a:srgbClr>
            </a:solidFill>
            <a:prstDash val="dash"/>
            <a:round/>
            <a:headEnd type="none" w="med" len="med"/>
            <a:tailEnd type="none" w="med" len="med"/>
          </a:ln>
        </p:spPr>
      </p:cxnSp>
      <p:sp>
        <p:nvSpPr>
          <p:cNvPr id="31" name="AutoShape 31"/>
          <p:cNvSpPr/>
          <p:nvPr/>
        </p:nvSpPr>
        <p:spPr>
          <a:xfrm>
            <a:off x="508000" y="5359400"/>
            <a:ext cx="1524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1" i="0" u="none" strike="noStrike">
                <a:solidFill>
                  <a:srgbClr val="1E3A8A"/>
                </a:solidFill>
                <a:latin typeface="Noto Sans SC"/>
                <a:ea typeface="Noto Sans SC"/>
                <a:cs typeface="Noto Sans SC"/>
                <a:sym typeface="Noto Sans SC"/>
              </a:rPr>
              <a:t>流程位置</a:t>
            </a:r>
            <a:endParaRPr lang="en-US" sz="1100"/>
          </a:p>
        </p:txBody>
      </p:sp>
      <p:sp>
        <p:nvSpPr>
          <p:cNvPr id="32" name="AutoShape 32"/>
          <p:cNvSpPr/>
          <p:nvPr/>
        </p:nvSpPr>
        <p:spPr>
          <a:xfrm>
            <a:off x="2159000" y="5359400"/>
            <a:ext cx="1651000" cy="381000"/>
          </a:xfrm>
          <a:prstGeom prst="roundRect">
            <a:avLst>
              <a:gd name="adj" fmla="val 0"/>
            </a:avLst>
          </a:prstGeom>
          <a:solidFill>
            <a:srgbClr val="1E3A8A">
              <a:alpha val="8000"/>
            </a:srgbClr>
          </a:solidFill>
          <a:ln cap="flat" cmpd="sng">
            <a:solidFill>
              <a:srgbClr val="0D2771">
                <a:alpha val="8000"/>
              </a:srgbClr>
            </a:solidFill>
            <a:prstDash val="solid"/>
            <a:round/>
          </a:ln>
        </p:spPr>
        <p:txBody>
          <a:bodyPr vert="horz" wrap="square" lIns="63500" tIns="63500" rIns="63500" bIns="63500" rtlCol="0" anchor="ctr"/>
          <a:lstStyle/>
          <a:p>
            <a:pPr algn="ctr">
              <a:defRPr/>
            </a:pPr>
          </a:p>
        </p:txBody>
      </p:sp>
      <p:sp>
        <p:nvSpPr>
          <p:cNvPr id="33" name="AutoShape 33"/>
          <p:cNvSpPr/>
          <p:nvPr/>
        </p:nvSpPr>
        <p:spPr>
          <a:xfrm>
            <a:off x="2159000" y="5359400"/>
            <a:ext cx="1651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300" b="0" i="0" u="none" strike="noStrike">
                <a:solidFill>
                  <a:srgbClr val="334155"/>
                </a:solidFill>
                <a:latin typeface="Noto Sans SC"/>
                <a:ea typeface="Noto Sans SC"/>
                <a:cs typeface="Noto Sans SC"/>
                <a:sym typeface="Noto Sans SC"/>
              </a:rPr>
              <a:t>多传感器采集</a:t>
            </a:r>
            <a:endParaRPr lang="en-US" sz="1100"/>
          </a:p>
        </p:txBody>
      </p:sp>
      <p:cxnSp>
        <p:nvCxnSpPr>
          <p:cNvPr id="34" name="Connector 34"/>
          <p:cNvCxnSpPr/>
          <p:nvPr/>
        </p:nvCxnSpPr>
        <p:spPr>
          <a:xfrm rot="-114549">
            <a:off x="3835506" y="5543550"/>
            <a:ext cx="381000" cy="12700"/>
          </a:xfrm>
          <a:prstGeom prst="straightConnector1">
            <a:avLst/>
          </a:prstGeom>
          <a:solidFill>
            <a:srgbClr val="DEE0E3">
              <a:alpha val="100000"/>
            </a:srgbClr>
          </a:solidFill>
          <a:ln w="25400" cap="flat" cmpd="sng">
            <a:solidFill>
              <a:srgbClr val="1E3A8A">
                <a:alpha val="55000"/>
              </a:srgbClr>
            </a:solidFill>
            <a:prstDash val="solid"/>
            <a:round/>
            <a:headEnd type="none" w="lg" len="lg"/>
            <a:tailEnd type="arrow" w="med" len="med"/>
          </a:ln>
        </p:spPr>
      </p:cxnSp>
      <p:sp>
        <p:nvSpPr>
          <p:cNvPr id="35" name="AutoShape 35"/>
          <p:cNvSpPr/>
          <p:nvPr/>
        </p:nvSpPr>
        <p:spPr>
          <a:xfrm>
            <a:off x="4254500" y="5359400"/>
            <a:ext cx="1651000" cy="381000"/>
          </a:xfrm>
          <a:prstGeom prst="roundRect">
            <a:avLst>
              <a:gd name="adj" fmla="val 0"/>
            </a:avLst>
          </a:prstGeom>
          <a:solidFill>
            <a:srgbClr val="1E3A8A">
              <a:alpha val="18000"/>
            </a:srgbClr>
          </a:solidFill>
          <a:ln cap="flat" cmpd="sng">
            <a:solidFill>
              <a:srgbClr val="0D2771">
                <a:alpha val="18000"/>
              </a:srgbClr>
            </a:solidFill>
            <a:prstDash val="solid"/>
            <a:round/>
          </a:ln>
        </p:spPr>
        <p:txBody>
          <a:bodyPr vert="horz" wrap="square" lIns="63500" tIns="63500" rIns="63500" bIns="63500" rtlCol="0" anchor="ctr"/>
          <a:lstStyle/>
          <a:p>
            <a:pPr algn="ctr">
              <a:defRPr/>
            </a:pPr>
          </a:p>
        </p:txBody>
      </p:sp>
      <p:sp>
        <p:nvSpPr>
          <p:cNvPr id="36" name="AutoShape 36"/>
          <p:cNvSpPr/>
          <p:nvPr/>
        </p:nvSpPr>
        <p:spPr>
          <a:xfrm>
            <a:off x="4254500" y="5359400"/>
            <a:ext cx="1651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300" b="1" i="0" u="none" strike="noStrike">
                <a:solidFill>
                  <a:srgbClr val="1E3A8A"/>
                </a:solidFill>
                <a:latin typeface="Noto Sans SC"/>
                <a:ea typeface="Noto Sans SC"/>
                <a:cs typeface="Noto Sans SC"/>
                <a:sym typeface="Noto Sans SC"/>
              </a:rPr>
              <a:t>#3 POS解算</a:t>
            </a:r>
            <a:endParaRPr lang="en-US" sz="1100"/>
          </a:p>
        </p:txBody>
      </p:sp>
      <p:cxnSp>
        <p:nvCxnSpPr>
          <p:cNvPr id="37" name="Connector 37"/>
          <p:cNvCxnSpPr/>
          <p:nvPr/>
        </p:nvCxnSpPr>
        <p:spPr>
          <a:xfrm rot="-114549">
            <a:off x="5931006" y="5543550"/>
            <a:ext cx="381000" cy="12700"/>
          </a:xfrm>
          <a:prstGeom prst="straightConnector1">
            <a:avLst/>
          </a:prstGeom>
          <a:solidFill>
            <a:srgbClr val="DEE0E3">
              <a:alpha val="100000"/>
            </a:srgbClr>
          </a:solidFill>
          <a:ln w="25400" cap="flat" cmpd="sng">
            <a:solidFill>
              <a:srgbClr val="1E3A8A">
                <a:alpha val="55000"/>
              </a:srgbClr>
            </a:solidFill>
            <a:prstDash val="solid"/>
            <a:round/>
            <a:headEnd type="none" w="lg" len="lg"/>
            <a:tailEnd type="arrow" w="med" len="med"/>
          </a:ln>
        </p:spPr>
      </p:cxnSp>
      <p:sp>
        <p:nvSpPr>
          <p:cNvPr id="38" name="AutoShape 38"/>
          <p:cNvSpPr/>
          <p:nvPr/>
        </p:nvSpPr>
        <p:spPr>
          <a:xfrm>
            <a:off x="6350000" y="5359400"/>
            <a:ext cx="1651000" cy="381000"/>
          </a:xfrm>
          <a:prstGeom prst="roundRect">
            <a:avLst>
              <a:gd name="adj" fmla="val 0"/>
            </a:avLst>
          </a:prstGeom>
          <a:solidFill>
            <a:srgbClr val="1E3A8A">
              <a:alpha val="8000"/>
            </a:srgbClr>
          </a:solidFill>
          <a:ln cap="flat" cmpd="sng">
            <a:solidFill>
              <a:srgbClr val="0D2771">
                <a:alpha val="8000"/>
              </a:srgbClr>
            </a:solidFill>
            <a:prstDash val="solid"/>
            <a:round/>
          </a:ln>
        </p:spPr>
        <p:txBody>
          <a:bodyPr vert="horz" wrap="square" lIns="63500" tIns="63500" rIns="63500" bIns="63500" rtlCol="0" anchor="ctr"/>
          <a:lstStyle/>
          <a:p>
            <a:pPr algn="ctr">
              <a:defRPr/>
            </a:pPr>
          </a:p>
        </p:txBody>
      </p:sp>
      <p:sp>
        <p:nvSpPr>
          <p:cNvPr id="39" name="AutoShape 39"/>
          <p:cNvSpPr/>
          <p:nvPr/>
        </p:nvSpPr>
        <p:spPr>
          <a:xfrm>
            <a:off x="6350000" y="5359400"/>
            <a:ext cx="1651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300" b="0" i="0" u="none" strike="noStrike">
                <a:solidFill>
                  <a:srgbClr val="334155"/>
                </a:solidFill>
                <a:latin typeface="Noto Sans SC"/>
                <a:ea typeface="Noto Sans SC"/>
                <a:cs typeface="Noto Sans SC"/>
                <a:sym typeface="Noto Sans SC"/>
              </a:rPr>
              <a:t>几何处理</a:t>
            </a:r>
            <a:endParaRPr lang="en-US" sz="1100"/>
          </a:p>
        </p:txBody>
      </p:sp>
      <p:sp>
        <p:nvSpPr>
          <p:cNvPr id="40" name="AutoShape 40"/>
          <p:cNvSpPr/>
          <p:nvPr/>
        </p:nvSpPr>
        <p:spPr>
          <a:xfrm>
            <a:off x="8128000" y="5359400"/>
            <a:ext cx="114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1" i="0" u="none" strike="noStrike">
                <a:solidFill>
                  <a:srgbClr val="1E3A8A"/>
                </a:solidFill>
                <a:latin typeface="Noto Sans SC"/>
                <a:ea typeface="Noto Sans SC"/>
                <a:cs typeface="Noto Sans SC"/>
                <a:sym typeface="Noto Sans SC"/>
              </a:rPr>
              <a:t>关联算法</a:t>
            </a:r>
            <a:endParaRPr lang="en-US" sz="1100"/>
          </a:p>
        </p:txBody>
      </p:sp>
      <p:sp>
        <p:nvSpPr>
          <p:cNvPr id="41" name="AutoShape 41"/>
          <p:cNvSpPr/>
          <p:nvPr/>
        </p:nvSpPr>
        <p:spPr>
          <a:xfrm>
            <a:off x="9296400" y="5359400"/>
            <a:ext cx="24765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200" b="0" i="0" u="none" strike="noStrike">
                <a:solidFill>
                  <a:srgbClr val="475569"/>
                </a:solidFill>
                <a:latin typeface="Noto Sans SC"/>
                <a:ea typeface="Noto Sans SC"/>
                <a:cs typeface="Noto Sans SC"/>
                <a:sym typeface="Noto Sans SC"/>
              </a:rPr>
              <a:t>#3 POS解算 · #15地理定位 · #19多源配准</a:t>
            </a:r>
            <a:endParaRPr lang="en-US" sz="1100"/>
          </a:p>
        </p:txBody>
      </p:sp>
      <p:sp>
        <p:nvSpPr>
          <p:cNvPr id="42" name="AutoShape 42"/>
          <p:cNvSpPr/>
          <p:nvPr/>
        </p:nvSpPr>
        <p:spPr>
          <a:xfrm>
            <a:off x="508000" y="5943600"/>
            <a:ext cx="11176000" cy="5842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43" name="AutoShape 43"/>
          <p:cNvSpPr/>
          <p:nvPr/>
        </p:nvSpPr>
        <p:spPr>
          <a:xfrm>
            <a:off x="508000" y="5943600"/>
            <a:ext cx="50800" cy="5842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44" name="AutoShape 44"/>
          <p:cNvSpPr/>
          <p:nvPr/>
        </p:nvSpPr>
        <p:spPr>
          <a:xfrm>
            <a:off x="711200" y="5943600"/>
            <a:ext cx="1143000" cy="584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1" i="0" u="none" strike="noStrike">
                <a:solidFill>
                  <a:srgbClr val="1E3A8A"/>
                </a:solidFill>
                <a:latin typeface="Noto Sans SC"/>
                <a:ea typeface="Noto Sans SC"/>
                <a:cs typeface="Noto Sans SC"/>
                <a:sym typeface="Noto Sans SC"/>
              </a:rPr>
              <a:t>[API]</a:t>
            </a:r>
            <a:endParaRPr lang="en-US" sz="1100"/>
          </a:p>
        </p:txBody>
      </p:sp>
      <p:sp>
        <p:nvSpPr>
          <p:cNvPr id="45" name="AutoShape 45"/>
          <p:cNvSpPr/>
          <p:nvPr/>
        </p:nvSpPr>
        <p:spPr>
          <a:xfrm>
            <a:off x="1905000" y="5943600"/>
            <a:ext cx="9398000" cy="584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500" b="0" i="0" u="none" strike="noStrike">
                <a:solidFill>
                  <a:srgbClr val="334155"/>
                </a:solidFill>
                <a:latin typeface="Noto Sans SC"/>
                <a:ea typeface="Noto Sans SC"/>
                <a:cs typeface="Noto Sans SC"/>
                <a:sym typeface="Noto Sans SC"/>
              </a:rPr>
              <a:t>/api/v1/02_timestamp/run</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0160000" cy="5842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2800" b="1" i="0" u="none" strike="noStrike" spc="100">
                <a:solidFill>
                  <a:srgbClr val="1E3A8A"/>
                </a:solidFill>
                <a:latin typeface="Noto Sans SC"/>
                <a:ea typeface="Noto Sans SC"/>
                <a:cs typeface="Noto Sans SC"/>
                <a:sym typeface="Noto Sans SC"/>
              </a:rPr>
              <a:t>03.POS解算(GPS+IMU)</a:t>
            </a:r>
            <a:endParaRPr lang="en-US" sz="1100"/>
          </a:p>
        </p:txBody>
      </p:sp>
      <p:sp>
        <p:nvSpPr>
          <p:cNvPr id="3" name="AutoShape 3"/>
          <p:cNvSpPr/>
          <p:nvPr/>
        </p:nvSpPr>
        <p:spPr>
          <a:xfrm>
            <a:off x="508000" y="1016000"/>
            <a:ext cx="10160000" cy="2794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200" b="0" i="0" u="none" strike="noStrike" spc="50">
                <a:solidFill>
                  <a:srgbClr val="64748B"/>
                </a:solidFill>
                <a:latin typeface="Noto Sans SC"/>
                <a:ea typeface="Noto Sans SC"/>
                <a:cs typeface="Noto Sans SC"/>
                <a:sym typeface="Noto Sans SC"/>
              </a:rPr>
              <a:t>所属层级:L0 ｜ 编号#3 ｜ 辅导材料:算法清单与API</a:t>
            </a:r>
            <a:endParaRPr lang="en-US" sz="1100"/>
          </a:p>
        </p:txBody>
      </p:sp>
      <p:cxnSp>
        <p:nvCxnSpPr>
          <p:cNvPr id="4" name="Connector 4"/>
          <p:cNvCxnSpPr/>
          <p:nvPr/>
        </p:nvCxnSpPr>
        <p:spPr>
          <a:xfrm rot="-3906">
            <a:off x="508004" y="1416050"/>
            <a:ext cx="111760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5" name="AutoShape 5"/>
          <p:cNvSpPr/>
          <p:nvPr/>
        </p:nvSpPr>
        <p:spPr>
          <a:xfrm>
            <a:off x="508000" y="1549400"/>
            <a:ext cx="7048500" cy="10414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508000" y="1549400"/>
            <a:ext cx="50800" cy="1041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762000" y="1549400"/>
            <a:ext cx="6604000" cy="3048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700" b="1" i="0" u="none" strike="noStrike" spc="100">
                <a:solidFill>
                  <a:srgbClr val="1E3A8A"/>
                </a:solidFill>
                <a:latin typeface="Noto Sans SC"/>
                <a:ea typeface="Noto Sans SC"/>
                <a:cs typeface="Noto Sans SC"/>
                <a:sym typeface="Noto Sans SC"/>
              </a:rPr>
              <a:t>功能定义</a:t>
            </a:r>
            <a:endParaRPr lang="en-US" sz="1100"/>
          </a:p>
        </p:txBody>
      </p:sp>
      <p:sp>
        <p:nvSpPr>
          <p:cNvPr id="8" name="AutoShape 8"/>
          <p:cNvSpPr/>
          <p:nvPr/>
        </p:nvSpPr>
        <p:spPr>
          <a:xfrm>
            <a:off x="762000" y="1905000"/>
            <a:ext cx="6667500" cy="584200"/>
          </a:xfrm>
          <a:prstGeom prst="rect">
            <a:avLst/>
          </a:prstGeom>
          <a:noFill/>
          <a:ln w="12700" cap="flat" cmpd="sng">
            <a:noFill/>
            <a:prstDash val="solid"/>
            <a:round/>
          </a:ln>
        </p:spPr>
        <p:txBody>
          <a:bodyPr vert="horz" wrap="square" lIns="0" tIns="0" rIns="0" bIns="0" rtlCol="0" anchor="t" anchorCtr="0"/>
          <a:lstStyle/>
          <a:p>
            <a:pPr marL="0" indent="0" algn="l">
              <a:lnSpc>
                <a:spcPct val="121000"/>
              </a:lnSpc>
              <a:defRPr/>
            </a:pPr>
            <a:r>
              <a:rPr lang="en-US" sz="1400" b="0" i="0" u="none" strike="noStrike">
                <a:solidFill>
                  <a:srgbClr val="334155"/>
                </a:solidFill>
                <a:latin typeface="Noto Sans SC"/>
                <a:ea typeface="Noto Sans SC"/>
                <a:cs typeface="Noto Sans SC"/>
                <a:sym typeface="Noto Sans SC"/>
              </a:rPr>
              <a:t>解算每帧/每条带的位置与姿态(POS);IMU提供姿态与加速度。</a:t>
            </a:r>
            <a:endParaRPr lang="en-US" sz="1100"/>
          </a:p>
        </p:txBody>
      </p:sp>
      <p:sp>
        <p:nvSpPr>
          <p:cNvPr id="9" name="AutoShape 9"/>
          <p:cNvSpPr/>
          <p:nvPr/>
        </p:nvSpPr>
        <p:spPr>
          <a:xfrm>
            <a:off x="508000" y="2692400"/>
            <a:ext cx="7048500" cy="10414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508000" y="2692400"/>
            <a:ext cx="50800" cy="1041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762000" y="2692400"/>
            <a:ext cx="6604000" cy="3048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700" b="1" i="0" u="none" strike="noStrike" spc="100">
                <a:solidFill>
                  <a:srgbClr val="1E3A8A"/>
                </a:solidFill>
                <a:latin typeface="Noto Sans SC"/>
                <a:ea typeface="Noto Sans SC"/>
                <a:cs typeface="Noto Sans SC"/>
                <a:sym typeface="Noto Sans SC"/>
              </a:rPr>
              <a:t>方法要点</a:t>
            </a:r>
            <a:endParaRPr lang="en-US" sz="1100"/>
          </a:p>
        </p:txBody>
      </p:sp>
      <p:sp>
        <p:nvSpPr>
          <p:cNvPr id="12" name="AutoShape 12"/>
          <p:cNvSpPr/>
          <p:nvPr/>
        </p:nvSpPr>
        <p:spPr>
          <a:xfrm>
            <a:off x="762000" y="3048000"/>
            <a:ext cx="6667500" cy="584200"/>
          </a:xfrm>
          <a:prstGeom prst="rect">
            <a:avLst/>
          </a:prstGeom>
          <a:noFill/>
          <a:ln w="12700" cap="flat" cmpd="sng">
            <a:noFill/>
            <a:prstDash val="solid"/>
            <a:round/>
          </a:ln>
        </p:spPr>
        <p:txBody>
          <a:bodyPr vert="horz" wrap="square" lIns="0" tIns="0" rIns="0" bIns="0" rtlCol="0" anchor="t" anchorCtr="0"/>
          <a:lstStyle/>
          <a:p>
            <a:pPr marL="0" indent="0" algn="l">
              <a:lnSpc>
                <a:spcPct val="121000"/>
              </a:lnSpc>
              <a:defRPr/>
            </a:pPr>
            <a:r>
              <a:rPr lang="en-US" sz="1400" b="0" i="0" u="none" strike="noStrike">
                <a:solidFill>
                  <a:srgbClr val="334155"/>
                </a:solidFill>
                <a:latin typeface="Noto Sans SC"/>
                <a:ea typeface="Noto Sans SC"/>
                <a:cs typeface="Noto Sans SC"/>
                <a:sym typeface="Noto Sans SC"/>
              </a:rPr>
              <a:t>融合GPS轨迹与IMU角度/加速度(可选差分基站),解算插值位置(x,y,z)与姿态角。</a:t>
            </a:r>
            <a:endParaRPr lang="en-US" sz="1100"/>
          </a:p>
        </p:txBody>
      </p:sp>
      <p:sp>
        <p:nvSpPr>
          <p:cNvPr id="13" name="AutoShape 13"/>
          <p:cNvSpPr/>
          <p:nvPr/>
        </p:nvSpPr>
        <p:spPr>
          <a:xfrm>
            <a:off x="508000" y="3835400"/>
            <a:ext cx="7048500" cy="10414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508000" y="3835400"/>
            <a:ext cx="50800" cy="1041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762000" y="3835400"/>
            <a:ext cx="6604000" cy="3048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700" b="1" i="0" u="none" strike="noStrike" spc="100">
                <a:solidFill>
                  <a:srgbClr val="1E3A8A"/>
                </a:solidFill>
                <a:latin typeface="Noto Sans SC"/>
                <a:ea typeface="Noto Sans SC"/>
                <a:cs typeface="Noto Sans SC"/>
                <a:sym typeface="Noto Sans SC"/>
              </a:rPr>
              <a:t>适用场景</a:t>
            </a:r>
            <a:endParaRPr lang="en-US" sz="1100"/>
          </a:p>
        </p:txBody>
      </p:sp>
      <p:sp>
        <p:nvSpPr>
          <p:cNvPr id="16" name="AutoShape 16"/>
          <p:cNvSpPr/>
          <p:nvPr/>
        </p:nvSpPr>
        <p:spPr>
          <a:xfrm>
            <a:off x="762000" y="4191000"/>
            <a:ext cx="6667500" cy="584200"/>
          </a:xfrm>
          <a:prstGeom prst="rect">
            <a:avLst/>
          </a:prstGeom>
          <a:noFill/>
          <a:ln w="12700" cap="flat" cmpd="sng">
            <a:noFill/>
            <a:prstDash val="solid"/>
            <a:round/>
          </a:ln>
        </p:spPr>
        <p:txBody>
          <a:bodyPr vert="horz" wrap="square" lIns="0" tIns="0" rIns="0" bIns="0" rtlCol="0" anchor="t" anchorCtr="0"/>
          <a:lstStyle/>
          <a:p>
            <a:pPr marL="0" indent="0" algn="l">
              <a:lnSpc>
                <a:spcPct val="121000"/>
              </a:lnSpc>
              <a:defRPr/>
            </a:pPr>
            <a:r>
              <a:rPr lang="en-US" sz="1400" b="0" i="0" u="none" strike="noStrike">
                <a:solidFill>
                  <a:srgbClr val="334155"/>
                </a:solidFill>
                <a:latin typeface="Noto Sans SC"/>
                <a:ea typeface="Noto Sans SC"/>
                <a:cs typeface="Noto Sans SC"/>
                <a:sym typeface="Noto Sans SC"/>
              </a:rPr>
              <a:t>所有需要正射、镶嵌、上地图的飞行任务。</a:t>
            </a:r>
            <a:endParaRPr lang="en-US" sz="1100"/>
          </a:p>
        </p:txBody>
      </p:sp>
      <p:sp>
        <p:nvSpPr>
          <p:cNvPr id="17" name="AutoShape 17"/>
          <p:cNvSpPr/>
          <p:nvPr/>
        </p:nvSpPr>
        <p:spPr>
          <a:xfrm>
            <a:off x="508000" y="4978400"/>
            <a:ext cx="7048500" cy="10414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508000" y="4978400"/>
            <a:ext cx="50800" cy="1041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762000" y="4978400"/>
            <a:ext cx="6604000" cy="3048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700" b="1" i="0" u="none" strike="noStrike" spc="100">
                <a:solidFill>
                  <a:srgbClr val="1E3A8A"/>
                </a:solidFill>
                <a:latin typeface="Noto Sans SC"/>
                <a:ea typeface="Noto Sans SC"/>
                <a:cs typeface="Noto Sans SC"/>
                <a:sym typeface="Noto Sans SC"/>
              </a:rPr>
              <a:t>业务价值</a:t>
            </a:r>
            <a:endParaRPr lang="en-US" sz="1100"/>
          </a:p>
        </p:txBody>
      </p:sp>
      <p:sp>
        <p:nvSpPr>
          <p:cNvPr id="20" name="AutoShape 20"/>
          <p:cNvSpPr/>
          <p:nvPr/>
        </p:nvSpPr>
        <p:spPr>
          <a:xfrm>
            <a:off x="762000" y="5334000"/>
            <a:ext cx="6667500" cy="584200"/>
          </a:xfrm>
          <a:prstGeom prst="rect">
            <a:avLst/>
          </a:prstGeom>
          <a:noFill/>
          <a:ln w="12700" cap="flat" cmpd="sng">
            <a:noFill/>
            <a:prstDash val="solid"/>
            <a:round/>
          </a:ln>
        </p:spPr>
        <p:txBody>
          <a:bodyPr vert="horz" wrap="square" lIns="0" tIns="0" rIns="0" bIns="0" rtlCol="0" anchor="t" anchorCtr="0"/>
          <a:lstStyle/>
          <a:p>
            <a:pPr marL="0" indent="0" algn="l">
              <a:lnSpc>
                <a:spcPct val="121000"/>
              </a:lnSpc>
              <a:defRPr/>
            </a:pPr>
            <a:r>
              <a:rPr lang="en-US" sz="1400" b="0" i="0" u="none" strike="noStrike">
                <a:solidFill>
                  <a:srgbClr val="334155"/>
                </a:solidFill>
                <a:latin typeface="Noto Sans SC"/>
                <a:ea typeface="Noto Sans SC"/>
                <a:cs typeface="Noto Sans SC"/>
                <a:sym typeface="Noto Sans SC"/>
              </a:rPr>
              <a:t>为几何定位与正射校正提供外方位元素,使影像具备地理参考基础。</a:t>
            </a:r>
            <a:endParaRPr lang="en-US" sz="1100"/>
          </a:p>
        </p:txBody>
      </p:sp>
      <p:sp>
        <p:nvSpPr>
          <p:cNvPr id="21" name="AutoShape 21"/>
          <p:cNvSpPr/>
          <p:nvPr/>
        </p:nvSpPr>
        <p:spPr>
          <a:xfrm>
            <a:off x="7810500" y="1549400"/>
            <a:ext cx="3937000" cy="1930400"/>
          </a:xfrm>
          <a:prstGeom prst="roundRect">
            <a:avLst>
              <a:gd name="adj" fmla="val 0"/>
            </a:avLst>
          </a:prstGeom>
          <a:solidFill>
            <a:srgbClr val="F59E0B">
              <a:alpha val="9000"/>
            </a:srgbClr>
          </a:solidFill>
          <a:ln cap="flat" cmpd="sng">
            <a:solidFill>
              <a:srgbClr val="DC8A00">
                <a:alpha val="9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7810500" y="1549400"/>
            <a:ext cx="50800" cy="1930400"/>
          </a:xfrm>
          <a:prstGeom prst="roundRect">
            <a:avLst>
              <a:gd name="adj" fmla="val 0"/>
            </a:avLst>
          </a:prstGeom>
          <a:solidFill>
            <a:srgbClr val="F59E0B">
              <a:alpha val="100000"/>
            </a:srgbClr>
          </a:solidFill>
          <a:ln cap="flat" cmpd="sng">
            <a:solidFill>
              <a:srgbClr val="DC8A00">
                <a:alpha val="10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8064500" y="1549400"/>
            <a:ext cx="3556000" cy="3302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700" b="1" i="0" u="none" strike="noStrike" spc="100">
                <a:solidFill>
                  <a:srgbClr val="F59E0B"/>
                </a:solidFill>
                <a:latin typeface="Noto Sans SC"/>
                <a:ea typeface="Noto Sans SC"/>
                <a:cs typeface="Noto Sans SC"/>
                <a:sym typeface="Noto Sans SC"/>
              </a:rPr>
              <a:t>缺失影响</a:t>
            </a:r>
            <a:endParaRPr lang="en-US" sz="1100"/>
          </a:p>
        </p:txBody>
      </p:sp>
      <p:sp>
        <p:nvSpPr>
          <p:cNvPr id="24" name="AutoShape 24"/>
          <p:cNvSpPr/>
          <p:nvPr/>
        </p:nvSpPr>
        <p:spPr>
          <a:xfrm>
            <a:off x="8064500" y="1955800"/>
            <a:ext cx="3556000" cy="8382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34155"/>
                </a:solidFill>
                <a:latin typeface="Noto Sans SC"/>
                <a:ea typeface="Noto Sans SC"/>
                <a:cs typeface="Noto Sans SC"/>
                <a:sym typeface="Noto Sans SC"/>
              </a:rPr>
              <a:t>无POS数据则无法正射与量测面积,数据仅能作为零地距影像查看。</a:t>
            </a:r>
            <a:endParaRPr lang="en-US" sz="1100"/>
          </a:p>
        </p:txBody>
      </p:sp>
      <p:sp>
        <p:nvSpPr>
          <p:cNvPr id="25" name="AutoShape 25"/>
          <p:cNvSpPr/>
          <p:nvPr/>
        </p:nvSpPr>
        <p:spPr>
          <a:xfrm>
            <a:off x="7810500" y="3683000"/>
            <a:ext cx="3937000" cy="23368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7810500" y="3683000"/>
            <a:ext cx="50800" cy="23368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8064500" y="3683000"/>
            <a:ext cx="3556000" cy="3302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700" b="1" i="0" u="none" strike="noStrike" spc="100">
                <a:solidFill>
                  <a:srgbClr val="1E3A8A"/>
                </a:solidFill>
                <a:latin typeface="Noto Sans SC"/>
                <a:ea typeface="Noto Sans SC"/>
                <a:cs typeface="Noto Sans SC"/>
                <a:sym typeface="Noto Sans SC"/>
              </a:rPr>
              <a:t>流程位置与关联</a:t>
            </a:r>
            <a:endParaRPr lang="en-US" sz="1100"/>
          </a:p>
        </p:txBody>
      </p:sp>
      <p:sp>
        <p:nvSpPr>
          <p:cNvPr id="28" name="AutoShape 28"/>
          <p:cNvSpPr/>
          <p:nvPr/>
        </p:nvSpPr>
        <p:spPr>
          <a:xfrm>
            <a:off x="8064500" y="4064000"/>
            <a:ext cx="3556000" cy="2286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1" i="0" u="none" strike="noStrike">
                <a:solidFill>
                  <a:srgbClr val="475569"/>
                </a:solidFill>
                <a:latin typeface="Noto Sans SC"/>
                <a:ea typeface="Noto Sans SC"/>
                <a:cs typeface="Noto Sans SC"/>
                <a:sym typeface="Noto Sans SC"/>
              </a:rPr>
              <a:t>在哪个环节</a:t>
            </a:r>
            <a:endParaRPr lang="en-US" sz="1100"/>
          </a:p>
        </p:txBody>
      </p:sp>
      <p:sp>
        <p:nvSpPr>
          <p:cNvPr id="29" name="AutoShape 29"/>
          <p:cNvSpPr/>
          <p:nvPr/>
        </p:nvSpPr>
        <p:spPr>
          <a:xfrm>
            <a:off x="8064500" y="4318000"/>
            <a:ext cx="3619500" cy="431800"/>
          </a:xfrm>
          <a:prstGeom prst="rect">
            <a:avLst/>
          </a:prstGeom>
          <a:noFill/>
          <a:ln w="12700" cap="flat" cmpd="sng">
            <a:noFill/>
            <a:prstDash val="solid"/>
            <a:round/>
          </a:ln>
        </p:spPr>
        <p:txBody>
          <a:bodyPr vert="horz" wrap="square" lIns="0" tIns="0" rIns="0" bIns="0" rtlCol="0" anchor="t" anchorCtr="0"/>
          <a:lstStyle/>
          <a:p>
            <a:pPr marL="0" indent="0" algn="l">
              <a:lnSpc>
                <a:spcPct val="113000"/>
              </a:lnSpc>
              <a:defRPr/>
            </a:pPr>
            <a:r>
              <a:rPr lang="en-US" sz="1200" b="0" i="0" u="none" strike="noStrike">
                <a:solidFill>
                  <a:srgbClr val="334155"/>
                </a:solidFill>
                <a:latin typeface="Noto Sans SC"/>
                <a:ea typeface="Noto Sans SC"/>
                <a:cs typeface="Noto Sans SC"/>
                <a:sym typeface="Noto Sans SC"/>
              </a:rPr>
              <a:t>L0原始数据 → #15几何粗校正 → #16正射校正</a:t>
            </a:r>
            <a:endParaRPr lang="en-US" sz="1100"/>
          </a:p>
        </p:txBody>
      </p:sp>
      <p:sp>
        <p:nvSpPr>
          <p:cNvPr id="30" name="AutoShape 30"/>
          <p:cNvSpPr/>
          <p:nvPr/>
        </p:nvSpPr>
        <p:spPr>
          <a:xfrm>
            <a:off x="8064500" y="4826000"/>
            <a:ext cx="3556000" cy="2286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1" i="0" u="none" strike="noStrike">
                <a:solidFill>
                  <a:srgbClr val="475569"/>
                </a:solidFill>
                <a:latin typeface="Noto Sans SC"/>
                <a:ea typeface="Noto Sans SC"/>
                <a:cs typeface="Noto Sans SC"/>
                <a:sym typeface="Noto Sans SC"/>
              </a:rPr>
              <a:t>关联</a:t>
            </a:r>
            <a:endParaRPr lang="en-US" sz="1100"/>
          </a:p>
        </p:txBody>
      </p:sp>
      <p:sp>
        <p:nvSpPr>
          <p:cNvPr id="31" name="AutoShape 31"/>
          <p:cNvSpPr/>
          <p:nvPr/>
        </p:nvSpPr>
        <p:spPr>
          <a:xfrm>
            <a:off x="8064500" y="5080000"/>
            <a:ext cx="36195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0" i="0" u="none" strike="noStrike">
                <a:solidFill>
                  <a:srgbClr val="334155"/>
                </a:solidFill>
                <a:latin typeface="Noto Sans SC"/>
                <a:ea typeface="Noto Sans SC"/>
                <a:cs typeface="Noto Sans SC"/>
                <a:sym typeface="Noto Sans SC"/>
              </a:rPr>
              <a:t>#2时间对齐,#15地理定位,#16正射</a:t>
            </a:r>
            <a:endParaRPr lang="en-US" sz="1100"/>
          </a:p>
        </p:txBody>
      </p:sp>
      <p:sp>
        <p:nvSpPr>
          <p:cNvPr id="32" name="AutoShape 32"/>
          <p:cNvSpPr/>
          <p:nvPr/>
        </p:nvSpPr>
        <p:spPr>
          <a:xfrm>
            <a:off x="508000" y="6134100"/>
            <a:ext cx="11366500" cy="571500"/>
          </a:xfrm>
          <a:prstGeom prst="roundRect">
            <a:avLst>
              <a:gd name="adj" fmla="val 0"/>
            </a:avLst>
          </a:prstGeom>
          <a:gradFill rotWithShape="1">
            <a:gsLst>
              <a:gs pos="0">
                <a:srgbClr val="1E3A8A">
                  <a:alpha val="6000"/>
                </a:srgbClr>
              </a:gs>
              <a:gs pos="100000">
                <a:srgbClr val="1E3A8A">
                  <a:alpha val="12000"/>
                </a:srgbClr>
              </a:gs>
            </a:gsLst>
            <a:lin ang="0"/>
          </a:gradFill>
          <a:ln cap="flat" cmpd="sng">
            <a:gradFill rotWithShape="1">
              <a:gsLst>
                <a:gs pos="0">
                  <a:srgbClr val="0D2771">
                    <a:alpha val="6000"/>
                  </a:srgbClr>
                </a:gs>
                <a:gs pos="100000">
                  <a:srgbClr val="0D2771">
                    <a:alpha val="12000"/>
                  </a:srgbClr>
                </a:gs>
              </a:gsLst>
              <a:lin ang="0"/>
            </a:gradFill>
            <a:prstDash val="solid"/>
            <a:round/>
          </a:ln>
        </p:spPr>
        <p:txBody>
          <a:bodyPr vert="horz" wrap="square" lIns="63500" tIns="63500" rIns="63500" bIns="63500" rtlCol="0" anchor="ctr"/>
          <a:lstStyle/>
          <a:p>
            <a:pPr algn="ctr">
              <a:defRPr/>
            </a:pPr>
          </a:p>
        </p:txBody>
      </p:sp>
      <p:sp>
        <p:nvSpPr>
          <p:cNvPr id="33" name="AutoShape 33"/>
          <p:cNvSpPr/>
          <p:nvPr/>
        </p:nvSpPr>
        <p:spPr>
          <a:xfrm>
            <a:off x="762000" y="6134100"/>
            <a:ext cx="1651000" cy="5715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1" i="0" u="none" strike="noStrike">
                <a:solidFill>
                  <a:srgbClr val="1E3A8A"/>
                </a:solidFill>
                <a:latin typeface="Noto Sans SC"/>
                <a:ea typeface="Noto Sans SC"/>
                <a:cs typeface="Noto Sans SC"/>
                <a:sym typeface="Noto Sans SC"/>
              </a:rPr>
              <a:t>[API]</a:t>
            </a:r>
            <a:endParaRPr lang="en-US" sz="1100"/>
          </a:p>
        </p:txBody>
      </p:sp>
      <p:cxnSp>
        <p:nvCxnSpPr>
          <p:cNvPr id="34" name="Connector 34"/>
          <p:cNvCxnSpPr/>
          <p:nvPr/>
        </p:nvCxnSpPr>
        <p:spPr>
          <a:xfrm rot="5298918">
            <a:off x="2324100" y="6407243"/>
            <a:ext cx="431800" cy="12700"/>
          </a:xfrm>
          <a:prstGeom prst="straightConnector1">
            <a:avLst/>
          </a:prstGeom>
          <a:solidFill>
            <a:srgbClr val="DEE0E3">
              <a:alpha val="100000"/>
            </a:srgbClr>
          </a:solidFill>
          <a:ln w="12700" cap="flat" cmpd="sng">
            <a:solidFill>
              <a:srgbClr val="1E3A8A">
                <a:alpha val="22000"/>
              </a:srgbClr>
            </a:solidFill>
            <a:prstDash val="solid"/>
            <a:round/>
            <a:headEnd type="none" w="med" len="med"/>
            <a:tailEnd type="none" w="med" len="med"/>
          </a:ln>
        </p:spPr>
      </p:cxnSp>
      <p:sp>
        <p:nvSpPr>
          <p:cNvPr id="35" name="AutoShape 35"/>
          <p:cNvSpPr/>
          <p:nvPr/>
        </p:nvSpPr>
        <p:spPr>
          <a:xfrm>
            <a:off x="2730500" y="6134100"/>
            <a:ext cx="508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400" b="1" i="0" u="none" strike="noStrike">
                <a:solidFill>
                  <a:srgbClr val="1E3A8A"/>
                </a:solidFill>
                <a:latin typeface="Noto Sans SC"/>
                <a:ea typeface="Noto Sans SC"/>
                <a:cs typeface="Noto Sans SC"/>
                <a:sym typeface="Noto Sans SC"/>
              </a:rPr>
              <a:t>/api/v1/03_pos_solution/run</a:t>
            </a:r>
            <a:endParaRPr lang="en-US" sz="1100"/>
          </a:p>
        </p:txBody>
      </p:sp>
      <p:cxnSp>
        <p:nvCxnSpPr>
          <p:cNvPr id="36" name="Connector 36"/>
          <p:cNvCxnSpPr/>
          <p:nvPr/>
        </p:nvCxnSpPr>
        <p:spPr>
          <a:xfrm rot="5298918">
            <a:off x="7721600" y="6407243"/>
            <a:ext cx="431800" cy="12700"/>
          </a:xfrm>
          <a:prstGeom prst="straightConnector1">
            <a:avLst/>
          </a:prstGeom>
          <a:solidFill>
            <a:srgbClr val="DEE0E3">
              <a:alpha val="100000"/>
            </a:srgbClr>
          </a:solidFill>
          <a:ln w="12700" cap="flat" cmpd="sng">
            <a:solidFill>
              <a:srgbClr val="1E3A8A">
                <a:alpha val="22000"/>
              </a:srgbClr>
            </a:solidFill>
            <a:prstDash val="solid"/>
            <a:round/>
            <a:headEnd type="none" w="med" len="med"/>
            <a:tailEnd type="none" w="med" len="med"/>
          </a:ln>
        </p:spPr>
      </p:cxnSp>
      <p:sp>
        <p:nvSpPr>
          <p:cNvPr id="37" name="AutoShape 37"/>
          <p:cNvSpPr/>
          <p:nvPr/>
        </p:nvSpPr>
        <p:spPr>
          <a:xfrm>
            <a:off x="8128000" y="6134100"/>
            <a:ext cx="3683000" cy="5715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200" b="0" i="0" u="none" strike="noStrike">
                <a:solidFill>
                  <a:srgbClr val="64748B"/>
                </a:solidFill>
                <a:latin typeface="Noto Sans SC"/>
                <a:ea typeface="Noto Sans SC"/>
                <a:cs typeface="Noto Sans SC"/>
                <a:sym typeface="Noto Sans SC"/>
              </a:rPr>
              <a:t>调用此接口,触发POS解算流程</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117600"/>
          </a:xfrm>
          <a:prstGeom prst="roundRect">
            <a:avLst>
              <a:gd name="adj" fmla="val 0"/>
            </a:avLst>
          </a:prstGeom>
          <a:gradFill rotWithShape="1">
            <a:gsLst>
              <a:gs pos="0">
                <a:srgbClr val="1E3A8A">
                  <a:alpha val="100000"/>
                </a:srgbClr>
              </a:gs>
              <a:gs pos="100000">
                <a:srgbClr val="3B59A8">
                  <a:alpha val="100000"/>
                </a:srgbClr>
              </a:gs>
            </a:gsLst>
            <a:lin ang="0"/>
          </a:gradFill>
          <a:ln cap="flat" cmpd="sng">
            <a:gradFill rotWithShape="1">
              <a:gsLst>
                <a:gs pos="0">
                  <a:srgbClr val="0D2771">
                    <a:alpha val="100000"/>
                  </a:srgbClr>
                </a:gs>
                <a:gs pos="100000">
                  <a:srgbClr val="24418E">
                    <a:alpha val="100000"/>
                  </a:srgbClr>
                </a:gs>
              </a:gsLst>
              <a:lin ang="0"/>
            </a:gradFill>
            <a:prstDash val="solid"/>
            <a:round/>
          </a:ln>
        </p:spPr>
        <p:txBody>
          <a:bodyPr vert="horz" wrap="square" lIns="63500" tIns="63500" rIns="63500" bIns="63500" rtlCol="0" anchor="ctr"/>
          <a:lstStyle/>
          <a:p>
            <a:pPr algn="ctr">
              <a:defRPr/>
            </a:pPr>
          </a:p>
        </p:txBody>
      </p:sp>
      <p:sp>
        <p:nvSpPr>
          <p:cNvPr id="3" name="AutoShape 3"/>
          <p:cNvSpPr/>
          <p:nvPr/>
        </p:nvSpPr>
        <p:spPr>
          <a:xfrm>
            <a:off x="381000" y="152400"/>
            <a:ext cx="10414000" cy="558800"/>
          </a:xfrm>
          <a:prstGeom prst="rect">
            <a:avLst/>
          </a:prstGeom>
          <a:noFill/>
          <a:ln w="12700" cap="flat" cmpd="sng">
            <a:noFill/>
            <a:prstDash val="solid"/>
            <a:round/>
          </a:ln>
        </p:spPr>
        <p:txBody>
          <a:bodyPr vert="horz" wrap="square" lIns="0" tIns="0" rIns="0" bIns="0" rtlCol="0" anchor="t" anchorCtr="0"/>
          <a:lstStyle/>
          <a:p>
            <a:pPr marL="0" indent="0" algn="l">
              <a:lnSpc>
                <a:spcPct val="92000"/>
              </a:lnSpc>
              <a:defRPr/>
            </a:pPr>
            <a:r>
              <a:rPr lang="en-US" sz="2800" b="1" i="0" u="none" strike="noStrike">
                <a:solidFill>
                  <a:srgbClr val="FFFFFF"/>
                </a:solidFill>
                <a:latin typeface="Noto Sans SC"/>
                <a:ea typeface="Noto Sans SC"/>
                <a:cs typeface="Noto Sans SC"/>
                <a:sym typeface="Noto Sans SC"/>
              </a:rPr>
              <a:t>04.架次质检(丢帧/过曝/欠曝)</a:t>
            </a:r>
            <a:endParaRPr lang="en-US" sz="1100"/>
          </a:p>
        </p:txBody>
      </p:sp>
      <p:sp>
        <p:nvSpPr>
          <p:cNvPr id="4" name="AutoShape 4"/>
          <p:cNvSpPr/>
          <p:nvPr/>
        </p:nvSpPr>
        <p:spPr>
          <a:xfrm>
            <a:off x="381000" y="685800"/>
            <a:ext cx="10414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0" i="0" u="none" strike="noStrike">
                <a:solidFill>
                  <a:srgbClr val="FFFFFF">
                    <a:alpha val="78039"/>
                  </a:srgbClr>
                </a:solidFill>
                <a:latin typeface="Noto Sans SC"/>
                <a:ea typeface="Noto Sans SC"/>
                <a:cs typeface="Noto Sans SC"/>
                <a:sym typeface="Noto Sans SC"/>
              </a:rPr>
              <a:t>所属层级:L0 ｜ 编号#4 ｜ 辅导材料:算法清单与API</a:t>
            </a:r>
            <a:endParaRPr lang="en-US" sz="1100"/>
          </a:p>
        </p:txBody>
      </p:sp>
      <p:sp>
        <p:nvSpPr>
          <p:cNvPr id="5" name="AutoShape 5"/>
          <p:cNvSpPr/>
          <p:nvPr/>
        </p:nvSpPr>
        <p:spPr>
          <a:xfrm>
            <a:off x="381000" y="1219200"/>
            <a:ext cx="2819400" cy="22860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381000" y="1219200"/>
            <a:ext cx="50800" cy="2286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584200" y="1320800"/>
            <a:ext cx="24892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700" b="1" i="0" u="none" strike="noStrike">
                <a:solidFill>
                  <a:srgbClr val="1E3A8A"/>
                </a:solidFill>
                <a:latin typeface="Noto Sans SC"/>
                <a:ea typeface="Noto Sans SC"/>
                <a:cs typeface="Noto Sans SC"/>
                <a:sym typeface="Noto Sans SC"/>
              </a:rPr>
              <a:t>功能定义</a:t>
            </a:r>
            <a:endParaRPr lang="en-US" sz="1100"/>
          </a:p>
        </p:txBody>
      </p:sp>
      <p:cxnSp>
        <p:nvCxnSpPr>
          <p:cNvPr id="8" name="Connector 8"/>
          <p:cNvCxnSpPr/>
          <p:nvPr/>
        </p:nvCxnSpPr>
        <p:spPr>
          <a:xfrm rot="-17720">
            <a:off x="584216" y="1670050"/>
            <a:ext cx="24638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9" name="AutoShape 9"/>
          <p:cNvSpPr/>
          <p:nvPr/>
        </p:nvSpPr>
        <p:spPr>
          <a:xfrm>
            <a:off x="584200" y="1752600"/>
            <a:ext cx="2489200" cy="914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74151"/>
                </a:solidFill>
                <a:latin typeface="Noto Sans SC"/>
                <a:ea typeface="Noto Sans SC"/>
                <a:cs typeface="Noto Sans SC"/>
                <a:sym typeface="Noto Sans SC"/>
              </a:rPr>
              <a:t>判断本底原始数据是否可用,避免垃圾进垃圾出。</a:t>
            </a:r>
            <a:endParaRPr lang="en-US" sz="1100"/>
          </a:p>
        </p:txBody>
      </p:sp>
      <p:sp>
        <p:nvSpPr>
          <p:cNvPr id="10" name="AutoShape 10"/>
          <p:cNvSpPr/>
          <p:nvPr/>
        </p:nvSpPr>
        <p:spPr>
          <a:xfrm>
            <a:off x="3314700" y="1219200"/>
            <a:ext cx="2819400" cy="22860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3314700" y="1219200"/>
            <a:ext cx="50800" cy="2286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3517900" y="1320800"/>
            <a:ext cx="24892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700" b="1" i="0" u="none" strike="noStrike">
                <a:solidFill>
                  <a:srgbClr val="1E3A8A"/>
                </a:solidFill>
                <a:latin typeface="Noto Sans SC"/>
                <a:ea typeface="Noto Sans SC"/>
                <a:cs typeface="Noto Sans SC"/>
                <a:sym typeface="Noto Sans SC"/>
              </a:rPr>
              <a:t>方法要点</a:t>
            </a:r>
            <a:endParaRPr lang="en-US" sz="1100"/>
          </a:p>
        </p:txBody>
      </p:sp>
      <p:cxnSp>
        <p:nvCxnSpPr>
          <p:cNvPr id="13" name="Connector 13"/>
          <p:cNvCxnSpPr/>
          <p:nvPr/>
        </p:nvCxnSpPr>
        <p:spPr>
          <a:xfrm rot="-17720">
            <a:off x="3517916" y="1670050"/>
            <a:ext cx="24638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14" name="AutoShape 14"/>
          <p:cNvSpPr/>
          <p:nvPr/>
        </p:nvSpPr>
        <p:spPr>
          <a:xfrm>
            <a:off x="3517900" y="1752600"/>
            <a:ext cx="2489200" cy="11176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检查丢帧、过曝/欠曝比例、POS完整性与曝光日志异常,生成质检报告与重飞建议。</a:t>
            </a:r>
            <a:endParaRPr lang="en-US" sz="1100"/>
          </a:p>
        </p:txBody>
      </p:sp>
      <p:sp>
        <p:nvSpPr>
          <p:cNvPr id="15" name="AutoShape 15"/>
          <p:cNvSpPr/>
          <p:nvPr/>
        </p:nvSpPr>
        <p:spPr>
          <a:xfrm>
            <a:off x="6248400" y="1219200"/>
            <a:ext cx="2819400" cy="22860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6248400" y="1219200"/>
            <a:ext cx="50800" cy="2286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6451600" y="1320800"/>
            <a:ext cx="24892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700" b="1" i="0" u="none" strike="noStrike">
                <a:solidFill>
                  <a:srgbClr val="1E3A8A"/>
                </a:solidFill>
                <a:latin typeface="Noto Sans SC"/>
                <a:ea typeface="Noto Sans SC"/>
                <a:cs typeface="Noto Sans SC"/>
                <a:sym typeface="Noto Sans SC"/>
              </a:rPr>
              <a:t>适用场景</a:t>
            </a:r>
            <a:endParaRPr lang="en-US" sz="1100"/>
          </a:p>
        </p:txBody>
      </p:sp>
      <p:cxnSp>
        <p:nvCxnSpPr>
          <p:cNvPr id="18" name="Connector 18"/>
          <p:cNvCxnSpPr/>
          <p:nvPr/>
        </p:nvCxnSpPr>
        <p:spPr>
          <a:xfrm rot="-17720">
            <a:off x="6451616" y="1670050"/>
            <a:ext cx="24638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19" name="AutoShape 19"/>
          <p:cNvSpPr/>
          <p:nvPr/>
        </p:nvSpPr>
        <p:spPr>
          <a:xfrm>
            <a:off x="6451600" y="1752600"/>
            <a:ext cx="2489200" cy="914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74151"/>
                </a:solidFill>
                <a:latin typeface="Noto Sans SC"/>
                <a:ea typeface="Noto Sans SC"/>
                <a:cs typeface="Noto Sans SC"/>
                <a:sym typeface="Noto Sans SC"/>
              </a:rPr>
              <a:t>落地后第一关;光照突变、颠簸、存储异常时。</a:t>
            </a:r>
            <a:endParaRPr lang="en-US" sz="1100"/>
          </a:p>
        </p:txBody>
      </p:sp>
      <p:sp>
        <p:nvSpPr>
          <p:cNvPr id="20" name="AutoShape 20"/>
          <p:cNvSpPr/>
          <p:nvPr/>
        </p:nvSpPr>
        <p:spPr>
          <a:xfrm>
            <a:off x="9182100" y="1219200"/>
            <a:ext cx="2819400" cy="22860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9182100" y="1219200"/>
            <a:ext cx="50800" cy="2286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9385300" y="1320800"/>
            <a:ext cx="2540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700" b="1" i="0" u="none" strike="noStrike">
                <a:solidFill>
                  <a:srgbClr val="1E3A8A"/>
                </a:solidFill>
                <a:latin typeface="Noto Sans SC"/>
                <a:ea typeface="Noto Sans SC"/>
                <a:cs typeface="Noto Sans SC"/>
                <a:sym typeface="Noto Sans SC"/>
              </a:rPr>
              <a:t>业务价值</a:t>
            </a:r>
            <a:endParaRPr lang="en-US" sz="1100"/>
          </a:p>
        </p:txBody>
      </p:sp>
      <p:cxnSp>
        <p:nvCxnSpPr>
          <p:cNvPr id="23" name="Connector 23"/>
          <p:cNvCxnSpPr/>
          <p:nvPr/>
        </p:nvCxnSpPr>
        <p:spPr>
          <a:xfrm rot="-18188">
            <a:off x="9385317" y="1670050"/>
            <a:ext cx="24003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24" name="AutoShape 24"/>
          <p:cNvSpPr/>
          <p:nvPr/>
        </p:nvSpPr>
        <p:spPr>
          <a:xfrm>
            <a:off x="9385300" y="1752600"/>
            <a:ext cx="2540000" cy="914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74151"/>
                </a:solidFill>
                <a:latin typeface="Noto Sans SC"/>
                <a:ea typeface="Noto Sans SC"/>
                <a:cs typeface="Noto Sans SC"/>
                <a:sym typeface="Noto Sans SC"/>
              </a:rPr>
              <a:t>在处理流水线入口拦截不可用架次,控制无效算力投入与时间损耗。</a:t>
            </a:r>
            <a:endParaRPr lang="en-US" sz="1100"/>
          </a:p>
        </p:txBody>
      </p:sp>
      <p:sp>
        <p:nvSpPr>
          <p:cNvPr id="25" name="AutoShape 25"/>
          <p:cNvSpPr/>
          <p:nvPr/>
        </p:nvSpPr>
        <p:spPr>
          <a:xfrm>
            <a:off x="381000" y="3606800"/>
            <a:ext cx="5664200" cy="1905000"/>
          </a:xfrm>
          <a:prstGeom prst="roundRect">
            <a:avLst>
              <a:gd name="adj" fmla="val 0"/>
            </a:avLst>
          </a:prstGeom>
          <a:solidFill>
            <a:srgbClr val="F59E0B">
              <a:alpha val="8000"/>
            </a:srgbClr>
          </a:solidFill>
          <a:ln cap="flat" cmpd="sng">
            <a:solidFill>
              <a:srgbClr val="DC8A00">
                <a:alpha val="8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381000" y="3606800"/>
            <a:ext cx="50800" cy="1905000"/>
          </a:xfrm>
          <a:prstGeom prst="roundRect">
            <a:avLst>
              <a:gd name="adj" fmla="val 0"/>
            </a:avLst>
          </a:prstGeom>
          <a:solidFill>
            <a:srgbClr val="F59E0B">
              <a:alpha val="100000"/>
            </a:srgbClr>
          </a:solidFill>
          <a:ln cap="flat" cmpd="sng">
            <a:solidFill>
              <a:srgbClr val="DC8A00">
                <a:alpha val="100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584200" y="3683000"/>
            <a:ext cx="5207000" cy="3556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B45309"/>
                </a:solidFill>
                <a:latin typeface="Noto Sans SC"/>
                <a:ea typeface="Noto Sans SC"/>
                <a:cs typeface="Noto Sans SC"/>
                <a:sym typeface="Noto Sans SC"/>
              </a:rPr>
              <a:t>缺失影响</a:t>
            </a:r>
            <a:endParaRPr lang="en-US" sz="1100"/>
          </a:p>
        </p:txBody>
      </p:sp>
      <p:cxnSp>
        <p:nvCxnSpPr>
          <p:cNvPr id="28" name="Connector 28"/>
          <p:cNvCxnSpPr/>
          <p:nvPr/>
        </p:nvCxnSpPr>
        <p:spPr>
          <a:xfrm rot="-8263">
            <a:off x="584208" y="4083050"/>
            <a:ext cx="5283200" cy="12700"/>
          </a:xfrm>
          <a:prstGeom prst="straightConnector1">
            <a:avLst/>
          </a:prstGeom>
          <a:solidFill>
            <a:srgbClr val="DEE0E3">
              <a:alpha val="100000"/>
            </a:srgbClr>
          </a:solidFill>
          <a:ln w="12700" cap="flat" cmpd="sng">
            <a:solidFill>
              <a:srgbClr val="F59E0B">
                <a:alpha val="28000"/>
              </a:srgbClr>
            </a:solidFill>
            <a:prstDash val="solid"/>
            <a:round/>
            <a:headEnd type="none" w="med" len="med"/>
            <a:tailEnd type="none" w="med" len="med"/>
          </a:ln>
        </p:spPr>
      </p:cxnSp>
      <p:sp>
        <p:nvSpPr>
          <p:cNvPr id="29" name="AutoShape 29"/>
          <p:cNvSpPr/>
          <p:nvPr/>
        </p:nvSpPr>
        <p:spPr>
          <a:xfrm>
            <a:off x="584200" y="4165600"/>
            <a:ext cx="5308600" cy="8382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500" b="0" i="0" u="none" strike="noStrike">
                <a:solidFill>
                  <a:srgbClr val="374151"/>
                </a:solidFill>
                <a:latin typeface="Noto Sans SC"/>
                <a:ea typeface="Noto Sans SC"/>
                <a:cs typeface="Noto Sans SC"/>
                <a:sym typeface="Noto Sans SC"/>
              </a:rPr>
              <a:t>若有问题数据进入后续环节,将造成</a:t>
            </a:r>
            <a:r>
              <a:rPr lang="en-US" sz="1500" b="1" i="0" u="none" strike="noStrike">
                <a:solidFill>
                  <a:srgbClr val="B45309"/>
                </a:solidFill>
                <a:latin typeface="Noto Sans SC"/>
                <a:ea typeface="Noto Sans SC"/>
                <a:cs typeface="Noto Sans SC"/>
                <a:sym typeface="Noto Sans SC"/>
              </a:rPr>
              <a:t>指数/分类结果不可控</a:t>
            </a:r>
            <a:r>
              <a:rPr lang="en-US" sz="1500" b="0" i="0" u="none" strike="noStrike">
                <a:solidFill>
                  <a:srgbClr val="374151"/>
                </a:solidFill>
                <a:latin typeface="Noto Sans SC"/>
                <a:ea typeface="Noto Sans SC"/>
                <a:cs typeface="Noto Sans SC"/>
                <a:sym typeface="Noto Sans SC"/>
              </a:rPr>
              <a:t>,并浪费处理资源。</a:t>
            </a:r>
            <a:endParaRPr lang="en-US" sz="1100"/>
          </a:p>
        </p:txBody>
      </p:sp>
      <p:sp>
        <p:nvSpPr>
          <p:cNvPr id="30" name="AutoShape 30"/>
          <p:cNvSpPr/>
          <p:nvPr/>
        </p:nvSpPr>
        <p:spPr>
          <a:xfrm>
            <a:off x="6248400" y="3606800"/>
            <a:ext cx="5753100" cy="1905000"/>
          </a:xfrm>
          <a:prstGeom prst="roundRect">
            <a:avLst>
              <a:gd name="adj" fmla="val 0"/>
            </a:avLst>
          </a:prstGeom>
          <a:solidFill>
            <a:srgbClr val="1E3A8A">
              <a:alpha val="4000"/>
            </a:srgbClr>
          </a:solidFill>
          <a:ln cap="flat" cmpd="sng">
            <a:solidFill>
              <a:srgbClr val="0D2771">
                <a:alpha val="4000"/>
              </a:srgbClr>
            </a:solidFill>
            <a:prstDash val="solid"/>
            <a:round/>
          </a:ln>
        </p:spPr>
        <p:txBody>
          <a:bodyPr vert="horz" wrap="square" lIns="63500" tIns="63500" rIns="63500" bIns="63500" rtlCol="0" anchor="ctr"/>
          <a:lstStyle/>
          <a:p>
            <a:pPr algn="ctr">
              <a:defRPr/>
            </a:pPr>
          </a:p>
        </p:txBody>
      </p:sp>
      <p:sp>
        <p:nvSpPr>
          <p:cNvPr id="31" name="AutoShape 31"/>
          <p:cNvSpPr/>
          <p:nvPr/>
        </p:nvSpPr>
        <p:spPr>
          <a:xfrm>
            <a:off x="6248400" y="3606800"/>
            <a:ext cx="50800" cy="1905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32" name="AutoShape 32"/>
          <p:cNvSpPr/>
          <p:nvPr/>
        </p:nvSpPr>
        <p:spPr>
          <a:xfrm>
            <a:off x="6451600" y="3683000"/>
            <a:ext cx="5397500" cy="3556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流程位置与关联</a:t>
            </a:r>
            <a:endParaRPr lang="en-US" sz="1100"/>
          </a:p>
        </p:txBody>
      </p:sp>
      <p:cxnSp>
        <p:nvCxnSpPr>
          <p:cNvPr id="33" name="Connector 33"/>
          <p:cNvCxnSpPr/>
          <p:nvPr/>
        </p:nvCxnSpPr>
        <p:spPr>
          <a:xfrm rot="-8050">
            <a:off x="6451607" y="4083050"/>
            <a:ext cx="54229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34" name="AutoShape 34"/>
          <p:cNvSpPr/>
          <p:nvPr/>
        </p:nvSpPr>
        <p:spPr>
          <a:xfrm>
            <a:off x="6451600" y="4191000"/>
            <a:ext cx="914400" cy="406400"/>
          </a:xfrm>
          <a:prstGeom prst="roundRect">
            <a:avLst>
              <a:gd name="adj" fmla="val 0"/>
            </a:avLst>
          </a:prstGeom>
          <a:solidFill>
            <a:srgbClr val="1E3A8A">
              <a:alpha val="10000"/>
            </a:srgbClr>
          </a:solidFill>
          <a:ln cap="flat" cmpd="sng">
            <a:solidFill>
              <a:srgbClr val="0D2771">
                <a:alpha val="10000"/>
              </a:srgbClr>
            </a:solidFill>
            <a:prstDash val="solid"/>
            <a:round/>
          </a:ln>
        </p:spPr>
        <p:txBody>
          <a:bodyPr vert="horz" wrap="square" lIns="63500" tIns="63500" rIns="63500" bIns="63500" rtlCol="0" anchor="ctr"/>
          <a:lstStyle/>
          <a:p>
            <a:pPr algn="ctr">
              <a:defRPr/>
            </a:pPr>
          </a:p>
        </p:txBody>
      </p:sp>
      <p:sp>
        <p:nvSpPr>
          <p:cNvPr id="35" name="AutoShape 35"/>
          <p:cNvSpPr/>
          <p:nvPr/>
        </p:nvSpPr>
        <p:spPr>
          <a:xfrm>
            <a:off x="6451600" y="4191000"/>
            <a:ext cx="914400" cy="4064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300" b="1" i="0" u="none" strike="noStrike">
                <a:solidFill>
                  <a:srgbClr val="1E3A8A"/>
                </a:solidFill>
                <a:latin typeface="Noto Sans SC"/>
                <a:ea typeface="Noto Sans SC"/>
                <a:cs typeface="Noto Sans SC"/>
                <a:sym typeface="Noto Sans SC"/>
              </a:rPr>
              <a:t>落地</a:t>
            </a:r>
            <a:endParaRPr lang="en-US" sz="1100"/>
          </a:p>
        </p:txBody>
      </p:sp>
      <p:cxnSp>
        <p:nvCxnSpPr>
          <p:cNvPr id="36" name="Connector 36"/>
          <p:cNvCxnSpPr/>
          <p:nvPr/>
        </p:nvCxnSpPr>
        <p:spPr>
          <a:xfrm rot="-122724">
            <a:off x="7391513" y="4387850"/>
            <a:ext cx="355600" cy="12700"/>
          </a:xfrm>
          <a:prstGeom prst="straightConnector1">
            <a:avLst/>
          </a:prstGeom>
          <a:solidFill>
            <a:srgbClr val="DEE0E3">
              <a:alpha val="100000"/>
            </a:srgbClr>
          </a:solidFill>
          <a:ln w="25400" cap="flat" cmpd="sng">
            <a:solidFill>
              <a:srgbClr val="6B7280">
                <a:alpha val="100000"/>
              </a:srgbClr>
            </a:solidFill>
            <a:prstDash val="solid"/>
            <a:round/>
            <a:headEnd type="none" w="lg" len="lg"/>
            <a:tailEnd type="arrow" w="med" len="med"/>
          </a:ln>
        </p:spPr>
      </p:cxnSp>
      <p:sp>
        <p:nvSpPr>
          <p:cNvPr id="37" name="AutoShape 37"/>
          <p:cNvSpPr/>
          <p:nvPr/>
        </p:nvSpPr>
        <p:spPr>
          <a:xfrm>
            <a:off x="7797800" y="4191000"/>
            <a:ext cx="1143000" cy="406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38" name="AutoShape 38"/>
          <p:cNvSpPr/>
          <p:nvPr/>
        </p:nvSpPr>
        <p:spPr>
          <a:xfrm>
            <a:off x="7797800" y="4191000"/>
            <a:ext cx="1143000" cy="4064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300" b="1" i="0" u="none" strike="noStrike">
                <a:solidFill>
                  <a:srgbClr val="FFFFFF"/>
                </a:solidFill>
                <a:latin typeface="Noto Sans SC"/>
                <a:ea typeface="Noto Sans SC"/>
                <a:cs typeface="Noto Sans SC"/>
                <a:sym typeface="Noto Sans SC"/>
              </a:rPr>
              <a:t>质检门</a:t>
            </a:r>
            <a:endParaRPr lang="en-US" sz="1100"/>
          </a:p>
        </p:txBody>
      </p:sp>
      <p:cxnSp>
        <p:nvCxnSpPr>
          <p:cNvPr id="39" name="Connector 39"/>
          <p:cNvCxnSpPr/>
          <p:nvPr/>
        </p:nvCxnSpPr>
        <p:spPr>
          <a:xfrm rot="-122724">
            <a:off x="8966313" y="4260850"/>
            <a:ext cx="355600" cy="12700"/>
          </a:xfrm>
          <a:prstGeom prst="straightConnector1">
            <a:avLst/>
          </a:prstGeom>
          <a:solidFill>
            <a:srgbClr val="DEE0E3">
              <a:alpha val="100000"/>
            </a:srgbClr>
          </a:solidFill>
          <a:ln w="12700" cap="flat" cmpd="sng">
            <a:solidFill>
              <a:srgbClr val="6B7280">
                <a:alpha val="100000"/>
              </a:srgbClr>
            </a:solidFill>
            <a:prstDash val="solid"/>
            <a:round/>
            <a:headEnd type="none" w="med" len="med"/>
            <a:tailEnd type="arrow" w="sm" len="sm"/>
          </a:ln>
        </p:spPr>
      </p:cxnSp>
      <p:sp>
        <p:nvSpPr>
          <p:cNvPr id="40" name="AutoShape 40"/>
          <p:cNvSpPr/>
          <p:nvPr/>
        </p:nvSpPr>
        <p:spPr>
          <a:xfrm>
            <a:off x="9347200" y="4178300"/>
            <a:ext cx="2489200" cy="2286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100" b="0" i="0" u="none" strike="noStrike">
                <a:solidFill>
                  <a:srgbClr val="6B7280"/>
                </a:solidFill>
                <a:latin typeface="Noto Sans SC"/>
                <a:ea typeface="Noto Sans SC"/>
                <a:cs typeface="Noto Sans SC"/>
                <a:sym typeface="Noto Sans SC"/>
              </a:rPr>
              <a:t>通过→进入</a:t>
            </a:r>
            <a:r>
              <a:rPr lang="en-US" sz="1100" b="1" i="0" u="none" strike="noStrike">
                <a:solidFill>
                  <a:srgbClr val="1E3A8A"/>
                </a:solidFill>
                <a:latin typeface="Noto Sans SC"/>
                <a:ea typeface="Noto Sans SC"/>
                <a:cs typeface="Noto Sans SC"/>
                <a:sym typeface="Noto Sans SC"/>
              </a:rPr>
              <a:t>L0→L1</a:t>
            </a:r>
            <a:endParaRPr lang="en-US" sz="1100"/>
          </a:p>
        </p:txBody>
      </p:sp>
      <p:cxnSp>
        <p:nvCxnSpPr>
          <p:cNvPr id="41" name="Connector 41"/>
          <p:cNvCxnSpPr/>
          <p:nvPr/>
        </p:nvCxnSpPr>
        <p:spPr>
          <a:xfrm rot="-122724">
            <a:off x="8966313" y="4591050"/>
            <a:ext cx="355600" cy="12700"/>
          </a:xfrm>
          <a:prstGeom prst="straightConnector1">
            <a:avLst/>
          </a:prstGeom>
          <a:solidFill>
            <a:srgbClr val="DEE0E3">
              <a:alpha val="100000"/>
            </a:srgbClr>
          </a:solidFill>
          <a:ln w="12700" cap="flat" cmpd="sng">
            <a:solidFill>
              <a:srgbClr val="6B7280">
                <a:alpha val="100000"/>
              </a:srgbClr>
            </a:solidFill>
            <a:prstDash val="solid"/>
            <a:round/>
            <a:headEnd type="none" w="med" len="med"/>
            <a:tailEnd type="arrow" w="sm" len="sm"/>
          </a:ln>
        </p:spPr>
      </p:cxnSp>
      <p:sp>
        <p:nvSpPr>
          <p:cNvPr id="42" name="AutoShape 42"/>
          <p:cNvSpPr/>
          <p:nvPr/>
        </p:nvSpPr>
        <p:spPr>
          <a:xfrm>
            <a:off x="9347200" y="4533900"/>
            <a:ext cx="2489200" cy="2286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100" b="0" i="0" u="none" strike="noStrike">
                <a:solidFill>
                  <a:srgbClr val="6B7280"/>
                </a:solidFill>
                <a:latin typeface="Noto Sans SC"/>
                <a:ea typeface="Noto Sans SC"/>
                <a:cs typeface="Noto Sans SC"/>
                <a:sym typeface="Noto Sans SC"/>
              </a:rPr>
              <a:t>不通过→</a:t>
            </a:r>
            <a:r>
              <a:rPr lang="en-US" sz="1100" b="1" i="0" u="none" strike="noStrike">
                <a:solidFill>
                  <a:srgbClr val="B45309"/>
                </a:solidFill>
                <a:latin typeface="Noto Sans SC"/>
                <a:ea typeface="Noto Sans SC"/>
                <a:cs typeface="Noto Sans SC"/>
                <a:sym typeface="Noto Sans SC"/>
              </a:rPr>
              <a:t>补飞</a:t>
            </a:r>
            <a:endParaRPr lang="en-US" sz="1100"/>
          </a:p>
        </p:txBody>
      </p:sp>
      <p:cxnSp>
        <p:nvCxnSpPr>
          <p:cNvPr id="43" name="Connector 43"/>
          <p:cNvCxnSpPr/>
          <p:nvPr/>
        </p:nvCxnSpPr>
        <p:spPr>
          <a:xfrm rot="-8050">
            <a:off x="6451607" y="4972050"/>
            <a:ext cx="5422900" cy="12700"/>
          </a:xfrm>
          <a:prstGeom prst="straightConnector1">
            <a:avLst/>
          </a:prstGeom>
          <a:solidFill>
            <a:srgbClr val="DEE0E3">
              <a:alpha val="100000"/>
            </a:srgbClr>
          </a:solidFill>
          <a:ln w="12700" cap="flat" cmpd="sng">
            <a:solidFill>
              <a:srgbClr val="1E3A8A">
                <a:alpha val="12000"/>
              </a:srgbClr>
            </a:solidFill>
            <a:prstDash val="dash"/>
            <a:round/>
            <a:headEnd type="none" w="med" len="med"/>
            <a:tailEnd type="none" w="med" len="med"/>
          </a:ln>
        </p:spPr>
      </p:cxnSp>
      <p:sp>
        <p:nvSpPr>
          <p:cNvPr id="44" name="AutoShape 44"/>
          <p:cNvSpPr/>
          <p:nvPr/>
        </p:nvSpPr>
        <p:spPr>
          <a:xfrm>
            <a:off x="6451600" y="5054600"/>
            <a:ext cx="292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100" b="0" i="0" u="none" strike="noStrike">
                <a:solidFill>
                  <a:srgbClr val="6B7280"/>
                </a:solidFill>
                <a:latin typeface="Noto Sans SC"/>
                <a:ea typeface="Noto Sans SC"/>
                <a:cs typeface="Noto Sans SC"/>
                <a:sym typeface="Noto Sans SC"/>
              </a:rPr>
              <a:t>关联:</a:t>
            </a:r>
            <a:r>
              <a:rPr lang="en-US" sz="1100" b="1" i="0" u="none" strike="noStrike">
                <a:solidFill>
                  <a:srgbClr val="1E3A8A"/>
                </a:solidFill>
                <a:latin typeface="Noto Sans SC"/>
                <a:ea typeface="Noto Sans SC"/>
                <a:cs typeface="Noto Sans SC"/>
                <a:sym typeface="Noto Sans SC"/>
              </a:rPr>
              <a:t>#1航线规划·#5云影检测·#10辐射定标</a:t>
            </a:r>
            <a:endParaRPr lang="en-US" sz="1100"/>
          </a:p>
        </p:txBody>
      </p:sp>
      <p:sp>
        <p:nvSpPr>
          <p:cNvPr id="45" name="AutoShape 45"/>
          <p:cNvSpPr/>
          <p:nvPr/>
        </p:nvSpPr>
        <p:spPr>
          <a:xfrm>
            <a:off x="9423400" y="5054600"/>
            <a:ext cx="2489200" cy="304800"/>
          </a:xfrm>
          <a:prstGeom prst="roundRect">
            <a:avLst>
              <a:gd name="adj" fmla="val 0"/>
            </a:avLst>
          </a:prstGeom>
          <a:solidFill>
            <a:srgbClr val="1E3A8A">
              <a:alpha val="9000"/>
            </a:srgbClr>
          </a:solidFill>
          <a:ln cap="flat" cmpd="sng">
            <a:solidFill>
              <a:srgbClr val="0D2771">
                <a:alpha val="9000"/>
              </a:srgbClr>
            </a:solidFill>
            <a:prstDash val="solid"/>
            <a:round/>
          </a:ln>
        </p:spPr>
        <p:txBody>
          <a:bodyPr vert="horz" wrap="square" lIns="63500" tIns="63500" rIns="63500" bIns="63500" rtlCol="0" anchor="ctr"/>
          <a:lstStyle/>
          <a:p>
            <a:pPr algn="ctr">
              <a:defRPr/>
            </a:pPr>
          </a:p>
        </p:txBody>
      </p:sp>
      <p:sp>
        <p:nvSpPr>
          <p:cNvPr id="46" name="AutoShape 46"/>
          <p:cNvSpPr/>
          <p:nvPr/>
        </p:nvSpPr>
        <p:spPr>
          <a:xfrm>
            <a:off x="9423400" y="5054600"/>
            <a:ext cx="24892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100" b="1" i="0" u="none" strike="noStrike">
                <a:solidFill>
                  <a:srgbClr val="1E3A8A"/>
                </a:solidFill>
                <a:latin typeface="Noto Sans SC"/>
                <a:ea typeface="Noto Sans SC"/>
                <a:cs typeface="Noto Sans SC"/>
                <a:sym typeface="Noto Sans SC"/>
              </a:rPr>
              <a:t>[API]</a:t>
            </a:r>
            <a:r>
              <a:rPr lang="en-US" sz="1100" b="0" i="0" u="none" strike="noStrike">
                <a:solidFill>
                  <a:srgbClr val="374151"/>
                </a:solidFill>
                <a:latin typeface="Noto Sans SC"/>
                <a:ea typeface="Noto Sans SC"/>
                <a:cs typeface="Noto Sans SC"/>
                <a:sym typeface="Noto Sans SC"/>
              </a:rPr>
              <a:t>/api/v1/04_flight_qc/run</a:t>
            </a:r>
            <a:endParaRPr lang="en-US" sz="1100"/>
          </a:p>
        </p:txBody>
      </p:sp>
      <p:sp>
        <p:nvSpPr>
          <p:cNvPr id="47" name="AutoShape 47"/>
          <p:cNvSpPr/>
          <p:nvPr/>
        </p:nvSpPr>
        <p:spPr>
          <a:xfrm>
            <a:off x="0" y="5867400"/>
            <a:ext cx="12192000" cy="787400"/>
          </a:xfrm>
          <a:prstGeom prst="roundRect">
            <a:avLst>
              <a:gd name="adj" fmla="val 0"/>
            </a:avLst>
          </a:prstGeom>
          <a:gradFill rotWithShape="1">
            <a:gsLst>
              <a:gs pos="0">
                <a:srgbClr val="1E3A8A">
                  <a:alpha val="6000"/>
                </a:srgbClr>
              </a:gs>
              <a:gs pos="100000">
                <a:srgbClr val="1E3A8A">
                  <a:alpha val="2000"/>
                </a:srgbClr>
              </a:gs>
            </a:gsLst>
            <a:lin ang="0"/>
          </a:gradFill>
          <a:ln cap="flat" cmpd="sng">
            <a:gradFill rotWithShape="1">
              <a:gsLst>
                <a:gs pos="0">
                  <a:srgbClr val="0D2771">
                    <a:alpha val="6000"/>
                  </a:srgbClr>
                </a:gs>
                <a:gs pos="100000">
                  <a:srgbClr val="0D2771">
                    <a:alpha val="2000"/>
                  </a:srgbClr>
                </a:gs>
              </a:gsLst>
              <a:lin ang="0"/>
            </a:gradFill>
            <a:prstDash val="solid"/>
            <a:round/>
          </a:ln>
        </p:spPr>
        <p:txBody>
          <a:bodyPr vert="horz" wrap="square" lIns="63500" tIns="63500" rIns="63500" bIns="63500" rtlCol="0" anchor="ctr"/>
          <a:lstStyle/>
          <a:p>
            <a:pPr algn="ctr">
              <a:defRPr/>
            </a:pPr>
          </a:p>
        </p:txBody>
      </p:sp>
      <p:sp>
        <p:nvSpPr>
          <p:cNvPr id="48" name="AutoShape 48"/>
          <p:cNvSpPr/>
          <p:nvPr/>
        </p:nvSpPr>
        <p:spPr>
          <a:xfrm>
            <a:off x="381000" y="5994400"/>
            <a:ext cx="11430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a:ea typeface="Noto Sans SC"/>
                <a:cs typeface="Noto Sans SC"/>
                <a:sym typeface="Noto Sans SC"/>
              </a:rPr>
              <a:t>架次质检是落地后第一道防线,自动拦截问题数据,避免"垃圾进垃圾出",保障后续分析可靠。</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270000" cy="1016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6000" b="1" i="0" u="none" strike="noStrike">
                <a:solidFill>
                  <a:srgbClr val="1E3A8A">
                    <a:alpha val="10196"/>
                  </a:srgbClr>
                </a:solidFill>
                <a:latin typeface="Noto Sans SC"/>
                <a:ea typeface="Noto Sans SC"/>
                <a:cs typeface="Noto Sans SC"/>
                <a:sym typeface="Noto Sans SC"/>
              </a:rPr>
              <a:t>05</a:t>
            </a:r>
            <a:endParaRPr lang="en-US" sz="1100"/>
          </a:p>
        </p:txBody>
      </p:sp>
      <p:sp>
        <p:nvSpPr>
          <p:cNvPr id="3" name="AutoShape 3"/>
          <p:cNvSpPr/>
          <p:nvPr/>
        </p:nvSpPr>
        <p:spPr>
          <a:xfrm>
            <a:off x="1905000" y="381000"/>
            <a:ext cx="9144000" cy="5715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a:solidFill>
                  <a:srgbClr val="1E3A8A"/>
                </a:solidFill>
                <a:latin typeface="Noto Sans SC"/>
                <a:ea typeface="Noto Sans SC"/>
                <a:cs typeface="Noto Sans SC"/>
                <a:sym typeface="Noto Sans SC"/>
              </a:rPr>
              <a:t>云/云影检测</a:t>
            </a:r>
            <a:endParaRPr lang="en-US" sz="1100"/>
          </a:p>
        </p:txBody>
      </p:sp>
      <p:sp>
        <p:nvSpPr>
          <p:cNvPr id="4" name="AutoShape 4"/>
          <p:cNvSpPr/>
          <p:nvPr/>
        </p:nvSpPr>
        <p:spPr>
          <a:xfrm>
            <a:off x="1905000" y="952500"/>
            <a:ext cx="9779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0" i="0" u="none" strike="noStrike">
                <a:solidFill>
                  <a:srgbClr val="6B7280"/>
                </a:solidFill>
                <a:latin typeface="Noto Sans SC"/>
                <a:ea typeface="Noto Sans SC"/>
                <a:cs typeface="Noto Sans SC"/>
                <a:sym typeface="Noto Sans SC"/>
              </a:rPr>
              <a:t>所属层级:L0 ｜ 编号#5 ｜ 辅导材料:算法清单与API</a:t>
            </a:r>
            <a:endParaRPr lang="en-US" sz="1100"/>
          </a:p>
        </p:txBody>
      </p:sp>
      <p:cxnSp>
        <p:nvCxnSpPr>
          <p:cNvPr id="5" name="Connector 5"/>
          <p:cNvCxnSpPr/>
          <p:nvPr/>
        </p:nvCxnSpPr>
        <p:spPr>
          <a:xfrm rot="-3906">
            <a:off x="508004" y="1416050"/>
            <a:ext cx="11176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6" name="AutoShape 6"/>
          <p:cNvSpPr/>
          <p:nvPr/>
        </p:nvSpPr>
        <p:spPr>
          <a:xfrm>
            <a:off x="508000" y="1549400"/>
            <a:ext cx="2730500" cy="2159000"/>
          </a:xfrm>
          <a:prstGeom prst="roundRect">
            <a:avLst>
              <a:gd name="adj" fmla="val 0"/>
            </a:avLst>
          </a:prstGeom>
          <a:solidFill>
            <a:srgbClr val="F8FAFC">
              <a:alpha val="100000"/>
            </a:srgbClr>
          </a:solidFill>
          <a:ln cap="flat" cmpd="sng">
            <a:solidFill>
              <a:srgbClr val="C8D5E3">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508000" y="1549400"/>
            <a:ext cx="50800" cy="2159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698500" y="1625600"/>
            <a:ext cx="23495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600" b="1" i="0" u="none" strike="noStrike">
                <a:solidFill>
                  <a:srgbClr val="1E3A8A"/>
                </a:solidFill>
                <a:latin typeface="Noto Sans SC"/>
                <a:ea typeface="Noto Sans SC"/>
                <a:cs typeface="Noto Sans SC"/>
                <a:sym typeface="Noto Sans SC"/>
              </a:rPr>
              <a:t>功能定义</a:t>
            </a:r>
            <a:endParaRPr lang="en-US" sz="1100"/>
          </a:p>
        </p:txBody>
      </p:sp>
      <p:cxnSp>
        <p:nvCxnSpPr>
          <p:cNvPr id="9" name="Connector 9"/>
          <p:cNvCxnSpPr/>
          <p:nvPr/>
        </p:nvCxnSpPr>
        <p:spPr>
          <a:xfrm rot="-18093">
            <a:off x="698517" y="2025650"/>
            <a:ext cx="24130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10" name="AutoShape 10"/>
          <p:cNvSpPr/>
          <p:nvPr/>
        </p:nvSpPr>
        <p:spPr>
          <a:xfrm>
            <a:off x="698500" y="2120900"/>
            <a:ext cx="2349500" cy="889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300" b="0" i="0" u="none" strike="noStrike">
                <a:solidFill>
                  <a:srgbClr val="374151"/>
                </a:solidFill>
                <a:latin typeface="Noto Sans SC"/>
                <a:ea typeface="Noto Sans SC"/>
                <a:cs typeface="Noto Sans SC"/>
                <a:sym typeface="Noto Sans SC"/>
              </a:rPr>
              <a:t>识别云与阴影区域,避免当正常地物分析。</a:t>
            </a:r>
            <a:endParaRPr lang="en-US" sz="1100"/>
          </a:p>
        </p:txBody>
      </p:sp>
      <p:sp>
        <p:nvSpPr>
          <p:cNvPr id="11" name="AutoShape 11"/>
          <p:cNvSpPr/>
          <p:nvPr/>
        </p:nvSpPr>
        <p:spPr>
          <a:xfrm>
            <a:off x="3454400" y="1549400"/>
            <a:ext cx="2730500" cy="2159000"/>
          </a:xfrm>
          <a:prstGeom prst="roundRect">
            <a:avLst>
              <a:gd name="adj" fmla="val 0"/>
            </a:avLst>
          </a:prstGeom>
          <a:solidFill>
            <a:srgbClr val="F8FAFC">
              <a:alpha val="100000"/>
            </a:srgbClr>
          </a:solidFill>
          <a:ln cap="flat" cmpd="sng">
            <a:solidFill>
              <a:srgbClr val="C8D5E3">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3454400" y="1549400"/>
            <a:ext cx="50800" cy="2159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3644900" y="1625600"/>
            <a:ext cx="23495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600" b="1" i="0" u="none" strike="noStrike">
                <a:solidFill>
                  <a:srgbClr val="1E3A8A"/>
                </a:solidFill>
                <a:latin typeface="Noto Sans SC"/>
                <a:ea typeface="Noto Sans SC"/>
                <a:cs typeface="Noto Sans SC"/>
                <a:sym typeface="Noto Sans SC"/>
              </a:rPr>
              <a:t>方法要点</a:t>
            </a:r>
            <a:endParaRPr lang="en-US" sz="1100"/>
          </a:p>
        </p:txBody>
      </p:sp>
      <p:cxnSp>
        <p:nvCxnSpPr>
          <p:cNvPr id="14" name="Connector 14"/>
          <p:cNvCxnSpPr/>
          <p:nvPr/>
        </p:nvCxnSpPr>
        <p:spPr>
          <a:xfrm rot="-18093">
            <a:off x="3644917" y="2025650"/>
            <a:ext cx="24130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15" name="AutoShape 15"/>
          <p:cNvSpPr/>
          <p:nvPr/>
        </p:nvSpPr>
        <p:spPr>
          <a:xfrm>
            <a:off x="3644900" y="2120900"/>
            <a:ext cx="2349500" cy="1016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300" b="0" i="0" u="none" strike="noStrike">
                <a:solidFill>
                  <a:srgbClr val="374151"/>
                </a:solidFill>
                <a:latin typeface="Noto Sans SC"/>
                <a:ea typeface="Noto Sans SC"/>
                <a:cs typeface="Noto Sans SC"/>
                <a:sym typeface="Noto Sans SC"/>
              </a:rPr>
              <a:t>基于亮度阈值或分类模型识别云与阴影,输出二值掩码或概率图。</a:t>
            </a:r>
            <a:endParaRPr lang="en-US" sz="1100"/>
          </a:p>
        </p:txBody>
      </p:sp>
      <p:sp>
        <p:nvSpPr>
          <p:cNvPr id="16" name="AutoShape 16"/>
          <p:cNvSpPr/>
          <p:nvPr/>
        </p:nvSpPr>
        <p:spPr>
          <a:xfrm>
            <a:off x="6400800" y="1549400"/>
            <a:ext cx="2730500" cy="2159000"/>
          </a:xfrm>
          <a:prstGeom prst="roundRect">
            <a:avLst>
              <a:gd name="adj" fmla="val 0"/>
            </a:avLst>
          </a:prstGeom>
          <a:solidFill>
            <a:srgbClr val="F8FAFC">
              <a:alpha val="100000"/>
            </a:srgbClr>
          </a:solidFill>
          <a:ln cap="flat" cmpd="sng">
            <a:solidFill>
              <a:srgbClr val="C8D5E3">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6400800" y="1549400"/>
            <a:ext cx="50800" cy="2159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6591300" y="1625600"/>
            <a:ext cx="23495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600" b="1" i="0" u="none" strike="noStrike">
                <a:solidFill>
                  <a:srgbClr val="1E3A8A"/>
                </a:solidFill>
                <a:latin typeface="Noto Sans SC"/>
                <a:ea typeface="Noto Sans SC"/>
                <a:cs typeface="Noto Sans SC"/>
                <a:sym typeface="Noto Sans SC"/>
              </a:rPr>
              <a:t>适用场景</a:t>
            </a:r>
            <a:endParaRPr lang="en-US" sz="1100"/>
          </a:p>
        </p:txBody>
      </p:sp>
      <p:cxnSp>
        <p:nvCxnSpPr>
          <p:cNvPr id="19" name="Connector 19"/>
          <p:cNvCxnSpPr/>
          <p:nvPr/>
        </p:nvCxnSpPr>
        <p:spPr>
          <a:xfrm rot="-18093">
            <a:off x="6591317" y="2025650"/>
            <a:ext cx="24130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20" name="AutoShape 20"/>
          <p:cNvSpPr/>
          <p:nvPr/>
        </p:nvSpPr>
        <p:spPr>
          <a:xfrm>
            <a:off x="6591300" y="2120900"/>
            <a:ext cx="2349500" cy="1016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300" b="0" i="0" u="none" strike="noStrike">
                <a:solidFill>
                  <a:srgbClr val="374151"/>
                </a:solidFill>
                <a:latin typeface="Noto Sans SC"/>
                <a:ea typeface="Noto Sans SC"/>
                <a:cs typeface="Noto Sans SC"/>
                <a:sym typeface="Noto Sans SC"/>
              </a:rPr>
              <a:t>卫星与高空数据更关键;低空亦需关注树形与薄云。</a:t>
            </a:r>
            <a:endParaRPr lang="en-US" sz="1100"/>
          </a:p>
        </p:txBody>
      </p:sp>
      <p:sp>
        <p:nvSpPr>
          <p:cNvPr id="21" name="AutoShape 21"/>
          <p:cNvSpPr/>
          <p:nvPr/>
        </p:nvSpPr>
        <p:spPr>
          <a:xfrm>
            <a:off x="9296400" y="1549400"/>
            <a:ext cx="2730500" cy="2159000"/>
          </a:xfrm>
          <a:prstGeom prst="roundRect">
            <a:avLst>
              <a:gd name="adj" fmla="val 0"/>
            </a:avLst>
          </a:prstGeom>
          <a:solidFill>
            <a:srgbClr val="F8FAFC">
              <a:alpha val="100000"/>
            </a:srgbClr>
          </a:solidFill>
          <a:ln cap="flat" cmpd="sng">
            <a:solidFill>
              <a:srgbClr val="C8D5E3">
                <a:alpha val="10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9296400" y="1549400"/>
            <a:ext cx="50800" cy="2159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9486900" y="1625600"/>
            <a:ext cx="23495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600" b="1" i="0" u="none" strike="noStrike">
                <a:solidFill>
                  <a:srgbClr val="1E3A8A"/>
                </a:solidFill>
                <a:latin typeface="Noto Sans SC"/>
                <a:ea typeface="Noto Sans SC"/>
                <a:cs typeface="Noto Sans SC"/>
                <a:sym typeface="Noto Sans SC"/>
              </a:rPr>
              <a:t>业务价值</a:t>
            </a:r>
            <a:endParaRPr lang="en-US" sz="1100"/>
          </a:p>
        </p:txBody>
      </p:sp>
      <p:cxnSp>
        <p:nvCxnSpPr>
          <p:cNvPr id="24" name="Connector 24"/>
          <p:cNvCxnSpPr/>
          <p:nvPr/>
        </p:nvCxnSpPr>
        <p:spPr>
          <a:xfrm rot="-19871">
            <a:off x="9486918" y="2025650"/>
            <a:ext cx="21971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25" name="AutoShape 25"/>
          <p:cNvSpPr/>
          <p:nvPr/>
        </p:nvSpPr>
        <p:spPr>
          <a:xfrm>
            <a:off x="9486900" y="2120900"/>
            <a:ext cx="2349500" cy="1016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300" b="0" i="0" u="none" strike="noStrike">
                <a:solidFill>
                  <a:srgbClr val="374151"/>
                </a:solidFill>
                <a:latin typeface="Noto Sans SC"/>
                <a:ea typeface="Noto Sans SC"/>
                <a:cs typeface="Noto Sans SC"/>
                <a:sym typeface="Noto Sans SC"/>
              </a:rPr>
              <a:t>避免将云区误判为作物或异常长势,提高专题图可信度。</a:t>
            </a:r>
            <a:endParaRPr lang="en-US" sz="1100"/>
          </a:p>
        </p:txBody>
      </p:sp>
      <p:sp>
        <p:nvSpPr>
          <p:cNvPr id="26" name="AutoShape 26"/>
          <p:cNvSpPr/>
          <p:nvPr/>
        </p:nvSpPr>
        <p:spPr>
          <a:xfrm>
            <a:off x="508000" y="3873500"/>
            <a:ext cx="11303000" cy="1041400"/>
          </a:xfrm>
          <a:prstGeom prst="roundRect">
            <a:avLst>
              <a:gd name="adj" fmla="val 0"/>
            </a:avLst>
          </a:prstGeom>
          <a:solidFill>
            <a:srgbClr val="F59E0B">
              <a:alpha val="8000"/>
            </a:srgbClr>
          </a:solidFill>
          <a:ln cap="flat" cmpd="sng">
            <a:solidFill>
              <a:srgbClr val="DC8A00">
                <a:alpha val="8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508000" y="3873500"/>
            <a:ext cx="50800" cy="1041400"/>
          </a:xfrm>
          <a:prstGeom prst="roundRect">
            <a:avLst>
              <a:gd name="adj" fmla="val 0"/>
            </a:avLst>
          </a:prstGeom>
          <a:solidFill>
            <a:srgbClr val="F59E0B">
              <a:alpha val="100000"/>
            </a:srgbClr>
          </a:solidFill>
          <a:ln cap="flat" cmpd="sng">
            <a:solidFill>
              <a:srgbClr val="DC8A00">
                <a:alpha val="100000"/>
              </a:srgbClr>
            </a:solidFill>
            <a:prstDash val="solid"/>
            <a:round/>
          </a:ln>
        </p:spPr>
        <p:txBody>
          <a:bodyPr vert="horz" wrap="square" lIns="63500" tIns="63500" rIns="63500" bIns="63500" rtlCol="0" anchor="ctr"/>
          <a:lstStyle/>
          <a:p>
            <a:pPr algn="ctr">
              <a:defRPr/>
            </a:pPr>
          </a:p>
        </p:txBody>
      </p:sp>
      <p:sp>
        <p:nvSpPr>
          <p:cNvPr id="28" name="AutoShape 28"/>
          <p:cNvSpPr/>
          <p:nvPr/>
        </p:nvSpPr>
        <p:spPr>
          <a:xfrm>
            <a:off x="762000" y="3949700"/>
            <a:ext cx="1651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700" b="1" i="0" u="none" strike="noStrike">
                <a:solidFill>
                  <a:srgbClr val="F59E0B"/>
                </a:solidFill>
                <a:latin typeface="Noto Sans SC"/>
                <a:ea typeface="Noto Sans SC"/>
                <a:cs typeface="Noto Sans SC"/>
                <a:sym typeface="Noto Sans SC"/>
              </a:rPr>
              <a:t>缺失影响</a:t>
            </a:r>
            <a:endParaRPr lang="en-US" sz="1100"/>
          </a:p>
        </p:txBody>
      </p:sp>
      <p:cxnSp>
        <p:nvCxnSpPr>
          <p:cNvPr id="29" name="Connector 29"/>
          <p:cNvCxnSpPr/>
          <p:nvPr/>
        </p:nvCxnSpPr>
        <p:spPr>
          <a:xfrm rot="-4841">
            <a:off x="2540004" y="3968750"/>
            <a:ext cx="9017000" cy="12700"/>
          </a:xfrm>
          <a:prstGeom prst="straightConnector1">
            <a:avLst/>
          </a:prstGeom>
          <a:solidFill>
            <a:srgbClr val="DEE0E3">
              <a:alpha val="100000"/>
            </a:srgbClr>
          </a:solidFill>
          <a:ln w="12700" cap="flat" cmpd="sng">
            <a:solidFill>
              <a:srgbClr val="F59E0B">
                <a:alpha val="25000"/>
              </a:srgbClr>
            </a:solidFill>
            <a:prstDash val="solid"/>
            <a:round/>
            <a:headEnd type="none" w="med" len="med"/>
            <a:tailEnd type="none" w="med" len="med"/>
          </a:ln>
        </p:spPr>
      </p:cxnSp>
      <p:sp>
        <p:nvSpPr>
          <p:cNvPr id="30" name="AutoShape 30"/>
          <p:cNvSpPr/>
          <p:nvPr/>
        </p:nvSpPr>
        <p:spPr>
          <a:xfrm>
            <a:off x="762000" y="4318000"/>
            <a:ext cx="10858500" cy="571500"/>
          </a:xfrm>
          <a:prstGeom prst="rect">
            <a:avLst/>
          </a:prstGeom>
          <a:noFill/>
          <a:ln w="12700" cap="flat" cmpd="sng">
            <a:noFill/>
            <a:prstDash val="solid"/>
            <a:round/>
          </a:ln>
        </p:spPr>
        <p:txBody>
          <a:bodyPr vert="horz" wrap="square" lIns="0" tIns="0" rIns="0" bIns="0" rtlCol="0" anchor="t" anchorCtr="0"/>
          <a:lstStyle/>
          <a:p>
            <a:pPr marL="0" indent="0" algn="l">
              <a:lnSpc>
                <a:spcPct val="121000"/>
              </a:lnSpc>
              <a:defRPr/>
            </a:pPr>
            <a:r>
              <a:rPr lang="en-US" sz="1400" b="0" i="0" u="none" strike="noStrike">
                <a:solidFill>
                  <a:srgbClr val="374151"/>
                </a:solidFill>
                <a:latin typeface="Noto Sans SC"/>
                <a:ea typeface="Noto Sans SC"/>
                <a:cs typeface="Noto Sans SC"/>
                <a:sym typeface="Noto Sans SC"/>
              </a:rPr>
              <a:t>未掩膜时,指数出现虚假低值,分类产生垃圾块,影响农事判断。</a:t>
            </a:r>
            <a:endParaRPr lang="en-US" sz="1100"/>
          </a:p>
        </p:txBody>
      </p:sp>
      <p:cxnSp>
        <p:nvCxnSpPr>
          <p:cNvPr id="31" name="Connector 31"/>
          <p:cNvCxnSpPr/>
          <p:nvPr/>
        </p:nvCxnSpPr>
        <p:spPr>
          <a:xfrm rot="-3906">
            <a:off x="508004" y="5099050"/>
            <a:ext cx="11176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32" name="AutoShape 32"/>
          <p:cNvSpPr/>
          <p:nvPr/>
        </p:nvSpPr>
        <p:spPr>
          <a:xfrm>
            <a:off x="508000" y="5207000"/>
            <a:ext cx="4572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300" b="1" i="0" u="none" strike="noStrike">
                <a:solidFill>
                  <a:srgbClr val="1E3A8A"/>
                </a:solidFill>
                <a:latin typeface="Noto Sans SC"/>
                <a:ea typeface="Noto Sans SC"/>
                <a:cs typeface="Noto Sans SC"/>
                <a:sym typeface="Noto Sans SC"/>
              </a:rPr>
              <a:t>流程位置</a:t>
            </a:r>
            <a:endParaRPr lang="en-US" sz="1100"/>
          </a:p>
        </p:txBody>
      </p:sp>
      <p:sp>
        <p:nvSpPr>
          <p:cNvPr id="33" name="AutoShape 33"/>
          <p:cNvSpPr/>
          <p:nvPr/>
        </p:nvSpPr>
        <p:spPr>
          <a:xfrm>
            <a:off x="508000" y="5524500"/>
            <a:ext cx="4572000" cy="5842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200" b="0" i="0" u="none" strike="noStrike">
                <a:solidFill>
                  <a:srgbClr val="475569"/>
                </a:solidFill>
                <a:latin typeface="Noto Sans SC"/>
                <a:ea typeface="Noto Sans SC"/>
                <a:cs typeface="Noto Sans SC"/>
                <a:sym typeface="Noto Sans SC"/>
              </a:rPr>
              <a:t>L0/L1预览 → 云影掩膜 → 在L3分析中屏蔽或做补充采集</a:t>
            </a:r>
            <a:endParaRPr lang="en-US" sz="1100"/>
          </a:p>
        </p:txBody>
      </p:sp>
      <p:cxnSp>
        <p:nvCxnSpPr>
          <p:cNvPr id="34" name="Connector 34"/>
          <p:cNvCxnSpPr/>
          <p:nvPr/>
        </p:nvCxnSpPr>
        <p:spPr>
          <a:xfrm rot="5352910">
            <a:off x="4870450" y="5664243"/>
            <a:ext cx="927100" cy="12700"/>
          </a:xfrm>
          <a:prstGeom prst="straightConnector1">
            <a:avLst/>
          </a:prstGeom>
          <a:solidFill>
            <a:srgbClr val="DEE0E3">
              <a:alpha val="100000"/>
            </a:srgbClr>
          </a:solidFill>
          <a:ln w="12700" cap="flat" cmpd="sng">
            <a:solidFill>
              <a:srgbClr val="CBD5E1">
                <a:alpha val="100000"/>
              </a:srgbClr>
            </a:solidFill>
            <a:prstDash val="solid"/>
            <a:round/>
            <a:headEnd type="none" w="med" len="med"/>
            <a:tailEnd type="none" w="med" len="med"/>
          </a:ln>
        </p:spPr>
      </p:cxnSp>
      <p:sp>
        <p:nvSpPr>
          <p:cNvPr id="35" name="AutoShape 35"/>
          <p:cNvSpPr/>
          <p:nvPr/>
        </p:nvSpPr>
        <p:spPr>
          <a:xfrm>
            <a:off x="5588000" y="5207000"/>
            <a:ext cx="3429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300" b="1" i="0" u="none" strike="noStrike">
                <a:solidFill>
                  <a:srgbClr val="1E3A8A"/>
                </a:solidFill>
                <a:latin typeface="Noto Sans SC"/>
                <a:ea typeface="Noto Sans SC"/>
                <a:cs typeface="Noto Sans SC"/>
                <a:sym typeface="Noto Sans SC"/>
              </a:rPr>
              <a:t>关联模块</a:t>
            </a:r>
            <a:endParaRPr lang="en-US" sz="1100"/>
          </a:p>
        </p:txBody>
      </p:sp>
      <p:sp>
        <p:nvSpPr>
          <p:cNvPr id="36" name="AutoShape 36"/>
          <p:cNvSpPr/>
          <p:nvPr/>
        </p:nvSpPr>
        <p:spPr>
          <a:xfrm>
            <a:off x="5588000" y="5524500"/>
            <a:ext cx="3429000" cy="5842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200" b="0" i="0" u="none" strike="noStrike">
                <a:solidFill>
                  <a:srgbClr val="475569"/>
                </a:solidFill>
                <a:latin typeface="Noto Sans SC"/>
                <a:ea typeface="Noto Sans SC"/>
                <a:cs typeface="Noto Sans SC"/>
                <a:sym typeface="Noto Sans SC"/>
              </a:rPr>
              <a:t>#4架次质检, #27-31指数, #34-37分类</a:t>
            </a:r>
            <a:endParaRPr lang="en-US" sz="1100"/>
          </a:p>
        </p:txBody>
      </p:sp>
      <p:cxnSp>
        <p:nvCxnSpPr>
          <p:cNvPr id="37" name="Connector 37"/>
          <p:cNvCxnSpPr/>
          <p:nvPr/>
        </p:nvCxnSpPr>
        <p:spPr>
          <a:xfrm rot="5352910">
            <a:off x="8680450" y="5664243"/>
            <a:ext cx="927100" cy="12700"/>
          </a:xfrm>
          <a:prstGeom prst="straightConnector1">
            <a:avLst/>
          </a:prstGeom>
          <a:solidFill>
            <a:srgbClr val="DEE0E3">
              <a:alpha val="100000"/>
            </a:srgbClr>
          </a:solidFill>
          <a:ln w="12700" cap="flat" cmpd="sng">
            <a:solidFill>
              <a:srgbClr val="CBD5E1">
                <a:alpha val="100000"/>
              </a:srgbClr>
            </a:solidFill>
            <a:prstDash val="solid"/>
            <a:round/>
            <a:headEnd type="none" w="med" len="med"/>
            <a:tailEnd type="none" w="med" len="med"/>
          </a:ln>
        </p:spPr>
      </p:cxnSp>
      <p:sp>
        <p:nvSpPr>
          <p:cNvPr id="38" name="AutoShape 38"/>
          <p:cNvSpPr/>
          <p:nvPr/>
        </p:nvSpPr>
        <p:spPr>
          <a:xfrm>
            <a:off x="9398000" y="5207000"/>
            <a:ext cx="24765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300" b="1" i="0" u="none" strike="noStrike">
                <a:solidFill>
                  <a:srgbClr val="1E3A8A"/>
                </a:solidFill>
                <a:latin typeface="Noto Sans SC"/>
                <a:ea typeface="Noto Sans SC"/>
                <a:cs typeface="Noto Sans SC"/>
                <a:sym typeface="Noto Sans SC"/>
              </a:rPr>
              <a:t>调用API</a:t>
            </a:r>
            <a:endParaRPr lang="en-US" sz="1100"/>
          </a:p>
        </p:txBody>
      </p:sp>
      <p:sp>
        <p:nvSpPr>
          <p:cNvPr id="39" name="AutoShape 39"/>
          <p:cNvSpPr/>
          <p:nvPr/>
        </p:nvSpPr>
        <p:spPr>
          <a:xfrm>
            <a:off x="9398000" y="5524500"/>
            <a:ext cx="2476500" cy="533400"/>
          </a:xfrm>
          <a:prstGeom prst="roundRect">
            <a:avLst>
              <a:gd name="adj" fmla="val 0"/>
            </a:avLst>
          </a:prstGeom>
          <a:solidFill>
            <a:srgbClr val="F1F5F9">
              <a:alpha val="100000"/>
            </a:srgbClr>
          </a:solidFill>
          <a:ln cap="flat" cmpd="sng">
            <a:solidFill>
              <a:srgbClr val="C2D1E0">
                <a:alpha val="100000"/>
              </a:srgbClr>
            </a:solidFill>
            <a:prstDash val="solid"/>
            <a:round/>
          </a:ln>
        </p:spPr>
        <p:txBody>
          <a:bodyPr vert="horz" wrap="square" lIns="63500" tIns="63500" rIns="63500" bIns="63500" rtlCol="0" anchor="ctr"/>
          <a:lstStyle/>
          <a:p>
            <a:pPr algn="ctr">
              <a:defRPr/>
            </a:pPr>
          </a:p>
        </p:txBody>
      </p:sp>
      <p:sp>
        <p:nvSpPr>
          <p:cNvPr id="40" name="AutoShape 40"/>
          <p:cNvSpPr/>
          <p:nvPr/>
        </p:nvSpPr>
        <p:spPr>
          <a:xfrm>
            <a:off x="9398000" y="5524500"/>
            <a:ext cx="2476500" cy="5334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100" b="0" i="0" u="none" strike="noStrike">
                <a:solidFill>
                  <a:srgbClr val="1E3A8A"/>
                </a:solidFill>
                <a:latin typeface="Noto Sans SC"/>
                <a:ea typeface="Noto Sans SC"/>
                <a:cs typeface="Noto Sans SC"/>
                <a:sym typeface="Noto Sans SC"/>
              </a:rPr>
              <a:t>/api/v1/05_cloud_shadow/run</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43000" cy="1143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6400" b="1" i="0" u="none" strike="noStrike">
                <a:solidFill>
                  <a:srgbClr val="1E3A8A">
                    <a:alpha val="12941"/>
                  </a:srgbClr>
                </a:solidFill>
                <a:latin typeface="Noto Sans SC"/>
                <a:ea typeface="Noto Sans SC"/>
                <a:cs typeface="Noto Sans SC"/>
                <a:sym typeface="Noto Sans SC"/>
              </a:rPr>
              <a:t>06</a:t>
            </a:r>
            <a:endParaRPr lang="en-US" sz="1100"/>
          </a:p>
        </p:txBody>
      </p:sp>
      <p:sp>
        <p:nvSpPr>
          <p:cNvPr id="3" name="AutoShape 3"/>
          <p:cNvSpPr/>
          <p:nvPr/>
        </p:nvSpPr>
        <p:spPr>
          <a:xfrm>
            <a:off x="1778000" y="381000"/>
            <a:ext cx="9144000" cy="5588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a:solidFill>
                  <a:srgbClr val="1E3A8A"/>
                </a:solidFill>
                <a:latin typeface="Noto Sans SC"/>
                <a:ea typeface="Noto Sans SC"/>
                <a:cs typeface="Noto Sans SC"/>
                <a:sym typeface="Noto Sans SC"/>
              </a:rPr>
              <a:t>辐射定标</a:t>
            </a:r>
            <a:r>
              <a:rPr lang="en-US" sz="2200" b="0" i="0" u="none" strike="noStrike">
                <a:solidFill>
                  <a:srgbClr val="475569"/>
                </a:solidFill>
                <a:latin typeface="Noto Sans SC"/>
                <a:ea typeface="Noto Sans SC"/>
                <a:cs typeface="Noto Sans SC"/>
                <a:sym typeface="Noto Sans SC"/>
              </a:rPr>
              <a:t>(DN → 辐亮度)</a:t>
            </a:r>
            <a:endParaRPr lang="en-US" sz="1100"/>
          </a:p>
        </p:txBody>
      </p:sp>
      <p:sp>
        <p:nvSpPr>
          <p:cNvPr id="4" name="AutoShape 4"/>
          <p:cNvSpPr/>
          <p:nvPr/>
        </p:nvSpPr>
        <p:spPr>
          <a:xfrm>
            <a:off x="1778000" y="965200"/>
            <a:ext cx="91440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300" b="0" i="0" u="none" strike="noStrike">
                <a:solidFill>
                  <a:srgbClr val="64748B"/>
                </a:solidFill>
                <a:latin typeface="Noto Sans SC"/>
                <a:ea typeface="Noto Sans SC"/>
                <a:cs typeface="Noto Sans SC"/>
                <a:sym typeface="Noto Sans SC"/>
              </a:rPr>
              <a:t>所属层级:L0→L1 ｜ 编号#6 ｜ 辅导材料:算法清单与API</a:t>
            </a:r>
            <a:endParaRPr lang="en-US" sz="1100"/>
          </a:p>
        </p:txBody>
      </p:sp>
      <p:cxnSp>
        <p:nvCxnSpPr>
          <p:cNvPr id="5" name="Connector 5"/>
          <p:cNvCxnSpPr/>
          <p:nvPr/>
        </p:nvCxnSpPr>
        <p:spPr>
          <a:xfrm rot="-3906">
            <a:off x="508004" y="1454150"/>
            <a:ext cx="11176000" cy="12700"/>
          </a:xfrm>
          <a:prstGeom prst="straightConnector1">
            <a:avLst/>
          </a:prstGeom>
          <a:solidFill>
            <a:srgbClr val="DEE0E3">
              <a:alpha val="100000"/>
            </a:srgbClr>
          </a:solidFill>
          <a:ln w="12700" cap="flat" cmpd="sng">
            <a:solidFill>
              <a:srgbClr val="D1D5DB">
                <a:alpha val="70000"/>
              </a:srgbClr>
            </a:solidFill>
            <a:prstDash val="solid"/>
            <a:round/>
            <a:headEnd type="none" w="med" len="med"/>
            <a:tailEnd type="none" w="med" len="med"/>
          </a:ln>
        </p:spPr>
      </p:cxnSp>
      <p:sp>
        <p:nvSpPr>
          <p:cNvPr id="6" name="AutoShape 6"/>
          <p:cNvSpPr/>
          <p:nvPr/>
        </p:nvSpPr>
        <p:spPr>
          <a:xfrm>
            <a:off x="508000" y="1587500"/>
            <a:ext cx="7112000" cy="11176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508000" y="1587500"/>
            <a:ext cx="50800" cy="11176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762000" y="1587500"/>
            <a:ext cx="66040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功能定义</a:t>
            </a:r>
            <a:endParaRPr lang="en-US" sz="1100"/>
          </a:p>
        </p:txBody>
      </p:sp>
      <p:sp>
        <p:nvSpPr>
          <p:cNvPr id="9" name="AutoShape 9"/>
          <p:cNvSpPr/>
          <p:nvPr/>
        </p:nvSpPr>
        <p:spPr>
          <a:xfrm>
            <a:off x="762000" y="1917700"/>
            <a:ext cx="6731000" cy="660400"/>
          </a:xfrm>
          <a:prstGeom prst="rect">
            <a:avLst/>
          </a:prstGeom>
          <a:noFill/>
          <a:ln w="12700" cap="flat" cmpd="sng">
            <a:noFill/>
            <a:prstDash val="solid"/>
            <a:round/>
          </a:ln>
        </p:spPr>
        <p:txBody>
          <a:bodyPr vert="horz" wrap="square" lIns="0" tIns="0" rIns="0" bIns="0" rtlCol="0" anchor="t" anchorCtr="0"/>
          <a:lstStyle/>
          <a:p>
            <a:pPr marL="0" indent="0" algn="l">
              <a:lnSpc>
                <a:spcPct val="121000"/>
              </a:lnSpc>
              <a:defRPr/>
            </a:pPr>
            <a:r>
              <a:rPr lang="en-US" sz="1400" b="0" i="0" u="none" strike="noStrike">
                <a:solidFill>
                  <a:srgbClr val="334155"/>
                </a:solidFill>
                <a:latin typeface="Noto Sans SC"/>
                <a:ea typeface="Noto Sans SC"/>
                <a:cs typeface="Noto Sans SC"/>
                <a:sym typeface="Noto Sans SC"/>
              </a:rPr>
              <a:t>将传感器的数字计数值(DN)转换为具有物理意义的辐亮度。</a:t>
            </a:r>
            <a:endParaRPr lang="en-US" sz="1100"/>
          </a:p>
        </p:txBody>
      </p:sp>
      <p:sp>
        <p:nvSpPr>
          <p:cNvPr id="10" name="AutoShape 10"/>
          <p:cNvSpPr/>
          <p:nvPr/>
        </p:nvSpPr>
        <p:spPr>
          <a:xfrm>
            <a:off x="508000" y="2806700"/>
            <a:ext cx="7112000" cy="11176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508000" y="2806700"/>
            <a:ext cx="50800" cy="11176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762000" y="2806700"/>
            <a:ext cx="66040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方法要点</a:t>
            </a:r>
            <a:endParaRPr lang="en-US" sz="1100"/>
          </a:p>
        </p:txBody>
      </p:sp>
      <p:sp>
        <p:nvSpPr>
          <p:cNvPr id="13" name="AutoShape 13"/>
          <p:cNvSpPr/>
          <p:nvPr/>
        </p:nvSpPr>
        <p:spPr>
          <a:xfrm>
            <a:off x="762000" y="3136900"/>
            <a:ext cx="6731000" cy="660400"/>
          </a:xfrm>
          <a:prstGeom prst="rect">
            <a:avLst/>
          </a:prstGeom>
          <a:noFill/>
          <a:ln w="12700" cap="flat" cmpd="sng">
            <a:noFill/>
            <a:prstDash val="solid"/>
            <a:round/>
          </a:ln>
        </p:spPr>
        <p:txBody>
          <a:bodyPr vert="horz" wrap="square" lIns="0" tIns="0" rIns="0" bIns="0" rtlCol="0" anchor="t" anchorCtr="0"/>
          <a:lstStyle/>
          <a:p>
            <a:pPr marL="0" indent="0" algn="l">
              <a:lnSpc>
                <a:spcPct val="121000"/>
              </a:lnSpc>
              <a:defRPr/>
            </a:pPr>
            <a:r>
              <a:rPr lang="en-US" sz="1400" b="0" i="0" u="none" strike="noStrike">
                <a:solidFill>
                  <a:srgbClr val="334155"/>
                </a:solidFill>
                <a:latin typeface="Noto Sans SC"/>
                <a:ea typeface="Noto Sans SC"/>
                <a:cs typeface="Noto Sans SC"/>
                <a:sym typeface="Noto Sans SC"/>
              </a:rPr>
              <a:t>利用定标系数文件,将DN值转换为辐亮度</a:t>
            </a:r>
            <a:r>
              <a:rPr lang="en-US" sz="1300" b="0" i="0" u="none" strike="noStrike">
                <a:solidFill>
                  <a:srgbClr val="64748B"/>
                </a:solidFill>
                <a:latin typeface="Noto Sans SC"/>
                <a:ea typeface="Noto Sans SC"/>
                <a:cs typeface="Noto Sans SC"/>
                <a:sym typeface="Noto Sans SC"/>
              </a:rPr>
              <a:t>(W/(m²·sr·nm))。</a:t>
            </a:r>
            <a:endParaRPr lang="en-US" sz="1100"/>
          </a:p>
        </p:txBody>
      </p:sp>
      <p:sp>
        <p:nvSpPr>
          <p:cNvPr id="14" name="AutoShape 14"/>
          <p:cNvSpPr/>
          <p:nvPr/>
        </p:nvSpPr>
        <p:spPr>
          <a:xfrm>
            <a:off x="508000" y="4025900"/>
            <a:ext cx="7112000" cy="11176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508000" y="4025900"/>
            <a:ext cx="50800" cy="11176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762000" y="4025900"/>
            <a:ext cx="66040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适用场景</a:t>
            </a:r>
            <a:endParaRPr lang="en-US" sz="1100"/>
          </a:p>
        </p:txBody>
      </p:sp>
      <p:sp>
        <p:nvSpPr>
          <p:cNvPr id="17" name="AutoShape 17"/>
          <p:cNvSpPr/>
          <p:nvPr/>
        </p:nvSpPr>
        <p:spPr>
          <a:xfrm>
            <a:off x="762000" y="4356100"/>
            <a:ext cx="6731000" cy="660400"/>
          </a:xfrm>
          <a:prstGeom prst="rect">
            <a:avLst/>
          </a:prstGeom>
          <a:noFill/>
          <a:ln w="12700" cap="flat" cmpd="sng">
            <a:noFill/>
            <a:prstDash val="solid"/>
            <a:round/>
          </a:ln>
        </p:spPr>
        <p:txBody>
          <a:bodyPr vert="horz" wrap="square" lIns="0" tIns="0" rIns="0" bIns="0" rtlCol="0" anchor="t" anchorCtr="0"/>
          <a:lstStyle/>
          <a:p>
            <a:pPr marL="0" indent="0" algn="l">
              <a:lnSpc>
                <a:spcPct val="121000"/>
              </a:lnSpc>
              <a:defRPr/>
            </a:pPr>
            <a:r>
              <a:rPr lang="en-US" sz="1400" b="0" i="0" u="none" strike="noStrike">
                <a:solidFill>
                  <a:srgbClr val="334155"/>
                </a:solidFill>
                <a:latin typeface="Noto Sans SC"/>
                <a:ea typeface="Noto Sans SC"/>
                <a:cs typeface="Noto Sans SC"/>
                <a:sym typeface="Noto Sans SC"/>
              </a:rPr>
              <a:t>所有需要进行定量分析和跨传感器对比的场景。</a:t>
            </a:r>
            <a:endParaRPr lang="en-US" sz="1100"/>
          </a:p>
        </p:txBody>
      </p:sp>
      <p:sp>
        <p:nvSpPr>
          <p:cNvPr id="18" name="AutoShape 18"/>
          <p:cNvSpPr/>
          <p:nvPr/>
        </p:nvSpPr>
        <p:spPr>
          <a:xfrm>
            <a:off x="508000" y="5245100"/>
            <a:ext cx="7112000" cy="11176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508000" y="5245100"/>
            <a:ext cx="50800" cy="11176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762000" y="5245100"/>
            <a:ext cx="66040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业务价值</a:t>
            </a:r>
            <a:endParaRPr lang="en-US" sz="1100"/>
          </a:p>
        </p:txBody>
      </p:sp>
      <p:sp>
        <p:nvSpPr>
          <p:cNvPr id="21" name="AutoShape 21"/>
          <p:cNvSpPr/>
          <p:nvPr/>
        </p:nvSpPr>
        <p:spPr>
          <a:xfrm>
            <a:off x="762000" y="5575300"/>
            <a:ext cx="6731000" cy="660400"/>
          </a:xfrm>
          <a:prstGeom prst="rect">
            <a:avLst/>
          </a:prstGeom>
          <a:noFill/>
          <a:ln w="12700" cap="flat" cmpd="sng">
            <a:noFill/>
            <a:prstDash val="solid"/>
            <a:round/>
          </a:ln>
        </p:spPr>
        <p:txBody>
          <a:bodyPr vert="horz" wrap="square" lIns="0" tIns="0" rIns="0" bIns="0" rtlCol="0" anchor="t" anchorCtr="0"/>
          <a:lstStyle/>
          <a:p>
            <a:pPr marL="0" indent="0" algn="l">
              <a:lnSpc>
                <a:spcPct val="121000"/>
              </a:lnSpc>
              <a:defRPr/>
            </a:pPr>
            <a:r>
              <a:rPr lang="en-US" sz="1400" b="0" i="0" u="none" strike="noStrike">
                <a:solidFill>
                  <a:srgbClr val="334155"/>
                </a:solidFill>
                <a:latin typeface="Noto Sans SC"/>
                <a:ea typeface="Noto Sans SC"/>
                <a:cs typeface="Noto Sans SC"/>
                <a:sym typeface="Noto Sans SC"/>
              </a:rPr>
              <a:t>使数据具备物理可比性,为后续的大气校正和反射率计算奠定基础。</a:t>
            </a:r>
            <a:endParaRPr lang="en-US" sz="1100"/>
          </a:p>
        </p:txBody>
      </p:sp>
      <p:sp>
        <p:nvSpPr>
          <p:cNvPr id="22" name="AutoShape 22"/>
          <p:cNvSpPr/>
          <p:nvPr/>
        </p:nvSpPr>
        <p:spPr>
          <a:xfrm>
            <a:off x="7874000" y="1587500"/>
            <a:ext cx="3810000" cy="1778000"/>
          </a:xfrm>
          <a:prstGeom prst="roundRect">
            <a:avLst>
              <a:gd name="adj" fmla="val 0"/>
            </a:avLst>
          </a:prstGeom>
          <a:solidFill>
            <a:srgbClr val="F59E0B">
              <a:alpha val="9000"/>
            </a:srgbClr>
          </a:solidFill>
          <a:ln cap="flat" cmpd="sng">
            <a:solidFill>
              <a:srgbClr val="DC8A00">
                <a:alpha val="9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7874000" y="1587500"/>
            <a:ext cx="50800" cy="1778000"/>
          </a:xfrm>
          <a:prstGeom prst="roundRect">
            <a:avLst>
              <a:gd name="adj" fmla="val 0"/>
            </a:avLst>
          </a:prstGeom>
          <a:solidFill>
            <a:srgbClr val="F59E0B">
              <a:alpha val="100000"/>
            </a:srgbClr>
          </a:solidFill>
          <a:ln cap="flat" cmpd="sng">
            <a:solidFill>
              <a:srgbClr val="DC8A00">
                <a:alpha val="100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8128000" y="1587500"/>
            <a:ext cx="3429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B45309"/>
                </a:solidFill>
                <a:latin typeface="Noto Sans SC"/>
                <a:ea typeface="Noto Sans SC"/>
                <a:cs typeface="Noto Sans SC"/>
                <a:sym typeface="Noto Sans SC"/>
              </a:rPr>
              <a:t>缺失影响</a:t>
            </a:r>
            <a:endParaRPr lang="en-US" sz="1100"/>
          </a:p>
        </p:txBody>
      </p:sp>
      <p:sp>
        <p:nvSpPr>
          <p:cNvPr id="25" name="AutoShape 25"/>
          <p:cNvSpPr/>
          <p:nvPr/>
        </p:nvSpPr>
        <p:spPr>
          <a:xfrm>
            <a:off x="8128000" y="1981200"/>
            <a:ext cx="3492500" cy="1016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451A03"/>
                </a:solidFill>
                <a:latin typeface="Noto Sans SC"/>
                <a:ea typeface="Noto Sans SC"/>
                <a:cs typeface="Noto Sans SC"/>
                <a:sym typeface="Noto Sans SC"/>
              </a:rPr>
              <a:t>未经辐射定标的DN值无物理意义,无法进行跨时间、跨传感器的定量比较。</a:t>
            </a:r>
            <a:endParaRPr lang="en-US" sz="1100"/>
          </a:p>
        </p:txBody>
      </p:sp>
      <p:cxnSp>
        <p:nvCxnSpPr>
          <p:cNvPr id="26" name="Connector 26"/>
          <p:cNvCxnSpPr/>
          <p:nvPr/>
        </p:nvCxnSpPr>
        <p:spPr>
          <a:xfrm rot="-11459">
            <a:off x="7874011" y="3524250"/>
            <a:ext cx="3810000" cy="12700"/>
          </a:xfrm>
          <a:prstGeom prst="straightConnector1">
            <a:avLst/>
          </a:prstGeom>
          <a:solidFill>
            <a:srgbClr val="DEE0E3">
              <a:alpha val="100000"/>
            </a:srgbClr>
          </a:solidFill>
          <a:ln w="12700" cap="flat" cmpd="sng">
            <a:solidFill>
              <a:srgbClr val="D1D5DB">
                <a:alpha val="60000"/>
              </a:srgbClr>
            </a:solidFill>
            <a:prstDash val="solid"/>
            <a:round/>
            <a:headEnd type="none" w="med" len="med"/>
            <a:tailEnd type="none" w="med" len="med"/>
          </a:ln>
        </p:spPr>
      </p:cxnSp>
      <p:sp>
        <p:nvSpPr>
          <p:cNvPr id="27" name="AutoShape 27"/>
          <p:cNvSpPr/>
          <p:nvPr/>
        </p:nvSpPr>
        <p:spPr>
          <a:xfrm>
            <a:off x="7874000" y="3619500"/>
            <a:ext cx="3810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流程位置与关联</a:t>
            </a:r>
            <a:endParaRPr lang="en-US" sz="1100"/>
          </a:p>
        </p:txBody>
      </p:sp>
      <p:sp>
        <p:nvSpPr>
          <p:cNvPr id="28" name="AutoShape 28"/>
          <p:cNvSpPr/>
          <p:nvPr/>
        </p:nvSpPr>
        <p:spPr>
          <a:xfrm>
            <a:off x="7874000" y="4064000"/>
            <a:ext cx="1143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0" i="0" u="none" strike="noStrike">
                <a:solidFill>
                  <a:srgbClr val="64748B"/>
                </a:solidFill>
                <a:latin typeface="Noto Sans SC"/>
                <a:ea typeface="Noto Sans SC"/>
                <a:cs typeface="Noto Sans SC"/>
                <a:sym typeface="Noto Sans SC"/>
              </a:rPr>
              <a:t>在哪个环节:</a:t>
            </a:r>
            <a:endParaRPr lang="en-US" sz="1100"/>
          </a:p>
        </p:txBody>
      </p:sp>
      <p:sp>
        <p:nvSpPr>
          <p:cNvPr id="29" name="AutoShape 29"/>
          <p:cNvSpPr/>
          <p:nvPr/>
        </p:nvSpPr>
        <p:spPr>
          <a:xfrm>
            <a:off x="9042400" y="4064000"/>
            <a:ext cx="2667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400" b="1" i="0" u="none" strike="noStrike">
                <a:solidFill>
                  <a:srgbClr val="1E3A8A"/>
                </a:solidFill>
                <a:latin typeface="Noto Sans SC"/>
                <a:ea typeface="Noto Sans SC"/>
                <a:cs typeface="Noto Sans SC"/>
                <a:sym typeface="Noto Sans SC"/>
              </a:rPr>
              <a:t>L0→L1</a:t>
            </a:r>
            <a:r>
              <a:rPr lang="en-US" sz="1300" b="0" i="0" u="none" strike="noStrike">
                <a:solidFill>
                  <a:srgbClr val="334155"/>
                </a:solidFill>
                <a:latin typeface="Noto Sans SC"/>
                <a:ea typeface="Noto Sans SC"/>
                <a:cs typeface="Noto Sans SC"/>
                <a:sym typeface="Noto Sans SC"/>
              </a:rPr>
              <a:t>传感器产品</a:t>
            </a:r>
            <a:endParaRPr lang="en-US" sz="1100"/>
          </a:p>
        </p:txBody>
      </p:sp>
      <p:sp>
        <p:nvSpPr>
          <p:cNvPr id="30" name="AutoShape 30"/>
          <p:cNvSpPr/>
          <p:nvPr/>
        </p:nvSpPr>
        <p:spPr>
          <a:xfrm>
            <a:off x="7874000" y="4521200"/>
            <a:ext cx="1143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0" i="0" u="none" strike="noStrike">
                <a:solidFill>
                  <a:srgbClr val="64748B"/>
                </a:solidFill>
                <a:latin typeface="Noto Sans SC"/>
                <a:ea typeface="Noto Sans SC"/>
                <a:cs typeface="Noto Sans SC"/>
                <a:sym typeface="Noto Sans SC"/>
              </a:rPr>
              <a:t>关联:</a:t>
            </a:r>
            <a:endParaRPr lang="en-US" sz="1100"/>
          </a:p>
        </p:txBody>
      </p:sp>
      <p:sp>
        <p:nvSpPr>
          <p:cNvPr id="31" name="AutoShape 31"/>
          <p:cNvSpPr/>
          <p:nvPr/>
        </p:nvSpPr>
        <p:spPr>
          <a:xfrm>
            <a:off x="9042400" y="4521200"/>
            <a:ext cx="2667000" cy="533400"/>
          </a:xfrm>
          <a:prstGeom prst="rect">
            <a:avLst/>
          </a:prstGeom>
          <a:noFill/>
          <a:ln w="12700" cap="flat" cmpd="sng">
            <a:noFill/>
            <a:prstDash val="solid"/>
            <a:round/>
          </a:ln>
        </p:spPr>
        <p:txBody>
          <a:bodyPr vert="horz" wrap="square" lIns="0" tIns="0" rIns="0" bIns="0" rtlCol="0" anchor="t" anchorCtr="0"/>
          <a:lstStyle/>
          <a:p>
            <a:pPr marL="0" indent="0" algn="l">
              <a:lnSpc>
                <a:spcPct val="113000"/>
              </a:lnSpc>
              <a:defRPr/>
            </a:pPr>
            <a:r>
              <a:rPr lang="en-US" sz="1300" b="0" i="0" u="none" strike="noStrike">
                <a:solidFill>
                  <a:srgbClr val="334155"/>
                </a:solidFill>
                <a:latin typeface="Noto Sans SC"/>
                <a:ea typeface="Noto Sans SC"/>
                <a:cs typeface="Noto Sans SC"/>
                <a:sym typeface="Noto Sans SC"/>
              </a:rPr>
              <a:t>#12反射率定标,#13大气校正</a:t>
            </a:r>
            <a:endParaRPr lang="en-US" sz="1100"/>
          </a:p>
        </p:txBody>
      </p:sp>
      <p:sp>
        <p:nvSpPr>
          <p:cNvPr id="32" name="AutoShape 32"/>
          <p:cNvSpPr/>
          <p:nvPr/>
        </p:nvSpPr>
        <p:spPr>
          <a:xfrm>
            <a:off x="7874000" y="5207000"/>
            <a:ext cx="3810000" cy="914400"/>
          </a:xfrm>
          <a:prstGeom prst="roundRect">
            <a:avLst>
              <a:gd name="adj" fmla="val 0"/>
            </a:avLst>
          </a:prstGeom>
          <a:gradFill rotWithShape="1">
            <a:gsLst>
              <a:gs pos="0">
                <a:srgbClr val="1E3A8A">
                  <a:alpha val="6000"/>
                </a:srgbClr>
              </a:gs>
              <a:gs pos="100000">
                <a:srgbClr val="1E3A8A">
                  <a:alpha val="2000"/>
                </a:srgbClr>
              </a:gs>
            </a:gsLst>
            <a:lin ang="0"/>
          </a:gradFill>
          <a:ln cap="flat" cmpd="sng">
            <a:gradFill rotWithShape="1">
              <a:gsLst>
                <a:gs pos="0">
                  <a:srgbClr val="0D2771">
                    <a:alpha val="6000"/>
                  </a:srgbClr>
                </a:gs>
                <a:gs pos="100000">
                  <a:srgbClr val="0D2771">
                    <a:alpha val="2000"/>
                  </a:srgbClr>
                </a:gs>
              </a:gsLst>
              <a:lin ang="0"/>
            </a:gradFill>
            <a:prstDash val="solid"/>
            <a:round/>
          </a:ln>
        </p:spPr>
        <p:txBody>
          <a:bodyPr vert="horz" wrap="square" lIns="63500" tIns="63500" rIns="63500" bIns="63500" rtlCol="0" anchor="ctr"/>
          <a:lstStyle/>
          <a:p>
            <a:pPr algn="ctr">
              <a:defRPr/>
            </a:pPr>
          </a:p>
        </p:txBody>
      </p:sp>
      <p:sp>
        <p:nvSpPr>
          <p:cNvPr id="33" name="AutoShape 33"/>
          <p:cNvSpPr/>
          <p:nvPr/>
        </p:nvSpPr>
        <p:spPr>
          <a:xfrm>
            <a:off x="8026400" y="5245100"/>
            <a:ext cx="35560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100" b="1" i="0" u="none" strike="noStrike">
                <a:solidFill>
                  <a:srgbClr val="1E3A8A"/>
                </a:solidFill>
                <a:latin typeface="Noto Sans SC"/>
                <a:ea typeface="Noto Sans SC"/>
                <a:cs typeface="Noto Sans SC"/>
                <a:sym typeface="Noto Sans SC"/>
              </a:rPr>
              <a:t>[API]</a:t>
            </a:r>
            <a:endParaRPr lang="en-US" sz="1100"/>
          </a:p>
        </p:txBody>
      </p:sp>
      <p:sp>
        <p:nvSpPr>
          <p:cNvPr id="34" name="AutoShape 34"/>
          <p:cNvSpPr/>
          <p:nvPr/>
        </p:nvSpPr>
        <p:spPr>
          <a:xfrm>
            <a:off x="8026400" y="5524500"/>
            <a:ext cx="3556000" cy="533400"/>
          </a:xfrm>
          <a:prstGeom prst="rect">
            <a:avLst/>
          </a:prstGeom>
          <a:noFill/>
          <a:ln w="12700" cap="flat" cmpd="sng">
            <a:noFill/>
            <a:prstDash val="solid"/>
            <a:round/>
          </a:ln>
        </p:spPr>
        <p:txBody>
          <a:bodyPr vert="horz" wrap="square" lIns="0" tIns="0" rIns="0" bIns="0" rtlCol="0" anchor="t" anchorCtr="0"/>
          <a:lstStyle/>
          <a:p>
            <a:pPr marL="0" indent="0" algn="l">
              <a:lnSpc>
                <a:spcPct val="96000"/>
              </a:lnSpc>
              <a:defRPr/>
            </a:pPr>
            <a:r>
              <a:rPr lang="en-US" sz="1300" b="0" i="0" u="none" strike="noStrike">
                <a:solidFill>
                  <a:srgbClr val="334155"/>
                </a:solidFill>
                <a:latin typeface="Noto Sans SC"/>
                <a:ea typeface="Noto Sans SC"/>
                <a:cs typeface="Noto Sans SC"/>
                <a:sym typeface="Noto Sans SC"/>
              </a:rPr>
              <a:t>/api/v1/06_radiometric_calibration/run</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096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2800" b="1" i="0" u="none" strike="noStrike" spc="100">
                <a:solidFill>
                  <a:srgbClr val="1E3A8A"/>
                </a:solidFill>
                <a:latin typeface="Noto Sans SC"/>
                <a:ea typeface="Noto Sans SC"/>
                <a:cs typeface="Noto Sans SC"/>
                <a:sym typeface="Noto Sans SC"/>
              </a:rPr>
              <a:t>07.暗电流校正</a:t>
            </a:r>
            <a:endParaRPr lang="en-US" sz="1100"/>
          </a:p>
        </p:txBody>
      </p:sp>
      <p:sp>
        <p:nvSpPr>
          <p:cNvPr id="3" name="AutoShape 3"/>
          <p:cNvSpPr/>
          <p:nvPr/>
        </p:nvSpPr>
        <p:spPr>
          <a:xfrm>
            <a:off x="508000" y="1041400"/>
            <a:ext cx="11176000" cy="2794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300" b="0" i="0" u="none" strike="noStrike" spc="200">
                <a:solidFill>
                  <a:srgbClr val="64748B"/>
                </a:solidFill>
                <a:latin typeface="Noto Sans SC"/>
                <a:ea typeface="Noto Sans SC"/>
                <a:cs typeface="Noto Sans SC"/>
                <a:sym typeface="Noto Sans SC"/>
              </a:rPr>
              <a:t>所属层级:L0→L1 ｜ 编号#7 ｜ 辅导材料:算法清单与API</a:t>
            </a:r>
            <a:endParaRPr lang="en-US" sz="1100"/>
          </a:p>
        </p:txBody>
      </p:sp>
      <p:sp>
        <p:nvSpPr>
          <p:cNvPr id="4" name="AutoShape 4"/>
          <p:cNvSpPr/>
          <p:nvPr/>
        </p:nvSpPr>
        <p:spPr>
          <a:xfrm>
            <a:off x="508000" y="1524000"/>
            <a:ext cx="2540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2000" b="1" i="0" u="none" strike="noStrike">
                <a:latin typeface="Noto Sans SC"/>
                <a:ea typeface="Noto Sans SC"/>
                <a:cs typeface="Noto Sans SC"/>
                <a:sym typeface="Noto Sans SC"/>
              </a:rPr>
              <a:t>07</a:t>
            </a:r>
            <a:endParaRPr lang="en-US" sz="1100"/>
          </a:p>
        </p:txBody>
      </p:sp>
      <p:cxnSp>
        <p:nvCxnSpPr>
          <p:cNvPr id="5" name="Connector 5"/>
          <p:cNvCxnSpPr/>
          <p:nvPr/>
        </p:nvCxnSpPr>
        <p:spPr>
          <a:xfrm rot="5389257">
            <a:off x="1143000" y="3549660"/>
            <a:ext cx="40640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6" name="AutoShape 6"/>
          <p:cNvSpPr/>
          <p:nvPr/>
        </p:nvSpPr>
        <p:spPr>
          <a:xfrm>
            <a:off x="3429000" y="1524000"/>
            <a:ext cx="8255000" cy="863600"/>
          </a:xfrm>
          <a:prstGeom prst="roundRect">
            <a:avLst>
              <a:gd name="adj" fmla="val 0"/>
            </a:avLst>
          </a:prstGeom>
          <a:solidFill>
            <a:srgbClr val="EFF6FF">
              <a:alpha val="100000"/>
            </a:srgbClr>
          </a:solidFill>
          <a:ln cap="flat" cmpd="sng">
            <a:solidFill>
              <a:srgbClr val="C0D0E6">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3429000" y="1524000"/>
            <a:ext cx="50800" cy="8636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3683000" y="1524000"/>
            <a:ext cx="1905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700" b="1" i="0" u="none" strike="noStrike">
                <a:solidFill>
                  <a:srgbClr val="1E3A8A"/>
                </a:solidFill>
                <a:latin typeface="Noto Sans SC"/>
                <a:ea typeface="Noto Sans SC"/>
                <a:cs typeface="Noto Sans SC"/>
                <a:sym typeface="Noto Sans SC"/>
              </a:rPr>
              <a:t>功能定义</a:t>
            </a:r>
            <a:endParaRPr lang="en-US" sz="1100"/>
          </a:p>
        </p:txBody>
      </p:sp>
      <p:sp>
        <p:nvSpPr>
          <p:cNvPr id="9" name="AutoShape 9"/>
          <p:cNvSpPr/>
          <p:nvPr/>
        </p:nvSpPr>
        <p:spPr>
          <a:xfrm>
            <a:off x="5588000" y="1524000"/>
            <a:ext cx="596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0" i="0" u="none" strike="noStrike">
                <a:solidFill>
                  <a:srgbClr val="334155"/>
                </a:solidFill>
                <a:latin typeface="Noto Sans SC"/>
                <a:ea typeface="Noto Sans SC"/>
                <a:cs typeface="Noto Sans SC"/>
                <a:sym typeface="Noto Sans SC"/>
              </a:rPr>
              <a:t>去除传感器自身的电子噪声。</a:t>
            </a:r>
            <a:endParaRPr lang="en-US" sz="1100"/>
          </a:p>
        </p:txBody>
      </p:sp>
      <p:sp>
        <p:nvSpPr>
          <p:cNvPr id="10" name="AutoShape 10"/>
          <p:cNvSpPr/>
          <p:nvPr/>
        </p:nvSpPr>
        <p:spPr>
          <a:xfrm>
            <a:off x="3429000" y="2438400"/>
            <a:ext cx="8255000" cy="863600"/>
          </a:xfrm>
          <a:prstGeom prst="roundRect">
            <a:avLst>
              <a:gd name="adj" fmla="val 0"/>
            </a:avLst>
          </a:prstGeom>
          <a:solidFill>
            <a:srgbClr val="EFF6FF">
              <a:alpha val="100000"/>
            </a:srgbClr>
          </a:solidFill>
          <a:ln cap="flat" cmpd="sng">
            <a:solidFill>
              <a:srgbClr val="C0D0E6">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3429000" y="2438400"/>
            <a:ext cx="50800" cy="8636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3683000" y="2438400"/>
            <a:ext cx="1905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700" b="1" i="0" u="none" strike="noStrike">
                <a:solidFill>
                  <a:srgbClr val="1E3A8A"/>
                </a:solidFill>
                <a:latin typeface="Noto Sans SC"/>
                <a:ea typeface="Noto Sans SC"/>
                <a:cs typeface="Noto Sans SC"/>
                <a:sym typeface="Noto Sans SC"/>
              </a:rPr>
              <a:t>方法要点</a:t>
            </a:r>
            <a:endParaRPr lang="en-US" sz="1100"/>
          </a:p>
        </p:txBody>
      </p:sp>
      <p:sp>
        <p:nvSpPr>
          <p:cNvPr id="13" name="AutoShape 13"/>
          <p:cNvSpPr/>
          <p:nvPr/>
        </p:nvSpPr>
        <p:spPr>
          <a:xfrm>
            <a:off x="5588000" y="2438400"/>
            <a:ext cx="596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34155"/>
                </a:solidFill>
                <a:latin typeface="Noto Sans SC"/>
                <a:ea typeface="Noto Sans SC"/>
                <a:cs typeface="Noto Sans SC"/>
                <a:sym typeface="Noto Sans SC"/>
              </a:rPr>
              <a:t>在关闭快门或盖上镜头盖的情况下拍摄暗场图像,然后从原始图像中减去该暗场图像的平均值。</a:t>
            </a:r>
            <a:endParaRPr lang="en-US" sz="1100"/>
          </a:p>
        </p:txBody>
      </p:sp>
      <p:sp>
        <p:nvSpPr>
          <p:cNvPr id="14" name="AutoShape 14"/>
          <p:cNvSpPr/>
          <p:nvPr/>
        </p:nvSpPr>
        <p:spPr>
          <a:xfrm>
            <a:off x="3429000" y="3352800"/>
            <a:ext cx="8255000" cy="863600"/>
          </a:xfrm>
          <a:prstGeom prst="roundRect">
            <a:avLst>
              <a:gd name="adj" fmla="val 0"/>
            </a:avLst>
          </a:prstGeom>
          <a:solidFill>
            <a:srgbClr val="EFF6FF">
              <a:alpha val="100000"/>
            </a:srgbClr>
          </a:solidFill>
          <a:ln cap="flat" cmpd="sng">
            <a:solidFill>
              <a:srgbClr val="C0D0E6">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3429000" y="3352800"/>
            <a:ext cx="50800" cy="8636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3683000" y="3352800"/>
            <a:ext cx="1905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700" b="1" i="0" u="none" strike="noStrike">
                <a:solidFill>
                  <a:srgbClr val="1E3A8A"/>
                </a:solidFill>
                <a:latin typeface="Noto Sans SC"/>
                <a:ea typeface="Noto Sans SC"/>
                <a:cs typeface="Noto Sans SC"/>
                <a:sym typeface="Noto Sans SC"/>
              </a:rPr>
              <a:t>适用场景</a:t>
            </a:r>
            <a:endParaRPr lang="en-US" sz="1100"/>
          </a:p>
        </p:txBody>
      </p:sp>
      <p:sp>
        <p:nvSpPr>
          <p:cNvPr id="17" name="AutoShape 17"/>
          <p:cNvSpPr/>
          <p:nvPr/>
        </p:nvSpPr>
        <p:spPr>
          <a:xfrm>
            <a:off x="5588000" y="3352800"/>
            <a:ext cx="596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34155"/>
                </a:solidFill>
                <a:latin typeface="Noto Sans SC"/>
                <a:ea typeface="Noto Sans SC"/>
                <a:cs typeface="Noto Sans SC"/>
                <a:sym typeface="Noto Sans SC"/>
              </a:rPr>
              <a:t>高光谱数据预处理的标准步骤,尤其在低光照条件下。</a:t>
            </a:r>
            <a:endParaRPr lang="en-US" sz="1100"/>
          </a:p>
        </p:txBody>
      </p:sp>
      <p:sp>
        <p:nvSpPr>
          <p:cNvPr id="18" name="AutoShape 18"/>
          <p:cNvSpPr/>
          <p:nvPr/>
        </p:nvSpPr>
        <p:spPr>
          <a:xfrm>
            <a:off x="3429000" y="4267200"/>
            <a:ext cx="8255000" cy="863600"/>
          </a:xfrm>
          <a:prstGeom prst="roundRect">
            <a:avLst>
              <a:gd name="adj" fmla="val 0"/>
            </a:avLst>
          </a:prstGeom>
          <a:solidFill>
            <a:srgbClr val="EFF6FF">
              <a:alpha val="100000"/>
            </a:srgbClr>
          </a:solidFill>
          <a:ln cap="flat" cmpd="sng">
            <a:solidFill>
              <a:srgbClr val="C0D0E6">
                <a:alpha val="10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3429000" y="4267200"/>
            <a:ext cx="50800" cy="8636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3683000" y="4267200"/>
            <a:ext cx="1905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700" b="1" i="0" u="none" strike="noStrike">
                <a:solidFill>
                  <a:srgbClr val="1E3A8A"/>
                </a:solidFill>
                <a:latin typeface="Noto Sans SC"/>
                <a:ea typeface="Noto Sans SC"/>
                <a:cs typeface="Noto Sans SC"/>
                <a:sym typeface="Noto Sans SC"/>
              </a:rPr>
              <a:t>业务价值</a:t>
            </a:r>
            <a:endParaRPr lang="en-US" sz="1100"/>
          </a:p>
        </p:txBody>
      </p:sp>
      <p:sp>
        <p:nvSpPr>
          <p:cNvPr id="21" name="AutoShape 21"/>
          <p:cNvSpPr/>
          <p:nvPr/>
        </p:nvSpPr>
        <p:spPr>
          <a:xfrm>
            <a:off x="5588000" y="4267200"/>
            <a:ext cx="596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34155"/>
                </a:solidFill>
                <a:latin typeface="Noto Sans SC"/>
                <a:ea typeface="Noto Sans SC"/>
                <a:cs typeface="Noto Sans SC"/>
                <a:sym typeface="Noto Sans SC"/>
              </a:rPr>
              <a:t>保证图像的干净整洁,避免条纹、斑点等伪影干扰后续分析。</a:t>
            </a:r>
            <a:endParaRPr lang="en-US" sz="1100"/>
          </a:p>
        </p:txBody>
      </p:sp>
      <p:sp>
        <p:nvSpPr>
          <p:cNvPr id="22" name="AutoShape 22"/>
          <p:cNvSpPr/>
          <p:nvPr/>
        </p:nvSpPr>
        <p:spPr>
          <a:xfrm>
            <a:off x="3429000" y="5181600"/>
            <a:ext cx="8255000" cy="863600"/>
          </a:xfrm>
          <a:prstGeom prst="roundRect">
            <a:avLst>
              <a:gd name="adj" fmla="val 0"/>
            </a:avLst>
          </a:prstGeom>
          <a:solidFill>
            <a:srgbClr val="FFF7ED">
              <a:alpha val="100000"/>
            </a:srgbClr>
          </a:solidFill>
          <a:ln cap="flat" cmpd="sng">
            <a:solidFill>
              <a:srgbClr val="E6D4BE">
                <a:alpha val="10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3429000" y="5181600"/>
            <a:ext cx="50800" cy="863600"/>
          </a:xfrm>
          <a:prstGeom prst="roundRect">
            <a:avLst>
              <a:gd name="adj" fmla="val 0"/>
            </a:avLst>
          </a:prstGeom>
          <a:solidFill>
            <a:srgbClr val="F59E0B">
              <a:alpha val="100000"/>
            </a:srgbClr>
          </a:solidFill>
          <a:ln cap="flat" cmpd="sng">
            <a:solidFill>
              <a:srgbClr val="DC8A00">
                <a:alpha val="100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3683000" y="5181600"/>
            <a:ext cx="1905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700" b="1" i="0" u="none" strike="noStrike">
                <a:solidFill>
                  <a:srgbClr val="D97706"/>
                </a:solidFill>
                <a:latin typeface="Noto Sans SC"/>
                <a:ea typeface="Noto Sans SC"/>
                <a:cs typeface="Noto Sans SC"/>
                <a:sym typeface="Noto Sans SC"/>
              </a:rPr>
              <a:t>缺失影响</a:t>
            </a:r>
            <a:endParaRPr lang="en-US" sz="1100"/>
          </a:p>
        </p:txBody>
      </p:sp>
      <p:sp>
        <p:nvSpPr>
          <p:cNvPr id="25" name="AutoShape 25"/>
          <p:cNvSpPr/>
          <p:nvPr/>
        </p:nvSpPr>
        <p:spPr>
          <a:xfrm>
            <a:off x="5588000" y="5181600"/>
            <a:ext cx="596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75569"/>
                </a:solidFill>
                <a:latin typeface="Noto Sans SC"/>
                <a:ea typeface="Noto Sans SC"/>
                <a:cs typeface="Noto Sans SC"/>
                <a:sym typeface="Noto Sans SC"/>
              </a:rPr>
              <a:t>图像中会存在固定的噪声模式,影响视觉效果和定量分析精度。</a:t>
            </a:r>
            <a:endParaRPr lang="en-US" sz="1100"/>
          </a:p>
        </p:txBody>
      </p:sp>
      <p:sp>
        <p:nvSpPr>
          <p:cNvPr id="26" name="AutoShape 26"/>
          <p:cNvSpPr/>
          <p:nvPr/>
        </p:nvSpPr>
        <p:spPr>
          <a:xfrm>
            <a:off x="508000" y="6121400"/>
            <a:ext cx="11176000" cy="5842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698500" y="6121400"/>
            <a:ext cx="2921000" cy="584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100" b="0" i="0" u="none" strike="noStrike">
                <a:solidFill>
                  <a:srgbClr val="64748B"/>
                </a:solidFill>
                <a:latin typeface="Noto Sans SC"/>
                <a:ea typeface="Noto Sans SC"/>
                <a:cs typeface="Noto Sans SC"/>
                <a:sym typeface="Noto Sans SC"/>
              </a:rPr>
              <a:t>在哪个环节</a:t>
            </a:r>
            <a:r>
              <a:rPr lang="en-US" sz="1300" b="1" i="0" u="none" strike="noStrike">
                <a:solidFill>
                  <a:srgbClr val="1E3A8A"/>
                </a:solidFill>
                <a:latin typeface="Noto Sans SC"/>
                <a:ea typeface="Noto Sans SC"/>
                <a:cs typeface="Noto Sans SC"/>
                <a:sym typeface="Noto Sans SC"/>
              </a:rPr>
              <a:t>L0→L1传感器产品</a:t>
            </a:r>
            <a:endParaRPr lang="en-US" sz="1100"/>
          </a:p>
        </p:txBody>
      </p:sp>
      <p:cxnSp>
        <p:nvCxnSpPr>
          <p:cNvPr id="28" name="Connector 28"/>
          <p:cNvCxnSpPr/>
          <p:nvPr/>
        </p:nvCxnSpPr>
        <p:spPr>
          <a:xfrm rot="5285450">
            <a:off x="3619500" y="6407256"/>
            <a:ext cx="3810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29" name="AutoShape 29"/>
          <p:cNvSpPr/>
          <p:nvPr/>
        </p:nvSpPr>
        <p:spPr>
          <a:xfrm>
            <a:off x="4000500" y="6121400"/>
            <a:ext cx="2921000" cy="584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100" b="0" i="0" u="none" strike="noStrike">
                <a:solidFill>
                  <a:srgbClr val="64748B"/>
                </a:solidFill>
                <a:latin typeface="Noto Sans SC"/>
                <a:ea typeface="Noto Sans SC"/>
                <a:cs typeface="Noto Sans SC"/>
                <a:sym typeface="Noto Sans SC"/>
              </a:rPr>
              <a:t>关联</a:t>
            </a:r>
            <a:r>
              <a:rPr lang="en-US" sz="1300" b="1" i="0" u="none" strike="noStrike">
                <a:solidFill>
                  <a:srgbClr val="1E3A8A"/>
                </a:solidFill>
                <a:latin typeface="Noto Sans SC"/>
                <a:ea typeface="Noto Sans SC"/>
                <a:cs typeface="Noto Sans SC"/>
                <a:sym typeface="Noto Sans SC"/>
              </a:rPr>
              <a:t>#8坏线/坏像元修复</a:t>
            </a:r>
            <a:endParaRPr lang="en-US" sz="1100"/>
          </a:p>
        </p:txBody>
      </p:sp>
      <p:cxnSp>
        <p:nvCxnSpPr>
          <p:cNvPr id="30" name="Connector 30"/>
          <p:cNvCxnSpPr/>
          <p:nvPr/>
        </p:nvCxnSpPr>
        <p:spPr>
          <a:xfrm rot="5285450">
            <a:off x="6921500" y="6407256"/>
            <a:ext cx="3810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31" name="AutoShape 31"/>
          <p:cNvSpPr/>
          <p:nvPr/>
        </p:nvSpPr>
        <p:spPr>
          <a:xfrm>
            <a:off x="7302500" y="6121400"/>
            <a:ext cx="4381500" cy="584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100" b="0" i="0" u="none" strike="noStrike">
                <a:solidFill>
                  <a:srgbClr val="64748B"/>
                </a:solidFill>
                <a:latin typeface="Noto Sans SC"/>
                <a:ea typeface="Noto Sans SC"/>
                <a:cs typeface="Noto Sans SC"/>
                <a:sym typeface="Noto Sans SC"/>
              </a:rPr>
              <a:t>[API]</a:t>
            </a:r>
            <a:r>
              <a:rPr lang="en-US" sz="1200" b="1" i="0" u="none" strike="noStrike">
                <a:solidFill>
                  <a:srgbClr val="1E3A8A"/>
                </a:solidFill>
                <a:latin typeface="Noto Sans SC"/>
                <a:ea typeface="Noto Sans SC"/>
                <a:cs typeface="Noto Sans SC"/>
                <a:sym typeface="Noto Sans SC"/>
              </a:rPr>
              <a:t>/api/v1/07_dark_current_correction/run</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43000" cy="762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4400" b="1" i="0" u="none" strike="noStrike">
                <a:solidFill>
                  <a:srgbClr val="1E3A8A">
                    <a:alpha val="18039"/>
                  </a:srgbClr>
                </a:solidFill>
                <a:latin typeface="Inter"/>
                <a:ea typeface="Inter"/>
                <a:cs typeface="Inter"/>
                <a:sym typeface="Inter"/>
              </a:rPr>
              <a:t>08</a:t>
            </a:r>
            <a:endParaRPr lang="en-US" sz="1100"/>
          </a:p>
        </p:txBody>
      </p:sp>
      <p:sp>
        <p:nvSpPr>
          <p:cNvPr id="3" name="AutoShape 3"/>
          <p:cNvSpPr/>
          <p:nvPr/>
        </p:nvSpPr>
        <p:spPr>
          <a:xfrm>
            <a:off x="1651000" y="406400"/>
            <a:ext cx="8890000" cy="5334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a:solidFill>
                  <a:srgbClr val="1E3A8A"/>
                </a:solidFill>
                <a:latin typeface="Noto Sans SC"/>
                <a:ea typeface="Noto Sans SC"/>
                <a:cs typeface="Noto Sans SC"/>
                <a:sym typeface="Noto Sans SC"/>
              </a:rPr>
              <a:t>坏线/坏像元修复</a:t>
            </a:r>
            <a:endParaRPr lang="en-US" sz="1100"/>
          </a:p>
        </p:txBody>
      </p:sp>
      <p:sp>
        <p:nvSpPr>
          <p:cNvPr id="4" name="AutoShape 4"/>
          <p:cNvSpPr/>
          <p:nvPr/>
        </p:nvSpPr>
        <p:spPr>
          <a:xfrm>
            <a:off x="1651000" y="939800"/>
            <a:ext cx="8890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300" b="0" i="0" u="none" strike="noStrike">
                <a:solidFill>
                  <a:srgbClr val="64748B"/>
                </a:solidFill>
                <a:latin typeface="Noto Sans SC"/>
                <a:ea typeface="Noto Sans SC"/>
                <a:cs typeface="Noto Sans SC"/>
                <a:sym typeface="Noto Sans SC"/>
              </a:rPr>
              <a:t>所属层级:L0→L1 ｜ 编号#8 ｜ 辅导材料:算法清单与API</a:t>
            </a:r>
            <a:endParaRPr lang="en-US" sz="1100"/>
          </a:p>
        </p:txBody>
      </p:sp>
      <p:cxnSp>
        <p:nvCxnSpPr>
          <p:cNvPr id="5" name="Connector 5"/>
          <p:cNvCxnSpPr/>
          <p:nvPr/>
        </p:nvCxnSpPr>
        <p:spPr>
          <a:xfrm rot="-3906">
            <a:off x="508004" y="1416050"/>
            <a:ext cx="111760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6" name="AutoShape 6"/>
          <p:cNvSpPr/>
          <p:nvPr/>
        </p:nvSpPr>
        <p:spPr>
          <a:xfrm>
            <a:off x="508000" y="1549400"/>
            <a:ext cx="6858000" cy="1206500"/>
          </a:xfrm>
          <a:prstGeom prst="roundRect">
            <a:avLst>
              <a:gd name="adj" fmla="val 0"/>
            </a:avLst>
          </a:prstGeom>
          <a:solidFill>
            <a:srgbClr val="EFF6FF">
              <a:alpha val="100000"/>
            </a:srgbClr>
          </a:solidFill>
          <a:ln cap="flat" cmpd="sng">
            <a:solidFill>
              <a:srgbClr val="C0D0E6">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508000" y="1549400"/>
            <a:ext cx="50800" cy="12065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762000" y="1549400"/>
            <a:ext cx="6477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900" b="1" i="0" u="none" strike="noStrike">
                <a:solidFill>
                  <a:srgbClr val="1E3A8A"/>
                </a:solidFill>
                <a:latin typeface="Noto Sans SC"/>
                <a:ea typeface="Noto Sans SC"/>
                <a:cs typeface="Noto Sans SC"/>
                <a:sym typeface="Noto Sans SC"/>
              </a:rPr>
              <a:t>功能定义</a:t>
            </a:r>
            <a:endParaRPr lang="en-US" sz="1100"/>
          </a:p>
        </p:txBody>
      </p:sp>
      <p:sp>
        <p:nvSpPr>
          <p:cNvPr id="9" name="AutoShape 9"/>
          <p:cNvSpPr/>
          <p:nvPr/>
        </p:nvSpPr>
        <p:spPr>
          <a:xfrm>
            <a:off x="762000" y="1905000"/>
            <a:ext cx="6477000" cy="6985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34155"/>
                </a:solidFill>
                <a:latin typeface="Noto Sans SC"/>
                <a:ea typeface="Noto Sans SC"/>
                <a:cs typeface="Noto Sans SC"/>
                <a:sym typeface="Noto Sans SC"/>
              </a:rPr>
              <a:t>修复传感器硬件缺陷导致的异常像素或线条。</a:t>
            </a:r>
            <a:endParaRPr lang="en-US" sz="1100"/>
          </a:p>
        </p:txBody>
      </p:sp>
      <p:sp>
        <p:nvSpPr>
          <p:cNvPr id="10" name="AutoShape 10"/>
          <p:cNvSpPr/>
          <p:nvPr/>
        </p:nvSpPr>
        <p:spPr>
          <a:xfrm>
            <a:off x="508000" y="2819400"/>
            <a:ext cx="6858000" cy="1206500"/>
          </a:xfrm>
          <a:prstGeom prst="roundRect">
            <a:avLst>
              <a:gd name="adj" fmla="val 0"/>
            </a:avLst>
          </a:prstGeom>
          <a:solidFill>
            <a:srgbClr val="EFF6FF">
              <a:alpha val="100000"/>
            </a:srgbClr>
          </a:solidFill>
          <a:ln cap="flat" cmpd="sng">
            <a:solidFill>
              <a:srgbClr val="C0D0E6">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508000" y="2819400"/>
            <a:ext cx="50800" cy="12065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762000" y="2819400"/>
            <a:ext cx="6477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900" b="1" i="0" u="none" strike="noStrike">
                <a:solidFill>
                  <a:srgbClr val="1E3A8A"/>
                </a:solidFill>
                <a:latin typeface="Noto Sans SC"/>
                <a:ea typeface="Noto Sans SC"/>
                <a:cs typeface="Noto Sans SC"/>
                <a:sym typeface="Noto Sans SC"/>
              </a:rPr>
              <a:t>方法要点</a:t>
            </a:r>
            <a:endParaRPr lang="en-US" sz="1100"/>
          </a:p>
        </p:txBody>
      </p:sp>
      <p:sp>
        <p:nvSpPr>
          <p:cNvPr id="13" name="AutoShape 13"/>
          <p:cNvSpPr/>
          <p:nvPr/>
        </p:nvSpPr>
        <p:spPr>
          <a:xfrm>
            <a:off x="762000" y="3175000"/>
            <a:ext cx="6477000" cy="6985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34155"/>
                </a:solidFill>
                <a:latin typeface="Noto Sans SC"/>
                <a:ea typeface="Noto Sans SC"/>
                <a:cs typeface="Noto Sans SC"/>
                <a:sym typeface="Noto Sans SC"/>
              </a:rPr>
              <a:t>通过插值或邻域平均的方法,用周围正常像素的值替换坏线或坏像元的值。</a:t>
            </a:r>
            <a:endParaRPr lang="en-US" sz="1100"/>
          </a:p>
        </p:txBody>
      </p:sp>
      <p:sp>
        <p:nvSpPr>
          <p:cNvPr id="14" name="AutoShape 14"/>
          <p:cNvSpPr/>
          <p:nvPr/>
        </p:nvSpPr>
        <p:spPr>
          <a:xfrm>
            <a:off x="508000" y="4089400"/>
            <a:ext cx="6858000" cy="1206500"/>
          </a:xfrm>
          <a:prstGeom prst="roundRect">
            <a:avLst>
              <a:gd name="adj" fmla="val 0"/>
            </a:avLst>
          </a:prstGeom>
          <a:solidFill>
            <a:srgbClr val="EFF6FF">
              <a:alpha val="100000"/>
            </a:srgbClr>
          </a:solidFill>
          <a:ln cap="flat" cmpd="sng">
            <a:solidFill>
              <a:srgbClr val="C0D0E6">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508000" y="4089400"/>
            <a:ext cx="50800" cy="12065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762000" y="4089400"/>
            <a:ext cx="6477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900" b="1" i="0" u="none" strike="noStrike">
                <a:solidFill>
                  <a:srgbClr val="1E3A8A"/>
                </a:solidFill>
                <a:latin typeface="Noto Sans SC"/>
                <a:ea typeface="Noto Sans SC"/>
                <a:cs typeface="Noto Sans SC"/>
                <a:sym typeface="Noto Sans SC"/>
              </a:rPr>
              <a:t>适用场景</a:t>
            </a:r>
            <a:endParaRPr lang="en-US" sz="1100"/>
          </a:p>
        </p:txBody>
      </p:sp>
      <p:sp>
        <p:nvSpPr>
          <p:cNvPr id="17" name="AutoShape 17"/>
          <p:cNvSpPr/>
          <p:nvPr/>
        </p:nvSpPr>
        <p:spPr>
          <a:xfrm>
            <a:off x="762000" y="4445000"/>
            <a:ext cx="6477000" cy="6985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34155"/>
                </a:solidFill>
                <a:latin typeface="Noto Sans SC"/>
                <a:ea typeface="Noto Sans SC"/>
                <a:cs typeface="Noto Sans SC"/>
                <a:sym typeface="Noto Sans SC"/>
              </a:rPr>
              <a:t>高光谱数据预处理的标准步骤。</a:t>
            </a:r>
            <a:endParaRPr lang="en-US" sz="1100"/>
          </a:p>
        </p:txBody>
      </p:sp>
      <p:sp>
        <p:nvSpPr>
          <p:cNvPr id="18" name="AutoShape 18"/>
          <p:cNvSpPr/>
          <p:nvPr/>
        </p:nvSpPr>
        <p:spPr>
          <a:xfrm>
            <a:off x="7620000" y="1549400"/>
            <a:ext cx="4064000" cy="1270000"/>
          </a:xfrm>
          <a:prstGeom prst="roundRect">
            <a:avLst>
              <a:gd name="adj" fmla="val 0"/>
            </a:avLst>
          </a:prstGeom>
          <a:gradFill rotWithShape="1">
            <a:gsLst>
              <a:gs pos="0">
                <a:srgbClr val="1E3A8A">
                  <a:alpha val="10000"/>
                </a:srgbClr>
              </a:gs>
              <a:gs pos="100000">
                <a:srgbClr val="1E3A8A">
                  <a:alpha val="3000"/>
                </a:srgbClr>
              </a:gs>
            </a:gsLst>
            <a:lin ang="5400000"/>
          </a:gradFill>
          <a:ln cap="flat" cmpd="sng">
            <a:gradFill rotWithShape="1">
              <a:gsLst>
                <a:gs pos="0">
                  <a:srgbClr val="0D2771">
                    <a:alpha val="10000"/>
                  </a:srgbClr>
                </a:gs>
                <a:gs pos="100000">
                  <a:srgbClr val="0D2771">
                    <a:alpha val="3000"/>
                  </a:srgbClr>
                </a:gs>
              </a:gsLst>
              <a:lin ang="5400000"/>
            </a:gradFill>
            <a:prstDash val="solid"/>
            <a:round/>
          </a:ln>
        </p:spPr>
        <p:txBody>
          <a:bodyPr vert="horz" wrap="square" lIns="63500" tIns="63500" rIns="63500" bIns="63500" rtlCol="0" anchor="ctr"/>
          <a:lstStyle/>
          <a:p>
            <a:pPr algn="ctr">
              <a:defRPr/>
            </a:pPr>
          </a:p>
        </p:txBody>
      </p:sp>
      <p:sp>
        <p:nvSpPr>
          <p:cNvPr id="19" name="AutoShape 19"/>
          <p:cNvSpPr/>
          <p:nvPr/>
        </p:nvSpPr>
        <p:spPr>
          <a:xfrm>
            <a:off x="7620000" y="1549400"/>
            <a:ext cx="50800" cy="1270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7874000" y="1549400"/>
            <a:ext cx="3683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900" b="1" i="0" u="none" strike="noStrike">
                <a:solidFill>
                  <a:srgbClr val="1E3A8A"/>
                </a:solidFill>
                <a:latin typeface="Noto Sans SC"/>
                <a:ea typeface="Noto Sans SC"/>
                <a:cs typeface="Noto Sans SC"/>
                <a:sym typeface="Noto Sans SC"/>
              </a:rPr>
              <a:t>业务价值</a:t>
            </a:r>
            <a:endParaRPr lang="en-US" sz="1100"/>
          </a:p>
        </p:txBody>
      </p:sp>
      <p:sp>
        <p:nvSpPr>
          <p:cNvPr id="21" name="AutoShape 21"/>
          <p:cNvSpPr/>
          <p:nvPr/>
        </p:nvSpPr>
        <p:spPr>
          <a:xfrm>
            <a:off x="7874000" y="1930400"/>
            <a:ext cx="3746500" cy="825500"/>
          </a:xfrm>
          <a:prstGeom prst="rect">
            <a:avLst/>
          </a:prstGeom>
          <a:noFill/>
          <a:ln w="12700" cap="flat" cmpd="sng">
            <a:noFill/>
            <a:prstDash val="solid"/>
            <a:round/>
          </a:ln>
        </p:spPr>
        <p:txBody>
          <a:bodyPr vert="horz" wrap="square" lIns="0" tIns="0" rIns="0" bIns="0" rtlCol="0" anchor="t" anchorCtr="0"/>
          <a:lstStyle/>
          <a:p>
            <a:pPr marL="0" indent="0" algn="l">
              <a:lnSpc>
                <a:spcPct val="121000"/>
              </a:lnSpc>
              <a:defRPr/>
            </a:pPr>
            <a:r>
              <a:rPr lang="en-US" sz="1400" b="0" i="0" u="none" strike="noStrike">
                <a:solidFill>
                  <a:srgbClr val="334155"/>
                </a:solidFill>
                <a:latin typeface="Noto Sans SC"/>
                <a:ea typeface="Noto Sans SC"/>
                <a:cs typeface="Noto Sans SC"/>
                <a:sym typeface="Noto Sans SC"/>
              </a:rPr>
              <a:t>保证图像的干净整洁,避免条纹、斑点等伪影干扰后续分析。</a:t>
            </a:r>
            <a:endParaRPr lang="en-US" sz="1100"/>
          </a:p>
        </p:txBody>
      </p:sp>
      <p:sp>
        <p:nvSpPr>
          <p:cNvPr id="22" name="AutoShape 22"/>
          <p:cNvSpPr/>
          <p:nvPr/>
        </p:nvSpPr>
        <p:spPr>
          <a:xfrm>
            <a:off x="7620000" y="2946400"/>
            <a:ext cx="4064000" cy="1270000"/>
          </a:xfrm>
          <a:prstGeom prst="roundRect">
            <a:avLst>
              <a:gd name="adj" fmla="val 0"/>
            </a:avLst>
          </a:prstGeom>
          <a:solidFill>
            <a:srgbClr val="FEF2F2">
              <a:alpha val="100000"/>
            </a:srgbClr>
          </a:solidFill>
          <a:ln cap="flat" cmpd="sng">
            <a:solidFill>
              <a:srgbClr val="E5C3C3">
                <a:alpha val="10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7620000" y="2946400"/>
            <a:ext cx="50800" cy="1270000"/>
          </a:xfrm>
          <a:prstGeom prst="roundRect">
            <a:avLst>
              <a:gd name="adj" fmla="val 0"/>
            </a:avLst>
          </a:prstGeom>
          <a:solidFill>
            <a:srgbClr val="DC2626">
              <a:alpha val="100000"/>
            </a:srgbClr>
          </a:solidFill>
          <a:ln cap="flat" cmpd="sng">
            <a:solidFill>
              <a:srgbClr val="C30E0E">
                <a:alpha val="100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7874000" y="2946400"/>
            <a:ext cx="3683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900" b="1" i="0" u="none" strike="noStrike">
                <a:solidFill>
                  <a:srgbClr val="DC2626"/>
                </a:solidFill>
                <a:latin typeface="Noto Sans SC"/>
                <a:ea typeface="Noto Sans SC"/>
                <a:cs typeface="Noto Sans SC"/>
                <a:sym typeface="Noto Sans SC"/>
              </a:rPr>
              <a:t>缺失影响</a:t>
            </a:r>
            <a:endParaRPr lang="en-US" sz="1100"/>
          </a:p>
        </p:txBody>
      </p:sp>
      <p:sp>
        <p:nvSpPr>
          <p:cNvPr id="25" name="AutoShape 25"/>
          <p:cNvSpPr/>
          <p:nvPr/>
        </p:nvSpPr>
        <p:spPr>
          <a:xfrm>
            <a:off x="7874000" y="3327400"/>
            <a:ext cx="3746500" cy="825500"/>
          </a:xfrm>
          <a:prstGeom prst="rect">
            <a:avLst/>
          </a:prstGeom>
          <a:noFill/>
          <a:ln w="12700" cap="flat" cmpd="sng">
            <a:noFill/>
            <a:prstDash val="solid"/>
            <a:round/>
          </a:ln>
        </p:spPr>
        <p:txBody>
          <a:bodyPr vert="horz" wrap="square" lIns="0" tIns="0" rIns="0" bIns="0" rtlCol="0" anchor="t" anchorCtr="0"/>
          <a:lstStyle/>
          <a:p>
            <a:pPr marL="0" indent="0" algn="l">
              <a:lnSpc>
                <a:spcPct val="121000"/>
              </a:lnSpc>
              <a:defRPr/>
            </a:pPr>
            <a:r>
              <a:rPr lang="en-US" sz="1400" b="0" i="0" u="none" strike="noStrike">
                <a:solidFill>
                  <a:srgbClr val="475569"/>
                </a:solidFill>
                <a:latin typeface="Noto Sans SC"/>
                <a:ea typeface="Noto Sans SC"/>
                <a:cs typeface="Noto Sans SC"/>
                <a:sym typeface="Noto Sans SC"/>
              </a:rPr>
              <a:t>图像中会存在明显的亮线或暗线,影响视觉效果和定量分析精度。</a:t>
            </a:r>
            <a:endParaRPr lang="en-US" sz="1100"/>
          </a:p>
        </p:txBody>
      </p:sp>
      <p:sp>
        <p:nvSpPr>
          <p:cNvPr id="26" name="AutoShape 26"/>
          <p:cNvSpPr/>
          <p:nvPr/>
        </p:nvSpPr>
        <p:spPr>
          <a:xfrm>
            <a:off x="7620000" y="4381500"/>
            <a:ext cx="4064000" cy="1498600"/>
          </a:xfrm>
          <a:prstGeom prst="roundRect">
            <a:avLst>
              <a:gd name="adj" fmla="val 0"/>
            </a:avLst>
          </a:prstGeom>
          <a:solidFill>
            <a:srgbClr val="F1F5F9">
              <a:alpha val="100000"/>
            </a:srgbClr>
          </a:solidFill>
          <a:ln cap="flat" cmpd="sng">
            <a:solidFill>
              <a:srgbClr val="C2D1E0">
                <a:alpha val="100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7810500" y="4470400"/>
            <a:ext cx="127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100" b="0" i="0" u="none" strike="noStrike">
                <a:solidFill>
                  <a:srgbClr val="64748B"/>
                </a:solidFill>
                <a:latin typeface="Noto Sans SC"/>
                <a:ea typeface="Noto Sans SC"/>
                <a:cs typeface="Noto Sans SC"/>
                <a:sym typeface="Noto Sans SC"/>
              </a:rPr>
              <a:t>流程环节</a:t>
            </a:r>
            <a:endParaRPr lang="en-US" sz="1100"/>
          </a:p>
        </p:txBody>
      </p:sp>
      <p:sp>
        <p:nvSpPr>
          <p:cNvPr id="28" name="AutoShape 28"/>
          <p:cNvSpPr/>
          <p:nvPr/>
        </p:nvSpPr>
        <p:spPr>
          <a:xfrm>
            <a:off x="7810500" y="4737100"/>
            <a:ext cx="1333500" cy="482600"/>
          </a:xfrm>
          <a:prstGeom prst="rect">
            <a:avLst/>
          </a:prstGeom>
          <a:noFill/>
          <a:ln w="12700" cap="flat" cmpd="sng">
            <a:noFill/>
            <a:prstDash val="solid"/>
            <a:round/>
          </a:ln>
        </p:spPr>
        <p:txBody>
          <a:bodyPr vert="horz" wrap="square" lIns="0" tIns="0" rIns="0" bIns="0" rtlCol="0" anchor="t" anchorCtr="0"/>
          <a:lstStyle/>
          <a:p>
            <a:pPr marL="0" indent="0" algn="l">
              <a:lnSpc>
                <a:spcPct val="96000"/>
              </a:lnSpc>
              <a:defRPr/>
            </a:pPr>
            <a:r>
              <a:rPr lang="en-US" sz="1300" b="1" i="0" u="none" strike="noStrike">
                <a:solidFill>
                  <a:srgbClr val="1E3A8A"/>
                </a:solidFill>
                <a:latin typeface="Noto Sans SC"/>
                <a:ea typeface="Noto Sans SC"/>
                <a:cs typeface="Noto Sans SC"/>
                <a:sym typeface="Noto Sans SC"/>
              </a:rPr>
              <a:t>L0→L1</a:t>
            </a:r>
            <a:endParaRPr lang="en-US" sz="1100"/>
          </a:p>
          <a:p>
            <a:pPr marL="0" indent="0" algn="l">
              <a:lnSpc>
                <a:spcPct val="83000"/>
              </a:lnSpc>
            </a:pPr>
            <a:r>
              <a:rPr lang="en-US" sz="1100" b="0" i="0" u="none" strike="noStrike">
                <a:solidFill>
                  <a:srgbClr val="475569"/>
                </a:solidFill>
                <a:latin typeface="Noto Sans SC"/>
                <a:ea typeface="Noto Sans SC"/>
                <a:cs typeface="Noto Sans SC"/>
                <a:sym typeface="Noto Sans SC"/>
              </a:rPr>
              <a:t>传感器产品</a:t>
            </a:r>
            <a:endParaRPr lang="en-US" sz="1100" b="0" i="0" u="none" strike="noStrike">
              <a:solidFill>
                <a:srgbClr val="475569"/>
              </a:solidFill>
              <a:latin typeface="Noto Sans SC"/>
              <a:ea typeface="Noto Sans SC"/>
              <a:cs typeface="Noto Sans SC"/>
              <a:sym typeface="Noto Sans SC"/>
            </a:endParaRPr>
          </a:p>
        </p:txBody>
      </p:sp>
      <p:cxnSp>
        <p:nvCxnSpPr>
          <p:cNvPr id="29" name="Connector 29"/>
          <p:cNvCxnSpPr/>
          <p:nvPr/>
        </p:nvCxnSpPr>
        <p:spPr>
          <a:xfrm rot="5362224">
            <a:off x="8566150" y="5092735"/>
            <a:ext cx="1155700" cy="12700"/>
          </a:xfrm>
          <a:prstGeom prst="straightConnector1">
            <a:avLst/>
          </a:prstGeom>
          <a:solidFill>
            <a:srgbClr val="DEE0E3">
              <a:alpha val="100000"/>
            </a:srgbClr>
          </a:solidFill>
          <a:ln w="12700" cap="flat" cmpd="sng">
            <a:solidFill>
              <a:srgbClr val="94A3B8">
                <a:alpha val="35000"/>
              </a:srgbClr>
            </a:solidFill>
            <a:prstDash val="solid"/>
            <a:round/>
            <a:headEnd type="none" w="med" len="med"/>
            <a:tailEnd type="none" w="med" len="med"/>
          </a:ln>
        </p:spPr>
      </p:cxnSp>
      <p:sp>
        <p:nvSpPr>
          <p:cNvPr id="30" name="AutoShape 30"/>
          <p:cNvSpPr/>
          <p:nvPr/>
        </p:nvSpPr>
        <p:spPr>
          <a:xfrm>
            <a:off x="9207500" y="4470400"/>
            <a:ext cx="1143000" cy="254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100" b="0" i="0" u="none" strike="noStrike">
                <a:solidFill>
                  <a:srgbClr val="64748B"/>
                </a:solidFill>
                <a:latin typeface="Noto Sans SC"/>
                <a:ea typeface="Noto Sans SC"/>
                <a:cs typeface="Noto Sans SC"/>
                <a:sym typeface="Noto Sans SC"/>
              </a:rPr>
              <a:t>关联算法</a:t>
            </a:r>
            <a:endParaRPr lang="en-US" sz="1100"/>
          </a:p>
        </p:txBody>
      </p:sp>
      <p:sp>
        <p:nvSpPr>
          <p:cNvPr id="31" name="AutoShape 31"/>
          <p:cNvSpPr/>
          <p:nvPr/>
        </p:nvSpPr>
        <p:spPr>
          <a:xfrm>
            <a:off x="9207500" y="4737100"/>
            <a:ext cx="1270000" cy="482600"/>
          </a:xfrm>
          <a:prstGeom prst="rect">
            <a:avLst/>
          </a:prstGeom>
          <a:noFill/>
          <a:ln w="12700" cap="flat" cmpd="sng">
            <a:noFill/>
            <a:prstDash val="solid"/>
            <a:round/>
          </a:ln>
        </p:spPr>
        <p:txBody>
          <a:bodyPr vert="horz" wrap="square" lIns="0" tIns="0" rIns="0" bIns="0" rtlCol="0" anchor="t" anchorCtr="0"/>
          <a:lstStyle/>
          <a:p>
            <a:pPr marL="0" indent="0" algn="l">
              <a:lnSpc>
                <a:spcPct val="96000"/>
              </a:lnSpc>
              <a:defRPr/>
            </a:pPr>
            <a:r>
              <a:rPr lang="en-US" sz="1300" b="1" i="0" u="none" strike="noStrike">
                <a:solidFill>
                  <a:srgbClr val="1E3A8A"/>
                </a:solidFill>
                <a:latin typeface="Noto Sans SC"/>
                <a:ea typeface="Noto Sans SC"/>
                <a:cs typeface="Noto Sans SC"/>
                <a:sym typeface="Noto Sans SC"/>
              </a:rPr>
              <a:t>#7</a:t>
            </a:r>
            <a:endParaRPr lang="en-US" sz="1100"/>
          </a:p>
          <a:p>
            <a:pPr marL="0" indent="0" algn="l">
              <a:lnSpc>
                <a:spcPct val="83000"/>
              </a:lnSpc>
            </a:pPr>
            <a:r>
              <a:rPr lang="en-US" sz="1100" b="0" i="0" u="none" strike="noStrike">
                <a:solidFill>
                  <a:srgbClr val="475569"/>
                </a:solidFill>
                <a:latin typeface="Noto Sans SC"/>
                <a:ea typeface="Noto Sans SC"/>
                <a:cs typeface="Noto Sans SC"/>
                <a:sym typeface="Noto Sans SC"/>
              </a:rPr>
              <a:t>暗电流校正</a:t>
            </a:r>
            <a:endParaRPr lang="en-US" sz="1100" b="0" i="0" u="none" strike="noStrike">
              <a:solidFill>
                <a:srgbClr val="475569"/>
              </a:solidFill>
              <a:latin typeface="Noto Sans SC"/>
              <a:ea typeface="Noto Sans SC"/>
              <a:cs typeface="Noto Sans SC"/>
              <a:sym typeface="Noto Sans SC"/>
            </a:endParaRPr>
          </a:p>
        </p:txBody>
      </p:sp>
      <p:cxnSp>
        <p:nvCxnSpPr>
          <p:cNvPr id="32" name="Connector 32"/>
          <p:cNvCxnSpPr/>
          <p:nvPr/>
        </p:nvCxnSpPr>
        <p:spPr>
          <a:xfrm rot="5362224">
            <a:off x="9861550" y="5092735"/>
            <a:ext cx="1155700" cy="12700"/>
          </a:xfrm>
          <a:prstGeom prst="straightConnector1">
            <a:avLst/>
          </a:prstGeom>
          <a:solidFill>
            <a:srgbClr val="DEE0E3">
              <a:alpha val="100000"/>
            </a:srgbClr>
          </a:solidFill>
          <a:ln w="12700" cap="flat" cmpd="sng">
            <a:solidFill>
              <a:srgbClr val="94A3B8">
                <a:alpha val="35000"/>
              </a:srgbClr>
            </a:solidFill>
            <a:prstDash val="solid"/>
            <a:round/>
            <a:headEnd type="none" w="med" len="med"/>
            <a:tailEnd type="none" w="med" len="med"/>
          </a:ln>
        </p:spPr>
      </p:cxnSp>
      <p:sp>
        <p:nvSpPr>
          <p:cNvPr id="33" name="AutoShape 33"/>
          <p:cNvSpPr/>
          <p:nvPr/>
        </p:nvSpPr>
        <p:spPr>
          <a:xfrm>
            <a:off x="10502900" y="4470400"/>
            <a:ext cx="1181100" cy="254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100" b="0" i="0" u="none" strike="noStrike">
                <a:solidFill>
                  <a:srgbClr val="64748B"/>
                </a:solidFill>
                <a:latin typeface="Noto Sans SC"/>
                <a:ea typeface="Noto Sans SC"/>
                <a:cs typeface="Noto Sans SC"/>
                <a:sym typeface="Noto Sans SC"/>
              </a:rPr>
              <a:t>调用API</a:t>
            </a:r>
            <a:endParaRPr lang="en-US" sz="1100"/>
          </a:p>
        </p:txBody>
      </p:sp>
      <p:sp>
        <p:nvSpPr>
          <p:cNvPr id="34" name="AutoShape 34"/>
          <p:cNvSpPr/>
          <p:nvPr/>
        </p:nvSpPr>
        <p:spPr>
          <a:xfrm>
            <a:off x="10502900" y="4737100"/>
            <a:ext cx="1206500" cy="736600"/>
          </a:xfrm>
          <a:prstGeom prst="rect">
            <a:avLst/>
          </a:prstGeom>
          <a:noFill/>
          <a:ln w="12700" cap="flat" cmpd="sng">
            <a:noFill/>
            <a:prstDash val="solid"/>
            <a:round/>
          </a:ln>
        </p:spPr>
        <p:txBody>
          <a:bodyPr vert="horz" wrap="square" lIns="0" tIns="0" rIns="0" bIns="0" rtlCol="0" anchor="t" anchorCtr="0"/>
          <a:lstStyle/>
          <a:p>
            <a:pPr marL="0" indent="0" algn="l">
              <a:lnSpc>
                <a:spcPct val="104000"/>
              </a:lnSpc>
              <a:defRPr/>
            </a:pPr>
            <a:r>
              <a:rPr lang="en-US" sz="1100" b="1" i="0" u="none" strike="noStrike">
                <a:solidFill>
                  <a:srgbClr val="1E3A8A"/>
                </a:solidFill>
                <a:latin typeface="Inter"/>
                <a:ea typeface="Inter"/>
                <a:cs typeface="Inter"/>
                <a:sym typeface="Inter"/>
              </a:rPr>
              <a:t>/api/v1</a:t>
            </a:r>
            <a:endParaRPr lang="en-US" sz="1100"/>
          </a:p>
          <a:p>
            <a:pPr marL="0" indent="0" algn="l">
              <a:lnSpc>
                <a:spcPct val="83000"/>
              </a:lnSpc>
            </a:pPr>
            <a:r>
              <a:rPr lang="en-US" sz="1000" b="0" i="0" u="none" strike="noStrike">
                <a:solidFill>
                  <a:srgbClr val="475569"/>
                </a:solidFill>
                <a:latin typeface="Inter"/>
                <a:ea typeface="Inter"/>
                <a:cs typeface="Inter"/>
                <a:sym typeface="Inter"/>
              </a:rPr>
              <a:t>08_bad_pixel</a:t>
            </a:r>
            <a:endParaRPr lang="en-US" sz="1000" b="0" i="0" u="none" strike="noStrike">
              <a:solidFill>
                <a:srgbClr val="475569"/>
              </a:solidFill>
              <a:latin typeface="Inter"/>
              <a:ea typeface="Inter"/>
              <a:cs typeface="Inter"/>
              <a:sym typeface="Inter"/>
            </a:endParaRPr>
          </a:p>
          <a:p>
            <a:pPr marL="0" indent="0" algn="l">
              <a:lnSpc>
                <a:spcPct val="83000"/>
              </a:lnSpc>
            </a:pPr>
            <a:r>
              <a:rPr lang="en-US" sz="1000" b="0" i="0" u="none" strike="noStrike">
                <a:solidFill>
                  <a:srgbClr val="475569"/>
                </a:solidFill>
                <a:latin typeface="Inter"/>
                <a:ea typeface="Inter"/>
                <a:cs typeface="Inter"/>
                <a:sym typeface="Inter"/>
              </a:rPr>
              <a:t>_repair/run</a:t>
            </a:r>
            <a:endParaRPr lang="en-US" sz="1000" b="0" i="0" u="none" strike="noStrike">
              <a:solidFill>
                <a:srgbClr val="475569"/>
              </a:solidFill>
              <a:latin typeface="Inter"/>
              <a:ea typeface="Inter"/>
              <a:cs typeface="Inter"/>
              <a:sym typeface="Inter"/>
            </a:endParaRPr>
          </a:p>
        </p:txBody>
      </p:sp>
      <p:cxnSp>
        <p:nvCxnSpPr>
          <p:cNvPr id="35" name="Connector 35"/>
          <p:cNvCxnSpPr/>
          <p:nvPr/>
        </p:nvCxnSpPr>
        <p:spPr>
          <a:xfrm rot="-3906">
            <a:off x="508004" y="6115050"/>
            <a:ext cx="11176000" cy="12700"/>
          </a:xfrm>
          <a:prstGeom prst="straightConnector1">
            <a:avLst/>
          </a:prstGeom>
          <a:solidFill>
            <a:srgbClr val="DEE0E3">
              <a:alpha val="100000"/>
            </a:srgbClr>
          </a:solidFill>
          <a:ln w="12700" cap="flat" cmpd="sng">
            <a:solidFill>
              <a:srgbClr val="1E3A8A">
                <a:alpha val="12000"/>
              </a:srgbClr>
            </a:solidFill>
            <a:prstDash val="solid"/>
            <a:round/>
            <a:headEnd type="none" w="med" len="med"/>
            <a:tailEnd type="none" w="med" len="med"/>
          </a:ln>
        </p:spPr>
      </p:cxnSp>
      <p:sp>
        <p:nvSpPr>
          <p:cNvPr id="36" name="AutoShape 36"/>
          <p:cNvSpPr/>
          <p:nvPr/>
        </p:nvSpPr>
        <p:spPr>
          <a:xfrm>
            <a:off x="508000" y="6223000"/>
            <a:ext cx="11176000" cy="431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200" b="0" i="0" u="none" strike="noStrike">
                <a:solidFill>
                  <a:srgbClr val="94A3B8"/>
                </a:solidFill>
                <a:latin typeface="Noto Sans SC"/>
                <a:ea typeface="Noto Sans SC"/>
                <a:cs typeface="Noto Sans SC"/>
                <a:sym typeface="Noto Sans SC"/>
              </a:rPr>
              <a:t>高光谱数据预处理流水线 · 第8步 · 承接暗电流校正,为后续几何/辐射定标提供干净底图</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270000" cy="889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5600" b="1" i="0" u="none" strike="noStrike">
                <a:solidFill>
                  <a:srgbClr val="1E3A8A">
                    <a:alpha val="18039"/>
                  </a:srgbClr>
                </a:solidFill>
                <a:latin typeface="Noto Sans SC"/>
                <a:ea typeface="Noto Sans SC"/>
                <a:cs typeface="Noto Sans SC"/>
                <a:sym typeface="Noto Sans SC"/>
              </a:rPr>
              <a:t>09</a:t>
            </a:r>
            <a:endParaRPr lang="en-US" sz="1100"/>
          </a:p>
        </p:txBody>
      </p:sp>
      <p:sp>
        <p:nvSpPr>
          <p:cNvPr id="3" name="AutoShape 3"/>
          <p:cNvSpPr/>
          <p:nvPr/>
        </p:nvSpPr>
        <p:spPr>
          <a:xfrm>
            <a:off x="1905000" y="431800"/>
            <a:ext cx="7620000" cy="5334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a:solidFill>
                  <a:srgbClr val="1E3A8A"/>
                </a:solidFill>
                <a:latin typeface="Noto Sans SC"/>
                <a:ea typeface="Noto Sans SC"/>
                <a:cs typeface="Noto Sans SC"/>
                <a:sym typeface="Noto Sans SC"/>
              </a:rPr>
              <a:t>条带噪声去除</a:t>
            </a:r>
            <a:endParaRPr lang="en-US" sz="1100"/>
          </a:p>
        </p:txBody>
      </p:sp>
      <p:sp>
        <p:nvSpPr>
          <p:cNvPr id="4" name="AutoShape 4"/>
          <p:cNvSpPr/>
          <p:nvPr/>
        </p:nvSpPr>
        <p:spPr>
          <a:xfrm>
            <a:off x="1905000" y="1016000"/>
            <a:ext cx="88900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300" b="0" i="0" u="none" strike="noStrike">
                <a:solidFill>
                  <a:srgbClr val="64748B"/>
                </a:solidFill>
                <a:latin typeface="Noto Sans SC"/>
                <a:ea typeface="Noto Sans SC"/>
                <a:cs typeface="Noto Sans SC"/>
                <a:sym typeface="Noto Sans SC"/>
              </a:rPr>
              <a:t>所属层级:L0→L1 ｜ 编号#9 ｜ 辅导材料:算法清单与API</a:t>
            </a:r>
            <a:endParaRPr lang="en-US" sz="1100"/>
          </a:p>
        </p:txBody>
      </p:sp>
      <p:cxnSp>
        <p:nvCxnSpPr>
          <p:cNvPr id="5" name="Connector 5"/>
          <p:cNvCxnSpPr/>
          <p:nvPr/>
        </p:nvCxnSpPr>
        <p:spPr>
          <a:xfrm rot="-3906">
            <a:off x="508004" y="1517650"/>
            <a:ext cx="111760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6" name="AutoShape 6"/>
          <p:cNvSpPr/>
          <p:nvPr/>
        </p:nvSpPr>
        <p:spPr>
          <a:xfrm>
            <a:off x="508000" y="1651000"/>
            <a:ext cx="7366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2000" b="1" i="0" u="none" strike="noStrike">
                <a:solidFill>
                  <a:srgbClr val="1E293B"/>
                </a:solidFill>
                <a:latin typeface="Noto Sans SC"/>
                <a:ea typeface="Noto Sans SC"/>
                <a:cs typeface="Noto Sans SC"/>
                <a:sym typeface="Noto Sans SC"/>
              </a:rPr>
              <a:t>功能定义</a:t>
            </a:r>
            <a:endParaRPr lang="en-US" sz="1100"/>
          </a:p>
        </p:txBody>
      </p:sp>
      <p:sp>
        <p:nvSpPr>
          <p:cNvPr id="7" name="AutoShape 7"/>
          <p:cNvSpPr/>
          <p:nvPr/>
        </p:nvSpPr>
        <p:spPr>
          <a:xfrm>
            <a:off x="508000" y="2032000"/>
            <a:ext cx="7366000" cy="7112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500" b="0" i="0" u="none" strike="noStrike">
                <a:solidFill>
                  <a:srgbClr val="334155"/>
                </a:solidFill>
                <a:latin typeface="Noto Sans SC"/>
                <a:ea typeface="Noto Sans SC"/>
                <a:cs typeface="Noto Sans SC"/>
                <a:sym typeface="Noto Sans SC"/>
              </a:rPr>
              <a:t>去除因探测器响应不一致导致的水平或垂直条纹噪声。</a:t>
            </a:r>
            <a:endParaRPr lang="en-US" sz="1100"/>
          </a:p>
        </p:txBody>
      </p:sp>
      <p:sp>
        <p:nvSpPr>
          <p:cNvPr id="8" name="AutoShape 8"/>
          <p:cNvSpPr/>
          <p:nvPr/>
        </p:nvSpPr>
        <p:spPr>
          <a:xfrm>
            <a:off x="508000" y="2819400"/>
            <a:ext cx="7366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2000" b="1" i="0" u="none" strike="noStrike">
                <a:solidFill>
                  <a:srgbClr val="1E293B"/>
                </a:solidFill>
                <a:latin typeface="Noto Sans SC"/>
                <a:ea typeface="Noto Sans SC"/>
                <a:cs typeface="Noto Sans SC"/>
                <a:sym typeface="Noto Sans SC"/>
              </a:rPr>
              <a:t>方法要点</a:t>
            </a:r>
            <a:endParaRPr lang="en-US" sz="1100"/>
          </a:p>
        </p:txBody>
      </p:sp>
      <p:sp>
        <p:nvSpPr>
          <p:cNvPr id="9" name="AutoShape 9"/>
          <p:cNvSpPr/>
          <p:nvPr/>
        </p:nvSpPr>
        <p:spPr>
          <a:xfrm>
            <a:off x="508000" y="3200400"/>
            <a:ext cx="7366000" cy="7112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500" b="0" i="0" u="none" strike="noStrike">
                <a:solidFill>
                  <a:srgbClr val="334155"/>
                </a:solidFill>
                <a:latin typeface="Noto Sans SC"/>
                <a:ea typeface="Noto Sans SC"/>
                <a:cs typeface="Noto Sans SC"/>
                <a:sym typeface="Noto Sans SC"/>
              </a:rPr>
              <a:t>利用统计方法(如均值滤波、傅里叶变换)识别并去除周期性的条纹噪声。</a:t>
            </a:r>
            <a:endParaRPr lang="en-US" sz="1100"/>
          </a:p>
        </p:txBody>
      </p:sp>
      <p:sp>
        <p:nvSpPr>
          <p:cNvPr id="10" name="AutoShape 10"/>
          <p:cNvSpPr/>
          <p:nvPr/>
        </p:nvSpPr>
        <p:spPr>
          <a:xfrm>
            <a:off x="508000" y="4064000"/>
            <a:ext cx="2387600" cy="1651000"/>
          </a:xfrm>
          <a:prstGeom prst="roundRect">
            <a:avLst>
              <a:gd name="adj" fmla="val 0"/>
            </a:avLst>
          </a:prstGeom>
          <a:solidFill>
            <a:srgbClr val="EFF6FF">
              <a:alpha val="100000"/>
            </a:srgbClr>
          </a:solidFill>
          <a:ln cap="flat" cmpd="sng">
            <a:solidFill>
              <a:srgbClr val="C0D0E6">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508000" y="4064000"/>
            <a:ext cx="50800" cy="1651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698500" y="4127500"/>
            <a:ext cx="2159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600" b="1" i="0" u="none" strike="noStrike">
                <a:solidFill>
                  <a:srgbClr val="1E3A8A"/>
                </a:solidFill>
                <a:latin typeface="Noto Sans SC"/>
                <a:ea typeface="Noto Sans SC"/>
                <a:cs typeface="Noto Sans SC"/>
                <a:sym typeface="Noto Sans SC"/>
              </a:rPr>
              <a:t>适用场景</a:t>
            </a:r>
            <a:endParaRPr lang="en-US" sz="1100"/>
          </a:p>
        </p:txBody>
      </p:sp>
      <p:cxnSp>
        <p:nvCxnSpPr>
          <p:cNvPr id="13" name="Connector 13"/>
          <p:cNvCxnSpPr/>
          <p:nvPr/>
        </p:nvCxnSpPr>
        <p:spPr>
          <a:xfrm rot="-20834">
            <a:off x="698519" y="4514850"/>
            <a:ext cx="20955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14" name="AutoShape 14"/>
          <p:cNvSpPr/>
          <p:nvPr/>
        </p:nvSpPr>
        <p:spPr>
          <a:xfrm>
            <a:off x="698500" y="4597400"/>
            <a:ext cx="2159000" cy="787400"/>
          </a:xfrm>
          <a:prstGeom prst="rect">
            <a:avLst/>
          </a:prstGeom>
          <a:noFill/>
          <a:ln w="12700" cap="flat" cmpd="sng">
            <a:noFill/>
            <a:prstDash val="solid"/>
            <a:round/>
          </a:ln>
        </p:spPr>
        <p:txBody>
          <a:bodyPr vert="horz" wrap="square" lIns="0" tIns="0" rIns="0" bIns="0" rtlCol="0" anchor="t" anchorCtr="0"/>
          <a:lstStyle/>
          <a:p>
            <a:pPr marL="0" indent="0" algn="l">
              <a:lnSpc>
                <a:spcPct val="121000"/>
              </a:lnSpc>
              <a:defRPr/>
            </a:pPr>
            <a:r>
              <a:rPr lang="en-US" sz="1300" b="0" i="0" u="none" strike="noStrike">
                <a:solidFill>
                  <a:srgbClr val="475569"/>
                </a:solidFill>
                <a:latin typeface="Noto Sans SC"/>
                <a:ea typeface="Noto Sans SC"/>
                <a:cs typeface="Noto Sans SC"/>
                <a:sym typeface="Noto Sans SC"/>
              </a:rPr>
              <a:t>高光谱数据预处理的标准步骤。</a:t>
            </a:r>
            <a:endParaRPr lang="en-US" sz="1100"/>
          </a:p>
        </p:txBody>
      </p:sp>
      <p:sp>
        <p:nvSpPr>
          <p:cNvPr id="15" name="AutoShape 15"/>
          <p:cNvSpPr/>
          <p:nvPr/>
        </p:nvSpPr>
        <p:spPr>
          <a:xfrm>
            <a:off x="3022600" y="4064000"/>
            <a:ext cx="2387600" cy="1651000"/>
          </a:xfrm>
          <a:prstGeom prst="roundRect">
            <a:avLst>
              <a:gd name="adj" fmla="val 0"/>
            </a:avLst>
          </a:prstGeom>
          <a:solidFill>
            <a:srgbClr val="ECFDF5">
              <a:alpha val="100000"/>
            </a:srgbClr>
          </a:solidFill>
          <a:ln cap="flat" cmpd="sng">
            <a:solidFill>
              <a:srgbClr val="BDE4D2">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3022600" y="4064000"/>
            <a:ext cx="50800" cy="1651000"/>
          </a:xfrm>
          <a:prstGeom prst="roundRect">
            <a:avLst>
              <a:gd name="adj" fmla="val 0"/>
            </a:avLst>
          </a:prstGeom>
          <a:solidFill>
            <a:srgbClr val="10B981">
              <a:alpha val="100000"/>
            </a:srgbClr>
          </a:solidFill>
          <a:ln cap="flat" cmpd="sng">
            <a:solidFill>
              <a:srgbClr val="00A06B">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3213100" y="4127500"/>
            <a:ext cx="2159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600" b="1" i="0" u="none" strike="noStrike">
                <a:solidFill>
                  <a:srgbClr val="10B981"/>
                </a:solidFill>
                <a:latin typeface="Noto Sans SC"/>
                <a:ea typeface="Noto Sans SC"/>
                <a:cs typeface="Noto Sans SC"/>
                <a:sym typeface="Noto Sans SC"/>
              </a:rPr>
              <a:t>业务价值</a:t>
            </a:r>
            <a:endParaRPr lang="en-US" sz="1100"/>
          </a:p>
        </p:txBody>
      </p:sp>
      <p:cxnSp>
        <p:nvCxnSpPr>
          <p:cNvPr id="18" name="Connector 18"/>
          <p:cNvCxnSpPr/>
          <p:nvPr/>
        </p:nvCxnSpPr>
        <p:spPr>
          <a:xfrm rot="-20834">
            <a:off x="3213119" y="4514850"/>
            <a:ext cx="2095500" cy="12700"/>
          </a:xfrm>
          <a:prstGeom prst="straightConnector1">
            <a:avLst/>
          </a:prstGeom>
          <a:solidFill>
            <a:srgbClr val="DEE0E3">
              <a:alpha val="100000"/>
            </a:srgbClr>
          </a:solidFill>
          <a:ln w="12700" cap="flat" cmpd="sng">
            <a:solidFill>
              <a:srgbClr val="10B981">
                <a:alpha val="20000"/>
              </a:srgbClr>
            </a:solidFill>
            <a:prstDash val="solid"/>
            <a:round/>
            <a:headEnd type="none" w="med" len="med"/>
            <a:tailEnd type="none" w="med" len="med"/>
          </a:ln>
        </p:spPr>
      </p:cxnSp>
      <p:sp>
        <p:nvSpPr>
          <p:cNvPr id="19" name="AutoShape 19"/>
          <p:cNvSpPr/>
          <p:nvPr/>
        </p:nvSpPr>
        <p:spPr>
          <a:xfrm>
            <a:off x="3213100" y="4597400"/>
            <a:ext cx="2159000" cy="787400"/>
          </a:xfrm>
          <a:prstGeom prst="rect">
            <a:avLst/>
          </a:prstGeom>
          <a:noFill/>
          <a:ln w="12700" cap="flat" cmpd="sng">
            <a:noFill/>
            <a:prstDash val="solid"/>
            <a:round/>
          </a:ln>
        </p:spPr>
        <p:txBody>
          <a:bodyPr vert="horz" wrap="square" lIns="0" tIns="0" rIns="0" bIns="0" rtlCol="0" anchor="t" anchorCtr="0"/>
          <a:lstStyle/>
          <a:p>
            <a:pPr marL="0" indent="0" algn="l">
              <a:lnSpc>
                <a:spcPct val="121000"/>
              </a:lnSpc>
              <a:defRPr/>
            </a:pPr>
            <a:r>
              <a:rPr lang="en-US" sz="1300" b="0" i="0" u="none" strike="noStrike">
                <a:solidFill>
                  <a:srgbClr val="475569"/>
                </a:solidFill>
                <a:latin typeface="Noto Sans SC"/>
                <a:ea typeface="Noto Sans SC"/>
                <a:cs typeface="Noto Sans SC"/>
                <a:sym typeface="Noto Sans SC"/>
              </a:rPr>
              <a:t>保证图像的均匀性,提高数据质量。</a:t>
            </a:r>
            <a:endParaRPr lang="en-US" sz="1100"/>
          </a:p>
        </p:txBody>
      </p:sp>
      <p:sp>
        <p:nvSpPr>
          <p:cNvPr id="20" name="AutoShape 20"/>
          <p:cNvSpPr/>
          <p:nvPr/>
        </p:nvSpPr>
        <p:spPr>
          <a:xfrm>
            <a:off x="5537200" y="4064000"/>
            <a:ext cx="2387600" cy="1651000"/>
          </a:xfrm>
          <a:prstGeom prst="roundRect">
            <a:avLst>
              <a:gd name="adj" fmla="val 0"/>
            </a:avLst>
          </a:prstGeom>
          <a:solidFill>
            <a:srgbClr val="FFFBEB">
              <a:alpha val="100000"/>
            </a:srgbClr>
          </a:solidFill>
          <a:ln cap="flat" cmpd="sng">
            <a:solidFill>
              <a:srgbClr val="E6DDBD">
                <a:alpha val="10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5537200" y="4064000"/>
            <a:ext cx="50800" cy="1651000"/>
          </a:xfrm>
          <a:prstGeom prst="roundRect">
            <a:avLst>
              <a:gd name="adj" fmla="val 0"/>
            </a:avLst>
          </a:prstGeom>
          <a:solidFill>
            <a:srgbClr val="F59E0B">
              <a:alpha val="100000"/>
            </a:srgbClr>
          </a:solidFill>
          <a:ln cap="flat" cmpd="sng">
            <a:solidFill>
              <a:srgbClr val="DC8A00">
                <a:alpha val="10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5727700" y="4127500"/>
            <a:ext cx="2159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600" b="1" i="0" u="none" strike="noStrike">
                <a:solidFill>
                  <a:srgbClr val="F59E0B"/>
                </a:solidFill>
                <a:latin typeface="Noto Sans SC"/>
                <a:ea typeface="Noto Sans SC"/>
                <a:cs typeface="Noto Sans SC"/>
                <a:sym typeface="Noto Sans SC"/>
              </a:rPr>
              <a:t>缺失影响</a:t>
            </a:r>
            <a:endParaRPr lang="en-US" sz="1100"/>
          </a:p>
        </p:txBody>
      </p:sp>
      <p:cxnSp>
        <p:nvCxnSpPr>
          <p:cNvPr id="23" name="Connector 23"/>
          <p:cNvCxnSpPr/>
          <p:nvPr/>
        </p:nvCxnSpPr>
        <p:spPr>
          <a:xfrm rot="-20834">
            <a:off x="5727719" y="4514850"/>
            <a:ext cx="2095500" cy="12700"/>
          </a:xfrm>
          <a:prstGeom prst="straightConnector1">
            <a:avLst/>
          </a:prstGeom>
          <a:solidFill>
            <a:srgbClr val="DEE0E3">
              <a:alpha val="100000"/>
            </a:srgbClr>
          </a:solidFill>
          <a:ln w="12700" cap="flat" cmpd="sng">
            <a:solidFill>
              <a:srgbClr val="F59E0B">
                <a:alpha val="22000"/>
              </a:srgbClr>
            </a:solidFill>
            <a:prstDash val="solid"/>
            <a:round/>
            <a:headEnd type="none" w="med" len="med"/>
            <a:tailEnd type="none" w="med" len="med"/>
          </a:ln>
        </p:spPr>
      </p:cxnSp>
      <p:sp>
        <p:nvSpPr>
          <p:cNvPr id="24" name="AutoShape 24"/>
          <p:cNvSpPr/>
          <p:nvPr/>
        </p:nvSpPr>
        <p:spPr>
          <a:xfrm>
            <a:off x="5727700" y="4597400"/>
            <a:ext cx="2197100" cy="787400"/>
          </a:xfrm>
          <a:prstGeom prst="rect">
            <a:avLst/>
          </a:prstGeom>
          <a:noFill/>
          <a:ln w="12700" cap="flat" cmpd="sng">
            <a:noFill/>
            <a:prstDash val="solid"/>
            <a:round/>
          </a:ln>
        </p:spPr>
        <p:txBody>
          <a:bodyPr vert="horz" wrap="square" lIns="0" tIns="0" rIns="0" bIns="0" rtlCol="0" anchor="t" anchorCtr="0"/>
          <a:lstStyle/>
          <a:p>
            <a:pPr marL="0" indent="0" algn="l">
              <a:lnSpc>
                <a:spcPct val="121000"/>
              </a:lnSpc>
              <a:defRPr/>
            </a:pPr>
            <a:r>
              <a:rPr lang="en-US" sz="1300" b="0" i="0" u="none" strike="noStrike">
                <a:solidFill>
                  <a:srgbClr val="475569"/>
                </a:solidFill>
                <a:latin typeface="Noto Sans SC"/>
                <a:ea typeface="Noto Sans SC"/>
                <a:cs typeface="Noto Sans SC"/>
                <a:sym typeface="Noto Sans SC"/>
              </a:rPr>
              <a:t>图像中会存在明显的条纹,影响视觉效果和定量分析精度。</a:t>
            </a:r>
            <a:endParaRPr lang="en-US" sz="1100"/>
          </a:p>
        </p:txBody>
      </p:sp>
      <p:sp>
        <p:nvSpPr>
          <p:cNvPr id="25" name="AutoShape 25"/>
          <p:cNvSpPr/>
          <p:nvPr/>
        </p:nvSpPr>
        <p:spPr>
          <a:xfrm>
            <a:off x="8128000" y="1651000"/>
            <a:ext cx="3556000" cy="40640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8128000" y="1651000"/>
            <a:ext cx="38100" cy="4064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8382000" y="1778000"/>
            <a:ext cx="31115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600" b="1" i="0" u="none" strike="noStrike">
                <a:solidFill>
                  <a:srgbClr val="1E3A8A"/>
                </a:solidFill>
                <a:latin typeface="Noto Sans SC"/>
                <a:ea typeface="Noto Sans SC"/>
                <a:cs typeface="Noto Sans SC"/>
                <a:sym typeface="Noto Sans SC"/>
              </a:rPr>
              <a:t>流程位置</a:t>
            </a:r>
            <a:endParaRPr lang="en-US" sz="1100"/>
          </a:p>
        </p:txBody>
      </p:sp>
      <p:sp>
        <p:nvSpPr>
          <p:cNvPr id="28" name="AutoShape 28"/>
          <p:cNvSpPr/>
          <p:nvPr/>
        </p:nvSpPr>
        <p:spPr>
          <a:xfrm>
            <a:off x="8382000" y="2159000"/>
            <a:ext cx="3111500" cy="5842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1300" b="0" i="0" u="none" strike="noStrike">
                <a:solidFill>
                  <a:srgbClr val="475569"/>
                </a:solidFill>
                <a:latin typeface="Noto Sans SC"/>
                <a:ea typeface="Noto Sans SC"/>
                <a:cs typeface="Noto Sans SC"/>
                <a:sym typeface="Noto Sans SC"/>
              </a:rPr>
              <a:t>在哪个环节:</a:t>
            </a:r>
            <a:r>
              <a:rPr lang="en-US" sz="1300" b="1" i="0" u="none" strike="noStrike">
                <a:solidFill>
                  <a:srgbClr val="1E293B"/>
                </a:solidFill>
                <a:latin typeface="Noto Sans SC"/>
                <a:ea typeface="Noto Sans SC"/>
                <a:cs typeface="Noto Sans SC"/>
                <a:sym typeface="Noto Sans SC"/>
              </a:rPr>
              <a:t>L0→L1传感器产品</a:t>
            </a:r>
            <a:endParaRPr lang="en-US" sz="1100"/>
          </a:p>
        </p:txBody>
      </p:sp>
      <p:cxnSp>
        <p:nvCxnSpPr>
          <p:cNvPr id="29" name="Connector 29"/>
          <p:cNvCxnSpPr/>
          <p:nvPr/>
        </p:nvCxnSpPr>
        <p:spPr>
          <a:xfrm rot="-14323">
            <a:off x="8382013" y="2813050"/>
            <a:ext cx="3048000" cy="12700"/>
          </a:xfrm>
          <a:prstGeom prst="straightConnector1">
            <a:avLst/>
          </a:prstGeom>
          <a:solidFill>
            <a:srgbClr val="DEE0E3">
              <a:alpha val="100000"/>
            </a:srgbClr>
          </a:solidFill>
          <a:ln w="12700" cap="flat" cmpd="sng">
            <a:solidFill>
              <a:srgbClr val="1E3A8A">
                <a:alpha val="12000"/>
              </a:srgbClr>
            </a:solidFill>
            <a:prstDash val="solid"/>
            <a:round/>
            <a:headEnd type="none" w="med" len="med"/>
            <a:tailEnd type="none" w="med" len="med"/>
          </a:ln>
        </p:spPr>
      </p:cxnSp>
      <p:sp>
        <p:nvSpPr>
          <p:cNvPr id="30" name="AutoShape 30"/>
          <p:cNvSpPr/>
          <p:nvPr/>
        </p:nvSpPr>
        <p:spPr>
          <a:xfrm>
            <a:off x="8382000" y="2946400"/>
            <a:ext cx="31115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600" b="1" i="0" u="none" strike="noStrike">
                <a:solidFill>
                  <a:srgbClr val="1E3A8A"/>
                </a:solidFill>
                <a:latin typeface="Noto Sans SC"/>
                <a:ea typeface="Noto Sans SC"/>
                <a:cs typeface="Noto Sans SC"/>
                <a:sym typeface="Noto Sans SC"/>
              </a:rPr>
              <a:t>关联算法</a:t>
            </a:r>
            <a:endParaRPr lang="en-US" sz="1100"/>
          </a:p>
        </p:txBody>
      </p:sp>
      <p:sp>
        <p:nvSpPr>
          <p:cNvPr id="31" name="AutoShape 31"/>
          <p:cNvSpPr/>
          <p:nvPr/>
        </p:nvSpPr>
        <p:spPr>
          <a:xfrm>
            <a:off x="8382000" y="3327400"/>
            <a:ext cx="3111500" cy="660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300" b="0" i="0" u="none" strike="noStrike">
                <a:solidFill>
                  <a:srgbClr val="475569"/>
                </a:solidFill>
                <a:latin typeface="Noto Sans SC"/>
                <a:ea typeface="Noto Sans SC"/>
                <a:cs typeface="Noto Sans SC"/>
                <a:sym typeface="Noto Sans SC"/>
              </a:rPr>
              <a:t>#7暗电流校正, #8坏线/坏像元修复</a:t>
            </a:r>
            <a:endParaRPr lang="en-US" sz="1100"/>
          </a:p>
        </p:txBody>
      </p:sp>
      <p:cxnSp>
        <p:nvCxnSpPr>
          <p:cNvPr id="32" name="Connector 32"/>
          <p:cNvCxnSpPr/>
          <p:nvPr/>
        </p:nvCxnSpPr>
        <p:spPr>
          <a:xfrm rot="-14323">
            <a:off x="8382013" y="4083050"/>
            <a:ext cx="3048000" cy="12700"/>
          </a:xfrm>
          <a:prstGeom prst="straightConnector1">
            <a:avLst/>
          </a:prstGeom>
          <a:solidFill>
            <a:srgbClr val="DEE0E3">
              <a:alpha val="100000"/>
            </a:srgbClr>
          </a:solidFill>
          <a:ln w="12700" cap="flat" cmpd="sng">
            <a:solidFill>
              <a:srgbClr val="1E3A8A">
                <a:alpha val="12000"/>
              </a:srgbClr>
            </a:solidFill>
            <a:prstDash val="solid"/>
            <a:round/>
            <a:headEnd type="none" w="med" len="med"/>
            <a:tailEnd type="none" w="med" len="med"/>
          </a:ln>
        </p:spPr>
      </p:cxnSp>
      <p:sp>
        <p:nvSpPr>
          <p:cNvPr id="33" name="AutoShape 33"/>
          <p:cNvSpPr/>
          <p:nvPr/>
        </p:nvSpPr>
        <p:spPr>
          <a:xfrm>
            <a:off x="8382000" y="4216400"/>
            <a:ext cx="31115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600" b="1" i="0" u="none" strike="noStrike">
                <a:solidFill>
                  <a:srgbClr val="1E3A8A"/>
                </a:solidFill>
                <a:latin typeface="Noto Sans SC"/>
                <a:ea typeface="Noto Sans SC"/>
                <a:cs typeface="Noto Sans SC"/>
                <a:sym typeface="Noto Sans SC"/>
              </a:rPr>
              <a:t>API接口</a:t>
            </a:r>
            <a:endParaRPr lang="en-US" sz="1100"/>
          </a:p>
        </p:txBody>
      </p:sp>
      <p:sp>
        <p:nvSpPr>
          <p:cNvPr id="34" name="AutoShape 34"/>
          <p:cNvSpPr/>
          <p:nvPr/>
        </p:nvSpPr>
        <p:spPr>
          <a:xfrm>
            <a:off x="8382000" y="4597400"/>
            <a:ext cx="3149600" cy="736600"/>
          </a:xfrm>
          <a:prstGeom prst="roundRect">
            <a:avLst>
              <a:gd name="adj" fmla="val 0"/>
            </a:avLst>
          </a:prstGeom>
          <a:solidFill>
            <a:srgbClr val="1E3A8A">
              <a:alpha val="8000"/>
            </a:srgbClr>
          </a:solidFill>
          <a:ln cap="flat" cmpd="sng">
            <a:solidFill>
              <a:srgbClr val="0D2771">
                <a:alpha val="8000"/>
              </a:srgbClr>
            </a:solidFill>
            <a:prstDash val="solid"/>
            <a:round/>
          </a:ln>
        </p:spPr>
        <p:txBody>
          <a:bodyPr vert="horz" wrap="square" lIns="63500" tIns="63500" rIns="63500" bIns="63500" rtlCol="0" anchor="ctr"/>
          <a:lstStyle/>
          <a:p>
            <a:pPr algn="ctr">
              <a:defRPr/>
            </a:pPr>
          </a:p>
        </p:txBody>
      </p:sp>
      <p:sp>
        <p:nvSpPr>
          <p:cNvPr id="35" name="AutoShape 35"/>
          <p:cNvSpPr/>
          <p:nvPr/>
        </p:nvSpPr>
        <p:spPr>
          <a:xfrm>
            <a:off x="8509000" y="4597400"/>
            <a:ext cx="2921000" cy="7366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1E3A8A"/>
                </a:solidFill>
                <a:latin typeface="Roboto Mono"/>
                <a:ea typeface="Roboto Mono"/>
                <a:cs typeface="Roboto Mono"/>
                <a:sym typeface="Roboto Mono"/>
              </a:rPr>
              <a:t>/api/v1/09_striping_noise_removal/run</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914400"/>
          </a:xfrm>
          <a:prstGeom prst="roundRect">
            <a:avLst>
              <a:gd name="adj" fmla="val 0"/>
            </a:avLst>
          </a:prstGeom>
          <a:gradFill rotWithShape="1">
            <a:gsLst>
              <a:gs pos="0">
                <a:srgbClr val="1E3A8A">
                  <a:alpha val="100000"/>
                </a:srgbClr>
              </a:gs>
              <a:gs pos="100000">
                <a:srgbClr val="3352A8">
                  <a:alpha val="100000"/>
                </a:srgbClr>
              </a:gs>
            </a:gsLst>
            <a:lin ang="0"/>
          </a:gradFill>
          <a:ln cap="flat" cmpd="sng">
            <a:gradFill rotWithShape="1">
              <a:gsLst>
                <a:gs pos="0">
                  <a:srgbClr val="0D2771">
                    <a:alpha val="100000"/>
                  </a:srgbClr>
                </a:gs>
                <a:gs pos="100000">
                  <a:srgbClr val="1D3B8E">
                    <a:alpha val="100000"/>
                  </a:srgbClr>
                </a:gs>
              </a:gsLst>
              <a:lin ang="0"/>
            </a:gradFill>
            <a:prstDash val="solid"/>
            <a:round/>
          </a:ln>
        </p:spPr>
        <p:txBody>
          <a:bodyPr vert="horz" wrap="square" lIns="63500" tIns="63500" rIns="63500" bIns="63500" rtlCol="0" anchor="ctr"/>
          <a:lstStyle/>
          <a:p>
            <a:pPr algn="ctr">
              <a:defRPr/>
            </a:pPr>
          </a:p>
        </p:txBody>
      </p:sp>
      <p:sp>
        <p:nvSpPr>
          <p:cNvPr id="3" name="AutoShape 3"/>
          <p:cNvSpPr/>
          <p:nvPr/>
        </p:nvSpPr>
        <p:spPr>
          <a:xfrm>
            <a:off x="381000" y="152400"/>
            <a:ext cx="10414000" cy="4318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400" b="1" i="0" u="none" strike="noStrike" spc="100">
                <a:solidFill>
                  <a:srgbClr val="FFFFFF"/>
                </a:solidFill>
                <a:latin typeface="Noto Sans SC"/>
                <a:ea typeface="Noto Sans SC"/>
                <a:cs typeface="Noto Sans SC"/>
                <a:sym typeface="Noto Sans SC"/>
              </a:rPr>
              <a:t>光谱微笑/关键畸变校正</a:t>
            </a:r>
            <a:endParaRPr lang="en-US" sz="1100"/>
          </a:p>
        </p:txBody>
      </p:sp>
      <p:sp>
        <p:nvSpPr>
          <p:cNvPr id="4" name="AutoShape 4"/>
          <p:cNvSpPr/>
          <p:nvPr/>
        </p:nvSpPr>
        <p:spPr>
          <a:xfrm>
            <a:off x="381000" y="609600"/>
            <a:ext cx="104140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0" i="0" u="none" strike="noStrike">
                <a:solidFill>
                  <a:srgbClr val="FFFFFF">
                    <a:alpha val="78039"/>
                  </a:srgbClr>
                </a:solidFill>
                <a:latin typeface="Noto Sans SC"/>
                <a:ea typeface="Noto Sans SC"/>
                <a:cs typeface="Noto Sans SC"/>
                <a:sym typeface="Noto Sans SC"/>
              </a:rPr>
              <a:t>所属层级:L0→L1 ｜ 编号#10 ｜ 辅导材料:算法清单与API</a:t>
            </a:r>
            <a:endParaRPr lang="en-US" sz="1100"/>
          </a:p>
        </p:txBody>
      </p:sp>
      <p:sp>
        <p:nvSpPr>
          <p:cNvPr id="5" name="AutoShape 5"/>
          <p:cNvSpPr/>
          <p:nvPr/>
        </p:nvSpPr>
        <p:spPr>
          <a:xfrm>
            <a:off x="381000" y="1041400"/>
            <a:ext cx="7874000" cy="10414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381000" y="1041400"/>
            <a:ext cx="50800" cy="1041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635000" y="1092200"/>
            <a:ext cx="73660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700" b="1" i="0" u="none" strike="noStrike">
                <a:solidFill>
                  <a:srgbClr val="1E3A8A"/>
                </a:solidFill>
                <a:latin typeface="Noto Sans SC"/>
                <a:ea typeface="Noto Sans SC"/>
                <a:cs typeface="Noto Sans SC"/>
                <a:sym typeface="Noto Sans SC"/>
              </a:rPr>
              <a:t>功能定义</a:t>
            </a:r>
            <a:endParaRPr lang="en-US" sz="1100"/>
          </a:p>
        </p:txBody>
      </p:sp>
      <p:sp>
        <p:nvSpPr>
          <p:cNvPr id="8" name="AutoShape 8"/>
          <p:cNvSpPr/>
          <p:nvPr/>
        </p:nvSpPr>
        <p:spPr>
          <a:xfrm>
            <a:off x="635000" y="1422400"/>
            <a:ext cx="7493000" cy="6096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校正因光学系统导致的光谱波长在空间维度上的偏移。</a:t>
            </a:r>
            <a:endParaRPr lang="en-US" sz="1100"/>
          </a:p>
        </p:txBody>
      </p:sp>
      <p:sp>
        <p:nvSpPr>
          <p:cNvPr id="9" name="AutoShape 9"/>
          <p:cNvSpPr/>
          <p:nvPr/>
        </p:nvSpPr>
        <p:spPr>
          <a:xfrm>
            <a:off x="381000" y="2159000"/>
            <a:ext cx="7874000" cy="10414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381000" y="2159000"/>
            <a:ext cx="50800" cy="1041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635000" y="2209800"/>
            <a:ext cx="73660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700" b="1" i="0" u="none" strike="noStrike">
                <a:solidFill>
                  <a:srgbClr val="1E3A8A"/>
                </a:solidFill>
                <a:latin typeface="Noto Sans SC"/>
                <a:ea typeface="Noto Sans SC"/>
                <a:cs typeface="Noto Sans SC"/>
                <a:sym typeface="Noto Sans SC"/>
              </a:rPr>
              <a:t>方法要点</a:t>
            </a:r>
            <a:endParaRPr lang="en-US" sz="1100"/>
          </a:p>
        </p:txBody>
      </p:sp>
      <p:sp>
        <p:nvSpPr>
          <p:cNvPr id="12" name="AutoShape 12"/>
          <p:cNvSpPr/>
          <p:nvPr/>
        </p:nvSpPr>
        <p:spPr>
          <a:xfrm>
            <a:off x="635000" y="2540000"/>
            <a:ext cx="7493000" cy="6096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利用定标灯或已知光谱特征的目标,建立波长偏移模型,对每个像素的光谱进行校正。</a:t>
            </a:r>
            <a:endParaRPr lang="en-US" sz="1100"/>
          </a:p>
        </p:txBody>
      </p:sp>
      <p:sp>
        <p:nvSpPr>
          <p:cNvPr id="13" name="AutoShape 13"/>
          <p:cNvSpPr/>
          <p:nvPr/>
        </p:nvSpPr>
        <p:spPr>
          <a:xfrm>
            <a:off x="381000" y="3276600"/>
            <a:ext cx="7874000" cy="10414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381000" y="3276600"/>
            <a:ext cx="50800" cy="1041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635000" y="3327400"/>
            <a:ext cx="73660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700" b="1" i="0" u="none" strike="noStrike">
                <a:solidFill>
                  <a:srgbClr val="1E3A8A"/>
                </a:solidFill>
                <a:latin typeface="Noto Sans SC"/>
                <a:ea typeface="Noto Sans SC"/>
                <a:cs typeface="Noto Sans SC"/>
                <a:sym typeface="Noto Sans SC"/>
              </a:rPr>
              <a:t>适用场景</a:t>
            </a:r>
            <a:endParaRPr lang="en-US" sz="1100"/>
          </a:p>
        </p:txBody>
      </p:sp>
      <p:sp>
        <p:nvSpPr>
          <p:cNvPr id="16" name="AutoShape 16"/>
          <p:cNvSpPr/>
          <p:nvPr/>
        </p:nvSpPr>
        <p:spPr>
          <a:xfrm>
            <a:off x="635000" y="3657600"/>
            <a:ext cx="7493000" cy="6096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高光谱数据预处理的高级步骤,对定量分析至关重要。</a:t>
            </a:r>
            <a:endParaRPr lang="en-US" sz="1100"/>
          </a:p>
        </p:txBody>
      </p:sp>
      <p:sp>
        <p:nvSpPr>
          <p:cNvPr id="17" name="AutoShape 17"/>
          <p:cNvSpPr/>
          <p:nvPr/>
        </p:nvSpPr>
        <p:spPr>
          <a:xfrm>
            <a:off x="381000" y="4394200"/>
            <a:ext cx="7874000" cy="1041400"/>
          </a:xfrm>
          <a:prstGeom prst="roundRect">
            <a:avLst>
              <a:gd name="adj" fmla="val 0"/>
            </a:avLst>
          </a:prstGeom>
          <a:solidFill>
            <a:srgbClr val="10B981">
              <a:alpha val="9000"/>
            </a:srgbClr>
          </a:solidFill>
          <a:ln cap="flat" cmpd="sng">
            <a:solidFill>
              <a:srgbClr val="00A06B">
                <a:alpha val="9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381000" y="4394200"/>
            <a:ext cx="50800" cy="1041400"/>
          </a:xfrm>
          <a:prstGeom prst="roundRect">
            <a:avLst>
              <a:gd name="adj" fmla="val 0"/>
            </a:avLst>
          </a:prstGeom>
          <a:solidFill>
            <a:srgbClr val="10B981">
              <a:alpha val="100000"/>
            </a:srgbClr>
          </a:solidFill>
          <a:ln cap="flat" cmpd="sng">
            <a:solidFill>
              <a:srgbClr val="00A06B">
                <a:alpha val="10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635000" y="4445000"/>
            <a:ext cx="73660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700" b="1" i="0" u="none" strike="noStrike">
                <a:solidFill>
                  <a:srgbClr val="10B981"/>
                </a:solidFill>
                <a:latin typeface="Noto Sans SC"/>
                <a:ea typeface="Noto Sans SC"/>
                <a:cs typeface="Noto Sans SC"/>
                <a:sym typeface="Noto Sans SC"/>
              </a:rPr>
              <a:t>业务价值</a:t>
            </a:r>
            <a:endParaRPr lang="en-US" sz="1100"/>
          </a:p>
        </p:txBody>
      </p:sp>
      <p:sp>
        <p:nvSpPr>
          <p:cNvPr id="20" name="AutoShape 20"/>
          <p:cNvSpPr/>
          <p:nvPr/>
        </p:nvSpPr>
        <p:spPr>
          <a:xfrm>
            <a:off x="635000" y="4775200"/>
            <a:ext cx="7493000" cy="6096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保证每个像素的光谱信息准确无误,是高精度定量反演的前提。</a:t>
            </a:r>
            <a:endParaRPr lang="en-US" sz="1100"/>
          </a:p>
        </p:txBody>
      </p:sp>
      <p:sp>
        <p:nvSpPr>
          <p:cNvPr id="21" name="AutoShape 21"/>
          <p:cNvSpPr/>
          <p:nvPr/>
        </p:nvSpPr>
        <p:spPr>
          <a:xfrm>
            <a:off x="381000" y="5511800"/>
            <a:ext cx="7874000" cy="1041400"/>
          </a:xfrm>
          <a:prstGeom prst="roundRect">
            <a:avLst>
              <a:gd name="adj" fmla="val 0"/>
            </a:avLst>
          </a:prstGeom>
          <a:solidFill>
            <a:srgbClr val="F59E0B">
              <a:alpha val="9000"/>
            </a:srgbClr>
          </a:solidFill>
          <a:ln cap="flat" cmpd="sng">
            <a:solidFill>
              <a:srgbClr val="DC8A00">
                <a:alpha val="9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381000" y="5511800"/>
            <a:ext cx="50800" cy="1041400"/>
          </a:xfrm>
          <a:prstGeom prst="roundRect">
            <a:avLst>
              <a:gd name="adj" fmla="val 0"/>
            </a:avLst>
          </a:prstGeom>
          <a:solidFill>
            <a:srgbClr val="F59E0B">
              <a:alpha val="100000"/>
            </a:srgbClr>
          </a:solidFill>
          <a:ln cap="flat" cmpd="sng">
            <a:solidFill>
              <a:srgbClr val="DC8A00">
                <a:alpha val="10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635000" y="5562600"/>
            <a:ext cx="73660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700" b="1" i="0" u="none" strike="noStrike">
                <a:solidFill>
                  <a:srgbClr val="F59E0B"/>
                </a:solidFill>
                <a:latin typeface="Noto Sans SC"/>
                <a:ea typeface="Noto Sans SC"/>
                <a:cs typeface="Noto Sans SC"/>
                <a:sym typeface="Noto Sans SC"/>
              </a:rPr>
              <a:t>缺失影响</a:t>
            </a:r>
            <a:endParaRPr lang="en-US" sz="1100"/>
          </a:p>
        </p:txBody>
      </p:sp>
      <p:sp>
        <p:nvSpPr>
          <p:cNvPr id="24" name="AutoShape 24"/>
          <p:cNvSpPr/>
          <p:nvPr/>
        </p:nvSpPr>
        <p:spPr>
          <a:xfrm>
            <a:off x="635000" y="5892800"/>
            <a:ext cx="7493000" cy="6096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光谱信息发生扭曲,导致基于光谱特征的分类和反演结果出现偏差。</a:t>
            </a:r>
            <a:endParaRPr lang="en-US" sz="1100"/>
          </a:p>
        </p:txBody>
      </p:sp>
      <p:sp>
        <p:nvSpPr>
          <p:cNvPr id="25" name="AutoShape 25"/>
          <p:cNvSpPr/>
          <p:nvPr/>
        </p:nvSpPr>
        <p:spPr>
          <a:xfrm>
            <a:off x="8509000" y="1041400"/>
            <a:ext cx="3429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8800" b="1" i="0" u="none" strike="noStrike">
                <a:latin typeface="Noto Sans SC"/>
                <a:ea typeface="Noto Sans SC"/>
                <a:cs typeface="Noto Sans SC"/>
                <a:sym typeface="Noto Sans SC"/>
              </a:rPr>
              <a:t>10</a:t>
            </a:r>
            <a:endParaRPr lang="en-US" sz="1100"/>
          </a:p>
        </p:txBody>
      </p:sp>
      <p:cxnSp>
        <p:nvCxnSpPr>
          <p:cNvPr id="26" name="Connector 26"/>
          <p:cNvCxnSpPr/>
          <p:nvPr/>
        </p:nvCxnSpPr>
        <p:spPr>
          <a:xfrm rot="-13222">
            <a:off x="8509012" y="2533650"/>
            <a:ext cx="33020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27" name="AutoShape 27"/>
          <p:cNvSpPr/>
          <p:nvPr/>
        </p:nvSpPr>
        <p:spPr>
          <a:xfrm>
            <a:off x="8509000" y="2667000"/>
            <a:ext cx="3429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1" i="0" u="none" strike="noStrike" spc="200">
                <a:solidFill>
                  <a:srgbClr val="6B7280"/>
                </a:solidFill>
                <a:latin typeface="Noto Sans SC"/>
                <a:ea typeface="Noto Sans SC"/>
                <a:cs typeface="Noto Sans SC"/>
                <a:sym typeface="Noto Sans SC"/>
              </a:rPr>
              <a:t>流程位置</a:t>
            </a:r>
            <a:endParaRPr lang="en-US" sz="1100"/>
          </a:p>
        </p:txBody>
      </p:sp>
      <p:sp>
        <p:nvSpPr>
          <p:cNvPr id="28" name="AutoShape 28"/>
          <p:cNvSpPr/>
          <p:nvPr/>
        </p:nvSpPr>
        <p:spPr>
          <a:xfrm>
            <a:off x="8509000" y="2997200"/>
            <a:ext cx="3429000" cy="5842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1800" b="1" i="0" u="none" strike="noStrike">
                <a:solidFill>
                  <a:srgbClr val="1E3A8A"/>
                </a:solidFill>
                <a:latin typeface="Noto Sans SC"/>
                <a:ea typeface="Noto Sans SC"/>
                <a:cs typeface="Noto Sans SC"/>
                <a:sym typeface="Noto Sans SC"/>
              </a:rPr>
              <a:t>L0→L1</a:t>
            </a:r>
            <a:r>
              <a:rPr lang="en-US" sz="1500" b="0" i="0" u="none" strike="noStrike">
                <a:solidFill>
                  <a:srgbClr val="4B5563"/>
                </a:solidFill>
                <a:latin typeface="Noto Sans SC"/>
                <a:ea typeface="Noto Sans SC"/>
                <a:cs typeface="Noto Sans SC"/>
                <a:sym typeface="Noto Sans SC"/>
              </a:rPr>
              <a:t>传感器产品</a:t>
            </a:r>
            <a:endParaRPr lang="en-US" sz="1100"/>
          </a:p>
        </p:txBody>
      </p:sp>
      <p:sp>
        <p:nvSpPr>
          <p:cNvPr id="29" name="AutoShape 29"/>
          <p:cNvSpPr/>
          <p:nvPr/>
        </p:nvSpPr>
        <p:spPr>
          <a:xfrm>
            <a:off x="8509000" y="3683000"/>
            <a:ext cx="3429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1" i="0" u="none" strike="noStrike" spc="200">
                <a:solidFill>
                  <a:srgbClr val="6B7280"/>
                </a:solidFill>
                <a:latin typeface="Noto Sans SC"/>
                <a:ea typeface="Noto Sans SC"/>
                <a:cs typeface="Noto Sans SC"/>
                <a:sym typeface="Noto Sans SC"/>
              </a:rPr>
              <a:t>关联算法</a:t>
            </a:r>
            <a:endParaRPr lang="en-US" sz="1100"/>
          </a:p>
        </p:txBody>
      </p:sp>
      <p:sp>
        <p:nvSpPr>
          <p:cNvPr id="30" name="AutoShape 30"/>
          <p:cNvSpPr/>
          <p:nvPr/>
        </p:nvSpPr>
        <p:spPr>
          <a:xfrm>
            <a:off x="8509000" y="4013200"/>
            <a:ext cx="3429000" cy="381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600" b="1" i="0" u="none" strike="noStrike">
                <a:solidFill>
                  <a:srgbClr val="374151"/>
                </a:solidFill>
                <a:latin typeface="Noto Sans SC"/>
                <a:ea typeface="Noto Sans SC"/>
                <a:cs typeface="Noto Sans SC"/>
                <a:sym typeface="Noto Sans SC"/>
              </a:rPr>
              <a:t>#6</a:t>
            </a:r>
            <a:r>
              <a:rPr lang="en-US" sz="1600" b="0" i="0" u="none" strike="noStrike">
                <a:solidFill>
                  <a:srgbClr val="374151"/>
                </a:solidFill>
                <a:latin typeface="Noto Sans SC"/>
                <a:ea typeface="Noto Sans SC"/>
                <a:cs typeface="Noto Sans SC"/>
                <a:sym typeface="Noto Sans SC"/>
              </a:rPr>
              <a:t>辐射定标</a:t>
            </a:r>
            <a:endParaRPr lang="en-US" sz="1100"/>
          </a:p>
        </p:txBody>
      </p:sp>
      <p:sp>
        <p:nvSpPr>
          <p:cNvPr id="31" name="AutoShape 31"/>
          <p:cNvSpPr/>
          <p:nvPr/>
        </p:nvSpPr>
        <p:spPr>
          <a:xfrm>
            <a:off x="8509000" y="4572000"/>
            <a:ext cx="3429000" cy="1117600"/>
          </a:xfrm>
          <a:prstGeom prst="roundRect">
            <a:avLst>
              <a:gd name="adj" fmla="val 0"/>
            </a:avLst>
          </a:prstGeom>
          <a:gradFill rotWithShape="1">
            <a:gsLst>
              <a:gs pos="0">
                <a:srgbClr val="1E3A8A">
                  <a:alpha val="10000"/>
                </a:srgbClr>
              </a:gs>
              <a:gs pos="100000">
                <a:srgbClr val="1E3A8A">
                  <a:alpha val="3000"/>
                </a:srgbClr>
              </a:gs>
            </a:gsLst>
            <a:lin ang="5400000"/>
          </a:gradFill>
          <a:ln cap="flat" cmpd="sng">
            <a:gradFill rotWithShape="1">
              <a:gsLst>
                <a:gs pos="0">
                  <a:srgbClr val="0D2771">
                    <a:alpha val="10000"/>
                  </a:srgbClr>
                </a:gs>
                <a:gs pos="100000">
                  <a:srgbClr val="0D2771">
                    <a:alpha val="3000"/>
                  </a:srgbClr>
                </a:gs>
              </a:gsLst>
              <a:lin ang="5400000"/>
            </a:gradFill>
            <a:prstDash val="solid"/>
            <a:round/>
          </a:ln>
        </p:spPr>
        <p:txBody>
          <a:bodyPr vert="horz" wrap="square" lIns="63500" tIns="63500" rIns="63500" bIns="63500" rtlCol="0" anchor="ctr"/>
          <a:lstStyle/>
          <a:p>
            <a:pPr algn="ctr">
              <a:defRPr/>
            </a:pPr>
          </a:p>
        </p:txBody>
      </p:sp>
      <p:sp>
        <p:nvSpPr>
          <p:cNvPr id="32" name="AutoShape 32"/>
          <p:cNvSpPr/>
          <p:nvPr/>
        </p:nvSpPr>
        <p:spPr>
          <a:xfrm>
            <a:off x="8509000" y="4572000"/>
            <a:ext cx="50800" cy="11176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33" name="AutoShape 33"/>
          <p:cNvSpPr/>
          <p:nvPr/>
        </p:nvSpPr>
        <p:spPr>
          <a:xfrm>
            <a:off x="8686800" y="4648200"/>
            <a:ext cx="31496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1" i="0" u="none" strike="noStrike" spc="100">
                <a:solidFill>
                  <a:srgbClr val="1E3A8A"/>
                </a:solidFill>
                <a:latin typeface="Noto Sans SC"/>
                <a:ea typeface="Noto Sans SC"/>
                <a:cs typeface="Noto Sans SC"/>
                <a:sym typeface="Noto Sans SC"/>
              </a:rPr>
              <a:t>API 接口</a:t>
            </a:r>
            <a:endParaRPr lang="en-US" sz="1100"/>
          </a:p>
        </p:txBody>
      </p:sp>
      <p:sp>
        <p:nvSpPr>
          <p:cNvPr id="34" name="AutoShape 34"/>
          <p:cNvSpPr/>
          <p:nvPr/>
        </p:nvSpPr>
        <p:spPr>
          <a:xfrm>
            <a:off x="8686800" y="4978400"/>
            <a:ext cx="3149600" cy="5842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200" b="1" i="0" u="none" strike="noStrike">
                <a:solidFill>
                  <a:srgbClr val="1E3A8A"/>
                </a:solidFill>
                <a:latin typeface="Noto Sans SC"/>
                <a:ea typeface="Noto Sans SC"/>
                <a:cs typeface="Noto Sans SC"/>
                <a:sym typeface="Noto Sans SC"/>
              </a:rPr>
              <a:t>/api/v1/10_smile_correction/run</a:t>
            </a:r>
            <a:endParaRPr lang="en-US" sz="1100"/>
          </a:p>
        </p:txBody>
      </p:sp>
      <p:sp>
        <p:nvSpPr>
          <p:cNvPr id="35" name="AutoShape 35"/>
          <p:cNvSpPr/>
          <p:nvPr/>
        </p:nvSpPr>
        <p:spPr>
          <a:xfrm>
            <a:off x="8509000" y="5892800"/>
            <a:ext cx="3429000" cy="5842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alpha val="70196"/>
                  </a:srgbClr>
                </a:solidFill>
                <a:latin typeface="Noto Sans SC"/>
                <a:ea typeface="Noto Sans SC"/>
                <a:cs typeface="Noto Sans SC"/>
                <a:sym typeface="Noto Sans SC"/>
              </a:rPr>
              <a:t>高级预处理步骤,定量分析的基石。</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270000" cy="762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4400" b="1" i="0" u="none" strike="noStrike">
                <a:solidFill>
                  <a:srgbClr val="1E3A8A">
                    <a:alpha val="18039"/>
                  </a:srgbClr>
                </a:solidFill>
                <a:latin typeface="Noto Sans SC"/>
                <a:ea typeface="Noto Sans SC"/>
                <a:cs typeface="Noto Sans SC"/>
                <a:sym typeface="Noto Sans SC"/>
              </a:rPr>
              <a:t>#11</a:t>
            </a:r>
            <a:endParaRPr lang="en-US" sz="1100"/>
          </a:p>
        </p:txBody>
      </p:sp>
      <p:sp>
        <p:nvSpPr>
          <p:cNvPr id="3" name="AutoShape 3"/>
          <p:cNvSpPr/>
          <p:nvPr/>
        </p:nvSpPr>
        <p:spPr>
          <a:xfrm>
            <a:off x="1905000" y="381000"/>
            <a:ext cx="8890000" cy="533400"/>
          </a:xfrm>
          <a:prstGeom prst="rect">
            <a:avLst/>
          </a:prstGeom>
          <a:noFill/>
          <a:ln w="12700" cap="flat" cmpd="sng">
            <a:noFill/>
            <a:prstDash val="solid"/>
            <a:round/>
          </a:ln>
        </p:spPr>
        <p:txBody>
          <a:bodyPr vert="horz" wrap="square" lIns="0" tIns="0" rIns="0" bIns="0" rtlCol="0" anchor="t" anchorCtr="0"/>
          <a:lstStyle/>
          <a:p>
            <a:pPr marL="0" indent="0" algn="l">
              <a:lnSpc>
                <a:spcPct val="92000"/>
              </a:lnSpc>
              <a:defRPr/>
            </a:pPr>
            <a:r>
              <a:rPr lang="en-US" sz="2800" b="1" i="0" u="none" strike="noStrike">
                <a:solidFill>
                  <a:srgbClr val="1E3A8A"/>
                </a:solidFill>
                <a:latin typeface="Noto Sans SC"/>
                <a:ea typeface="Noto Sans SC"/>
                <a:cs typeface="Noto Sans SC"/>
                <a:sym typeface="Noto Sans SC"/>
              </a:rPr>
              <a:t>相对辐射归一</a:t>
            </a:r>
            <a:endParaRPr lang="en-US" sz="1100"/>
          </a:p>
        </p:txBody>
      </p:sp>
      <p:sp>
        <p:nvSpPr>
          <p:cNvPr id="4" name="AutoShape 4"/>
          <p:cNvSpPr/>
          <p:nvPr/>
        </p:nvSpPr>
        <p:spPr>
          <a:xfrm>
            <a:off x="1905000" y="965200"/>
            <a:ext cx="8890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300" b="0" i="0" u="none" strike="noStrike">
                <a:solidFill>
                  <a:srgbClr val="64748B"/>
                </a:solidFill>
                <a:latin typeface="Noto Sans SC"/>
                <a:ea typeface="Noto Sans SC"/>
                <a:cs typeface="Noto Sans SC"/>
                <a:sym typeface="Noto Sans SC"/>
              </a:rPr>
              <a:t>所属层级:L0→L1 ｜ 辅导材料:算法清单与API</a:t>
            </a:r>
            <a:endParaRPr lang="en-US" sz="1100"/>
          </a:p>
        </p:txBody>
      </p:sp>
      <p:cxnSp>
        <p:nvCxnSpPr>
          <p:cNvPr id="5" name="Connector 5"/>
          <p:cNvCxnSpPr/>
          <p:nvPr/>
        </p:nvCxnSpPr>
        <p:spPr>
          <a:xfrm rot="-3906">
            <a:off x="508004" y="1416050"/>
            <a:ext cx="111760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6" name="AutoShape 6"/>
          <p:cNvSpPr/>
          <p:nvPr/>
        </p:nvSpPr>
        <p:spPr>
          <a:xfrm>
            <a:off x="508000" y="1549400"/>
            <a:ext cx="3632200" cy="19050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508000" y="1549400"/>
            <a:ext cx="50800" cy="1905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711200" y="1549400"/>
            <a:ext cx="32512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功能定义</a:t>
            </a:r>
            <a:endParaRPr lang="en-US" sz="1100"/>
          </a:p>
        </p:txBody>
      </p:sp>
      <p:cxnSp>
        <p:nvCxnSpPr>
          <p:cNvPr id="9" name="Connector 9"/>
          <p:cNvCxnSpPr/>
          <p:nvPr/>
        </p:nvCxnSpPr>
        <p:spPr>
          <a:xfrm rot="-13534">
            <a:off x="711212" y="1949450"/>
            <a:ext cx="32258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10" name="AutoShape 10"/>
          <p:cNvSpPr/>
          <p:nvPr/>
        </p:nvSpPr>
        <p:spPr>
          <a:xfrm>
            <a:off x="711200" y="2006600"/>
            <a:ext cx="3251200" cy="914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消除不同航带或不同时间采集的数据之间的辐射差异。</a:t>
            </a:r>
            <a:endParaRPr lang="en-US" sz="1100"/>
          </a:p>
        </p:txBody>
      </p:sp>
      <p:sp>
        <p:nvSpPr>
          <p:cNvPr id="11" name="AutoShape 11"/>
          <p:cNvSpPr/>
          <p:nvPr/>
        </p:nvSpPr>
        <p:spPr>
          <a:xfrm>
            <a:off x="4356100" y="1549400"/>
            <a:ext cx="3632200" cy="19050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4356100" y="1549400"/>
            <a:ext cx="50800" cy="1905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4559300" y="1549400"/>
            <a:ext cx="32512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方法要点</a:t>
            </a:r>
            <a:endParaRPr lang="en-US" sz="1100"/>
          </a:p>
        </p:txBody>
      </p:sp>
      <p:cxnSp>
        <p:nvCxnSpPr>
          <p:cNvPr id="14" name="Connector 14"/>
          <p:cNvCxnSpPr/>
          <p:nvPr/>
        </p:nvCxnSpPr>
        <p:spPr>
          <a:xfrm rot="-13534">
            <a:off x="4559312" y="1949450"/>
            <a:ext cx="32258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15" name="AutoShape 15"/>
          <p:cNvSpPr/>
          <p:nvPr/>
        </p:nvSpPr>
        <p:spPr>
          <a:xfrm>
            <a:off x="4559300" y="2006600"/>
            <a:ext cx="3251200" cy="914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利用重叠区域的同名点,调整不同影像的亮度,使其保持一致。</a:t>
            </a:r>
            <a:endParaRPr lang="en-US" sz="1100"/>
          </a:p>
        </p:txBody>
      </p:sp>
      <p:sp>
        <p:nvSpPr>
          <p:cNvPr id="16" name="AutoShape 16"/>
          <p:cNvSpPr/>
          <p:nvPr/>
        </p:nvSpPr>
        <p:spPr>
          <a:xfrm>
            <a:off x="8204200" y="1549400"/>
            <a:ext cx="3632200" cy="19050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8204200" y="1549400"/>
            <a:ext cx="50800" cy="1905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8407400" y="1549400"/>
            <a:ext cx="32512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适用场景</a:t>
            </a:r>
            <a:endParaRPr lang="en-US" sz="1100"/>
          </a:p>
        </p:txBody>
      </p:sp>
      <p:cxnSp>
        <p:nvCxnSpPr>
          <p:cNvPr id="19" name="Connector 19"/>
          <p:cNvCxnSpPr/>
          <p:nvPr/>
        </p:nvCxnSpPr>
        <p:spPr>
          <a:xfrm rot="-13534">
            <a:off x="8407412" y="1949450"/>
            <a:ext cx="32258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20" name="AutoShape 20"/>
          <p:cNvSpPr/>
          <p:nvPr/>
        </p:nvSpPr>
        <p:spPr>
          <a:xfrm>
            <a:off x="8407400" y="2006600"/>
            <a:ext cx="3251200" cy="914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大面积拼接、多时相变化检测。</a:t>
            </a:r>
            <a:endParaRPr lang="en-US" sz="1100"/>
          </a:p>
        </p:txBody>
      </p:sp>
      <p:sp>
        <p:nvSpPr>
          <p:cNvPr id="21" name="AutoShape 21"/>
          <p:cNvSpPr/>
          <p:nvPr/>
        </p:nvSpPr>
        <p:spPr>
          <a:xfrm>
            <a:off x="508000" y="3619500"/>
            <a:ext cx="5651500" cy="1651000"/>
          </a:xfrm>
          <a:prstGeom prst="roundRect">
            <a:avLst>
              <a:gd name="adj" fmla="val 0"/>
            </a:avLst>
          </a:prstGeom>
          <a:gradFill rotWithShape="1">
            <a:gsLst>
              <a:gs pos="0">
                <a:srgbClr val="10B981">
                  <a:alpha val="10000"/>
                </a:srgbClr>
              </a:gs>
              <a:gs pos="100000">
                <a:srgbClr val="10B981">
                  <a:alpha val="2000"/>
                </a:srgbClr>
              </a:gs>
            </a:gsLst>
            <a:lin ang="2700000"/>
          </a:gradFill>
          <a:ln cap="flat" cmpd="sng">
            <a:gradFill rotWithShape="1">
              <a:gsLst>
                <a:gs pos="0">
                  <a:srgbClr val="00A06B">
                    <a:alpha val="10000"/>
                  </a:srgbClr>
                </a:gs>
                <a:gs pos="100000">
                  <a:srgbClr val="00A06B">
                    <a:alpha val="2000"/>
                  </a:srgbClr>
                </a:gs>
              </a:gsLst>
              <a:lin ang="2700000"/>
            </a:gradFill>
            <a:prstDash val="solid"/>
            <a:round/>
          </a:ln>
        </p:spPr>
        <p:txBody>
          <a:bodyPr vert="horz" wrap="square" lIns="63500" tIns="63500" rIns="63500" bIns="63500" rtlCol="0" anchor="ctr"/>
          <a:lstStyle/>
          <a:p>
            <a:pPr algn="ctr">
              <a:defRPr/>
            </a:pPr>
          </a:p>
        </p:txBody>
      </p:sp>
      <p:sp>
        <p:nvSpPr>
          <p:cNvPr id="22" name="AutoShape 22"/>
          <p:cNvSpPr/>
          <p:nvPr/>
        </p:nvSpPr>
        <p:spPr>
          <a:xfrm>
            <a:off x="508000" y="3619500"/>
            <a:ext cx="50800" cy="1651000"/>
          </a:xfrm>
          <a:prstGeom prst="roundRect">
            <a:avLst>
              <a:gd name="adj" fmla="val 0"/>
            </a:avLst>
          </a:prstGeom>
          <a:solidFill>
            <a:srgbClr val="10B981">
              <a:alpha val="100000"/>
            </a:srgbClr>
          </a:solidFill>
          <a:ln cap="flat" cmpd="sng">
            <a:solidFill>
              <a:srgbClr val="00A06B">
                <a:alpha val="10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711200" y="3619500"/>
            <a:ext cx="520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10B981"/>
                </a:solidFill>
                <a:latin typeface="Noto Sans SC"/>
                <a:ea typeface="Noto Sans SC"/>
                <a:cs typeface="Noto Sans SC"/>
                <a:sym typeface="Noto Sans SC"/>
              </a:rPr>
              <a:t>业务价值</a:t>
            </a:r>
            <a:endParaRPr lang="en-US" sz="1100"/>
          </a:p>
        </p:txBody>
      </p:sp>
      <p:cxnSp>
        <p:nvCxnSpPr>
          <p:cNvPr id="24" name="Connector 24"/>
          <p:cNvCxnSpPr/>
          <p:nvPr/>
        </p:nvCxnSpPr>
        <p:spPr>
          <a:xfrm rot="-8303">
            <a:off x="711208" y="4057650"/>
            <a:ext cx="5257800" cy="12700"/>
          </a:xfrm>
          <a:prstGeom prst="straightConnector1">
            <a:avLst/>
          </a:prstGeom>
          <a:solidFill>
            <a:srgbClr val="DEE0E3">
              <a:alpha val="100000"/>
            </a:srgbClr>
          </a:solidFill>
          <a:ln w="12700" cap="flat" cmpd="sng">
            <a:solidFill>
              <a:srgbClr val="10B981">
                <a:alpha val="22000"/>
              </a:srgbClr>
            </a:solidFill>
            <a:prstDash val="solid"/>
            <a:round/>
            <a:headEnd type="none" w="med" len="med"/>
            <a:tailEnd type="none" w="med" len="med"/>
          </a:ln>
        </p:spPr>
      </p:cxnSp>
      <p:sp>
        <p:nvSpPr>
          <p:cNvPr id="25" name="AutoShape 25"/>
          <p:cNvSpPr/>
          <p:nvPr/>
        </p:nvSpPr>
        <p:spPr>
          <a:xfrm>
            <a:off x="711200" y="4127500"/>
            <a:ext cx="5270500" cy="762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34155"/>
                </a:solidFill>
                <a:latin typeface="Noto Sans SC"/>
                <a:ea typeface="Noto Sans SC"/>
                <a:cs typeface="Noto Sans SC"/>
                <a:sym typeface="Noto Sans SC"/>
              </a:rPr>
              <a:t>保证拼接后影像的色调均匀,使多时相比对结果更可靠。</a:t>
            </a:r>
            <a:endParaRPr lang="en-US" sz="1100"/>
          </a:p>
        </p:txBody>
      </p:sp>
      <p:sp>
        <p:nvSpPr>
          <p:cNvPr id="26" name="AutoShape 26"/>
          <p:cNvSpPr/>
          <p:nvPr/>
        </p:nvSpPr>
        <p:spPr>
          <a:xfrm>
            <a:off x="6350000" y="3619500"/>
            <a:ext cx="5651500" cy="1651000"/>
          </a:xfrm>
          <a:prstGeom prst="roundRect">
            <a:avLst>
              <a:gd name="adj" fmla="val 0"/>
            </a:avLst>
          </a:prstGeom>
          <a:gradFill rotWithShape="1">
            <a:gsLst>
              <a:gs pos="0">
                <a:srgbClr val="EF4444">
                  <a:alpha val="10000"/>
                </a:srgbClr>
              </a:gs>
              <a:gs pos="100000">
                <a:srgbClr val="EF4444">
                  <a:alpha val="2000"/>
                </a:srgbClr>
              </a:gs>
            </a:gsLst>
            <a:lin ang="2700000"/>
          </a:gradFill>
          <a:ln cap="flat" cmpd="sng">
            <a:gradFill rotWithShape="1">
              <a:gsLst>
                <a:gs pos="0">
                  <a:srgbClr val="D52727">
                    <a:alpha val="10000"/>
                  </a:srgbClr>
                </a:gs>
                <a:gs pos="100000">
                  <a:srgbClr val="D52727">
                    <a:alpha val="2000"/>
                  </a:srgbClr>
                </a:gs>
              </a:gsLst>
              <a:lin ang="2700000"/>
            </a:gradFill>
            <a:prstDash val="solid"/>
            <a:round/>
          </a:ln>
        </p:spPr>
        <p:txBody>
          <a:bodyPr vert="horz" wrap="square" lIns="63500" tIns="63500" rIns="63500" bIns="63500" rtlCol="0" anchor="ctr"/>
          <a:lstStyle/>
          <a:p>
            <a:pPr algn="ctr">
              <a:defRPr/>
            </a:pPr>
          </a:p>
        </p:txBody>
      </p:sp>
      <p:sp>
        <p:nvSpPr>
          <p:cNvPr id="27" name="AutoShape 27"/>
          <p:cNvSpPr/>
          <p:nvPr/>
        </p:nvSpPr>
        <p:spPr>
          <a:xfrm>
            <a:off x="6350000" y="3619500"/>
            <a:ext cx="50800" cy="1651000"/>
          </a:xfrm>
          <a:prstGeom prst="roundRect">
            <a:avLst>
              <a:gd name="adj" fmla="val 0"/>
            </a:avLst>
          </a:prstGeom>
          <a:solidFill>
            <a:srgbClr val="EF4444">
              <a:alpha val="100000"/>
            </a:srgbClr>
          </a:solidFill>
          <a:ln cap="flat" cmpd="sng">
            <a:solidFill>
              <a:srgbClr val="D52727">
                <a:alpha val="100000"/>
              </a:srgbClr>
            </a:solidFill>
            <a:prstDash val="solid"/>
            <a:round/>
          </a:ln>
        </p:spPr>
        <p:txBody>
          <a:bodyPr vert="horz" wrap="square" lIns="63500" tIns="63500" rIns="63500" bIns="63500" rtlCol="0" anchor="ctr"/>
          <a:lstStyle/>
          <a:p>
            <a:pPr algn="ctr">
              <a:defRPr/>
            </a:pPr>
          </a:p>
        </p:txBody>
      </p:sp>
      <p:sp>
        <p:nvSpPr>
          <p:cNvPr id="28" name="AutoShape 28"/>
          <p:cNvSpPr/>
          <p:nvPr/>
        </p:nvSpPr>
        <p:spPr>
          <a:xfrm>
            <a:off x="6553200" y="3619500"/>
            <a:ext cx="520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EF4444"/>
                </a:solidFill>
                <a:latin typeface="Noto Sans SC"/>
                <a:ea typeface="Noto Sans SC"/>
                <a:cs typeface="Noto Sans SC"/>
                <a:sym typeface="Noto Sans SC"/>
              </a:rPr>
              <a:t>缺失影响</a:t>
            </a:r>
            <a:endParaRPr lang="en-US" sz="1100"/>
          </a:p>
        </p:txBody>
      </p:sp>
      <p:cxnSp>
        <p:nvCxnSpPr>
          <p:cNvPr id="29" name="Connector 29"/>
          <p:cNvCxnSpPr/>
          <p:nvPr/>
        </p:nvCxnSpPr>
        <p:spPr>
          <a:xfrm rot="-8509">
            <a:off x="6553208" y="4057650"/>
            <a:ext cx="5130800" cy="12700"/>
          </a:xfrm>
          <a:prstGeom prst="straightConnector1">
            <a:avLst/>
          </a:prstGeom>
          <a:solidFill>
            <a:srgbClr val="DEE0E3">
              <a:alpha val="100000"/>
            </a:srgbClr>
          </a:solidFill>
          <a:ln w="12700" cap="flat" cmpd="sng">
            <a:solidFill>
              <a:srgbClr val="EF4444">
                <a:alpha val="22000"/>
              </a:srgbClr>
            </a:solidFill>
            <a:prstDash val="solid"/>
            <a:round/>
            <a:headEnd type="none" w="med" len="med"/>
            <a:tailEnd type="none" w="med" len="med"/>
          </a:ln>
        </p:spPr>
      </p:cxnSp>
      <p:sp>
        <p:nvSpPr>
          <p:cNvPr id="30" name="AutoShape 30"/>
          <p:cNvSpPr/>
          <p:nvPr/>
        </p:nvSpPr>
        <p:spPr>
          <a:xfrm>
            <a:off x="6553200" y="4127500"/>
            <a:ext cx="5270500" cy="762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34155"/>
                </a:solidFill>
                <a:latin typeface="Noto Sans SC"/>
                <a:ea typeface="Noto Sans SC"/>
                <a:cs typeface="Noto Sans SC"/>
                <a:sym typeface="Noto Sans SC"/>
              </a:rPr>
              <a:t>拼接后的影像会出现明显的接缝或亮度差异,多时相比对结果会受到光照变化的干扰。</a:t>
            </a:r>
            <a:endParaRPr lang="en-US" sz="1100"/>
          </a:p>
        </p:txBody>
      </p:sp>
      <p:sp>
        <p:nvSpPr>
          <p:cNvPr id="31" name="AutoShape 31"/>
          <p:cNvSpPr/>
          <p:nvPr/>
        </p:nvSpPr>
        <p:spPr>
          <a:xfrm>
            <a:off x="508000" y="5435600"/>
            <a:ext cx="11303000" cy="10414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32" name="AutoShape 32"/>
          <p:cNvSpPr/>
          <p:nvPr/>
        </p:nvSpPr>
        <p:spPr>
          <a:xfrm>
            <a:off x="711200" y="5435600"/>
            <a:ext cx="30480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200" b="1" i="0" u="none" strike="noStrike">
                <a:solidFill>
                  <a:srgbClr val="1E3A8A">
                    <a:alpha val="54902"/>
                  </a:srgbClr>
                </a:solidFill>
                <a:latin typeface="Noto Sans SC"/>
                <a:ea typeface="Noto Sans SC"/>
                <a:cs typeface="Noto Sans SC"/>
                <a:sym typeface="Noto Sans SC"/>
              </a:rPr>
              <a:t>在哪个环节</a:t>
            </a:r>
            <a:endParaRPr lang="en-US" sz="1100"/>
          </a:p>
        </p:txBody>
      </p:sp>
      <p:sp>
        <p:nvSpPr>
          <p:cNvPr id="33" name="AutoShape 33"/>
          <p:cNvSpPr/>
          <p:nvPr/>
        </p:nvSpPr>
        <p:spPr>
          <a:xfrm>
            <a:off x="711200" y="57658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500" b="1" i="0" u="none" strike="noStrike">
                <a:solidFill>
                  <a:srgbClr val="1E3A8A"/>
                </a:solidFill>
                <a:latin typeface="Noto Sans SC"/>
                <a:ea typeface="Noto Sans SC"/>
                <a:cs typeface="Noto Sans SC"/>
                <a:sym typeface="Noto Sans SC"/>
              </a:rPr>
              <a:t>L1传感器产品</a:t>
            </a:r>
            <a:endParaRPr lang="en-US" sz="1100"/>
          </a:p>
        </p:txBody>
      </p:sp>
      <p:cxnSp>
        <p:nvCxnSpPr>
          <p:cNvPr id="34" name="Connector 34"/>
          <p:cNvCxnSpPr/>
          <p:nvPr/>
        </p:nvCxnSpPr>
        <p:spPr>
          <a:xfrm rot="5344557">
            <a:off x="3670300" y="5950001"/>
            <a:ext cx="7874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35" name="AutoShape 35"/>
          <p:cNvSpPr/>
          <p:nvPr/>
        </p:nvSpPr>
        <p:spPr>
          <a:xfrm>
            <a:off x="4254500" y="5435600"/>
            <a:ext cx="41910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200" b="1" i="0" u="none" strike="noStrike">
                <a:solidFill>
                  <a:srgbClr val="1E3A8A">
                    <a:alpha val="54902"/>
                  </a:srgbClr>
                </a:solidFill>
                <a:latin typeface="Noto Sans SC"/>
                <a:ea typeface="Noto Sans SC"/>
                <a:cs typeface="Noto Sans SC"/>
                <a:sym typeface="Noto Sans SC"/>
              </a:rPr>
              <a:t>关联算法</a:t>
            </a:r>
            <a:endParaRPr lang="en-US" sz="1100"/>
          </a:p>
        </p:txBody>
      </p:sp>
      <p:sp>
        <p:nvSpPr>
          <p:cNvPr id="36" name="AutoShape 36"/>
          <p:cNvSpPr/>
          <p:nvPr/>
        </p:nvSpPr>
        <p:spPr>
          <a:xfrm>
            <a:off x="4254500" y="57658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400" b="0" i="0" u="none" strike="noStrike">
                <a:solidFill>
                  <a:srgbClr val="334155"/>
                </a:solidFill>
                <a:latin typeface="Noto Sans SC"/>
                <a:ea typeface="Noto Sans SC"/>
                <a:cs typeface="Noto Sans SC"/>
                <a:sym typeface="Noto Sans SC"/>
              </a:rPr>
              <a:t>#17影像匹配与镶嵌 · #43多时相变化检测</a:t>
            </a:r>
            <a:endParaRPr lang="en-US" sz="1100"/>
          </a:p>
        </p:txBody>
      </p:sp>
      <p:cxnSp>
        <p:nvCxnSpPr>
          <p:cNvPr id="37" name="Connector 37"/>
          <p:cNvCxnSpPr/>
          <p:nvPr/>
        </p:nvCxnSpPr>
        <p:spPr>
          <a:xfrm rot="5344557">
            <a:off x="8051800" y="5950001"/>
            <a:ext cx="7874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38" name="AutoShape 38"/>
          <p:cNvSpPr/>
          <p:nvPr/>
        </p:nvSpPr>
        <p:spPr>
          <a:xfrm>
            <a:off x="8636000" y="5435600"/>
            <a:ext cx="32004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200" b="1" i="0" u="none" strike="noStrike">
                <a:solidFill>
                  <a:srgbClr val="1E3A8A">
                    <a:alpha val="54902"/>
                  </a:srgbClr>
                </a:solidFill>
                <a:latin typeface="Noto Sans SC"/>
                <a:ea typeface="Noto Sans SC"/>
                <a:cs typeface="Noto Sans SC"/>
                <a:sym typeface="Noto Sans SC"/>
              </a:rPr>
              <a:t>API接口</a:t>
            </a:r>
            <a:endParaRPr lang="en-US" sz="1100"/>
          </a:p>
        </p:txBody>
      </p:sp>
      <p:sp>
        <p:nvSpPr>
          <p:cNvPr id="39" name="AutoShape 39"/>
          <p:cNvSpPr/>
          <p:nvPr/>
        </p:nvSpPr>
        <p:spPr>
          <a:xfrm>
            <a:off x="8636000" y="5740400"/>
            <a:ext cx="3200400" cy="431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200" b="1" i="0" u="none" strike="noStrike">
                <a:solidFill>
                  <a:srgbClr val="1E3A8A"/>
                </a:solidFill>
                <a:latin typeface="Noto Sans SC"/>
                <a:ea typeface="Noto Sans SC"/>
                <a:cs typeface="Noto Sans SC"/>
                <a:sym typeface="Noto Sans SC"/>
              </a:rPr>
              <a:t>/api/v1/11_relative_radiometric_normalization/run</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604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2800" b="1" i="0" u="none" strike="noStrike" spc="100">
                <a:solidFill>
                  <a:srgbClr val="1E3A8A"/>
                </a:solidFill>
                <a:latin typeface="Noto Sans SC"/>
                <a:ea typeface="Noto Sans SC"/>
                <a:cs typeface="Noto Sans SC"/>
                <a:sym typeface="Noto Sans SC"/>
              </a:rPr>
              <a:t>白板/灰板反射率定标(经验线法)</a:t>
            </a:r>
            <a:endParaRPr lang="en-US" sz="1100"/>
          </a:p>
        </p:txBody>
      </p:sp>
      <p:sp>
        <p:nvSpPr>
          <p:cNvPr id="3" name="AutoShape 3"/>
          <p:cNvSpPr/>
          <p:nvPr/>
        </p:nvSpPr>
        <p:spPr>
          <a:xfrm>
            <a:off x="508000" y="1041400"/>
            <a:ext cx="11176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0" i="0" u="none" strike="noStrike">
                <a:solidFill>
                  <a:srgbClr val="64748B"/>
                </a:solidFill>
                <a:latin typeface="Noto Sans SC"/>
                <a:ea typeface="Noto Sans SC"/>
                <a:cs typeface="Noto Sans SC"/>
                <a:sym typeface="Noto Sans SC"/>
              </a:rPr>
              <a:t>所属层级:L1→L2 ｜ 编号 #12 ｜ 辅导材料:算法清单与API</a:t>
            </a:r>
            <a:endParaRPr lang="en-US" sz="1100"/>
          </a:p>
        </p:txBody>
      </p:sp>
      <p:cxnSp>
        <p:nvCxnSpPr>
          <p:cNvPr id="4" name="Connector 4"/>
          <p:cNvCxnSpPr/>
          <p:nvPr/>
        </p:nvCxnSpPr>
        <p:spPr>
          <a:xfrm rot="-3906">
            <a:off x="508004" y="1416050"/>
            <a:ext cx="111760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5" name="AutoShape 5"/>
          <p:cNvSpPr/>
          <p:nvPr/>
        </p:nvSpPr>
        <p:spPr>
          <a:xfrm>
            <a:off x="508000" y="1524000"/>
            <a:ext cx="3683000" cy="19050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508000" y="1524000"/>
            <a:ext cx="50800" cy="1905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736600" y="1524000"/>
            <a:ext cx="33528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900" b="1" i="0" u="none" strike="noStrike">
                <a:solidFill>
                  <a:srgbClr val="1E3A8A"/>
                </a:solidFill>
                <a:latin typeface="Noto Sans SC"/>
                <a:ea typeface="Noto Sans SC"/>
                <a:cs typeface="Noto Sans SC"/>
                <a:sym typeface="Noto Sans SC"/>
              </a:rPr>
              <a:t>功能定义</a:t>
            </a:r>
            <a:endParaRPr lang="en-US" sz="1100"/>
          </a:p>
        </p:txBody>
      </p:sp>
      <p:cxnSp>
        <p:nvCxnSpPr>
          <p:cNvPr id="8" name="Connector 8"/>
          <p:cNvCxnSpPr/>
          <p:nvPr/>
        </p:nvCxnSpPr>
        <p:spPr>
          <a:xfrm rot="-13324">
            <a:off x="736612" y="1924050"/>
            <a:ext cx="3276600" cy="12700"/>
          </a:xfrm>
          <a:prstGeom prst="straightConnector1">
            <a:avLst/>
          </a:prstGeom>
          <a:solidFill>
            <a:srgbClr val="DEE0E3">
              <a:alpha val="100000"/>
            </a:srgbClr>
          </a:solidFill>
          <a:ln w="12700" cap="flat" cmpd="sng">
            <a:solidFill>
              <a:srgbClr val="1E3A8A">
                <a:alpha val="12000"/>
              </a:srgbClr>
            </a:solidFill>
            <a:prstDash val="solid"/>
            <a:round/>
            <a:headEnd type="none" w="med" len="med"/>
            <a:tailEnd type="none" w="med" len="med"/>
          </a:ln>
        </p:spPr>
      </p:cxnSp>
      <p:sp>
        <p:nvSpPr>
          <p:cNvPr id="9" name="AutoShape 9"/>
          <p:cNvSpPr/>
          <p:nvPr/>
        </p:nvSpPr>
        <p:spPr>
          <a:xfrm>
            <a:off x="736600" y="1981200"/>
            <a:ext cx="3352800" cy="1016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利用地面参考板,将辐亮度快速转换为地表反射率。</a:t>
            </a:r>
            <a:endParaRPr lang="en-US" sz="1100"/>
          </a:p>
        </p:txBody>
      </p:sp>
      <p:sp>
        <p:nvSpPr>
          <p:cNvPr id="10" name="AutoShape 10"/>
          <p:cNvSpPr/>
          <p:nvPr/>
        </p:nvSpPr>
        <p:spPr>
          <a:xfrm>
            <a:off x="4381500" y="1524000"/>
            <a:ext cx="3683000" cy="19050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4381500" y="1524000"/>
            <a:ext cx="50800" cy="1905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4610100" y="1524000"/>
            <a:ext cx="33528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900" b="1" i="0" u="none" strike="noStrike">
                <a:solidFill>
                  <a:srgbClr val="1E3A8A"/>
                </a:solidFill>
                <a:latin typeface="Noto Sans SC"/>
                <a:ea typeface="Noto Sans SC"/>
                <a:cs typeface="Noto Sans SC"/>
                <a:sym typeface="Noto Sans SC"/>
              </a:rPr>
              <a:t>方法要点</a:t>
            </a:r>
            <a:endParaRPr lang="en-US" sz="1100"/>
          </a:p>
        </p:txBody>
      </p:sp>
      <p:cxnSp>
        <p:nvCxnSpPr>
          <p:cNvPr id="13" name="Connector 13"/>
          <p:cNvCxnSpPr/>
          <p:nvPr/>
        </p:nvCxnSpPr>
        <p:spPr>
          <a:xfrm rot="-13324">
            <a:off x="4610112" y="1924050"/>
            <a:ext cx="3276600" cy="12700"/>
          </a:xfrm>
          <a:prstGeom prst="straightConnector1">
            <a:avLst/>
          </a:prstGeom>
          <a:solidFill>
            <a:srgbClr val="DEE0E3">
              <a:alpha val="100000"/>
            </a:srgbClr>
          </a:solidFill>
          <a:ln w="12700" cap="flat" cmpd="sng">
            <a:solidFill>
              <a:srgbClr val="1E3A8A">
                <a:alpha val="12000"/>
              </a:srgbClr>
            </a:solidFill>
            <a:prstDash val="solid"/>
            <a:round/>
            <a:headEnd type="none" w="med" len="med"/>
            <a:tailEnd type="none" w="med" len="med"/>
          </a:ln>
        </p:spPr>
      </p:cxnSp>
      <p:sp>
        <p:nvSpPr>
          <p:cNvPr id="14" name="AutoShape 14"/>
          <p:cNvSpPr/>
          <p:nvPr/>
        </p:nvSpPr>
        <p:spPr>
          <a:xfrm>
            <a:off x="4610100" y="1981200"/>
            <a:ext cx="3352800" cy="1143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测量白板/灰板的辐亮度和其已知的反射率,建立线性回归模型,将影像的辐亮度转换为反射率。</a:t>
            </a:r>
            <a:endParaRPr lang="en-US" sz="1100"/>
          </a:p>
        </p:txBody>
      </p:sp>
      <p:sp>
        <p:nvSpPr>
          <p:cNvPr id="15" name="AutoShape 15"/>
          <p:cNvSpPr/>
          <p:nvPr/>
        </p:nvSpPr>
        <p:spPr>
          <a:xfrm>
            <a:off x="8255000" y="1524000"/>
            <a:ext cx="3683000" cy="19050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8255000" y="1524000"/>
            <a:ext cx="50800" cy="1905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8483600" y="1524000"/>
            <a:ext cx="33528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900" b="1" i="0" u="none" strike="noStrike">
                <a:solidFill>
                  <a:srgbClr val="1E3A8A"/>
                </a:solidFill>
                <a:latin typeface="Noto Sans SC"/>
                <a:ea typeface="Noto Sans SC"/>
                <a:cs typeface="Noto Sans SC"/>
                <a:sym typeface="Noto Sans SC"/>
              </a:rPr>
              <a:t>适用场景</a:t>
            </a:r>
            <a:endParaRPr lang="en-US" sz="1100"/>
          </a:p>
        </p:txBody>
      </p:sp>
      <p:cxnSp>
        <p:nvCxnSpPr>
          <p:cNvPr id="18" name="Connector 18"/>
          <p:cNvCxnSpPr/>
          <p:nvPr/>
        </p:nvCxnSpPr>
        <p:spPr>
          <a:xfrm rot="-13641">
            <a:off x="8483613" y="1924050"/>
            <a:ext cx="3200400" cy="12700"/>
          </a:xfrm>
          <a:prstGeom prst="straightConnector1">
            <a:avLst/>
          </a:prstGeom>
          <a:solidFill>
            <a:srgbClr val="DEE0E3">
              <a:alpha val="100000"/>
            </a:srgbClr>
          </a:solidFill>
          <a:ln w="12700" cap="flat" cmpd="sng">
            <a:solidFill>
              <a:srgbClr val="1E3A8A">
                <a:alpha val="12000"/>
              </a:srgbClr>
            </a:solidFill>
            <a:prstDash val="solid"/>
            <a:round/>
            <a:headEnd type="none" w="med" len="med"/>
            <a:tailEnd type="none" w="med" len="med"/>
          </a:ln>
        </p:spPr>
      </p:cxnSp>
      <p:sp>
        <p:nvSpPr>
          <p:cNvPr id="19" name="AutoShape 19"/>
          <p:cNvSpPr/>
          <p:nvPr/>
        </p:nvSpPr>
        <p:spPr>
          <a:xfrm>
            <a:off x="8483600" y="1981200"/>
            <a:ext cx="3352800" cy="1016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无人机低空遥感的首选方法,适用于农情监测、植被指数计算等。</a:t>
            </a:r>
            <a:endParaRPr lang="en-US" sz="1100"/>
          </a:p>
        </p:txBody>
      </p:sp>
      <p:sp>
        <p:nvSpPr>
          <p:cNvPr id="20" name="AutoShape 20"/>
          <p:cNvSpPr/>
          <p:nvPr/>
        </p:nvSpPr>
        <p:spPr>
          <a:xfrm>
            <a:off x="508000" y="3556000"/>
            <a:ext cx="5715000" cy="1651000"/>
          </a:xfrm>
          <a:prstGeom prst="roundRect">
            <a:avLst>
              <a:gd name="adj" fmla="val 0"/>
            </a:avLst>
          </a:prstGeom>
          <a:solidFill>
            <a:srgbClr val="10B981">
              <a:alpha val="7000"/>
            </a:srgbClr>
          </a:solidFill>
          <a:ln cap="flat" cmpd="sng">
            <a:solidFill>
              <a:srgbClr val="00A06B">
                <a:alpha val="7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508000" y="3556000"/>
            <a:ext cx="50800" cy="1651000"/>
          </a:xfrm>
          <a:prstGeom prst="roundRect">
            <a:avLst>
              <a:gd name="adj" fmla="val 0"/>
            </a:avLst>
          </a:prstGeom>
          <a:solidFill>
            <a:srgbClr val="10B981">
              <a:alpha val="100000"/>
            </a:srgbClr>
          </a:solidFill>
          <a:ln cap="flat" cmpd="sng">
            <a:solidFill>
              <a:srgbClr val="00A06B">
                <a:alpha val="10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736600" y="3556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900" b="1" i="0" u="none" strike="noStrike">
                <a:solidFill>
                  <a:srgbClr val="10B981"/>
                </a:solidFill>
                <a:latin typeface="Noto Sans SC"/>
                <a:ea typeface="Noto Sans SC"/>
                <a:cs typeface="Noto Sans SC"/>
                <a:sym typeface="Noto Sans SC"/>
              </a:rPr>
              <a:t>业务价值</a:t>
            </a:r>
            <a:endParaRPr lang="en-US" sz="1100"/>
          </a:p>
        </p:txBody>
      </p:sp>
      <p:cxnSp>
        <p:nvCxnSpPr>
          <p:cNvPr id="23" name="Connector 23"/>
          <p:cNvCxnSpPr/>
          <p:nvPr/>
        </p:nvCxnSpPr>
        <p:spPr>
          <a:xfrm rot="-8243">
            <a:off x="736608" y="3956050"/>
            <a:ext cx="5295900" cy="12700"/>
          </a:xfrm>
          <a:prstGeom prst="straightConnector1">
            <a:avLst/>
          </a:prstGeom>
          <a:solidFill>
            <a:srgbClr val="DEE0E3">
              <a:alpha val="100000"/>
            </a:srgbClr>
          </a:solidFill>
          <a:ln w="12700" cap="flat" cmpd="sng">
            <a:solidFill>
              <a:srgbClr val="10B981">
                <a:alpha val="18000"/>
              </a:srgbClr>
            </a:solidFill>
            <a:prstDash val="solid"/>
            <a:round/>
            <a:headEnd type="none" w="med" len="med"/>
            <a:tailEnd type="none" w="med" len="med"/>
          </a:ln>
        </p:spPr>
      </p:cxnSp>
      <p:sp>
        <p:nvSpPr>
          <p:cNvPr id="24" name="AutoShape 24"/>
          <p:cNvSpPr/>
          <p:nvPr/>
        </p:nvSpPr>
        <p:spPr>
          <a:xfrm>
            <a:off x="736600" y="4013200"/>
            <a:ext cx="5334000" cy="8255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在不进行复杂大气校正的情况下,快速获得可用的反射率数据,满足大部分业务需求。</a:t>
            </a:r>
            <a:endParaRPr lang="en-US" sz="1100"/>
          </a:p>
        </p:txBody>
      </p:sp>
      <p:sp>
        <p:nvSpPr>
          <p:cNvPr id="25" name="AutoShape 25"/>
          <p:cNvSpPr/>
          <p:nvPr/>
        </p:nvSpPr>
        <p:spPr>
          <a:xfrm>
            <a:off x="6477000" y="3556000"/>
            <a:ext cx="5461000" cy="1651000"/>
          </a:xfrm>
          <a:prstGeom prst="roundRect">
            <a:avLst>
              <a:gd name="adj" fmla="val 0"/>
            </a:avLst>
          </a:prstGeom>
          <a:solidFill>
            <a:srgbClr val="F97316">
              <a:alpha val="7000"/>
            </a:srgbClr>
          </a:solidFill>
          <a:ln cap="flat" cmpd="sng">
            <a:solidFill>
              <a:srgbClr val="E05C00">
                <a:alpha val="7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6477000" y="3556000"/>
            <a:ext cx="50800" cy="1651000"/>
          </a:xfrm>
          <a:prstGeom prst="roundRect">
            <a:avLst>
              <a:gd name="adj" fmla="val 0"/>
            </a:avLst>
          </a:prstGeom>
          <a:solidFill>
            <a:srgbClr val="F97316">
              <a:alpha val="100000"/>
            </a:srgbClr>
          </a:solidFill>
          <a:ln cap="flat" cmpd="sng">
            <a:solidFill>
              <a:srgbClr val="E05C00">
                <a:alpha val="100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6705600" y="3556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900" b="1" i="0" u="none" strike="noStrike">
                <a:solidFill>
                  <a:srgbClr val="F97316"/>
                </a:solidFill>
                <a:latin typeface="Noto Sans SC"/>
                <a:ea typeface="Noto Sans SC"/>
                <a:cs typeface="Noto Sans SC"/>
                <a:sym typeface="Noto Sans SC"/>
              </a:rPr>
              <a:t>缺失影响</a:t>
            </a:r>
            <a:endParaRPr lang="en-US" sz="1100"/>
          </a:p>
        </p:txBody>
      </p:sp>
      <p:cxnSp>
        <p:nvCxnSpPr>
          <p:cNvPr id="28" name="Connector 28"/>
          <p:cNvCxnSpPr/>
          <p:nvPr/>
        </p:nvCxnSpPr>
        <p:spPr>
          <a:xfrm rot="-8769">
            <a:off x="6705608" y="3956050"/>
            <a:ext cx="4978400" cy="12700"/>
          </a:xfrm>
          <a:prstGeom prst="straightConnector1">
            <a:avLst/>
          </a:prstGeom>
          <a:solidFill>
            <a:srgbClr val="DEE0E3">
              <a:alpha val="100000"/>
            </a:srgbClr>
          </a:solidFill>
          <a:ln w="12700" cap="flat" cmpd="sng">
            <a:solidFill>
              <a:srgbClr val="F97316">
                <a:alpha val="18000"/>
              </a:srgbClr>
            </a:solidFill>
            <a:prstDash val="solid"/>
            <a:round/>
            <a:headEnd type="none" w="med" len="med"/>
            <a:tailEnd type="none" w="med" len="med"/>
          </a:ln>
        </p:spPr>
      </p:cxnSp>
      <p:sp>
        <p:nvSpPr>
          <p:cNvPr id="29" name="AutoShape 29"/>
          <p:cNvSpPr/>
          <p:nvPr/>
        </p:nvSpPr>
        <p:spPr>
          <a:xfrm>
            <a:off x="6705600" y="4013200"/>
            <a:ext cx="5080000" cy="8255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无法消除大气影响,精度相对较低,不适用于高精度定量反演和跨区域对比。</a:t>
            </a:r>
            <a:endParaRPr lang="en-US" sz="1100"/>
          </a:p>
        </p:txBody>
      </p:sp>
      <p:sp>
        <p:nvSpPr>
          <p:cNvPr id="30" name="AutoShape 30"/>
          <p:cNvSpPr/>
          <p:nvPr/>
        </p:nvSpPr>
        <p:spPr>
          <a:xfrm>
            <a:off x="508000" y="5334000"/>
            <a:ext cx="11176000" cy="1143000"/>
          </a:xfrm>
          <a:prstGeom prst="roundRect">
            <a:avLst>
              <a:gd name="adj" fmla="val 0"/>
            </a:avLst>
          </a:prstGeom>
          <a:gradFill rotWithShape="1">
            <a:gsLst>
              <a:gs pos="0">
                <a:srgbClr val="1E3A8A">
                  <a:alpha val="8000"/>
                </a:srgbClr>
              </a:gs>
              <a:gs pos="100000">
                <a:srgbClr val="1E3A8A">
                  <a:alpha val="2000"/>
                </a:srgbClr>
              </a:gs>
            </a:gsLst>
            <a:lin ang="0"/>
          </a:gradFill>
          <a:ln cap="flat" cmpd="sng">
            <a:gradFill rotWithShape="1">
              <a:gsLst>
                <a:gs pos="0">
                  <a:srgbClr val="0D2771">
                    <a:alpha val="8000"/>
                  </a:srgbClr>
                </a:gs>
                <a:gs pos="100000">
                  <a:srgbClr val="0D2771">
                    <a:alpha val="2000"/>
                  </a:srgbClr>
                </a:gs>
              </a:gsLst>
              <a:lin ang="0"/>
            </a:gradFill>
            <a:prstDash val="solid"/>
            <a:round/>
          </a:ln>
        </p:spPr>
        <p:txBody>
          <a:bodyPr vert="horz" wrap="square" lIns="63500" tIns="63500" rIns="63500" bIns="63500" rtlCol="0" anchor="ctr"/>
          <a:lstStyle/>
          <a:p>
            <a:pPr algn="ctr">
              <a:defRPr/>
            </a:pPr>
          </a:p>
        </p:txBody>
      </p:sp>
      <p:sp>
        <p:nvSpPr>
          <p:cNvPr id="31" name="AutoShape 31"/>
          <p:cNvSpPr/>
          <p:nvPr/>
        </p:nvSpPr>
        <p:spPr>
          <a:xfrm>
            <a:off x="508000" y="5334000"/>
            <a:ext cx="50800" cy="1143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32" name="AutoShape 32"/>
          <p:cNvSpPr/>
          <p:nvPr/>
        </p:nvSpPr>
        <p:spPr>
          <a:xfrm>
            <a:off x="762000" y="5334000"/>
            <a:ext cx="6350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600" b="1" i="0" u="none" strike="noStrike">
                <a:solidFill>
                  <a:srgbClr val="1E3A8A"/>
                </a:solidFill>
                <a:latin typeface="Noto Sans SC"/>
                <a:ea typeface="Noto Sans SC"/>
                <a:cs typeface="Noto Sans SC"/>
                <a:sym typeface="Noto Sans SC"/>
              </a:rPr>
              <a:t>流程位置与关联</a:t>
            </a:r>
            <a:endParaRPr lang="en-US" sz="1100"/>
          </a:p>
        </p:txBody>
      </p:sp>
      <p:sp>
        <p:nvSpPr>
          <p:cNvPr id="33" name="AutoShape 33"/>
          <p:cNvSpPr/>
          <p:nvPr/>
        </p:nvSpPr>
        <p:spPr>
          <a:xfrm>
            <a:off x="762000" y="5715000"/>
            <a:ext cx="6477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0" i="0" u="none" strike="noStrike">
                <a:solidFill>
                  <a:srgbClr val="475569"/>
                </a:solidFill>
                <a:latin typeface="Noto Sans SC"/>
                <a:ea typeface="Noto Sans SC"/>
                <a:cs typeface="Noto Sans SC"/>
                <a:sym typeface="Noto Sans SC"/>
              </a:rPr>
              <a:t>在哪个环节:L1→L2分析底图 ｜ 关联:</a:t>
            </a:r>
            <a:r>
              <a:rPr lang="en-US" sz="1200" b="1" i="0" u="none" strike="noStrike">
                <a:solidFill>
                  <a:srgbClr val="1E3A8A"/>
                </a:solidFill>
                <a:latin typeface="Noto Sans SC"/>
                <a:ea typeface="Noto Sans SC"/>
                <a:cs typeface="Noto Sans SC"/>
                <a:sym typeface="Noto Sans SC"/>
              </a:rPr>
              <a:t>#6辐射定标</a:t>
            </a:r>
            <a:r>
              <a:rPr lang="en-US" sz="1200" b="0" i="0" u="none" strike="noStrike">
                <a:solidFill>
                  <a:srgbClr val="475569"/>
                </a:solidFill>
                <a:latin typeface="Noto Sans SC"/>
                <a:ea typeface="Noto Sans SC"/>
                <a:cs typeface="Noto Sans SC"/>
                <a:sym typeface="Noto Sans SC"/>
              </a:rPr>
              <a:t>,</a:t>
            </a:r>
            <a:r>
              <a:rPr lang="en-US" sz="1200" b="1" i="0" u="none" strike="noStrike">
                <a:solidFill>
                  <a:srgbClr val="1E3A8A"/>
                </a:solidFill>
                <a:latin typeface="Noto Sans SC"/>
                <a:ea typeface="Noto Sans SC"/>
                <a:cs typeface="Noto Sans SC"/>
                <a:sym typeface="Noto Sans SC"/>
              </a:rPr>
              <a:t>#13大气校正</a:t>
            </a:r>
            <a:endParaRPr lang="en-US" sz="1100"/>
          </a:p>
        </p:txBody>
      </p:sp>
      <p:cxnSp>
        <p:nvCxnSpPr>
          <p:cNvPr id="34" name="Connector 34"/>
          <p:cNvCxnSpPr/>
          <p:nvPr/>
        </p:nvCxnSpPr>
        <p:spPr>
          <a:xfrm rot="5350892">
            <a:off x="7112000" y="5899195"/>
            <a:ext cx="8890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35" name="AutoShape 35"/>
          <p:cNvSpPr/>
          <p:nvPr/>
        </p:nvSpPr>
        <p:spPr>
          <a:xfrm>
            <a:off x="7810500" y="5334000"/>
            <a:ext cx="3937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600" b="1" i="0" u="none" strike="noStrike">
                <a:solidFill>
                  <a:srgbClr val="1E3A8A"/>
                </a:solidFill>
                <a:latin typeface="Noto Sans SC"/>
                <a:ea typeface="Noto Sans SC"/>
                <a:cs typeface="Noto Sans SC"/>
                <a:sym typeface="Noto Sans SC"/>
              </a:rPr>
              <a:t>[API]</a:t>
            </a:r>
            <a:endParaRPr lang="en-US" sz="1100"/>
          </a:p>
        </p:txBody>
      </p:sp>
      <p:sp>
        <p:nvSpPr>
          <p:cNvPr id="36" name="AutoShape 36"/>
          <p:cNvSpPr/>
          <p:nvPr/>
        </p:nvSpPr>
        <p:spPr>
          <a:xfrm>
            <a:off x="7810500" y="5715000"/>
            <a:ext cx="4000500" cy="508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300" b="0" i="0" u="none" strike="noStrike">
                <a:solidFill>
                  <a:srgbClr val="475569"/>
                </a:solidFill>
                <a:latin typeface="Noto Sans SC"/>
                <a:ea typeface="Noto Sans SC"/>
                <a:cs typeface="Noto Sans SC"/>
                <a:sym typeface="Noto Sans SC"/>
              </a:rPr>
              <a:t>/api/v1/12_reflectance_calibration/run</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7620000" cy="5842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spc="100">
                <a:solidFill>
                  <a:srgbClr val="1E3A8A"/>
                </a:solidFill>
                <a:latin typeface="Noto Sans SC"/>
                <a:ea typeface="Noto Sans SC"/>
                <a:cs typeface="Noto Sans SC"/>
                <a:sym typeface="Noto Sans SC"/>
              </a:rPr>
              <a:t>大气校正</a:t>
            </a:r>
            <a:endParaRPr lang="en-US" sz="1100"/>
          </a:p>
        </p:txBody>
      </p:sp>
      <p:sp>
        <p:nvSpPr>
          <p:cNvPr id="3" name="AutoShape 3"/>
          <p:cNvSpPr/>
          <p:nvPr/>
        </p:nvSpPr>
        <p:spPr>
          <a:xfrm>
            <a:off x="508000" y="1016000"/>
            <a:ext cx="279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200" b="0" i="0" u="none" strike="noStrike">
                <a:solidFill>
                  <a:srgbClr val="64748B"/>
                </a:solidFill>
                <a:latin typeface="Noto Sans SC"/>
                <a:ea typeface="Noto Sans SC"/>
                <a:cs typeface="Noto Sans SC"/>
                <a:sym typeface="Noto Sans SC"/>
              </a:rPr>
              <a:t>层级</a:t>
            </a:r>
            <a:r>
              <a:rPr lang="en-US" sz="1200" b="1" i="0" u="none" strike="noStrike">
                <a:solidFill>
                  <a:srgbClr val="1E3A8A"/>
                </a:solidFill>
                <a:latin typeface="Noto Sans SC"/>
                <a:ea typeface="Noto Sans SC"/>
                <a:cs typeface="Noto Sans SC"/>
                <a:sym typeface="Noto Sans SC"/>
              </a:rPr>
              <a:t>L1→L2</a:t>
            </a:r>
            <a:r>
              <a:rPr lang="en-US" sz="1200" b="0" i="0" u="none" strike="noStrike">
                <a:solidFill>
                  <a:srgbClr val="CBD5E1"/>
                </a:solidFill>
                <a:latin typeface="Noto Sans SC"/>
                <a:ea typeface="Noto Sans SC"/>
                <a:cs typeface="Noto Sans SC"/>
                <a:sym typeface="Noto Sans SC"/>
              </a:rPr>
              <a:t>｜</a:t>
            </a:r>
            <a:r>
              <a:rPr lang="en-US" sz="1200" b="0" i="0" u="none" strike="noStrike">
                <a:solidFill>
                  <a:srgbClr val="64748B"/>
                </a:solidFill>
                <a:latin typeface="Noto Sans SC"/>
                <a:ea typeface="Noto Sans SC"/>
                <a:cs typeface="Noto Sans SC"/>
                <a:sym typeface="Noto Sans SC"/>
              </a:rPr>
              <a:t>编号</a:t>
            </a:r>
            <a:r>
              <a:rPr lang="en-US" sz="1200" b="1" i="0" u="none" strike="noStrike">
                <a:solidFill>
                  <a:srgbClr val="1E3A8A"/>
                </a:solidFill>
                <a:latin typeface="Noto Sans SC"/>
                <a:ea typeface="Noto Sans SC"/>
                <a:cs typeface="Noto Sans SC"/>
                <a:sym typeface="Noto Sans SC"/>
              </a:rPr>
              <a:t>#13</a:t>
            </a:r>
            <a:endParaRPr lang="en-US" sz="1100"/>
          </a:p>
        </p:txBody>
      </p:sp>
      <p:sp>
        <p:nvSpPr>
          <p:cNvPr id="4" name="AutoShape 4"/>
          <p:cNvSpPr/>
          <p:nvPr/>
        </p:nvSpPr>
        <p:spPr>
          <a:xfrm>
            <a:off x="3429000" y="1016000"/>
            <a:ext cx="508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200" b="0" i="0" u="none" strike="noStrike">
                <a:solidFill>
                  <a:srgbClr val="64748B"/>
                </a:solidFill>
                <a:latin typeface="Noto Sans SC"/>
                <a:ea typeface="Noto Sans SC"/>
                <a:cs typeface="Noto Sans SC"/>
                <a:sym typeface="Noto Sans SC"/>
              </a:rPr>
              <a:t>辅导材料:算法清单与API</a:t>
            </a:r>
            <a:endParaRPr lang="en-US" sz="1100"/>
          </a:p>
        </p:txBody>
      </p:sp>
      <p:cxnSp>
        <p:nvCxnSpPr>
          <p:cNvPr id="5" name="Connector 5"/>
          <p:cNvCxnSpPr/>
          <p:nvPr/>
        </p:nvCxnSpPr>
        <p:spPr>
          <a:xfrm rot="-3906">
            <a:off x="508004" y="1416050"/>
            <a:ext cx="11176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6" name="AutoShape 6"/>
          <p:cNvSpPr/>
          <p:nvPr/>
        </p:nvSpPr>
        <p:spPr>
          <a:xfrm>
            <a:off x="508000" y="1524000"/>
            <a:ext cx="5080000" cy="2032000"/>
          </a:xfrm>
          <a:prstGeom prst="roundRect">
            <a:avLst>
              <a:gd name="adj" fmla="val 0"/>
            </a:avLst>
          </a:prstGeom>
          <a:gradFill rotWithShape="1">
            <a:gsLst>
              <a:gs pos="0">
                <a:srgbClr val="1E3A8A">
                  <a:alpha val="100000"/>
                </a:srgbClr>
              </a:gs>
              <a:gs pos="100000">
                <a:srgbClr val="3B82F6">
                  <a:alpha val="100000"/>
                </a:srgbClr>
              </a:gs>
            </a:gsLst>
            <a:lin ang="2700000"/>
          </a:gradFill>
          <a:ln cap="flat" cmpd="sng">
            <a:gradFill rotWithShape="1">
              <a:gsLst>
                <a:gs pos="0">
                  <a:srgbClr val="0D2771">
                    <a:alpha val="100000"/>
                  </a:srgbClr>
                </a:gs>
                <a:gs pos="100000">
                  <a:srgbClr val="1F67DD">
                    <a:alpha val="100000"/>
                  </a:srgbClr>
                </a:gs>
              </a:gsLst>
              <a:lin ang="2700000"/>
            </a:gradFill>
            <a:prstDash val="solid"/>
            <a:round/>
          </a:ln>
        </p:spPr>
        <p:txBody>
          <a:bodyPr vert="horz" wrap="square" lIns="63500" tIns="63500" rIns="63500" bIns="63500" rtlCol="0" anchor="ctr"/>
          <a:lstStyle/>
          <a:p>
            <a:pPr algn="ctr">
              <a:defRPr/>
            </a:pPr>
          </a:p>
        </p:txBody>
      </p:sp>
      <p:sp>
        <p:nvSpPr>
          <p:cNvPr id="7" name="AutoShape 7"/>
          <p:cNvSpPr/>
          <p:nvPr/>
        </p:nvSpPr>
        <p:spPr>
          <a:xfrm>
            <a:off x="762000" y="16510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2000" b="1" i="0" u="none" strike="noStrike" spc="200">
                <a:solidFill>
                  <a:srgbClr val="FFFFFF"/>
                </a:solidFill>
                <a:latin typeface="Noto Sans SC"/>
                <a:ea typeface="Noto Sans SC"/>
                <a:cs typeface="Noto Sans SC"/>
                <a:sym typeface="Noto Sans SC"/>
              </a:rPr>
              <a:t>功能定义</a:t>
            </a:r>
            <a:endParaRPr lang="en-US" sz="1100"/>
          </a:p>
        </p:txBody>
      </p:sp>
      <p:cxnSp>
        <p:nvCxnSpPr>
          <p:cNvPr id="8" name="Connector 8"/>
          <p:cNvCxnSpPr/>
          <p:nvPr/>
        </p:nvCxnSpPr>
        <p:spPr>
          <a:xfrm rot="-9549">
            <a:off x="762009" y="2063750"/>
            <a:ext cx="4572000" cy="12700"/>
          </a:xfrm>
          <a:prstGeom prst="straightConnector1">
            <a:avLst/>
          </a:prstGeom>
          <a:solidFill>
            <a:srgbClr val="DEE0E3">
              <a:alpha val="100000"/>
            </a:srgbClr>
          </a:solidFill>
          <a:ln w="12700" cap="flat" cmpd="sng">
            <a:solidFill>
              <a:srgbClr val="FFFFFF">
                <a:alpha val="28000"/>
              </a:srgbClr>
            </a:solidFill>
            <a:prstDash val="solid"/>
            <a:round/>
            <a:headEnd type="none" w="med" len="med"/>
            <a:tailEnd type="none" w="med" len="med"/>
          </a:ln>
        </p:spPr>
      </p:cxnSp>
      <p:sp>
        <p:nvSpPr>
          <p:cNvPr id="9" name="AutoShape 9"/>
          <p:cNvSpPr/>
          <p:nvPr/>
        </p:nvSpPr>
        <p:spPr>
          <a:xfrm>
            <a:off x="762000" y="2159000"/>
            <a:ext cx="4572000" cy="11176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600" b="0" i="0" u="none" strike="noStrike">
                <a:solidFill>
                  <a:srgbClr val="FFFFFF">
                    <a:alpha val="94902"/>
                  </a:srgbClr>
                </a:solidFill>
                <a:latin typeface="Noto Sans SC"/>
                <a:ea typeface="Noto Sans SC"/>
                <a:cs typeface="Noto Sans SC"/>
                <a:sym typeface="Noto Sans SC"/>
              </a:rPr>
              <a:t>通过物理模型,精确扣除大气对太阳辐射的吸收和散射影响。</a:t>
            </a:r>
            <a:endParaRPr lang="en-US" sz="1100"/>
          </a:p>
        </p:txBody>
      </p:sp>
      <p:sp>
        <p:nvSpPr>
          <p:cNvPr id="10" name="AutoShape 10"/>
          <p:cNvSpPr/>
          <p:nvPr/>
        </p:nvSpPr>
        <p:spPr>
          <a:xfrm>
            <a:off x="5842000" y="1524000"/>
            <a:ext cx="5842000" cy="12700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5842000" y="1524000"/>
            <a:ext cx="50800" cy="1270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6096000" y="1524000"/>
            <a:ext cx="5334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方法要点</a:t>
            </a:r>
            <a:endParaRPr lang="en-US" sz="1100"/>
          </a:p>
        </p:txBody>
      </p:sp>
      <p:sp>
        <p:nvSpPr>
          <p:cNvPr id="13" name="AutoShape 13"/>
          <p:cNvSpPr/>
          <p:nvPr/>
        </p:nvSpPr>
        <p:spPr>
          <a:xfrm>
            <a:off x="6096000" y="1905000"/>
            <a:ext cx="5524500" cy="762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300" b="0" i="0" u="none" strike="noStrike">
                <a:solidFill>
                  <a:srgbClr val="475569"/>
                </a:solidFill>
                <a:latin typeface="Noto Sans SC"/>
                <a:ea typeface="Noto Sans SC"/>
                <a:cs typeface="Noto Sans SC"/>
                <a:sym typeface="Noto Sans SC"/>
              </a:rPr>
              <a:t>利用大气辐射传输模型(如MODTRAN),结合大气参数(如气溶胶光学厚度、水汽含量),计算大气影响并从辐亮度中扣除。</a:t>
            </a:r>
            <a:endParaRPr lang="en-US" sz="1100"/>
          </a:p>
        </p:txBody>
      </p:sp>
      <p:sp>
        <p:nvSpPr>
          <p:cNvPr id="14" name="AutoShape 14"/>
          <p:cNvSpPr/>
          <p:nvPr/>
        </p:nvSpPr>
        <p:spPr>
          <a:xfrm>
            <a:off x="5842000" y="2921000"/>
            <a:ext cx="5842000" cy="11430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5842000" y="2921000"/>
            <a:ext cx="50800" cy="1143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6096000" y="2921000"/>
            <a:ext cx="5334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适用场景</a:t>
            </a:r>
            <a:endParaRPr lang="en-US" sz="1100"/>
          </a:p>
        </p:txBody>
      </p:sp>
      <p:sp>
        <p:nvSpPr>
          <p:cNvPr id="17" name="AutoShape 17"/>
          <p:cNvSpPr/>
          <p:nvPr/>
        </p:nvSpPr>
        <p:spPr>
          <a:xfrm>
            <a:off x="6096000" y="3302000"/>
            <a:ext cx="5524500" cy="660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300" b="0" i="0" u="none" strike="noStrike">
                <a:solidFill>
                  <a:srgbClr val="475569"/>
                </a:solidFill>
                <a:latin typeface="Noto Sans SC"/>
                <a:ea typeface="Noto Sans SC"/>
                <a:cs typeface="Noto Sans SC"/>
                <a:sym typeface="Noto Sans SC"/>
              </a:rPr>
              <a:t>卫星高光谱、有人机高空遥感,以及需要高精度跨区域对比的场景。</a:t>
            </a:r>
            <a:endParaRPr lang="en-US" sz="1100"/>
          </a:p>
        </p:txBody>
      </p:sp>
      <p:sp>
        <p:nvSpPr>
          <p:cNvPr id="18" name="AutoShape 18"/>
          <p:cNvSpPr/>
          <p:nvPr/>
        </p:nvSpPr>
        <p:spPr>
          <a:xfrm>
            <a:off x="5842000" y="4191000"/>
            <a:ext cx="5842000" cy="11430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5842000" y="4191000"/>
            <a:ext cx="50800" cy="1143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6096000" y="4191000"/>
            <a:ext cx="5334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业务价值</a:t>
            </a:r>
            <a:endParaRPr lang="en-US" sz="1100"/>
          </a:p>
        </p:txBody>
      </p:sp>
      <p:sp>
        <p:nvSpPr>
          <p:cNvPr id="21" name="AutoShape 21"/>
          <p:cNvSpPr/>
          <p:nvPr/>
        </p:nvSpPr>
        <p:spPr>
          <a:xfrm>
            <a:off x="6096000" y="4572000"/>
            <a:ext cx="5524500" cy="660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300" b="0" i="0" u="none" strike="noStrike">
                <a:solidFill>
                  <a:srgbClr val="475569"/>
                </a:solidFill>
                <a:latin typeface="Noto Sans SC"/>
                <a:ea typeface="Noto Sans SC"/>
                <a:cs typeface="Noto Sans SC"/>
                <a:sym typeface="Noto Sans SC"/>
              </a:rPr>
              <a:t>获得更真实的地表反射率,是</a:t>
            </a:r>
            <a:r>
              <a:rPr lang="en-US" sz="1300" b="1" i="0" u="none" strike="noStrike">
                <a:solidFill>
                  <a:srgbClr val="1E3A8A"/>
                </a:solidFill>
                <a:latin typeface="Noto Sans SC"/>
                <a:ea typeface="Noto Sans SC"/>
                <a:cs typeface="Noto Sans SC"/>
                <a:sym typeface="Noto Sans SC"/>
              </a:rPr>
              <a:t>高精度定量反演</a:t>
            </a:r>
            <a:r>
              <a:rPr lang="en-US" sz="1300" b="0" i="0" u="none" strike="noStrike">
                <a:solidFill>
                  <a:srgbClr val="475569"/>
                </a:solidFill>
                <a:latin typeface="Noto Sans SC"/>
                <a:ea typeface="Noto Sans SC"/>
                <a:cs typeface="Noto Sans SC"/>
                <a:sym typeface="Noto Sans SC"/>
              </a:rPr>
              <a:t>的前提。</a:t>
            </a:r>
            <a:endParaRPr lang="en-US" sz="1100"/>
          </a:p>
        </p:txBody>
      </p:sp>
      <p:sp>
        <p:nvSpPr>
          <p:cNvPr id="22" name="AutoShape 22"/>
          <p:cNvSpPr/>
          <p:nvPr/>
        </p:nvSpPr>
        <p:spPr>
          <a:xfrm>
            <a:off x="508000" y="5461000"/>
            <a:ext cx="5842000" cy="889000"/>
          </a:xfrm>
          <a:prstGeom prst="roundRect">
            <a:avLst>
              <a:gd name="adj" fmla="val 0"/>
            </a:avLst>
          </a:prstGeom>
          <a:solidFill>
            <a:srgbClr val="F59E0B">
              <a:alpha val="8000"/>
            </a:srgbClr>
          </a:solidFill>
          <a:ln cap="flat" cmpd="sng">
            <a:solidFill>
              <a:srgbClr val="DC8A00">
                <a:alpha val="8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508000" y="5461000"/>
            <a:ext cx="50800" cy="889000"/>
          </a:xfrm>
          <a:prstGeom prst="roundRect">
            <a:avLst>
              <a:gd name="adj" fmla="val 0"/>
            </a:avLst>
          </a:prstGeom>
          <a:solidFill>
            <a:srgbClr val="F59E0B">
              <a:alpha val="100000"/>
            </a:srgbClr>
          </a:solidFill>
          <a:ln cap="flat" cmpd="sng">
            <a:solidFill>
              <a:srgbClr val="DC8A00">
                <a:alpha val="100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762000" y="5461000"/>
            <a:ext cx="139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500" b="1" i="0" u="none" strike="noStrike">
                <a:solidFill>
                  <a:srgbClr val="F59E0B"/>
                </a:solidFill>
                <a:latin typeface="Noto Sans SC"/>
                <a:ea typeface="Noto Sans SC"/>
                <a:cs typeface="Noto Sans SC"/>
                <a:sym typeface="Noto Sans SC"/>
              </a:rPr>
              <a:t>缺失影响</a:t>
            </a:r>
            <a:endParaRPr lang="en-US" sz="1100"/>
          </a:p>
        </p:txBody>
      </p:sp>
      <p:sp>
        <p:nvSpPr>
          <p:cNvPr id="25" name="AutoShape 25"/>
          <p:cNvSpPr/>
          <p:nvPr/>
        </p:nvSpPr>
        <p:spPr>
          <a:xfrm>
            <a:off x="2159000" y="5461000"/>
            <a:ext cx="4127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75569"/>
                </a:solidFill>
                <a:latin typeface="Noto Sans SC"/>
                <a:ea typeface="Noto Sans SC"/>
                <a:cs typeface="Noto Sans SC"/>
                <a:sym typeface="Noto Sans SC"/>
              </a:rPr>
              <a:t>无法消除大气影响,导致反射率存在偏差,影响定量反演的精度。</a:t>
            </a:r>
            <a:endParaRPr lang="en-US" sz="1100"/>
          </a:p>
        </p:txBody>
      </p:sp>
      <p:sp>
        <p:nvSpPr>
          <p:cNvPr id="26" name="AutoShape 26"/>
          <p:cNvSpPr/>
          <p:nvPr/>
        </p:nvSpPr>
        <p:spPr>
          <a:xfrm>
            <a:off x="6604000" y="5461000"/>
            <a:ext cx="5080000" cy="8890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6807200" y="5461000"/>
            <a:ext cx="23495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100" b="0" i="0" u="none" strike="noStrike">
                <a:solidFill>
                  <a:srgbClr val="64748B"/>
                </a:solidFill>
                <a:latin typeface="Noto Sans SC"/>
                <a:ea typeface="Noto Sans SC"/>
                <a:cs typeface="Noto Sans SC"/>
                <a:sym typeface="Noto Sans SC"/>
              </a:rPr>
              <a:t>流程位置</a:t>
            </a:r>
            <a:r>
              <a:rPr lang="en-US" sz="1100" b="1" i="0" u="none" strike="noStrike">
                <a:solidFill>
                  <a:srgbClr val="1E3A8A"/>
                </a:solidFill>
                <a:latin typeface="Noto Sans SC"/>
                <a:ea typeface="Noto Sans SC"/>
                <a:cs typeface="Noto Sans SC"/>
                <a:sym typeface="Noto Sans SC"/>
              </a:rPr>
              <a:t>L1→L2分析底图</a:t>
            </a:r>
            <a:endParaRPr lang="en-US" sz="1100"/>
          </a:p>
        </p:txBody>
      </p:sp>
      <p:sp>
        <p:nvSpPr>
          <p:cNvPr id="28" name="AutoShape 28"/>
          <p:cNvSpPr/>
          <p:nvPr/>
        </p:nvSpPr>
        <p:spPr>
          <a:xfrm>
            <a:off x="9144000" y="5461000"/>
            <a:ext cx="24384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100" b="0" i="0" u="none" strike="noStrike">
                <a:solidFill>
                  <a:srgbClr val="64748B"/>
                </a:solidFill>
                <a:latin typeface="Noto Sans SC"/>
                <a:ea typeface="Noto Sans SC"/>
                <a:cs typeface="Noto Sans SC"/>
                <a:sym typeface="Noto Sans SC"/>
              </a:rPr>
              <a:t>关联</a:t>
            </a:r>
            <a:r>
              <a:rPr lang="en-US" sz="1100" b="1" i="0" u="none" strike="noStrike">
                <a:solidFill>
                  <a:srgbClr val="1E3A8A"/>
                </a:solidFill>
                <a:latin typeface="Noto Sans SC"/>
                <a:ea typeface="Noto Sans SC"/>
                <a:cs typeface="Noto Sans SC"/>
                <a:sym typeface="Noto Sans SC"/>
              </a:rPr>
              <a:t>#6辐射定标·#12反射率定标</a:t>
            </a:r>
            <a:endParaRPr lang="en-US" sz="1100"/>
          </a:p>
        </p:txBody>
      </p:sp>
      <p:cxnSp>
        <p:nvCxnSpPr>
          <p:cNvPr id="29" name="Connector 29"/>
          <p:cNvCxnSpPr/>
          <p:nvPr/>
        </p:nvCxnSpPr>
        <p:spPr>
          <a:xfrm rot="-9316">
            <a:off x="6807209" y="5835650"/>
            <a:ext cx="46863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30" name="AutoShape 30"/>
          <p:cNvSpPr/>
          <p:nvPr/>
        </p:nvSpPr>
        <p:spPr>
          <a:xfrm>
            <a:off x="6807200" y="5867400"/>
            <a:ext cx="1016000" cy="406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100" b="1" i="0" u="none" strike="noStrike">
                <a:solidFill>
                  <a:srgbClr val="1E3A8A"/>
                </a:solidFill>
                <a:latin typeface="Noto Sans SC"/>
                <a:ea typeface="Noto Sans SC"/>
                <a:cs typeface="Noto Sans SC"/>
                <a:sym typeface="Noto Sans SC"/>
              </a:rPr>
              <a:t>[API]</a:t>
            </a:r>
            <a:endParaRPr lang="en-US" sz="1100"/>
          </a:p>
        </p:txBody>
      </p:sp>
      <p:sp>
        <p:nvSpPr>
          <p:cNvPr id="31" name="AutoShape 31"/>
          <p:cNvSpPr/>
          <p:nvPr/>
        </p:nvSpPr>
        <p:spPr>
          <a:xfrm>
            <a:off x="7848600" y="5867400"/>
            <a:ext cx="3708400" cy="406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100" b="0" i="0" u="none" strike="noStrike">
                <a:solidFill>
                  <a:srgbClr val="475569"/>
                </a:solidFill>
                <a:latin typeface="Roboto Mono"/>
                <a:ea typeface="Roboto Mono"/>
                <a:cs typeface="Roboto Mono"/>
                <a:sym typeface="Roboto Mono"/>
              </a:rPr>
              <a:t>/api/v1/13_atmospheric_correction/run</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350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2800" b="1" i="0" u="none" strike="noStrike" spc="100">
                <a:solidFill>
                  <a:srgbClr val="1E3A8A"/>
                </a:solidFill>
                <a:latin typeface="Noto Sans SC"/>
                <a:ea typeface="Noto Sans SC"/>
                <a:cs typeface="Noto Sans SC"/>
                <a:sym typeface="Noto Sans SC"/>
              </a:rPr>
              <a:t>14.BRDF/观测几何校正</a:t>
            </a:r>
            <a:endParaRPr lang="en-US" sz="1100"/>
          </a:p>
        </p:txBody>
      </p:sp>
      <p:sp>
        <p:nvSpPr>
          <p:cNvPr id="3" name="AutoShape 3"/>
          <p:cNvSpPr/>
          <p:nvPr/>
        </p:nvSpPr>
        <p:spPr>
          <a:xfrm>
            <a:off x="508000" y="1041400"/>
            <a:ext cx="111760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0" i="0" u="none" strike="noStrike">
                <a:solidFill>
                  <a:srgbClr val="6B7280"/>
                </a:solidFill>
                <a:latin typeface="Noto Sans SC"/>
                <a:ea typeface="Noto Sans SC"/>
                <a:cs typeface="Noto Sans SC"/>
                <a:sym typeface="Noto Sans SC"/>
              </a:rPr>
              <a:t>所属层级:L1→L2 ｜ 编号#14 ｜ 辅导材料:算法清单与API</a:t>
            </a:r>
            <a:endParaRPr lang="en-US" sz="1100"/>
          </a:p>
        </p:txBody>
      </p:sp>
      <p:cxnSp>
        <p:nvCxnSpPr>
          <p:cNvPr id="4" name="Connector 4"/>
          <p:cNvCxnSpPr/>
          <p:nvPr/>
        </p:nvCxnSpPr>
        <p:spPr>
          <a:xfrm rot="-3906">
            <a:off x="508004" y="1492250"/>
            <a:ext cx="111760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5" name="AutoShape 5"/>
          <p:cNvSpPr/>
          <p:nvPr/>
        </p:nvSpPr>
        <p:spPr>
          <a:xfrm>
            <a:off x="508000" y="1651000"/>
            <a:ext cx="2692400" cy="22225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508000" y="1651000"/>
            <a:ext cx="50800" cy="22225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698500" y="1676400"/>
            <a:ext cx="2387600" cy="381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功能定义</a:t>
            </a:r>
            <a:endParaRPr lang="en-US" sz="1100"/>
          </a:p>
        </p:txBody>
      </p:sp>
      <p:cxnSp>
        <p:nvCxnSpPr>
          <p:cNvPr id="8" name="Connector 8"/>
          <p:cNvCxnSpPr/>
          <p:nvPr/>
        </p:nvCxnSpPr>
        <p:spPr>
          <a:xfrm rot="-18888">
            <a:off x="698517" y="2076450"/>
            <a:ext cx="23114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9" name="AutoShape 9"/>
          <p:cNvSpPr/>
          <p:nvPr/>
        </p:nvSpPr>
        <p:spPr>
          <a:xfrm>
            <a:off x="698500" y="2159000"/>
            <a:ext cx="2387600" cy="1016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300" b="0" i="0" u="none" strike="noStrike">
                <a:solidFill>
                  <a:srgbClr val="374151"/>
                </a:solidFill>
                <a:latin typeface="Noto Sans SC"/>
                <a:ea typeface="Noto Sans SC"/>
                <a:cs typeface="Noto Sans SC"/>
                <a:sym typeface="Noto Sans SC"/>
              </a:rPr>
              <a:t>校正因太阳和观测角度不同导致的反射率差异。</a:t>
            </a:r>
            <a:endParaRPr lang="en-US" sz="1100"/>
          </a:p>
        </p:txBody>
      </p:sp>
      <p:sp>
        <p:nvSpPr>
          <p:cNvPr id="10" name="AutoShape 10"/>
          <p:cNvSpPr/>
          <p:nvPr/>
        </p:nvSpPr>
        <p:spPr>
          <a:xfrm>
            <a:off x="3378200" y="1651000"/>
            <a:ext cx="2692400" cy="22225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3378200" y="1651000"/>
            <a:ext cx="50800" cy="22225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3568700" y="1676400"/>
            <a:ext cx="2387600" cy="381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方法要点</a:t>
            </a:r>
            <a:endParaRPr lang="en-US" sz="1100"/>
          </a:p>
        </p:txBody>
      </p:sp>
      <p:cxnSp>
        <p:nvCxnSpPr>
          <p:cNvPr id="13" name="Connector 13"/>
          <p:cNvCxnSpPr/>
          <p:nvPr/>
        </p:nvCxnSpPr>
        <p:spPr>
          <a:xfrm rot="-18888">
            <a:off x="3568717" y="2076450"/>
            <a:ext cx="23114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14" name="AutoShape 14"/>
          <p:cNvSpPr/>
          <p:nvPr/>
        </p:nvSpPr>
        <p:spPr>
          <a:xfrm>
            <a:off x="3568700" y="2159000"/>
            <a:ext cx="2387600" cy="1016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300" b="0" i="0" u="none" strike="noStrike">
                <a:solidFill>
                  <a:srgbClr val="374151"/>
                </a:solidFill>
                <a:latin typeface="Noto Sans SC"/>
                <a:ea typeface="Noto Sans SC"/>
                <a:cs typeface="Noto Sans SC"/>
                <a:sym typeface="Noto Sans SC"/>
              </a:rPr>
              <a:t>利用BRDF(双向反射分布函数)模型,将不同角度的反射率归一到一个标准视角。</a:t>
            </a:r>
            <a:endParaRPr lang="en-US" sz="1100"/>
          </a:p>
        </p:txBody>
      </p:sp>
      <p:sp>
        <p:nvSpPr>
          <p:cNvPr id="15" name="AutoShape 15"/>
          <p:cNvSpPr/>
          <p:nvPr/>
        </p:nvSpPr>
        <p:spPr>
          <a:xfrm>
            <a:off x="6248400" y="1651000"/>
            <a:ext cx="2692400" cy="22225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6248400" y="1651000"/>
            <a:ext cx="50800" cy="22225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6438900" y="1676400"/>
            <a:ext cx="2387600" cy="381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适用场景</a:t>
            </a:r>
            <a:endParaRPr lang="en-US" sz="1100"/>
          </a:p>
        </p:txBody>
      </p:sp>
      <p:cxnSp>
        <p:nvCxnSpPr>
          <p:cNvPr id="18" name="Connector 18"/>
          <p:cNvCxnSpPr/>
          <p:nvPr/>
        </p:nvCxnSpPr>
        <p:spPr>
          <a:xfrm rot="-18888">
            <a:off x="6438917" y="2076450"/>
            <a:ext cx="23114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19" name="AutoShape 19"/>
          <p:cNvSpPr/>
          <p:nvPr/>
        </p:nvSpPr>
        <p:spPr>
          <a:xfrm>
            <a:off x="6438900" y="2159000"/>
            <a:ext cx="2387600" cy="1016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300" b="0" i="0" u="none" strike="noStrike">
                <a:solidFill>
                  <a:srgbClr val="374151"/>
                </a:solidFill>
                <a:latin typeface="Noto Sans SC"/>
                <a:ea typeface="Noto Sans SC"/>
                <a:cs typeface="Noto Sans SC"/>
                <a:sym typeface="Noto Sans SC"/>
              </a:rPr>
              <a:t>大面积、地形复杂区域的遥感,以及多时相变化检测。</a:t>
            </a:r>
            <a:endParaRPr lang="en-US" sz="1100"/>
          </a:p>
        </p:txBody>
      </p:sp>
      <p:sp>
        <p:nvSpPr>
          <p:cNvPr id="20" name="AutoShape 20"/>
          <p:cNvSpPr/>
          <p:nvPr/>
        </p:nvSpPr>
        <p:spPr>
          <a:xfrm>
            <a:off x="9118600" y="1651000"/>
            <a:ext cx="2692400" cy="22225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9118600" y="1651000"/>
            <a:ext cx="50800" cy="22225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9309100" y="1676400"/>
            <a:ext cx="2387600" cy="381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业务价值</a:t>
            </a:r>
            <a:endParaRPr lang="en-US" sz="1100"/>
          </a:p>
        </p:txBody>
      </p:sp>
      <p:cxnSp>
        <p:nvCxnSpPr>
          <p:cNvPr id="23" name="Connector 23"/>
          <p:cNvCxnSpPr/>
          <p:nvPr/>
        </p:nvCxnSpPr>
        <p:spPr>
          <a:xfrm rot="-18888">
            <a:off x="9309117" y="2076450"/>
            <a:ext cx="23114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24" name="AutoShape 24"/>
          <p:cNvSpPr/>
          <p:nvPr/>
        </p:nvSpPr>
        <p:spPr>
          <a:xfrm>
            <a:off x="9309100" y="2159000"/>
            <a:ext cx="2387600" cy="1016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300" b="0" i="0" u="none" strike="noStrike">
                <a:solidFill>
                  <a:srgbClr val="374151"/>
                </a:solidFill>
                <a:latin typeface="Noto Sans SC"/>
                <a:ea typeface="Noto Sans SC"/>
                <a:cs typeface="Noto Sans SC"/>
                <a:sym typeface="Noto Sans SC"/>
              </a:rPr>
              <a:t>消除地形和观测角度带来的影响,使反射率数据更具可比性。</a:t>
            </a:r>
            <a:endParaRPr lang="en-US" sz="1100"/>
          </a:p>
        </p:txBody>
      </p:sp>
      <p:sp>
        <p:nvSpPr>
          <p:cNvPr id="25" name="AutoShape 25"/>
          <p:cNvSpPr/>
          <p:nvPr/>
        </p:nvSpPr>
        <p:spPr>
          <a:xfrm>
            <a:off x="508000" y="4064000"/>
            <a:ext cx="11176000" cy="1041400"/>
          </a:xfrm>
          <a:prstGeom prst="roundRect">
            <a:avLst>
              <a:gd name="adj" fmla="val 0"/>
            </a:avLst>
          </a:prstGeom>
          <a:solidFill>
            <a:srgbClr val="F59E0B">
              <a:alpha val="8000"/>
            </a:srgbClr>
          </a:solidFill>
          <a:ln cap="flat" cmpd="sng">
            <a:solidFill>
              <a:srgbClr val="DC8A00">
                <a:alpha val="8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508000" y="4064000"/>
            <a:ext cx="50800" cy="1041400"/>
          </a:xfrm>
          <a:prstGeom prst="roundRect">
            <a:avLst>
              <a:gd name="adj" fmla="val 0"/>
            </a:avLst>
          </a:prstGeom>
          <a:solidFill>
            <a:srgbClr val="F59E0B">
              <a:alpha val="100000"/>
            </a:srgbClr>
          </a:solidFill>
          <a:ln cap="flat" cmpd="sng">
            <a:solidFill>
              <a:srgbClr val="DC8A00">
                <a:alpha val="100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762000" y="4089400"/>
            <a:ext cx="1651000" cy="381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F59E0B"/>
                </a:solidFill>
                <a:latin typeface="Noto Sans SC"/>
                <a:ea typeface="Noto Sans SC"/>
                <a:cs typeface="Noto Sans SC"/>
                <a:sym typeface="Noto Sans SC"/>
              </a:rPr>
              <a:t>缺失影响</a:t>
            </a:r>
            <a:endParaRPr lang="en-US" sz="1100"/>
          </a:p>
        </p:txBody>
      </p:sp>
      <p:cxnSp>
        <p:nvCxnSpPr>
          <p:cNvPr id="28" name="Connector 28"/>
          <p:cNvCxnSpPr/>
          <p:nvPr/>
        </p:nvCxnSpPr>
        <p:spPr>
          <a:xfrm rot="5350892">
            <a:off x="2044700" y="4565695"/>
            <a:ext cx="889000" cy="12700"/>
          </a:xfrm>
          <a:prstGeom prst="straightConnector1">
            <a:avLst/>
          </a:prstGeom>
          <a:solidFill>
            <a:srgbClr val="DEE0E3">
              <a:alpha val="100000"/>
            </a:srgbClr>
          </a:solidFill>
          <a:ln w="12700" cap="flat" cmpd="sng">
            <a:solidFill>
              <a:srgbClr val="F59E0B">
                <a:alpha val="28000"/>
              </a:srgbClr>
            </a:solidFill>
            <a:prstDash val="solid"/>
            <a:round/>
            <a:headEnd type="none" w="med" len="med"/>
            <a:tailEnd type="none" w="med" len="med"/>
          </a:ln>
        </p:spPr>
      </p:cxnSp>
      <p:sp>
        <p:nvSpPr>
          <p:cNvPr id="29" name="AutoShape 29"/>
          <p:cNvSpPr/>
          <p:nvPr/>
        </p:nvSpPr>
        <p:spPr>
          <a:xfrm>
            <a:off x="2667000" y="4089400"/>
            <a:ext cx="8763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9000"/>
              </a:lnSpc>
              <a:defRPr/>
            </a:pPr>
            <a:r>
              <a:rPr lang="en-US" sz="1400" b="0" i="0" u="none" strike="noStrike">
                <a:solidFill>
                  <a:srgbClr val="374151"/>
                </a:solidFill>
                <a:latin typeface="Noto Sans SC"/>
                <a:ea typeface="Noto Sans SC"/>
                <a:cs typeface="Noto Sans SC"/>
                <a:sym typeface="Noto Sans SC"/>
              </a:rPr>
              <a:t>同一地物在不同角度下会呈现不同的亮度,影响</a:t>
            </a:r>
            <a:r>
              <a:rPr lang="en-US" sz="1400" b="1" i="0" u="none" strike="noStrike">
                <a:solidFill>
                  <a:srgbClr val="F59E0B"/>
                </a:solidFill>
                <a:latin typeface="Noto Sans SC"/>
                <a:ea typeface="Noto Sans SC"/>
                <a:cs typeface="Noto Sans SC"/>
                <a:sym typeface="Noto Sans SC"/>
              </a:rPr>
              <a:t>分类和变化检测</a:t>
            </a:r>
            <a:r>
              <a:rPr lang="en-US" sz="1400" b="0" i="0" u="none" strike="noStrike">
                <a:solidFill>
                  <a:srgbClr val="374151"/>
                </a:solidFill>
                <a:latin typeface="Noto Sans SC"/>
                <a:ea typeface="Noto Sans SC"/>
                <a:cs typeface="Noto Sans SC"/>
                <a:sym typeface="Noto Sans SC"/>
              </a:rPr>
              <a:t>的准确性。</a:t>
            </a:r>
            <a:endParaRPr lang="en-US" sz="1100"/>
          </a:p>
        </p:txBody>
      </p:sp>
      <p:cxnSp>
        <p:nvCxnSpPr>
          <p:cNvPr id="30" name="Connector 30"/>
          <p:cNvCxnSpPr/>
          <p:nvPr/>
        </p:nvCxnSpPr>
        <p:spPr>
          <a:xfrm rot="-3906">
            <a:off x="508004" y="5327650"/>
            <a:ext cx="11176000" cy="12700"/>
          </a:xfrm>
          <a:prstGeom prst="straightConnector1">
            <a:avLst/>
          </a:prstGeom>
          <a:solidFill>
            <a:srgbClr val="DEE0E3">
              <a:alpha val="100000"/>
            </a:srgbClr>
          </a:solidFill>
          <a:ln w="12700" cap="flat" cmpd="sng">
            <a:solidFill>
              <a:srgbClr val="1E3A8A">
                <a:alpha val="12000"/>
              </a:srgbClr>
            </a:solidFill>
            <a:prstDash val="solid"/>
            <a:round/>
            <a:headEnd type="none" w="med" len="med"/>
            <a:tailEnd type="none" w="med" len="med"/>
          </a:ln>
        </p:spPr>
      </p:cxnSp>
      <p:sp>
        <p:nvSpPr>
          <p:cNvPr id="31" name="AutoShape 31"/>
          <p:cNvSpPr/>
          <p:nvPr/>
        </p:nvSpPr>
        <p:spPr>
          <a:xfrm>
            <a:off x="508000" y="5461000"/>
            <a:ext cx="3556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1" i="0" u="none" strike="noStrike" spc="200">
                <a:solidFill>
                  <a:srgbClr val="6B7280"/>
                </a:solidFill>
                <a:latin typeface="Noto Sans SC"/>
                <a:ea typeface="Noto Sans SC"/>
                <a:cs typeface="Noto Sans SC"/>
                <a:sym typeface="Noto Sans SC"/>
              </a:rPr>
              <a:t>流程位置</a:t>
            </a:r>
            <a:endParaRPr lang="en-US" sz="1100"/>
          </a:p>
        </p:txBody>
      </p:sp>
      <p:sp>
        <p:nvSpPr>
          <p:cNvPr id="32" name="AutoShape 32"/>
          <p:cNvSpPr/>
          <p:nvPr/>
        </p:nvSpPr>
        <p:spPr>
          <a:xfrm>
            <a:off x="508000" y="5791200"/>
            <a:ext cx="3556000" cy="5842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1500" b="1" i="0" u="none" strike="noStrike">
                <a:solidFill>
                  <a:srgbClr val="1E3A8A"/>
                </a:solidFill>
                <a:latin typeface="Noto Sans SC"/>
                <a:ea typeface="Noto Sans SC"/>
                <a:cs typeface="Noto Sans SC"/>
                <a:sym typeface="Noto Sans SC"/>
              </a:rPr>
              <a:t>L1→L2</a:t>
            </a:r>
            <a:r>
              <a:rPr lang="en-US" sz="1500" b="0" i="0" u="none" strike="noStrike">
                <a:solidFill>
                  <a:srgbClr val="374151"/>
                </a:solidFill>
                <a:latin typeface="Noto Sans SC"/>
                <a:ea typeface="Noto Sans SC"/>
                <a:cs typeface="Noto Sans SC"/>
                <a:sym typeface="Noto Sans SC"/>
              </a:rPr>
              <a:t>分析底图</a:t>
            </a:r>
            <a:endParaRPr lang="en-US" sz="1100"/>
          </a:p>
        </p:txBody>
      </p:sp>
      <p:cxnSp>
        <p:nvCxnSpPr>
          <p:cNvPr id="33" name="Connector 33"/>
          <p:cNvCxnSpPr/>
          <p:nvPr/>
        </p:nvCxnSpPr>
        <p:spPr>
          <a:xfrm rot="5350892">
            <a:off x="3810000" y="5899195"/>
            <a:ext cx="889000" cy="12700"/>
          </a:xfrm>
          <a:prstGeom prst="straightConnector1">
            <a:avLst/>
          </a:prstGeom>
          <a:solidFill>
            <a:srgbClr val="DEE0E3">
              <a:alpha val="100000"/>
            </a:srgbClr>
          </a:solidFill>
          <a:ln w="12700" cap="flat" cmpd="sng">
            <a:solidFill>
              <a:srgbClr val="000000">
                <a:alpha val="10000"/>
              </a:srgbClr>
            </a:solidFill>
            <a:prstDash val="solid"/>
            <a:round/>
            <a:headEnd type="none" w="med" len="med"/>
            <a:tailEnd type="none" w="med" len="med"/>
          </a:ln>
        </p:spPr>
      </p:cxnSp>
      <p:sp>
        <p:nvSpPr>
          <p:cNvPr id="34" name="AutoShape 34"/>
          <p:cNvSpPr/>
          <p:nvPr/>
        </p:nvSpPr>
        <p:spPr>
          <a:xfrm>
            <a:off x="4445000" y="5461000"/>
            <a:ext cx="3937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1" i="0" u="none" strike="noStrike" spc="200">
                <a:solidFill>
                  <a:srgbClr val="6B7280"/>
                </a:solidFill>
                <a:latin typeface="Noto Sans SC"/>
                <a:ea typeface="Noto Sans SC"/>
                <a:cs typeface="Noto Sans SC"/>
                <a:sym typeface="Noto Sans SC"/>
              </a:rPr>
              <a:t>关联算法</a:t>
            </a:r>
            <a:endParaRPr lang="en-US" sz="1100"/>
          </a:p>
        </p:txBody>
      </p:sp>
      <p:sp>
        <p:nvSpPr>
          <p:cNvPr id="35" name="AutoShape 35"/>
          <p:cNvSpPr/>
          <p:nvPr/>
        </p:nvSpPr>
        <p:spPr>
          <a:xfrm>
            <a:off x="4445000" y="5791200"/>
            <a:ext cx="3937000" cy="5842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300" b="0" i="0" u="none" strike="noStrike">
                <a:solidFill>
                  <a:srgbClr val="374151"/>
                </a:solidFill>
                <a:latin typeface="Noto Sans SC"/>
                <a:ea typeface="Noto Sans SC"/>
                <a:cs typeface="Noto Sans SC"/>
                <a:sym typeface="Noto Sans SC"/>
              </a:rPr>
              <a:t>#16正射校正 · #43多时相变化检测</a:t>
            </a:r>
            <a:endParaRPr lang="en-US" sz="1100"/>
          </a:p>
        </p:txBody>
      </p:sp>
      <p:cxnSp>
        <p:nvCxnSpPr>
          <p:cNvPr id="36" name="Connector 36"/>
          <p:cNvCxnSpPr/>
          <p:nvPr/>
        </p:nvCxnSpPr>
        <p:spPr>
          <a:xfrm rot="5350892">
            <a:off x="8064500" y="5899195"/>
            <a:ext cx="889000" cy="12700"/>
          </a:xfrm>
          <a:prstGeom prst="straightConnector1">
            <a:avLst/>
          </a:prstGeom>
          <a:solidFill>
            <a:srgbClr val="DEE0E3">
              <a:alpha val="100000"/>
            </a:srgbClr>
          </a:solidFill>
          <a:ln w="12700" cap="flat" cmpd="sng">
            <a:solidFill>
              <a:srgbClr val="000000">
                <a:alpha val="10000"/>
              </a:srgbClr>
            </a:solidFill>
            <a:prstDash val="solid"/>
            <a:round/>
            <a:headEnd type="none" w="med" len="med"/>
            <a:tailEnd type="none" w="med" len="med"/>
          </a:ln>
        </p:spPr>
      </p:cxnSp>
      <p:sp>
        <p:nvSpPr>
          <p:cNvPr id="37" name="AutoShape 37"/>
          <p:cNvSpPr/>
          <p:nvPr/>
        </p:nvSpPr>
        <p:spPr>
          <a:xfrm>
            <a:off x="8699500" y="5461000"/>
            <a:ext cx="3175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1" i="0" u="none" strike="noStrike" spc="200">
                <a:solidFill>
                  <a:srgbClr val="6B7280"/>
                </a:solidFill>
                <a:latin typeface="Noto Sans SC"/>
                <a:ea typeface="Noto Sans SC"/>
                <a:cs typeface="Noto Sans SC"/>
                <a:sym typeface="Noto Sans SC"/>
              </a:rPr>
              <a:t>调用API</a:t>
            </a:r>
            <a:endParaRPr lang="en-US" sz="1100"/>
          </a:p>
        </p:txBody>
      </p:sp>
      <p:sp>
        <p:nvSpPr>
          <p:cNvPr id="38" name="AutoShape 38"/>
          <p:cNvSpPr/>
          <p:nvPr/>
        </p:nvSpPr>
        <p:spPr>
          <a:xfrm>
            <a:off x="8699500" y="5791200"/>
            <a:ext cx="3175000" cy="508000"/>
          </a:xfrm>
          <a:prstGeom prst="roundRect">
            <a:avLst>
              <a:gd name="adj" fmla="val 0"/>
            </a:avLst>
          </a:prstGeom>
          <a:solidFill>
            <a:srgbClr val="1E3A8A">
              <a:alpha val="10000"/>
            </a:srgbClr>
          </a:solidFill>
          <a:ln cap="flat" cmpd="sng">
            <a:solidFill>
              <a:srgbClr val="0D2771">
                <a:alpha val="10000"/>
              </a:srgbClr>
            </a:solidFill>
            <a:prstDash val="solid"/>
            <a:round/>
          </a:ln>
        </p:spPr>
        <p:txBody>
          <a:bodyPr vert="horz" wrap="square" lIns="63500" tIns="63500" rIns="63500" bIns="63500" rtlCol="0" anchor="ctr"/>
          <a:lstStyle/>
          <a:p>
            <a:pPr algn="ctr">
              <a:defRPr/>
            </a:pPr>
          </a:p>
        </p:txBody>
      </p:sp>
      <p:sp>
        <p:nvSpPr>
          <p:cNvPr id="39" name="AutoShape 39"/>
          <p:cNvSpPr/>
          <p:nvPr/>
        </p:nvSpPr>
        <p:spPr>
          <a:xfrm>
            <a:off x="8699500" y="5791200"/>
            <a:ext cx="3175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200" b="1" i="0" u="none" strike="noStrike">
                <a:solidFill>
                  <a:srgbClr val="1E3A8A"/>
                </a:solidFill>
                <a:latin typeface="Noto Sans SC"/>
                <a:ea typeface="Noto Sans SC"/>
                <a:cs typeface="Noto Sans SC"/>
                <a:sym typeface="Noto Sans SC"/>
              </a:rPr>
              <a:t>/api/v1/14_brdf_correction/run</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8890000" cy="5842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spc="100">
                <a:solidFill>
                  <a:srgbClr val="1E3A8A"/>
                </a:solidFill>
                <a:latin typeface="Noto Sans SC"/>
                <a:ea typeface="Noto Sans SC"/>
                <a:cs typeface="Noto Sans SC"/>
                <a:sym typeface="Noto Sans SC"/>
              </a:rPr>
              <a:t>几何粗校正/地理定位</a:t>
            </a:r>
            <a:endParaRPr lang="en-US" sz="1100"/>
          </a:p>
        </p:txBody>
      </p:sp>
      <p:sp>
        <p:nvSpPr>
          <p:cNvPr id="3" name="AutoShape 3"/>
          <p:cNvSpPr/>
          <p:nvPr/>
        </p:nvSpPr>
        <p:spPr>
          <a:xfrm>
            <a:off x="508000" y="1016000"/>
            <a:ext cx="8890000" cy="2794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300" b="0" i="0" u="none" strike="noStrike" spc="200">
                <a:solidFill>
                  <a:srgbClr val="64748B"/>
                </a:solidFill>
                <a:latin typeface="Noto Sans SC"/>
                <a:ea typeface="Noto Sans SC"/>
                <a:cs typeface="Noto Sans SC"/>
                <a:sym typeface="Noto Sans SC"/>
              </a:rPr>
              <a:t>所属层级:L1→L2 ｜ 编号#15 ｜ 辅导材料:算法清单与API</a:t>
            </a:r>
            <a:endParaRPr lang="en-US" sz="1100"/>
          </a:p>
        </p:txBody>
      </p:sp>
      <p:sp>
        <p:nvSpPr>
          <p:cNvPr id="4" name="AutoShape 4"/>
          <p:cNvSpPr/>
          <p:nvPr/>
        </p:nvSpPr>
        <p:spPr>
          <a:xfrm>
            <a:off x="508000" y="1524000"/>
            <a:ext cx="8128000" cy="9652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508000" y="1524000"/>
            <a:ext cx="50800" cy="9652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1524000"/>
            <a:ext cx="2540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700" b="1" i="0" u="none" strike="noStrike">
                <a:solidFill>
                  <a:srgbClr val="1E3A8A"/>
                </a:solidFill>
                <a:latin typeface="Noto Sans SC"/>
                <a:ea typeface="Noto Sans SC"/>
                <a:cs typeface="Noto Sans SC"/>
                <a:sym typeface="Noto Sans SC"/>
              </a:rPr>
              <a:t>功能定义</a:t>
            </a:r>
            <a:endParaRPr lang="en-US" sz="1100"/>
          </a:p>
        </p:txBody>
      </p:sp>
      <p:sp>
        <p:nvSpPr>
          <p:cNvPr id="7" name="AutoShape 7"/>
          <p:cNvSpPr/>
          <p:nvPr/>
        </p:nvSpPr>
        <p:spPr>
          <a:xfrm>
            <a:off x="762000" y="1905000"/>
            <a:ext cx="7747000" cy="533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300" b="0" i="0" u="none" strike="noStrike">
                <a:solidFill>
                  <a:srgbClr val="334155"/>
                </a:solidFill>
                <a:latin typeface="Noto Sans SC"/>
                <a:ea typeface="Noto Sans SC"/>
                <a:cs typeface="Noto Sans SC"/>
                <a:sym typeface="Noto Sans SC"/>
              </a:rPr>
              <a:t>利用POS数据和相机参数,对影像进行初步的地理定位。</a:t>
            </a:r>
            <a:endParaRPr lang="en-US" sz="1100"/>
          </a:p>
        </p:txBody>
      </p:sp>
      <p:sp>
        <p:nvSpPr>
          <p:cNvPr id="8" name="AutoShape 8"/>
          <p:cNvSpPr/>
          <p:nvPr/>
        </p:nvSpPr>
        <p:spPr>
          <a:xfrm>
            <a:off x="508000" y="2590800"/>
            <a:ext cx="3962400" cy="12954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508000" y="2590800"/>
            <a:ext cx="50800" cy="1295400"/>
          </a:xfrm>
          <a:prstGeom prst="roundRect">
            <a:avLst>
              <a:gd name="adj" fmla="val 0"/>
            </a:avLst>
          </a:prstGeom>
          <a:solidFill>
            <a:srgbClr val="475569">
              <a:alpha val="100000"/>
            </a:srgbClr>
          </a:solidFill>
          <a:ln cap="flat" cmpd="sng">
            <a:solidFill>
              <a:srgbClr val="2E3C4F">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62000" y="2590800"/>
            <a:ext cx="355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700" b="1" i="0" u="none" strike="noStrike">
                <a:solidFill>
                  <a:srgbClr val="334155"/>
                </a:solidFill>
                <a:latin typeface="Noto Sans SC"/>
                <a:ea typeface="Noto Sans SC"/>
                <a:cs typeface="Noto Sans SC"/>
                <a:sym typeface="Noto Sans SC"/>
              </a:rPr>
              <a:t>方法要点</a:t>
            </a:r>
            <a:endParaRPr lang="en-US" sz="1100"/>
          </a:p>
        </p:txBody>
      </p:sp>
      <p:sp>
        <p:nvSpPr>
          <p:cNvPr id="11" name="AutoShape 11"/>
          <p:cNvSpPr/>
          <p:nvPr/>
        </p:nvSpPr>
        <p:spPr>
          <a:xfrm>
            <a:off x="762000" y="2946400"/>
            <a:ext cx="3581400" cy="8382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300" b="0" i="0" u="none" strike="noStrike">
                <a:solidFill>
                  <a:srgbClr val="475569"/>
                </a:solidFill>
                <a:latin typeface="Noto Sans SC"/>
                <a:ea typeface="Noto Sans SC"/>
                <a:cs typeface="Noto Sans SC"/>
                <a:sym typeface="Noto Sans SC"/>
              </a:rPr>
              <a:t>结合POS数据、相机内参和外参,解算影像的粗略地理坐标。</a:t>
            </a:r>
            <a:endParaRPr lang="en-US" sz="1100"/>
          </a:p>
        </p:txBody>
      </p:sp>
      <p:sp>
        <p:nvSpPr>
          <p:cNvPr id="12" name="AutoShape 12"/>
          <p:cNvSpPr/>
          <p:nvPr/>
        </p:nvSpPr>
        <p:spPr>
          <a:xfrm>
            <a:off x="4673600" y="2590800"/>
            <a:ext cx="3962400" cy="12954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4673600" y="2590800"/>
            <a:ext cx="50800" cy="1295400"/>
          </a:xfrm>
          <a:prstGeom prst="roundRect">
            <a:avLst>
              <a:gd name="adj" fmla="val 0"/>
            </a:avLst>
          </a:prstGeom>
          <a:solidFill>
            <a:srgbClr val="475569">
              <a:alpha val="100000"/>
            </a:srgbClr>
          </a:solidFill>
          <a:ln cap="flat" cmpd="sng">
            <a:solidFill>
              <a:srgbClr val="2E3C4F">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4927600" y="2590800"/>
            <a:ext cx="355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700" b="1" i="0" u="none" strike="noStrike">
                <a:solidFill>
                  <a:srgbClr val="334155"/>
                </a:solidFill>
                <a:latin typeface="Noto Sans SC"/>
                <a:ea typeface="Noto Sans SC"/>
                <a:cs typeface="Noto Sans SC"/>
                <a:sym typeface="Noto Sans SC"/>
              </a:rPr>
              <a:t>适用场景</a:t>
            </a:r>
            <a:endParaRPr lang="en-US" sz="1100"/>
          </a:p>
        </p:txBody>
      </p:sp>
      <p:sp>
        <p:nvSpPr>
          <p:cNvPr id="15" name="AutoShape 15"/>
          <p:cNvSpPr/>
          <p:nvPr/>
        </p:nvSpPr>
        <p:spPr>
          <a:xfrm>
            <a:off x="4927600" y="2946400"/>
            <a:ext cx="3581400" cy="8382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300" b="0" i="0" u="none" strike="noStrike">
                <a:solidFill>
                  <a:srgbClr val="475569"/>
                </a:solidFill>
                <a:latin typeface="Noto Sans SC"/>
                <a:ea typeface="Noto Sans SC"/>
                <a:cs typeface="Noto Sans SC"/>
                <a:sym typeface="Noto Sans SC"/>
              </a:rPr>
              <a:t>快速预览影像位置,为后续精校正提供初始值。</a:t>
            </a:r>
            <a:endParaRPr lang="en-US" sz="1100"/>
          </a:p>
        </p:txBody>
      </p:sp>
      <p:sp>
        <p:nvSpPr>
          <p:cNvPr id="16" name="AutoShape 16"/>
          <p:cNvSpPr/>
          <p:nvPr/>
        </p:nvSpPr>
        <p:spPr>
          <a:xfrm>
            <a:off x="508000" y="4013200"/>
            <a:ext cx="3962400" cy="14986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508000" y="4013200"/>
            <a:ext cx="50800" cy="14986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762000" y="4013200"/>
            <a:ext cx="355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700" b="1" i="0" u="none" strike="noStrike">
                <a:solidFill>
                  <a:srgbClr val="1E3A8A"/>
                </a:solidFill>
                <a:latin typeface="Noto Sans SC"/>
                <a:ea typeface="Noto Sans SC"/>
                <a:cs typeface="Noto Sans SC"/>
                <a:sym typeface="Noto Sans SC"/>
              </a:rPr>
              <a:t>业务价值</a:t>
            </a:r>
            <a:endParaRPr lang="en-US" sz="1100"/>
          </a:p>
        </p:txBody>
      </p:sp>
      <p:sp>
        <p:nvSpPr>
          <p:cNvPr id="19" name="AutoShape 19"/>
          <p:cNvSpPr/>
          <p:nvPr/>
        </p:nvSpPr>
        <p:spPr>
          <a:xfrm>
            <a:off x="762000" y="4394200"/>
            <a:ext cx="3581400" cy="8382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300" b="0" i="0" u="none" strike="noStrike">
                <a:solidFill>
                  <a:srgbClr val="334155"/>
                </a:solidFill>
                <a:latin typeface="Noto Sans SC"/>
                <a:ea typeface="Noto Sans SC"/>
                <a:cs typeface="Noto Sans SC"/>
                <a:sym typeface="Noto Sans SC"/>
              </a:rPr>
              <a:t>使影像具备初步的地理信息,便于在GIS软件中进行查看和管理。</a:t>
            </a:r>
            <a:endParaRPr lang="en-US" sz="1100"/>
          </a:p>
        </p:txBody>
      </p:sp>
      <p:sp>
        <p:nvSpPr>
          <p:cNvPr id="20" name="AutoShape 20"/>
          <p:cNvSpPr/>
          <p:nvPr/>
        </p:nvSpPr>
        <p:spPr>
          <a:xfrm>
            <a:off x="4673600" y="4013200"/>
            <a:ext cx="3962400" cy="1498600"/>
          </a:xfrm>
          <a:prstGeom prst="roundRect">
            <a:avLst>
              <a:gd name="adj" fmla="val 0"/>
            </a:avLst>
          </a:prstGeom>
          <a:solidFill>
            <a:srgbClr val="DC2626">
              <a:alpha val="6000"/>
            </a:srgbClr>
          </a:solidFill>
          <a:ln cap="flat" cmpd="sng">
            <a:solidFill>
              <a:srgbClr val="C30E0E">
                <a:alpha val="6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4673600" y="4013200"/>
            <a:ext cx="50800" cy="1498600"/>
          </a:xfrm>
          <a:prstGeom prst="roundRect">
            <a:avLst>
              <a:gd name="adj" fmla="val 0"/>
            </a:avLst>
          </a:prstGeom>
          <a:solidFill>
            <a:srgbClr val="DC2626">
              <a:alpha val="100000"/>
            </a:srgbClr>
          </a:solidFill>
          <a:ln cap="flat" cmpd="sng">
            <a:solidFill>
              <a:srgbClr val="C30E0E">
                <a:alpha val="10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4927600" y="4013200"/>
            <a:ext cx="355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700" b="1" i="0" u="none" strike="noStrike">
                <a:solidFill>
                  <a:srgbClr val="DC2626"/>
                </a:solidFill>
                <a:latin typeface="Noto Sans SC"/>
                <a:ea typeface="Noto Sans SC"/>
                <a:cs typeface="Noto Sans SC"/>
                <a:sym typeface="Noto Sans SC"/>
              </a:rPr>
              <a:t>缺失影响</a:t>
            </a:r>
            <a:endParaRPr lang="en-US" sz="1100"/>
          </a:p>
        </p:txBody>
      </p:sp>
      <p:sp>
        <p:nvSpPr>
          <p:cNvPr id="23" name="AutoShape 23"/>
          <p:cNvSpPr/>
          <p:nvPr/>
        </p:nvSpPr>
        <p:spPr>
          <a:xfrm>
            <a:off x="4927600" y="4394200"/>
            <a:ext cx="3581400" cy="8382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300" b="0" i="0" u="none" strike="noStrike">
                <a:solidFill>
                  <a:srgbClr val="334155"/>
                </a:solidFill>
                <a:latin typeface="Noto Sans SC"/>
                <a:ea typeface="Noto Sans SC"/>
                <a:cs typeface="Noto Sans SC"/>
                <a:sym typeface="Noto Sans SC"/>
              </a:rPr>
              <a:t>影像没有地理坐标,无法进行空间分析。</a:t>
            </a:r>
            <a:endParaRPr lang="en-US" sz="1100"/>
          </a:p>
        </p:txBody>
      </p:sp>
      <p:sp>
        <p:nvSpPr>
          <p:cNvPr id="24" name="AutoShape 24"/>
          <p:cNvSpPr/>
          <p:nvPr/>
        </p:nvSpPr>
        <p:spPr>
          <a:xfrm>
            <a:off x="8890000" y="1524000"/>
            <a:ext cx="2921000" cy="45212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9080500" y="1524000"/>
            <a:ext cx="26035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600" b="1" i="0" u="none" strike="noStrike" spc="100">
                <a:solidFill>
                  <a:srgbClr val="1E3A8A"/>
                </a:solidFill>
                <a:latin typeface="Noto Sans SC"/>
                <a:ea typeface="Noto Sans SC"/>
                <a:cs typeface="Noto Sans SC"/>
                <a:sym typeface="Noto Sans SC"/>
              </a:rPr>
              <a:t>流程位置与关联</a:t>
            </a:r>
            <a:endParaRPr lang="en-US" sz="1100"/>
          </a:p>
        </p:txBody>
      </p:sp>
      <p:cxnSp>
        <p:nvCxnSpPr>
          <p:cNvPr id="26" name="Connector 26"/>
          <p:cNvCxnSpPr/>
          <p:nvPr/>
        </p:nvCxnSpPr>
        <p:spPr>
          <a:xfrm rot="-17188">
            <a:off x="9080516" y="1974850"/>
            <a:ext cx="25400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27" name="AutoShape 27"/>
          <p:cNvSpPr/>
          <p:nvPr/>
        </p:nvSpPr>
        <p:spPr>
          <a:xfrm>
            <a:off x="9080500" y="2057400"/>
            <a:ext cx="26035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100" b="1" i="0" u="none" strike="noStrike" spc="200">
                <a:solidFill>
                  <a:srgbClr val="64748B"/>
                </a:solidFill>
                <a:latin typeface="Noto Sans SC"/>
                <a:ea typeface="Noto Sans SC"/>
                <a:cs typeface="Noto Sans SC"/>
                <a:sym typeface="Noto Sans SC"/>
              </a:rPr>
              <a:t>在哪个环节</a:t>
            </a:r>
            <a:endParaRPr lang="en-US" sz="1100"/>
          </a:p>
        </p:txBody>
      </p:sp>
      <p:sp>
        <p:nvSpPr>
          <p:cNvPr id="28" name="AutoShape 28"/>
          <p:cNvSpPr/>
          <p:nvPr/>
        </p:nvSpPr>
        <p:spPr>
          <a:xfrm>
            <a:off x="9080500" y="2336800"/>
            <a:ext cx="2603500" cy="5334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300" b="1" i="0" u="none" strike="noStrike">
                <a:solidFill>
                  <a:srgbClr val="1E3A8A"/>
                </a:solidFill>
                <a:latin typeface="Noto Sans SC"/>
                <a:ea typeface="Noto Sans SC"/>
                <a:cs typeface="Noto Sans SC"/>
                <a:sym typeface="Noto Sans SC"/>
              </a:rPr>
              <a:t>L1→L2分析底图</a:t>
            </a:r>
            <a:endParaRPr lang="en-US" sz="1100"/>
          </a:p>
        </p:txBody>
      </p:sp>
      <p:sp>
        <p:nvSpPr>
          <p:cNvPr id="29" name="AutoShape 29"/>
          <p:cNvSpPr/>
          <p:nvPr/>
        </p:nvSpPr>
        <p:spPr>
          <a:xfrm>
            <a:off x="9080500" y="2921000"/>
            <a:ext cx="26035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100" b="1" i="0" u="none" strike="noStrike" spc="200">
                <a:solidFill>
                  <a:srgbClr val="64748B"/>
                </a:solidFill>
                <a:latin typeface="Noto Sans SC"/>
                <a:ea typeface="Noto Sans SC"/>
                <a:cs typeface="Noto Sans SC"/>
                <a:sym typeface="Noto Sans SC"/>
              </a:rPr>
              <a:t>关联算法</a:t>
            </a:r>
            <a:endParaRPr lang="en-US" sz="1100"/>
          </a:p>
        </p:txBody>
      </p:sp>
      <p:sp>
        <p:nvSpPr>
          <p:cNvPr id="30" name="AutoShape 30"/>
          <p:cNvSpPr/>
          <p:nvPr/>
        </p:nvSpPr>
        <p:spPr>
          <a:xfrm>
            <a:off x="9080500" y="3200400"/>
            <a:ext cx="2603500" cy="660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200" b="0" i="0" u="none" strike="noStrike">
                <a:solidFill>
                  <a:srgbClr val="334155"/>
                </a:solidFill>
                <a:latin typeface="Noto Sans SC"/>
                <a:ea typeface="Noto Sans SC"/>
                <a:cs typeface="Noto Sans SC"/>
                <a:sym typeface="Noto Sans SC"/>
              </a:rPr>
              <a:t>#3 POS解算</a:t>
            </a:r>
            <a:r>
              <a:rPr lang="en-US" sz="1200" b="0" i="0" u="none" strike="noStrike">
                <a:solidFill>
                  <a:srgbClr val="94A3B8"/>
                </a:solidFill>
                <a:latin typeface="Noto Sans SC"/>
                <a:ea typeface="Noto Sans SC"/>
                <a:cs typeface="Noto Sans SC"/>
                <a:sym typeface="Noto Sans SC"/>
              </a:rPr>
              <a:t>,</a:t>
            </a:r>
            <a:r>
              <a:rPr lang="en-US" sz="1200" b="0" i="0" u="none" strike="noStrike">
                <a:solidFill>
                  <a:srgbClr val="334155"/>
                </a:solidFill>
                <a:latin typeface="Noto Sans SC"/>
                <a:ea typeface="Noto Sans SC"/>
                <a:cs typeface="Noto Sans SC"/>
                <a:sym typeface="Noto Sans SC"/>
              </a:rPr>
              <a:t>#16正射校正</a:t>
            </a:r>
            <a:endParaRPr lang="en-US" sz="1100"/>
          </a:p>
        </p:txBody>
      </p:sp>
      <p:sp>
        <p:nvSpPr>
          <p:cNvPr id="31" name="AutoShape 31"/>
          <p:cNvSpPr/>
          <p:nvPr/>
        </p:nvSpPr>
        <p:spPr>
          <a:xfrm>
            <a:off x="9080500" y="4013200"/>
            <a:ext cx="26035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100" b="1" i="0" u="none" strike="noStrike" spc="200">
                <a:solidFill>
                  <a:srgbClr val="64748B"/>
                </a:solidFill>
                <a:latin typeface="Noto Sans SC"/>
                <a:ea typeface="Noto Sans SC"/>
                <a:cs typeface="Noto Sans SC"/>
                <a:sym typeface="Noto Sans SC"/>
              </a:rPr>
              <a:t>调用接口[API]</a:t>
            </a:r>
            <a:endParaRPr lang="en-US" sz="1100"/>
          </a:p>
        </p:txBody>
      </p:sp>
      <p:sp>
        <p:nvSpPr>
          <p:cNvPr id="32" name="AutoShape 32"/>
          <p:cNvSpPr/>
          <p:nvPr/>
        </p:nvSpPr>
        <p:spPr>
          <a:xfrm>
            <a:off x="9080500" y="4318000"/>
            <a:ext cx="2603500" cy="736600"/>
          </a:xfrm>
          <a:prstGeom prst="roundRect">
            <a:avLst>
              <a:gd name="adj" fmla="val 0"/>
            </a:avLst>
          </a:prstGeom>
          <a:solidFill>
            <a:srgbClr val="1E3A8A">
              <a:alpha val="10000"/>
            </a:srgbClr>
          </a:solidFill>
          <a:ln cap="flat" cmpd="sng">
            <a:solidFill>
              <a:srgbClr val="0D2771">
                <a:alpha val="10000"/>
              </a:srgbClr>
            </a:solidFill>
            <a:prstDash val="solid"/>
            <a:round/>
          </a:ln>
        </p:spPr>
        <p:txBody>
          <a:bodyPr vert="horz" wrap="square" lIns="63500" tIns="63500" rIns="63500" bIns="63500" rtlCol="0" anchor="ctr"/>
          <a:lstStyle/>
          <a:p>
            <a:pPr algn="ctr">
              <a:defRPr/>
            </a:pPr>
          </a:p>
        </p:txBody>
      </p:sp>
      <p:sp>
        <p:nvSpPr>
          <p:cNvPr id="33" name="AutoShape 33"/>
          <p:cNvSpPr/>
          <p:nvPr/>
        </p:nvSpPr>
        <p:spPr>
          <a:xfrm>
            <a:off x="9169400" y="4318000"/>
            <a:ext cx="2438400" cy="7366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100" b="0" i="0" u="none" strike="noStrike" spc="50">
                <a:solidFill>
                  <a:srgbClr val="1E3A8A"/>
                </a:solidFill>
                <a:latin typeface="Noto Sans SC"/>
                <a:ea typeface="Noto Sans SC"/>
                <a:cs typeface="Noto Sans SC"/>
                <a:sym typeface="Noto Sans SC"/>
              </a:rPr>
              <a:t>/api/v1/15_georeferencing/run</a:t>
            </a:r>
            <a:endParaRPr lang="en-US" sz="1100"/>
          </a:p>
        </p:txBody>
      </p:sp>
      <p:sp>
        <p:nvSpPr>
          <p:cNvPr id="34" name="AutoShape 34"/>
          <p:cNvSpPr/>
          <p:nvPr/>
        </p:nvSpPr>
        <p:spPr>
          <a:xfrm>
            <a:off x="508000" y="5867400"/>
            <a:ext cx="11303000" cy="50800"/>
          </a:xfrm>
          <a:prstGeom prst="roundRect">
            <a:avLst>
              <a:gd name="adj" fmla="val 0"/>
            </a:avLst>
          </a:prstGeom>
          <a:gradFill rotWithShape="1">
            <a:gsLst>
              <a:gs pos="0">
                <a:srgbClr val="1E3A8A">
                  <a:alpha val="100000"/>
                </a:srgbClr>
              </a:gs>
              <a:gs pos="60000">
                <a:srgbClr val="1E3A8A">
                  <a:alpha val="15000"/>
                </a:srgbClr>
              </a:gs>
              <a:gs pos="100000">
                <a:srgbClr val="1E3A8A">
                  <a:alpha val="0"/>
                </a:srgbClr>
              </a:gs>
            </a:gsLst>
            <a:lin ang="0"/>
          </a:gradFill>
          <a:ln cap="flat" cmpd="sng">
            <a:gradFill rotWithShape="1">
              <a:gsLst>
                <a:gs pos="0">
                  <a:srgbClr val="0D2771">
                    <a:alpha val="100000"/>
                  </a:srgbClr>
                </a:gs>
                <a:gs pos="60000">
                  <a:srgbClr val="0D2771">
                    <a:alpha val="15000"/>
                  </a:srgbClr>
                </a:gs>
                <a:gs pos="100000">
                  <a:srgbClr val="0D2771">
                    <a:alpha val="0"/>
                  </a:srgbClr>
                </a:gs>
              </a:gsLst>
              <a:lin ang="0"/>
            </a:gradFill>
            <a:prstDash val="solid"/>
            <a:round/>
          </a:ln>
        </p:spPr>
        <p:txBody>
          <a:bodyPr vert="horz" wrap="square" lIns="63500" tIns="63500" rIns="63500" bIns="63500" rtlCol="0" anchor="ctr"/>
          <a:lstStyle/>
          <a:p>
            <a:pPr algn="ctr">
              <a:defRPr/>
            </a:p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8890000" cy="6096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2800" b="1" i="0" u="none" strike="noStrike" spc="100">
                <a:solidFill>
                  <a:srgbClr val="1E3A8A"/>
                </a:solidFill>
                <a:latin typeface="Noto Sans SC"/>
                <a:ea typeface="Noto Sans SC"/>
                <a:cs typeface="Noto Sans SC"/>
                <a:sym typeface="Noto Sans SC"/>
              </a:rPr>
              <a:t>16.正射校正</a:t>
            </a:r>
            <a:endParaRPr lang="en-US" sz="1100"/>
          </a:p>
        </p:txBody>
      </p:sp>
      <p:sp>
        <p:nvSpPr>
          <p:cNvPr id="3" name="AutoShape 3"/>
          <p:cNvSpPr/>
          <p:nvPr/>
        </p:nvSpPr>
        <p:spPr>
          <a:xfrm>
            <a:off x="508000" y="1041400"/>
            <a:ext cx="11176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0" i="0" u="none" strike="noStrike">
                <a:solidFill>
                  <a:srgbClr val="6B7280"/>
                </a:solidFill>
                <a:latin typeface="Noto Sans SC"/>
                <a:ea typeface="Noto Sans SC"/>
                <a:cs typeface="Noto Sans SC"/>
                <a:sym typeface="Noto Sans SC"/>
              </a:rPr>
              <a:t>所属层级:L1→L2 ｜ 编号#16 ｜ 辅导材料:算法清单与API</a:t>
            </a:r>
            <a:endParaRPr lang="en-US" sz="1100"/>
          </a:p>
        </p:txBody>
      </p:sp>
      <p:cxnSp>
        <p:nvCxnSpPr>
          <p:cNvPr id="4" name="Connector 4"/>
          <p:cNvCxnSpPr/>
          <p:nvPr/>
        </p:nvCxnSpPr>
        <p:spPr>
          <a:xfrm rot="-3906">
            <a:off x="508004" y="1416050"/>
            <a:ext cx="11176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5" name="AutoShape 5"/>
          <p:cNvSpPr/>
          <p:nvPr/>
        </p:nvSpPr>
        <p:spPr>
          <a:xfrm>
            <a:off x="508000" y="1549400"/>
            <a:ext cx="2705100" cy="2286000"/>
          </a:xfrm>
          <a:prstGeom prst="roundRect">
            <a:avLst>
              <a:gd name="adj" fmla="val 0"/>
            </a:avLst>
          </a:prstGeom>
          <a:solidFill>
            <a:srgbClr val="F8FAFC">
              <a:alpha val="100000"/>
            </a:srgbClr>
          </a:solidFill>
          <a:ln cap="flat" cmpd="sng">
            <a:solidFill>
              <a:srgbClr val="C8D5E3">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508000" y="1549400"/>
            <a:ext cx="50800" cy="2286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711200" y="1549400"/>
            <a:ext cx="234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700" b="1" i="0" u="none" strike="noStrike">
                <a:solidFill>
                  <a:srgbClr val="1E3A8A"/>
                </a:solidFill>
                <a:latin typeface="Noto Sans SC"/>
                <a:ea typeface="Noto Sans SC"/>
                <a:cs typeface="Noto Sans SC"/>
                <a:sym typeface="Noto Sans SC"/>
              </a:rPr>
              <a:t>功能定义</a:t>
            </a:r>
            <a:endParaRPr lang="en-US" sz="1100"/>
          </a:p>
        </p:txBody>
      </p:sp>
      <p:cxnSp>
        <p:nvCxnSpPr>
          <p:cNvPr id="8" name="Connector 8"/>
          <p:cNvCxnSpPr/>
          <p:nvPr/>
        </p:nvCxnSpPr>
        <p:spPr>
          <a:xfrm rot="-18683">
            <a:off x="711217" y="2000250"/>
            <a:ext cx="23368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9" name="AutoShape 9"/>
          <p:cNvSpPr/>
          <p:nvPr/>
        </p:nvSpPr>
        <p:spPr>
          <a:xfrm>
            <a:off x="711200" y="2070100"/>
            <a:ext cx="2349500" cy="889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300" b="0" i="0" u="none" strike="noStrike">
                <a:solidFill>
                  <a:srgbClr val="374151"/>
                </a:solidFill>
                <a:latin typeface="Noto Sans SC"/>
                <a:ea typeface="Noto Sans SC"/>
                <a:cs typeface="Noto Sans SC"/>
                <a:sym typeface="Noto Sans SC"/>
              </a:rPr>
              <a:t>消除地形起伏和飞行姿态引起的几何畸变。</a:t>
            </a:r>
            <a:endParaRPr lang="en-US" sz="1100"/>
          </a:p>
        </p:txBody>
      </p:sp>
      <p:sp>
        <p:nvSpPr>
          <p:cNvPr id="10" name="AutoShape 10"/>
          <p:cNvSpPr/>
          <p:nvPr/>
        </p:nvSpPr>
        <p:spPr>
          <a:xfrm>
            <a:off x="3340100" y="1549400"/>
            <a:ext cx="2705100" cy="2286000"/>
          </a:xfrm>
          <a:prstGeom prst="roundRect">
            <a:avLst>
              <a:gd name="adj" fmla="val 0"/>
            </a:avLst>
          </a:prstGeom>
          <a:solidFill>
            <a:srgbClr val="F8FAFC">
              <a:alpha val="100000"/>
            </a:srgbClr>
          </a:solidFill>
          <a:ln cap="flat" cmpd="sng">
            <a:solidFill>
              <a:srgbClr val="C8D5E3">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3340100" y="1549400"/>
            <a:ext cx="50800" cy="2286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3543300" y="1549400"/>
            <a:ext cx="234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700" b="1" i="0" u="none" strike="noStrike">
                <a:solidFill>
                  <a:srgbClr val="1E3A8A"/>
                </a:solidFill>
                <a:latin typeface="Noto Sans SC"/>
                <a:ea typeface="Noto Sans SC"/>
                <a:cs typeface="Noto Sans SC"/>
                <a:sym typeface="Noto Sans SC"/>
              </a:rPr>
              <a:t>方法要点</a:t>
            </a:r>
            <a:endParaRPr lang="en-US" sz="1100"/>
          </a:p>
        </p:txBody>
      </p:sp>
      <p:cxnSp>
        <p:nvCxnSpPr>
          <p:cNvPr id="13" name="Connector 13"/>
          <p:cNvCxnSpPr/>
          <p:nvPr/>
        </p:nvCxnSpPr>
        <p:spPr>
          <a:xfrm rot="-18683">
            <a:off x="3543317" y="2000250"/>
            <a:ext cx="23368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14" name="AutoShape 14"/>
          <p:cNvSpPr/>
          <p:nvPr/>
        </p:nvSpPr>
        <p:spPr>
          <a:xfrm>
            <a:off x="3543300" y="2070100"/>
            <a:ext cx="2349500" cy="1143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300" b="0" i="0" u="none" strike="noStrike">
                <a:solidFill>
                  <a:srgbClr val="374151"/>
                </a:solidFill>
                <a:latin typeface="Noto Sans SC"/>
                <a:ea typeface="Noto Sans SC"/>
                <a:cs typeface="Noto Sans SC"/>
                <a:sym typeface="Noto Sans SC"/>
              </a:rPr>
              <a:t>结合POS数据、数字高程模型(DEM)和相机参数,对影像进行精确的几何校正。</a:t>
            </a:r>
            <a:endParaRPr lang="en-US" sz="1100"/>
          </a:p>
        </p:txBody>
      </p:sp>
      <p:sp>
        <p:nvSpPr>
          <p:cNvPr id="15" name="AutoShape 15"/>
          <p:cNvSpPr/>
          <p:nvPr/>
        </p:nvSpPr>
        <p:spPr>
          <a:xfrm>
            <a:off x="6172200" y="1549400"/>
            <a:ext cx="2705100" cy="2286000"/>
          </a:xfrm>
          <a:prstGeom prst="roundRect">
            <a:avLst>
              <a:gd name="adj" fmla="val 0"/>
            </a:avLst>
          </a:prstGeom>
          <a:solidFill>
            <a:srgbClr val="F8FAFC">
              <a:alpha val="100000"/>
            </a:srgbClr>
          </a:solidFill>
          <a:ln cap="flat" cmpd="sng">
            <a:solidFill>
              <a:srgbClr val="C8D5E3">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6172200" y="1549400"/>
            <a:ext cx="50800" cy="2286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6375400" y="1549400"/>
            <a:ext cx="234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700" b="1" i="0" u="none" strike="noStrike">
                <a:solidFill>
                  <a:srgbClr val="1E3A8A"/>
                </a:solidFill>
                <a:latin typeface="Noto Sans SC"/>
                <a:ea typeface="Noto Sans SC"/>
                <a:cs typeface="Noto Sans SC"/>
                <a:sym typeface="Noto Sans SC"/>
              </a:rPr>
              <a:t>适用场景</a:t>
            </a:r>
            <a:endParaRPr lang="en-US" sz="1100"/>
          </a:p>
        </p:txBody>
      </p:sp>
      <p:cxnSp>
        <p:nvCxnSpPr>
          <p:cNvPr id="18" name="Connector 18"/>
          <p:cNvCxnSpPr/>
          <p:nvPr/>
        </p:nvCxnSpPr>
        <p:spPr>
          <a:xfrm rot="-18683">
            <a:off x="6375417" y="2000250"/>
            <a:ext cx="23368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19" name="AutoShape 19"/>
          <p:cNvSpPr/>
          <p:nvPr/>
        </p:nvSpPr>
        <p:spPr>
          <a:xfrm>
            <a:off x="6375400" y="2070100"/>
            <a:ext cx="2349500" cy="889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300" b="0" i="0" u="none" strike="noStrike">
                <a:solidFill>
                  <a:srgbClr val="374151"/>
                </a:solidFill>
                <a:latin typeface="Noto Sans SC"/>
                <a:ea typeface="Noto Sans SC"/>
                <a:cs typeface="Noto Sans SC"/>
                <a:sym typeface="Noto Sans SC"/>
              </a:rPr>
              <a:t>所有需要进行面积测量、地块叠加、GIS分析的项目。</a:t>
            </a:r>
            <a:endParaRPr lang="en-US" sz="1100"/>
          </a:p>
        </p:txBody>
      </p:sp>
      <p:sp>
        <p:nvSpPr>
          <p:cNvPr id="20" name="AutoShape 20"/>
          <p:cNvSpPr/>
          <p:nvPr/>
        </p:nvSpPr>
        <p:spPr>
          <a:xfrm>
            <a:off x="9004300" y="1549400"/>
            <a:ext cx="2705100" cy="2286000"/>
          </a:xfrm>
          <a:prstGeom prst="roundRect">
            <a:avLst>
              <a:gd name="adj" fmla="val 0"/>
            </a:avLst>
          </a:prstGeom>
          <a:solidFill>
            <a:srgbClr val="F8FAFC">
              <a:alpha val="100000"/>
            </a:srgbClr>
          </a:solidFill>
          <a:ln cap="flat" cmpd="sng">
            <a:solidFill>
              <a:srgbClr val="C8D5E3">
                <a:alpha val="10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9004300" y="1549400"/>
            <a:ext cx="50800" cy="2286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9207500" y="1549400"/>
            <a:ext cx="234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700" b="1" i="0" u="none" strike="noStrike">
                <a:solidFill>
                  <a:srgbClr val="1E3A8A"/>
                </a:solidFill>
                <a:latin typeface="Noto Sans SC"/>
                <a:ea typeface="Noto Sans SC"/>
                <a:cs typeface="Noto Sans SC"/>
                <a:sym typeface="Noto Sans SC"/>
              </a:rPr>
              <a:t>业务价值</a:t>
            </a:r>
            <a:endParaRPr lang="en-US" sz="1100"/>
          </a:p>
        </p:txBody>
      </p:sp>
      <p:cxnSp>
        <p:nvCxnSpPr>
          <p:cNvPr id="23" name="Connector 23"/>
          <p:cNvCxnSpPr/>
          <p:nvPr/>
        </p:nvCxnSpPr>
        <p:spPr>
          <a:xfrm rot="-18683">
            <a:off x="9207517" y="2000250"/>
            <a:ext cx="23368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24" name="AutoShape 24"/>
          <p:cNvSpPr/>
          <p:nvPr/>
        </p:nvSpPr>
        <p:spPr>
          <a:xfrm>
            <a:off x="9207500" y="2070100"/>
            <a:ext cx="2349500" cy="889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300" b="0" i="0" u="none" strike="noStrike">
                <a:solidFill>
                  <a:srgbClr val="374151"/>
                </a:solidFill>
                <a:latin typeface="Noto Sans SC"/>
                <a:ea typeface="Noto Sans SC"/>
                <a:cs typeface="Noto Sans SC"/>
                <a:sym typeface="Noto Sans SC"/>
              </a:rPr>
              <a:t>确保影像的几何精度,使像素坐标与真实世界坐标一一对应。</a:t>
            </a:r>
            <a:endParaRPr lang="en-US" sz="1100"/>
          </a:p>
        </p:txBody>
      </p:sp>
      <p:sp>
        <p:nvSpPr>
          <p:cNvPr id="25" name="AutoShape 25"/>
          <p:cNvSpPr/>
          <p:nvPr/>
        </p:nvSpPr>
        <p:spPr>
          <a:xfrm>
            <a:off x="508000" y="4013200"/>
            <a:ext cx="5588000" cy="1651000"/>
          </a:xfrm>
          <a:prstGeom prst="roundRect">
            <a:avLst>
              <a:gd name="adj" fmla="val 0"/>
            </a:avLst>
          </a:prstGeom>
          <a:solidFill>
            <a:srgbClr val="DC2626">
              <a:alpha val="6000"/>
            </a:srgbClr>
          </a:solidFill>
          <a:ln cap="flat" cmpd="sng">
            <a:solidFill>
              <a:srgbClr val="C30E0E">
                <a:alpha val="6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508000" y="4013200"/>
            <a:ext cx="50800" cy="1651000"/>
          </a:xfrm>
          <a:prstGeom prst="roundRect">
            <a:avLst>
              <a:gd name="adj" fmla="val 0"/>
            </a:avLst>
          </a:prstGeom>
          <a:solidFill>
            <a:srgbClr val="DC2626">
              <a:alpha val="100000"/>
            </a:srgbClr>
          </a:solidFill>
          <a:ln cap="flat" cmpd="sng">
            <a:solidFill>
              <a:srgbClr val="C30E0E">
                <a:alpha val="100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762000" y="4013200"/>
            <a:ext cx="508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DC2626"/>
                </a:solidFill>
                <a:latin typeface="Noto Sans SC"/>
                <a:ea typeface="Noto Sans SC"/>
                <a:cs typeface="Noto Sans SC"/>
                <a:sym typeface="Noto Sans SC"/>
              </a:rPr>
              <a:t>缺失影响</a:t>
            </a:r>
            <a:endParaRPr lang="en-US" sz="1100"/>
          </a:p>
        </p:txBody>
      </p:sp>
      <p:cxnSp>
        <p:nvCxnSpPr>
          <p:cNvPr id="28" name="Connector 28"/>
          <p:cNvCxnSpPr/>
          <p:nvPr/>
        </p:nvCxnSpPr>
        <p:spPr>
          <a:xfrm rot="-8594">
            <a:off x="762008" y="4438650"/>
            <a:ext cx="5080000" cy="12700"/>
          </a:xfrm>
          <a:prstGeom prst="straightConnector1">
            <a:avLst/>
          </a:prstGeom>
          <a:solidFill>
            <a:srgbClr val="DEE0E3">
              <a:alpha val="100000"/>
            </a:srgbClr>
          </a:solidFill>
          <a:ln w="12700" cap="flat" cmpd="sng">
            <a:solidFill>
              <a:srgbClr val="DC2626">
                <a:alpha val="20000"/>
              </a:srgbClr>
            </a:solidFill>
            <a:prstDash val="solid"/>
            <a:round/>
            <a:headEnd type="none" w="med" len="med"/>
            <a:tailEnd type="none" w="med" len="med"/>
          </a:ln>
        </p:spPr>
      </p:cxnSp>
      <p:sp>
        <p:nvSpPr>
          <p:cNvPr id="29" name="AutoShape 29"/>
          <p:cNvSpPr/>
          <p:nvPr/>
        </p:nvSpPr>
        <p:spPr>
          <a:xfrm>
            <a:off x="762000" y="4521200"/>
            <a:ext cx="5143500" cy="889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74151"/>
                </a:solidFill>
                <a:latin typeface="Noto Sans SC"/>
                <a:ea typeface="Noto Sans SC"/>
                <a:cs typeface="Noto Sans SC"/>
                <a:sym typeface="Noto Sans SC"/>
              </a:rPr>
              <a:t>影像存在几何畸变,无法进行精确的面积测量和空间分析。</a:t>
            </a:r>
            <a:endParaRPr lang="en-US" sz="1100"/>
          </a:p>
        </p:txBody>
      </p:sp>
      <p:sp>
        <p:nvSpPr>
          <p:cNvPr id="30" name="AutoShape 30"/>
          <p:cNvSpPr/>
          <p:nvPr/>
        </p:nvSpPr>
        <p:spPr>
          <a:xfrm>
            <a:off x="6350000" y="4013200"/>
            <a:ext cx="5397500" cy="1651000"/>
          </a:xfrm>
          <a:prstGeom prst="roundRect">
            <a:avLst>
              <a:gd name="adj" fmla="val 0"/>
            </a:avLst>
          </a:prstGeom>
          <a:solidFill>
            <a:srgbClr val="F8FAFC">
              <a:alpha val="100000"/>
            </a:srgbClr>
          </a:solidFill>
          <a:ln cap="flat" cmpd="sng">
            <a:solidFill>
              <a:srgbClr val="C8D5E3">
                <a:alpha val="100000"/>
              </a:srgbClr>
            </a:solidFill>
            <a:prstDash val="solid"/>
            <a:round/>
          </a:ln>
        </p:spPr>
        <p:txBody>
          <a:bodyPr vert="horz" wrap="square" lIns="63500" tIns="63500" rIns="63500" bIns="63500" rtlCol="0" anchor="ctr"/>
          <a:lstStyle/>
          <a:p>
            <a:pPr algn="ctr">
              <a:defRPr/>
            </a:pPr>
          </a:p>
        </p:txBody>
      </p:sp>
      <p:sp>
        <p:nvSpPr>
          <p:cNvPr id="31" name="AutoShape 31"/>
          <p:cNvSpPr/>
          <p:nvPr/>
        </p:nvSpPr>
        <p:spPr>
          <a:xfrm>
            <a:off x="6350000" y="4013200"/>
            <a:ext cx="50800" cy="1651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32" name="AutoShape 32"/>
          <p:cNvSpPr/>
          <p:nvPr/>
        </p:nvSpPr>
        <p:spPr>
          <a:xfrm>
            <a:off x="6553200" y="4013200"/>
            <a:ext cx="508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流程位置与关联</a:t>
            </a:r>
            <a:endParaRPr lang="en-US" sz="1100"/>
          </a:p>
        </p:txBody>
      </p:sp>
      <p:sp>
        <p:nvSpPr>
          <p:cNvPr id="33" name="AutoShape 33"/>
          <p:cNvSpPr/>
          <p:nvPr/>
        </p:nvSpPr>
        <p:spPr>
          <a:xfrm>
            <a:off x="6553200" y="4445000"/>
            <a:ext cx="12700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200" b="0" i="0" u="none" strike="noStrike">
                <a:solidFill>
                  <a:srgbClr val="6B7280"/>
                </a:solidFill>
                <a:latin typeface="Noto Sans SC"/>
                <a:ea typeface="Noto Sans SC"/>
                <a:cs typeface="Noto Sans SC"/>
                <a:sym typeface="Noto Sans SC"/>
              </a:rPr>
              <a:t>在哪个环节:</a:t>
            </a:r>
            <a:endParaRPr lang="en-US" sz="1100"/>
          </a:p>
        </p:txBody>
      </p:sp>
      <p:sp>
        <p:nvSpPr>
          <p:cNvPr id="34" name="AutoShape 34"/>
          <p:cNvSpPr/>
          <p:nvPr/>
        </p:nvSpPr>
        <p:spPr>
          <a:xfrm>
            <a:off x="7823200" y="4445000"/>
            <a:ext cx="37846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1" i="0" u="none" strike="noStrike">
                <a:solidFill>
                  <a:srgbClr val="1E3A8A"/>
                </a:solidFill>
                <a:latin typeface="Noto Sans SC"/>
                <a:ea typeface="Noto Sans SC"/>
                <a:cs typeface="Noto Sans SC"/>
                <a:sym typeface="Noto Sans SC"/>
              </a:rPr>
              <a:t>L1→L2分析底图</a:t>
            </a:r>
            <a:endParaRPr lang="en-US" sz="1100"/>
          </a:p>
        </p:txBody>
      </p:sp>
      <p:sp>
        <p:nvSpPr>
          <p:cNvPr id="35" name="AutoShape 35"/>
          <p:cNvSpPr/>
          <p:nvPr/>
        </p:nvSpPr>
        <p:spPr>
          <a:xfrm>
            <a:off x="6553200" y="4826000"/>
            <a:ext cx="12700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200" b="0" i="0" u="none" strike="noStrike">
                <a:solidFill>
                  <a:srgbClr val="6B7280"/>
                </a:solidFill>
                <a:latin typeface="Noto Sans SC"/>
                <a:ea typeface="Noto Sans SC"/>
                <a:cs typeface="Noto Sans SC"/>
                <a:sym typeface="Noto Sans SC"/>
              </a:rPr>
              <a:t>关联:</a:t>
            </a:r>
            <a:endParaRPr lang="en-US" sz="1100"/>
          </a:p>
        </p:txBody>
      </p:sp>
      <p:sp>
        <p:nvSpPr>
          <p:cNvPr id="36" name="AutoShape 36"/>
          <p:cNvSpPr/>
          <p:nvPr/>
        </p:nvSpPr>
        <p:spPr>
          <a:xfrm>
            <a:off x="7823200" y="4826000"/>
            <a:ext cx="1117600" cy="304800"/>
          </a:xfrm>
          <a:prstGeom prst="roundRect">
            <a:avLst>
              <a:gd name="adj" fmla="val 0"/>
            </a:avLst>
          </a:prstGeom>
          <a:solidFill>
            <a:srgbClr val="DBEAFE">
              <a:alpha val="100000"/>
            </a:srgbClr>
          </a:solidFill>
          <a:ln cap="flat" cmpd="sng">
            <a:solidFill>
              <a:srgbClr val="AEC5E5">
                <a:alpha val="100000"/>
              </a:srgbClr>
            </a:solidFill>
            <a:prstDash val="solid"/>
            <a:round/>
          </a:ln>
        </p:spPr>
        <p:txBody>
          <a:bodyPr vert="horz" wrap="square" lIns="63500" tIns="63500" rIns="63500" bIns="63500" rtlCol="0" anchor="ctr"/>
          <a:lstStyle/>
          <a:p>
            <a:pPr algn="ctr">
              <a:defRPr/>
            </a:pPr>
          </a:p>
        </p:txBody>
      </p:sp>
      <p:sp>
        <p:nvSpPr>
          <p:cNvPr id="37" name="AutoShape 37"/>
          <p:cNvSpPr/>
          <p:nvPr/>
        </p:nvSpPr>
        <p:spPr>
          <a:xfrm>
            <a:off x="7823200" y="4826000"/>
            <a:ext cx="11176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100" b="1" i="0" u="none" strike="noStrike">
                <a:solidFill>
                  <a:srgbClr val="1E3A8A"/>
                </a:solidFill>
                <a:latin typeface="Noto Sans SC"/>
                <a:ea typeface="Noto Sans SC"/>
                <a:cs typeface="Noto Sans SC"/>
                <a:sym typeface="Noto Sans SC"/>
              </a:rPr>
              <a:t>#3 POS解算</a:t>
            </a:r>
            <a:endParaRPr lang="en-US" sz="1100"/>
          </a:p>
        </p:txBody>
      </p:sp>
      <p:sp>
        <p:nvSpPr>
          <p:cNvPr id="38" name="AutoShape 38"/>
          <p:cNvSpPr/>
          <p:nvPr/>
        </p:nvSpPr>
        <p:spPr>
          <a:xfrm>
            <a:off x="8991600" y="4826000"/>
            <a:ext cx="1193800" cy="304800"/>
          </a:xfrm>
          <a:prstGeom prst="roundRect">
            <a:avLst>
              <a:gd name="adj" fmla="val 0"/>
            </a:avLst>
          </a:prstGeom>
          <a:solidFill>
            <a:srgbClr val="DBEAFE">
              <a:alpha val="100000"/>
            </a:srgbClr>
          </a:solidFill>
          <a:ln cap="flat" cmpd="sng">
            <a:solidFill>
              <a:srgbClr val="AEC5E5">
                <a:alpha val="100000"/>
              </a:srgbClr>
            </a:solidFill>
            <a:prstDash val="solid"/>
            <a:round/>
          </a:ln>
        </p:spPr>
        <p:txBody>
          <a:bodyPr vert="horz" wrap="square" lIns="63500" tIns="63500" rIns="63500" bIns="63500" rtlCol="0" anchor="ctr"/>
          <a:lstStyle/>
          <a:p>
            <a:pPr algn="ctr">
              <a:defRPr/>
            </a:pPr>
          </a:p>
        </p:txBody>
      </p:sp>
      <p:sp>
        <p:nvSpPr>
          <p:cNvPr id="39" name="AutoShape 39"/>
          <p:cNvSpPr/>
          <p:nvPr/>
        </p:nvSpPr>
        <p:spPr>
          <a:xfrm>
            <a:off x="8991600" y="4826000"/>
            <a:ext cx="11938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100" b="1" i="0" u="none" strike="noStrike">
                <a:solidFill>
                  <a:srgbClr val="1E3A8A"/>
                </a:solidFill>
                <a:latin typeface="Noto Sans SC"/>
                <a:ea typeface="Noto Sans SC"/>
                <a:cs typeface="Noto Sans SC"/>
                <a:sym typeface="Noto Sans SC"/>
              </a:rPr>
              <a:t>#15地理定位</a:t>
            </a:r>
            <a:endParaRPr lang="en-US" sz="1100"/>
          </a:p>
        </p:txBody>
      </p:sp>
      <p:sp>
        <p:nvSpPr>
          <p:cNvPr id="40" name="AutoShape 40"/>
          <p:cNvSpPr/>
          <p:nvPr/>
        </p:nvSpPr>
        <p:spPr>
          <a:xfrm>
            <a:off x="10236200" y="4826000"/>
            <a:ext cx="1460500" cy="304800"/>
          </a:xfrm>
          <a:prstGeom prst="roundRect">
            <a:avLst>
              <a:gd name="adj" fmla="val 0"/>
            </a:avLst>
          </a:prstGeom>
          <a:solidFill>
            <a:srgbClr val="DBEAFE">
              <a:alpha val="100000"/>
            </a:srgbClr>
          </a:solidFill>
          <a:ln cap="flat" cmpd="sng">
            <a:solidFill>
              <a:srgbClr val="AEC5E5">
                <a:alpha val="100000"/>
              </a:srgbClr>
            </a:solidFill>
            <a:prstDash val="solid"/>
            <a:round/>
          </a:ln>
        </p:spPr>
        <p:txBody>
          <a:bodyPr vert="horz" wrap="square" lIns="63500" tIns="63500" rIns="63500" bIns="63500" rtlCol="0" anchor="ctr"/>
          <a:lstStyle/>
          <a:p>
            <a:pPr algn="ctr">
              <a:defRPr/>
            </a:pPr>
          </a:p>
        </p:txBody>
      </p:sp>
      <p:sp>
        <p:nvSpPr>
          <p:cNvPr id="41" name="AutoShape 41"/>
          <p:cNvSpPr/>
          <p:nvPr/>
        </p:nvSpPr>
        <p:spPr>
          <a:xfrm>
            <a:off x="10236200" y="4826000"/>
            <a:ext cx="14605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100" b="1" i="0" u="none" strike="noStrike">
                <a:solidFill>
                  <a:srgbClr val="1E3A8A"/>
                </a:solidFill>
                <a:latin typeface="Noto Sans SC"/>
                <a:ea typeface="Noto Sans SC"/>
                <a:cs typeface="Noto Sans SC"/>
                <a:sym typeface="Noto Sans SC"/>
              </a:rPr>
              <a:t>#17影像镶嵌</a:t>
            </a:r>
            <a:endParaRPr lang="en-US" sz="1100"/>
          </a:p>
        </p:txBody>
      </p:sp>
      <p:sp>
        <p:nvSpPr>
          <p:cNvPr id="42" name="AutoShape 42"/>
          <p:cNvSpPr/>
          <p:nvPr/>
        </p:nvSpPr>
        <p:spPr>
          <a:xfrm>
            <a:off x="508000" y="5867400"/>
            <a:ext cx="11239500" cy="698500"/>
          </a:xfrm>
          <a:prstGeom prst="roundRect">
            <a:avLst>
              <a:gd name="adj" fmla="val 0"/>
            </a:avLst>
          </a:prstGeom>
          <a:gradFill rotWithShape="1">
            <a:gsLst>
              <a:gs pos="0">
                <a:srgbClr val="1E3A8A">
                  <a:alpha val="6000"/>
                </a:srgbClr>
              </a:gs>
              <a:gs pos="100000">
                <a:srgbClr val="1E3A8A">
                  <a:alpha val="2000"/>
                </a:srgbClr>
              </a:gs>
            </a:gsLst>
            <a:lin ang="0"/>
          </a:gradFill>
          <a:ln cap="flat" cmpd="sng">
            <a:gradFill rotWithShape="1">
              <a:gsLst>
                <a:gs pos="0">
                  <a:srgbClr val="0D2771">
                    <a:alpha val="6000"/>
                  </a:srgbClr>
                </a:gs>
                <a:gs pos="100000">
                  <a:srgbClr val="0D2771">
                    <a:alpha val="2000"/>
                  </a:srgbClr>
                </a:gs>
              </a:gsLst>
              <a:lin ang="0"/>
            </a:gradFill>
            <a:prstDash val="solid"/>
            <a:round/>
          </a:ln>
        </p:spPr>
        <p:txBody>
          <a:bodyPr vert="horz" wrap="square" lIns="63500" tIns="63500" rIns="63500" bIns="63500" rtlCol="0" anchor="ctr"/>
          <a:lstStyle/>
          <a:p>
            <a:pPr algn="ctr">
              <a:defRPr/>
            </a:pPr>
          </a:p>
        </p:txBody>
      </p:sp>
      <p:sp>
        <p:nvSpPr>
          <p:cNvPr id="43" name="AutoShape 43"/>
          <p:cNvSpPr/>
          <p:nvPr/>
        </p:nvSpPr>
        <p:spPr>
          <a:xfrm>
            <a:off x="508000" y="5867400"/>
            <a:ext cx="50800" cy="6985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44" name="AutoShape 44"/>
          <p:cNvSpPr/>
          <p:nvPr/>
        </p:nvSpPr>
        <p:spPr>
          <a:xfrm>
            <a:off x="762000" y="5867400"/>
            <a:ext cx="1143000" cy="6985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1" i="0" u="none" strike="noStrike">
                <a:solidFill>
                  <a:srgbClr val="1E3A8A"/>
                </a:solidFill>
                <a:latin typeface="Noto Sans SC"/>
                <a:ea typeface="Noto Sans SC"/>
                <a:cs typeface="Noto Sans SC"/>
                <a:sym typeface="Noto Sans SC"/>
              </a:rPr>
              <a:t>[API]</a:t>
            </a:r>
            <a:endParaRPr lang="en-US" sz="1100"/>
          </a:p>
        </p:txBody>
      </p:sp>
      <p:cxnSp>
        <p:nvCxnSpPr>
          <p:cNvPr id="45" name="Connector 45"/>
          <p:cNvCxnSpPr/>
          <p:nvPr/>
        </p:nvCxnSpPr>
        <p:spPr>
          <a:xfrm rot="5301805">
            <a:off x="1682750" y="6210391"/>
            <a:ext cx="444500" cy="12700"/>
          </a:xfrm>
          <a:prstGeom prst="straightConnector1">
            <a:avLst/>
          </a:prstGeom>
          <a:solidFill>
            <a:srgbClr val="DEE0E3">
              <a:alpha val="100000"/>
            </a:srgbClr>
          </a:solidFill>
          <a:ln w="12700" cap="flat" cmpd="sng">
            <a:solidFill>
              <a:srgbClr val="1E3A8A">
                <a:alpha val="22000"/>
              </a:srgbClr>
            </a:solidFill>
            <a:prstDash val="solid"/>
            <a:round/>
            <a:headEnd type="none" w="med" len="med"/>
            <a:tailEnd type="none" w="med" len="med"/>
          </a:ln>
        </p:spPr>
      </p:cxnSp>
      <p:sp>
        <p:nvSpPr>
          <p:cNvPr id="46" name="AutoShape 46"/>
          <p:cNvSpPr/>
          <p:nvPr/>
        </p:nvSpPr>
        <p:spPr>
          <a:xfrm>
            <a:off x="2057400" y="5867400"/>
            <a:ext cx="9499600" cy="6985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400" b="0" i="0" u="none" strike="noStrike">
                <a:solidFill>
                  <a:srgbClr val="374151"/>
                </a:solidFill>
                <a:latin typeface="Noto Sans SC"/>
                <a:ea typeface="Noto Sans SC"/>
                <a:cs typeface="Noto Sans SC"/>
                <a:sym typeface="Noto Sans SC"/>
              </a:rPr>
              <a:t>/api/v1/16_orthorectification/run</a:t>
            </a:r>
            <a:endParaRPr lang="en-US"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270000" cy="762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4400" b="1" i="0" u="none" strike="noStrike">
                <a:solidFill>
                  <a:srgbClr val="F59E0B"/>
                </a:solidFill>
                <a:latin typeface="Noto Sans SC"/>
                <a:ea typeface="Noto Sans SC"/>
                <a:cs typeface="Noto Sans SC"/>
                <a:sym typeface="Noto Sans SC"/>
              </a:rPr>
              <a:t>#17</a:t>
            </a:r>
            <a:endParaRPr lang="en-US" sz="1100"/>
          </a:p>
        </p:txBody>
      </p:sp>
      <p:sp>
        <p:nvSpPr>
          <p:cNvPr id="3" name="AutoShape 3"/>
          <p:cNvSpPr/>
          <p:nvPr/>
        </p:nvSpPr>
        <p:spPr>
          <a:xfrm>
            <a:off x="1905000" y="406400"/>
            <a:ext cx="7874000" cy="558800"/>
          </a:xfrm>
          <a:prstGeom prst="rect">
            <a:avLst/>
          </a:prstGeom>
          <a:noFill/>
          <a:ln w="12700" cap="flat" cmpd="sng">
            <a:noFill/>
            <a:prstDash val="solid"/>
            <a:round/>
          </a:ln>
        </p:spPr>
        <p:txBody>
          <a:bodyPr vert="horz" wrap="square" lIns="0" tIns="0" rIns="0" bIns="0" rtlCol="0" anchor="t" anchorCtr="0"/>
          <a:lstStyle/>
          <a:p>
            <a:pPr marL="0" indent="0" algn="l">
              <a:lnSpc>
                <a:spcPct val="92000"/>
              </a:lnSpc>
              <a:defRPr/>
            </a:pPr>
            <a:r>
              <a:rPr lang="en-US" sz="2800" b="1" i="0" u="none" strike="noStrike">
                <a:solidFill>
                  <a:srgbClr val="1E3A8A"/>
                </a:solidFill>
                <a:latin typeface="Noto Sans SC"/>
                <a:ea typeface="Noto Sans SC"/>
                <a:cs typeface="Noto Sans SC"/>
                <a:sym typeface="Noto Sans SC"/>
              </a:rPr>
              <a:t>影像匹配与镶嵌</a:t>
            </a:r>
            <a:endParaRPr lang="en-US" sz="1100"/>
          </a:p>
        </p:txBody>
      </p:sp>
      <p:sp>
        <p:nvSpPr>
          <p:cNvPr id="4" name="AutoShape 4"/>
          <p:cNvSpPr/>
          <p:nvPr/>
        </p:nvSpPr>
        <p:spPr>
          <a:xfrm>
            <a:off x="1905000" y="965200"/>
            <a:ext cx="9779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300" b="0" i="0" u="none" strike="noStrike">
                <a:solidFill>
                  <a:srgbClr val="6B7280"/>
                </a:solidFill>
                <a:latin typeface="Noto Sans SC"/>
                <a:ea typeface="Noto Sans SC"/>
                <a:cs typeface="Noto Sans SC"/>
                <a:sym typeface="Noto Sans SC"/>
              </a:rPr>
              <a:t>所属层级:L1→L2 ｜ 辅导材料:算法清单与API</a:t>
            </a:r>
            <a:endParaRPr lang="en-US" sz="1100"/>
          </a:p>
        </p:txBody>
      </p:sp>
      <p:cxnSp>
        <p:nvCxnSpPr>
          <p:cNvPr id="5" name="Connector 5"/>
          <p:cNvCxnSpPr/>
          <p:nvPr/>
        </p:nvCxnSpPr>
        <p:spPr>
          <a:xfrm rot="-3906">
            <a:off x="508004" y="1416050"/>
            <a:ext cx="11176000" cy="12700"/>
          </a:xfrm>
          <a:prstGeom prst="straightConnector1">
            <a:avLst/>
          </a:prstGeom>
          <a:solidFill>
            <a:srgbClr val="DEE0E3">
              <a:alpha val="100000"/>
            </a:srgbClr>
          </a:solidFill>
          <a:ln w="12700" cap="flat" cmpd="sng">
            <a:solidFill>
              <a:srgbClr val="000000">
                <a:alpha val="8000"/>
              </a:srgbClr>
            </a:solidFill>
            <a:prstDash val="solid"/>
            <a:round/>
            <a:headEnd type="none" w="med" len="med"/>
            <a:tailEnd type="none" w="med" len="med"/>
          </a:ln>
        </p:spPr>
      </p:cxnSp>
      <p:sp>
        <p:nvSpPr>
          <p:cNvPr id="6" name="AutoShape 6"/>
          <p:cNvSpPr/>
          <p:nvPr/>
        </p:nvSpPr>
        <p:spPr>
          <a:xfrm>
            <a:off x="508000" y="1549400"/>
            <a:ext cx="5588000" cy="13716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508000" y="1549400"/>
            <a:ext cx="38100" cy="13716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762000" y="1549400"/>
            <a:ext cx="520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功能定义</a:t>
            </a:r>
            <a:endParaRPr lang="en-US" sz="1100"/>
          </a:p>
        </p:txBody>
      </p:sp>
      <p:sp>
        <p:nvSpPr>
          <p:cNvPr id="9" name="AutoShape 9"/>
          <p:cNvSpPr/>
          <p:nvPr/>
        </p:nvSpPr>
        <p:spPr>
          <a:xfrm>
            <a:off x="762000" y="1930400"/>
            <a:ext cx="5207000" cy="787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74151"/>
                </a:solidFill>
                <a:latin typeface="Noto Sans SC"/>
                <a:ea typeface="Noto Sans SC"/>
                <a:cs typeface="Noto Sans SC"/>
                <a:sym typeface="Noto Sans SC"/>
              </a:rPr>
              <a:t>将多条航带的数据无缝拼接成一张覆盖整个测区的完整影像。</a:t>
            </a:r>
            <a:endParaRPr lang="en-US" sz="1100"/>
          </a:p>
        </p:txBody>
      </p:sp>
      <p:sp>
        <p:nvSpPr>
          <p:cNvPr id="10" name="AutoShape 10"/>
          <p:cNvSpPr/>
          <p:nvPr/>
        </p:nvSpPr>
        <p:spPr>
          <a:xfrm>
            <a:off x="6223000" y="1549400"/>
            <a:ext cx="5588000" cy="13716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6223000" y="1549400"/>
            <a:ext cx="38100" cy="13716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6477000" y="1549400"/>
            <a:ext cx="520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方法要点</a:t>
            </a:r>
            <a:endParaRPr lang="en-US" sz="1100"/>
          </a:p>
        </p:txBody>
      </p:sp>
      <p:sp>
        <p:nvSpPr>
          <p:cNvPr id="13" name="AutoShape 13"/>
          <p:cNvSpPr/>
          <p:nvPr/>
        </p:nvSpPr>
        <p:spPr>
          <a:xfrm>
            <a:off x="6477000" y="1930400"/>
            <a:ext cx="5207000" cy="787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74151"/>
                </a:solidFill>
                <a:latin typeface="Noto Sans SC"/>
                <a:ea typeface="Noto Sans SC"/>
                <a:cs typeface="Noto Sans SC"/>
                <a:sym typeface="Noto Sans SC"/>
              </a:rPr>
              <a:t>在重叠区域寻找同名点,进行影像配准,然后通过羽化、匀色等方法进行拼接。</a:t>
            </a:r>
            <a:endParaRPr lang="en-US" sz="1100"/>
          </a:p>
        </p:txBody>
      </p:sp>
      <p:sp>
        <p:nvSpPr>
          <p:cNvPr id="14" name="AutoShape 14"/>
          <p:cNvSpPr/>
          <p:nvPr/>
        </p:nvSpPr>
        <p:spPr>
          <a:xfrm>
            <a:off x="508000" y="3048000"/>
            <a:ext cx="5588000" cy="13716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508000" y="3048000"/>
            <a:ext cx="38100" cy="13716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762000" y="3048000"/>
            <a:ext cx="520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适用场景</a:t>
            </a:r>
            <a:endParaRPr lang="en-US" sz="1100"/>
          </a:p>
        </p:txBody>
      </p:sp>
      <p:sp>
        <p:nvSpPr>
          <p:cNvPr id="17" name="AutoShape 17"/>
          <p:cNvSpPr/>
          <p:nvPr/>
        </p:nvSpPr>
        <p:spPr>
          <a:xfrm>
            <a:off x="762000" y="3429000"/>
            <a:ext cx="5207000" cy="787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74151"/>
                </a:solidFill>
                <a:latin typeface="Noto Sans SC"/>
                <a:ea typeface="Noto Sans SC"/>
                <a:cs typeface="Noto Sans SC"/>
                <a:sym typeface="Noto Sans SC"/>
              </a:rPr>
              <a:t>大面积农田、区域生态调查等需要完整视图的任务。</a:t>
            </a:r>
            <a:endParaRPr lang="en-US" sz="1100"/>
          </a:p>
        </p:txBody>
      </p:sp>
      <p:sp>
        <p:nvSpPr>
          <p:cNvPr id="18" name="AutoShape 18"/>
          <p:cNvSpPr/>
          <p:nvPr/>
        </p:nvSpPr>
        <p:spPr>
          <a:xfrm>
            <a:off x="6223000" y="3048000"/>
            <a:ext cx="5588000" cy="13716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6223000" y="3048000"/>
            <a:ext cx="38100" cy="13716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6477000" y="3048000"/>
            <a:ext cx="520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业务价值</a:t>
            </a:r>
            <a:endParaRPr lang="en-US" sz="1100"/>
          </a:p>
        </p:txBody>
      </p:sp>
      <p:sp>
        <p:nvSpPr>
          <p:cNvPr id="21" name="AutoShape 21"/>
          <p:cNvSpPr/>
          <p:nvPr/>
        </p:nvSpPr>
        <p:spPr>
          <a:xfrm>
            <a:off x="6477000" y="3429000"/>
            <a:ext cx="5207000" cy="787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74151"/>
                </a:solidFill>
                <a:latin typeface="Noto Sans SC"/>
                <a:ea typeface="Noto Sans SC"/>
                <a:cs typeface="Noto Sans SC"/>
                <a:sym typeface="Noto Sans SC"/>
              </a:rPr>
              <a:t>提供全局视角,便于进行宏观分析和管理。</a:t>
            </a:r>
            <a:endParaRPr lang="en-US" sz="1100"/>
          </a:p>
        </p:txBody>
      </p:sp>
      <p:sp>
        <p:nvSpPr>
          <p:cNvPr id="22" name="AutoShape 22"/>
          <p:cNvSpPr/>
          <p:nvPr/>
        </p:nvSpPr>
        <p:spPr>
          <a:xfrm>
            <a:off x="508000" y="4546600"/>
            <a:ext cx="5588000" cy="1270000"/>
          </a:xfrm>
          <a:prstGeom prst="roundRect">
            <a:avLst>
              <a:gd name="adj" fmla="val 0"/>
            </a:avLst>
          </a:prstGeom>
          <a:solidFill>
            <a:srgbClr val="F59E0B">
              <a:alpha val="10000"/>
            </a:srgbClr>
          </a:solidFill>
          <a:ln cap="flat" cmpd="sng">
            <a:solidFill>
              <a:srgbClr val="DC8A00">
                <a:alpha val="1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508000" y="4546600"/>
            <a:ext cx="50800" cy="1270000"/>
          </a:xfrm>
          <a:prstGeom prst="roundRect">
            <a:avLst>
              <a:gd name="adj" fmla="val 0"/>
            </a:avLst>
          </a:prstGeom>
          <a:solidFill>
            <a:srgbClr val="F59E0B">
              <a:alpha val="100000"/>
            </a:srgbClr>
          </a:solidFill>
          <a:ln cap="flat" cmpd="sng">
            <a:solidFill>
              <a:srgbClr val="DC8A00">
                <a:alpha val="100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762000" y="4546600"/>
            <a:ext cx="5207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B45309"/>
                </a:solidFill>
                <a:latin typeface="Noto Sans SC"/>
                <a:ea typeface="Noto Sans SC"/>
                <a:cs typeface="Noto Sans SC"/>
                <a:sym typeface="Noto Sans SC"/>
              </a:rPr>
              <a:t>缺失影响</a:t>
            </a:r>
            <a:endParaRPr lang="en-US" sz="1100"/>
          </a:p>
        </p:txBody>
      </p:sp>
      <p:sp>
        <p:nvSpPr>
          <p:cNvPr id="25" name="AutoShape 25"/>
          <p:cNvSpPr/>
          <p:nvPr/>
        </p:nvSpPr>
        <p:spPr>
          <a:xfrm>
            <a:off x="762000" y="4953000"/>
            <a:ext cx="5207000" cy="6985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4B5563"/>
                </a:solidFill>
                <a:latin typeface="Noto Sans SC"/>
                <a:ea typeface="Noto Sans SC"/>
                <a:cs typeface="Noto Sans SC"/>
                <a:sym typeface="Noto Sans SC"/>
              </a:rPr>
              <a:t>无法获得完整的测区视图,只能分块查看,不便于宏观分析。</a:t>
            </a:r>
            <a:endParaRPr lang="en-US" sz="1100"/>
          </a:p>
        </p:txBody>
      </p:sp>
      <p:sp>
        <p:nvSpPr>
          <p:cNvPr id="26" name="AutoShape 26"/>
          <p:cNvSpPr/>
          <p:nvPr/>
        </p:nvSpPr>
        <p:spPr>
          <a:xfrm>
            <a:off x="6223000" y="4546600"/>
            <a:ext cx="5588000" cy="12700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6223000" y="4546600"/>
            <a:ext cx="50800" cy="1270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28" name="AutoShape 28"/>
          <p:cNvSpPr/>
          <p:nvPr/>
        </p:nvSpPr>
        <p:spPr>
          <a:xfrm>
            <a:off x="6477000" y="4546600"/>
            <a:ext cx="25400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200" b="0" i="0" u="none" strike="noStrike">
                <a:solidFill>
                  <a:srgbClr val="6B7280"/>
                </a:solidFill>
                <a:latin typeface="Noto Sans SC"/>
                <a:ea typeface="Noto Sans SC"/>
                <a:cs typeface="Noto Sans SC"/>
                <a:sym typeface="Noto Sans SC"/>
              </a:rPr>
              <a:t>流程位置</a:t>
            </a:r>
            <a:endParaRPr lang="en-US" sz="1100"/>
          </a:p>
        </p:txBody>
      </p:sp>
      <p:sp>
        <p:nvSpPr>
          <p:cNvPr id="29" name="AutoShape 29"/>
          <p:cNvSpPr/>
          <p:nvPr/>
        </p:nvSpPr>
        <p:spPr>
          <a:xfrm>
            <a:off x="6477000" y="4826000"/>
            <a:ext cx="26035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400" b="1" i="0" u="none" strike="noStrike">
                <a:solidFill>
                  <a:srgbClr val="1E3A8A"/>
                </a:solidFill>
                <a:latin typeface="Noto Sans SC"/>
                <a:ea typeface="Noto Sans SC"/>
                <a:cs typeface="Noto Sans SC"/>
                <a:sym typeface="Noto Sans SC"/>
              </a:rPr>
              <a:t>L1→L2 分析底图</a:t>
            </a:r>
            <a:endParaRPr lang="en-US" sz="1100"/>
          </a:p>
        </p:txBody>
      </p:sp>
      <p:sp>
        <p:nvSpPr>
          <p:cNvPr id="30" name="AutoShape 30"/>
          <p:cNvSpPr/>
          <p:nvPr/>
        </p:nvSpPr>
        <p:spPr>
          <a:xfrm>
            <a:off x="9144000" y="4546600"/>
            <a:ext cx="26035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200" b="0" i="0" u="none" strike="noStrike">
                <a:solidFill>
                  <a:srgbClr val="6B7280"/>
                </a:solidFill>
                <a:latin typeface="Noto Sans SC"/>
                <a:ea typeface="Noto Sans SC"/>
                <a:cs typeface="Noto Sans SC"/>
                <a:sym typeface="Noto Sans SC"/>
              </a:rPr>
              <a:t>关联算法</a:t>
            </a:r>
            <a:endParaRPr lang="en-US" sz="1100"/>
          </a:p>
        </p:txBody>
      </p:sp>
      <p:sp>
        <p:nvSpPr>
          <p:cNvPr id="31" name="AutoShape 31"/>
          <p:cNvSpPr/>
          <p:nvPr/>
        </p:nvSpPr>
        <p:spPr>
          <a:xfrm>
            <a:off x="9144000" y="4826000"/>
            <a:ext cx="26035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0" i="0" u="none" strike="noStrike">
                <a:solidFill>
                  <a:srgbClr val="374151"/>
                </a:solidFill>
                <a:latin typeface="Noto Sans SC"/>
                <a:ea typeface="Noto Sans SC"/>
                <a:cs typeface="Noto Sans SC"/>
                <a:sym typeface="Noto Sans SC"/>
              </a:rPr>
              <a:t>#16正射校正,#11相对辐射归一</a:t>
            </a:r>
            <a:endParaRPr lang="en-US" sz="1100"/>
          </a:p>
        </p:txBody>
      </p:sp>
      <p:cxnSp>
        <p:nvCxnSpPr>
          <p:cNvPr id="32" name="Connector 32"/>
          <p:cNvCxnSpPr/>
          <p:nvPr/>
        </p:nvCxnSpPr>
        <p:spPr>
          <a:xfrm rot="-8384">
            <a:off x="6477008" y="5302250"/>
            <a:ext cx="5207000" cy="12700"/>
          </a:xfrm>
          <a:prstGeom prst="straightConnector1">
            <a:avLst/>
          </a:prstGeom>
          <a:solidFill>
            <a:srgbClr val="DEE0E3">
              <a:alpha val="100000"/>
            </a:srgbClr>
          </a:solidFill>
          <a:ln w="12700" cap="flat" cmpd="sng">
            <a:solidFill>
              <a:srgbClr val="000000">
                <a:alpha val="8000"/>
              </a:srgbClr>
            </a:solidFill>
            <a:prstDash val="solid"/>
            <a:round/>
            <a:headEnd type="none" w="med" len="med"/>
            <a:tailEnd type="none" w="med" len="med"/>
          </a:ln>
        </p:spPr>
      </p:cxnSp>
      <p:sp>
        <p:nvSpPr>
          <p:cNvPr id="33" name="AutoShape 33"/>
          <p:cNvSpPr/>
          <p:nvPr/>
        </p:nvSpPr>
        <p:spPr>
          <a:xfrm>
            <a:off x="6477000" y="5359400"/>
            <a:ext cx="889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200" b="1" i="0" u="none" strike="noStrike">
                <a:solidFill>
                  <a:srgbClr val="1E3A8A"/>
                </a:solidFill>
                <a:latin typeface="Noto Sans SC"/>
                <a:ea typeface="Noto Sans SC"/>
                <a:cs typeface="Noto Sans SC"/>
                <a:sym typeface="Noto Sans SC"/>
              </a:rPr>
              <a:t>[API]</a:t>
            </a:r>
            <a:endParaRPr lang="en-US" sz="1100"/>
          </a:p>
        </p:txBody>
      </p:sp>
      <p:sp>
        <p:nvSpPr>
          <p:cNvPr id="34" name="AutoShape 34"/>
          <p:cNvSpPr/>
          <p:nvPr/>
        </p:nvSpPr>
        <p:spPr>
          <a:xfrm>
            <a:off x="7366000" y="5359400"/>
            <a:ext cx="4318000" cy="355600"/>
          </a:xfrm>
          <a:prstGeom prst="roundRect">
            <a:avLst>
              <a:gd name="adj" fmla="val 0"/>
            </a:avLst>
          </a:prstGeom>
          <a:gradFill rotWithShape="1">
            <a:gsLst>
              <a:gs pos="0">
                <a:srgbClr val="1E3A8A">
                  <a:alpha val="100000"/>
                </a:srgbClr>
              </a:gs>
              <a:gs pos="100000">
                <a:srgbClr val="3B59B2">
                  <a:alpha val="100000"/>
                </a:srgbClr>
              </a:gs>
            </a:gsLst>
            <a:lin ang="2700000"/>
          </a:gradFill>
          <a:ln cap="flat" cmpd="sng">
            <a:gradFill rotWithShape="1">
              <a:gsLst>
                <a:gs pos="0">
                  <a:srgbClr val="0D2771">
                    <a:alpha val="100000"/>
                  </a:srgbClr>
                </a:gs>
                <a:gs pos="100000">
                  <a:srgbClr val="234199">
                    <a:alpha val="100000"/>
                  </a:srgbClr>
                </a:gs>
              </a:gsLst>
              <a:lin ang="2700000"/>
            </a:gradFill>
            <a:prstDash val="solid"/>
            <a:round/>
          </a:ln>
        </p:spPr>
        <p:txBody>
          <a:bodyPr vert="horz" wrap="square" lIns="63500" tIns="63500" rIns="63500" bIns="63500" rtlCol="0" anchor="ctr"/>
          <a:lstStyle/>
          <a:p>
            <a:pPr algn="ctr">
              <a:defRPr/>
            </a:pPr>
          </a:p>
        </p:txBody>
      </p:sp>
      <p:sp>
        <p:nvSpPr>
          <p:cNvPr id="35" name="AutoShape 35"/>
          <p:cNvSpPr/>
          <p:nvPr/>
        </p:nvSpPr>
        <p:spPr>
          <a:xfrm>
            <a:off x="7366000" y="5359400"/>
            <a:ext cx="4318000" cy="3556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300" b="1" i="0" u="none" strike="noStrike">
                <a:solidFill>
                  <a:srgbClr val="FFFFFF"/>
                </a:solidFill>
                <a:latin typeface="Noto Sans SC"/>
                <a:ea typeface="Noto Sans SC"/>
                <a:cs typeface="Noto Sans SC"/>
                <a:sym typeface="Noto Sans SC"/>
              </a:rPr>
              <a:t>/api/v1/17_mosaicking/run</a:t>
            </a:r>
            <a:endParaRPr lang="en-US" sz="1100"/>
          </a:p>
        </p:txBody>
      </p:sp>
      <p:sp>
        <p:nvSpPr>
          <p:cNvPr id="36" name="AutoShape 36"/>
          <p:cNvSpPr/>
          <p:nvPr/>
        </p:nvSpPr>
        <p:spPr>
          <a:xfrm>
            <a:off x="508000" y="5994400"/>
            <a:ext cx="11176000" cy="584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94A3B8"/>
                </a:solidFill>
                <a:latin typeface="Noto Sans SC"/>
                <a:ea typeface="Noto Sans SC"/>
                <a:cs typeface="Noto Sans SC"/>
                <a:sym typeface="Noto Sans SC"/>
              </a:rPr>
              <a:t>当测区面积较大时,我们需要分多条航带进行采集。这个算法能将这些分块的影像无缝地拼接成一张完整的、覆盖整个测区的影像,为我们提供全局视角,便于进行宏观分析。</a:t>
            </a:r>
            <a:endParaRPr lang="en-US" sz="11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143000"/>
          </a:xfrm>
          <a:prstGeom prst="roundRect">
            <a:avLst>
              <a:gd name="adj" fmla="val 0"/>
            </a:avLst>
          </a:prstGeom>
          <a:gradFill rotWithShape="1">
            <a:gsLst>
              <a:gs pos="0">
                <a:srgbClr val="ECF2FC">
                  <a:alpha val="100000"/>
                </a:srgbClr>
              </a:gs>
              <a:gs pos="100000">
                <a:srgbClr val="F8FAFC">
                  <a:alpha val="100000"/>
                </a:srgbClr>
              </a:gs>
            </a:gsLst>
            <a:lin ang="5400000"/>
          </a:gradFill>
          <a:ln cap="flat" cmpd="sng">
            <a:gradFill rotWithShape="1">
              <a:gsLst>
                <a:gs pos="0">
                  <a:srgbClr val="BDCBE3">
                    <a:alpha val="100000"/>
                  </a:srgbClr>
                </a:gs>
                <a:gs pos="100000">
                  <a:srgbClr val="C8D5E3">
                    <a:alpha val="100000"/>
                  </a:srgbClr>
                </a:gs>
              </a:gsLst>
              <a:lin ang="5400000"/>
            </a:gradFill>
            <a:prstDash val="solid"/>
            <a:round/>
          </a:ln>
        </p:spPr>
        <p:txBody>
          <a:bodyPr vert="horz" wrap="square" lIns="63500" tIns="63500" rIns="63500" bIns="63500" rtlCol="0" anchor="ctr"/>
          <a:lstStyle/>
          <a:p>
            <a:pPr algn="ctr">
              <a:defRPr/>
            </a:pPr>
          </a:p>
        </p:txBody>
      </p:sp>
      <p:sp>
        <p:nvSpPr>
          <p:cNvPr id="3" name="AutoShape 3"/>
          <p:cNvSpPr/>
          <p:nvPr/>
        </p:nvSpPr>
        <p:spPr>
          <a:xfrm>
            <a:off x="0" y="0"/>
            <a:ext cx="50800" cy="1143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381000" y="190500"/>
            <a:ext cx="1143000" cy="762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4400" b="1" i="0" u="none" strike="noStrike">
                <a:solidFill>
                  <a:srgbClr val="1E3A8A">
                    <a:alpha val="18039"/>
                  </a:srgbClr>
                </a:solidFill>
                <a:latin typeface="Noto Sans SC"/>
                <a:ea typeface="Noto Sans SC"/>
                <a:cs typeface="Noto Sans SC"/>
                <a:sym typeface="Noto Sans SC"/>
              </a:rPr>
              <a:t>#18</a:t>
            </a:r>
            <a:endParaRPr lang="en-US" sz="1100"/>
          </a:p>
        </p:txBody>
      </p:sp>
      <p:sp>
        <p:nvSpPr>
          <p:cNvPr id="5" name="AutoShape 5"/>
          <p:cNvSpPr/>
          <p:nvPr/>
        </p:nvSpPr>
        <p:spPr>
          <a:xfrm>
            <a:off x="1651000" y="190500"/>
            <a:ext cx="8128000" cy="5334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a:solidFill>
                  <a:srgbClr val="1E3A8A"/>
                </a:solidFill>
                <a:latin typeface="Noto Sans SC"/>
                <a:ea typeface="Noto Sans SC"/>
                <a:cs typeface="Noto Sans SC"/>
                <a:sym typeface="Noto Sans SC"/>
              </a:rPr>
              <a:t>匀色与接缝线优化</a:t>
            </a:r>
            <a:endParaRPr lang="en-US" sz="1100"/>
          </a:p>
        </p:txBody>
      </p:sp>
      <p:sp>
        <p:nvSpPr>
          <p:cNvPr id="6" name="AutoShape 6"/>
          <p:cNvSpPr/>
          <p:nvPr/>
        </p:nvSpPr>
        <p:spPr>
          <a:xfrm>
            <a:off x="1651000" y="736600"/>
            <a:ext cx="91440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300" b="0" i="0" u="none" strike="noStrike">
                <a:solidFill>
                  <a:srgbClr val="64748B"/>
                </a:solidFill>
                <a:latin typeface="Noto Sans SC"/>
                <a:ea typeface="Noto Sans SC"/>
                <a:cs typeface="Noto Sans SC"/>
                <a:sym typeface="Noto Sans SC"/>
              </a:rPr>
              <a:t>所属层级:L1→L2 ｜ 辅导材料:算法清单与API</a:t>
            </a:r>
            <a:endParaRPr lang="en-US" sz="1100"/>
          </a:p>
        </p:txBody>
      </p:sp>
      <p:sp>
        <p:nvSpPr>
          <p:cNvPr id="7" name="AutoShape 7"/>
          <p:cNvSpPr/>
          <p:nvPr/>
        </p:nvSpPr>
        <p:spPr>
          <a:xfrm>
            <a:off x="381000" y="1270000"/>
            <a:ext cx="7239000" cy="1117600"/>
          </a:xfrm>
          <a:prstGeom prst="roundRect">
            <a:avLst>
              <a:gd name="adj" fmla="val 0"/>
            </a:avLst>
          </a:prstGeom>
          <a:solidFill>
            <a:srgbClr val="F1F5F9">
              <a:alpha val="100000"/>
            </a:srgbClr>
          </a:solidFill>
          <a:ln cap="flat" cmpd="sng">
            <a:solidFill>
              <a:srgbClr val="C2D1E0">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381000" y="1270000"/>
            <a:ext cx="38100" cy="11176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635000" y="1308100"/>
            <a:ext cx="16510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600" b="1" i="0" u="none" strike="noStrike">
                <a:solidFill>
                  <a:srgbClr val="1E3A8A"/>
                </a:solidFill>
                <a:latin typeface="Noto Sans SC"/>
                <a:ea typeface="Noto Sans SC"/>
                <a:cs typeface="Noto Sans SC"/>
                <a:sym typeface="Noto Sans SC"/>
              </a:rPr>
              <a:t>功能定义</a:t>
            </a:r>
            <a:endParaRPr lang="en-US" sz="1100"/>
          </a:p>
        </p:txBody>
      </p:sp>
      <p:sp>
        <p:nvSpPr>
          <p:cNvPr id="10" name="AutoShape 10"/>
          <p:cNvSpPr/>
          <p:nvPr/>
        </p:nvSpPr>
        <p:spPr>
          <a:xfrm>
            <a:off x="635000" y="1651000"/>
            <a:ext cx="6731000" cy="609600"/>
          </a:xfrm>
          <a:prstGeom prst="rect">
            <a:avLst/>
          </a:prstGeom>
          <a:noFill/>
          <a:ln w="12700" cap="flat" cmpd="sng">
            <a:noFill/>
            <a:prstDash val="solid"/>
            <a:round/>
          </a:ln>
        </p:spPr>
        <p:txBody>
          <a:bodyPr vert="horz" wrap="square" lIns="0" tIns="0" rIns="0" bIns="0" rtlCol="0" anchor="t" anchorCtr="0"/>
          <a:lstStyle/>
          <a:p>
            <a:pPr marL="0" indent="0" algn="l">
              <a:lnSpc>
                <a:spcPct val="121000"/>
              </a:lnSpc>
              <a:defRPr/>
            </a:pPr>
            <a:r>
              <a:rPr lang="en-US" sz="1400" b="0" i="0" u="none" strike="noStrike">
                <a:solidFill>
                  <a:srgbClr val="334155"/>
                </a:solidFill>
                <a:latin typeface="Noto Sans SC"/>
                <a:ea typeface="Noto Sans SC"/>
                <a:cs typeface="Noto Sans SC"/>
                <a:sym typeface="Noto Sans SC"/>
              </a:rPr>
              <a:t>消除镶嵌后影像的接缝和色调差异。</a:t>
            </a:r>
            <a:endParaRPr lang="en-US" sz="1100"/>
          </a:p>
        </p:txBody>
      </p:sp>
      <p:sp>
        <p:nvSpPr>
          <p:cNvPr id="11" name="AutoShape 11"/>
          <p:cNvSpPr/>
          <p:nvPr/>
        </p:nvSpPr>
        <p:spPr>
          <a:xfrm>
            <a:off x="381000" y="2438400"/>
            <a:ext cx="7239000" cy="1117600"/>
          </a:xfrm>
          <a:prstGeom prst="roundRect">
            <a:avLst>
              <a:gd name="adj" fmla="val 0"/>
            </a:avLst>
          </a:prstGeom>
          <a:solidFill>
            <a:srgbClr val="F1F5F9">
              <a:alpha val="100000"/>
            </a:srgbClr>
          </a:solidFill>
          <a:ln cap="flat" cmpd="sng">
            <a:solidFill>
              <a:srgbClr val="C2D1E0">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381000" y="2438400"/>
            <a:ext cx="38100" cy="11176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635000" y="2476500"/>
            <a:ext cx="16510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600" b="1" i="0" u="none" strike="noStrike">
                <a:solidFill>
                  <a:srgbClr val="1E3A8A"/>
                </a:solidFill>
                <a:latin typeface="Noto Sans SC"/>
                <a:ea typeface="Noto Sans SC"/>
                <a:cs typeface="Noto Sans SC"/>
                <a:sym typeface="Noto Sans SC"/>
              </a:rPr>
              <a:t>方法要点</a:t>
            </a:r>
            <a:endParaRPr lang="en-US" sz="1100"/>
          </a:p>
        </p:txBody>
      </p:sp>
      <p:sp>
        <p:nvSpPr>
          <p:cNvPr id="14" name="AutoShape 14"/>
          <p:cNvSpPr/>
          <p:nvPr/>
        </p:nvSpPr>
        <p:spPr>
          <a:xfrm>
            <a:off x="635000" y="2819400"/>
            <a:ext cx="6731000" cy="609600"/>
          </a:xfrm>
          <a:prstGeom prst="rect">
            <a:avLst/>
          </a:prstGeom>
          <a:noFill/>
          <a:ln w="12700" cap="flat" cmpd="sng">
            <a:noFill/>
            <a:prstDash val="solid"/>
            <a:round/>
          </a:ln>
        </p:spPr>
        <p:txBody>
          <a:bodyPr vert="horz" wrap="square" lIns="0" tIns="0" rIns="0" bIns="0" rtlCol="0" anchor="t" anchorCtr="0"/>
          <a:lstStyle/>
          <a:p>
            <a:pPr marL="0" indent="0" algn="l">
              <a:lnSpc>
                <a:spcPct val="121000"/>
              </a:lnSpc>
              <a:defRPr/>
            </a:pPr>
            <a:r>
              <a:rPr lang="en-US" sz="1400" b="0" i="0" u="none" strike="noStrike">
                <a:solidFill>
                  <a:srgbClr val="334155"/>
                </a:solidFill>
                <a:latin typeface="Noto Sans SC"/>
                <a:ea typeface="Noto Sans SC"/>
                <a:cs typeface="Noto Sans SC"/>
                <a:sym typeface="Noto Sans SC"/>
              </a:rPr>
              <a:t>通过调整重叠区域的亮度和色彩,优化接缝线,使拼接后的影像过渡自然。</a:t>
            </a:r>
            <a:endParaRPr lang="en-US" sz="1100"/>
          </a:p>
        </p:txBody>
      </p:sp>
      <p:sp>
        <p:nvSpPr>
          <p:cNvPr id="15" name="AutoShape 15"/>
          <p:cNvSpPr/>
          <p:nvPr/>
        </p:nvSpPr>
        <p:spPr>
          <a:xfrm>
            <a:off x="381000" y="3606800"/>
            <a:ext cx="7239000" cy="1117600"/>
          </a:xfrm>
          <a:prstGeom prst="roundRect">
            <a:avLst>
              <a:gd name="adj" fmla="val 0"/>
            </a:avLst>
          </a:prstGeom>
          <a:solidFill>
            <a:srgbClr val="F1F5F9">
              <a:alpha val="100000"/>
            </a:srgbClr>
          </a:solidFill>
          <a:ln cap="flat" cmpd="sng">
            <a:solidFill>
              <a:srgbClr val="C2D1E0">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381000" y="3606800"/>
            <a:ext cx="38100" cy="11176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635000" y="3644900"/>
            <a:ext cx="16510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600" b="1" i="0" u="none" strike="noStrike">
                <a:solidFill>
                  <a:srgbClr val="1E3A8A"/>
                </a:solidFill>
                <a:latin typeface="Noto Sans SC"/>
                <a:ea typeface="Noto Sans SC"/>
                <a:cs typeface="Noto Sans SC"/>
                <a:sym typeface="Noto Sans SC"/>
              </a:rPr>
              <a:t>适用场景</a:t>
            </a:r>
            <a:endParaRPr lang="en-US" sz="1100"/>
          </a:p>
        </p:txBody>
      </p:sp>
      <p:sp>
        <p:nvSpPr>
          <p:cNvPr id="18" name="AutoShape 18"/>
          <p:cNvSpPr/>
          <p:nvPr/>
        </p:nvSpPr>
        <p:spPr>
          <a:xfrm>
            <a:off x="635000" y="3987800"/>
            <a:ext cx="6731000" cy="609600"/>
          </a:xfrm>
          <a:prstGeom prst="rect">
            <a:avLst/>
          </a:prstGeom>
          <a:noFill/>
          <a:ln w="12700" cap="flat" cmpd="sng">
            <a:noFill/>
            <a:prstDash val="solid"/>
            <a:round/>
          </a:ln>
        </p:spPr>
        <p:txBody>
          <a:bodyPr vert="horz" wrap="square" lIns="0" tIns="0" rIns="0" bIns="0" rtlCol="0" anchor="t" anchorCtr="0"/>
          <a:lstStyle/>
          <a:p>
            <a:pPr marL="0" indent="0" algn="l">
              <a:lnSpc>
                <a:spcPct val="121000"/>
              </a:lnSpc>
              <a:defRPr/>
            </a:pPr>
            <a:r>
              <a:rPr lang="en-US" sz="1400" b="0" i="0" u="none" strike="noStrike">
                <a:solidFill>
                  <a:srgbClr val="334155"/>
                </a:solidFill>
                <a:latin typeface="Noto Sans SC"/>
                <a:ea typeface="Noto Sans SC"/>
                <a:cs typeface="Noto Sans SC"/>
                <a:sym typeface="Noto Sans SC"/>
              </a:rPr>
              <a:t>影像镶嵌后的后处理步骤。</a:t>
            </a:r>
            <a:endParaRPr lang="en-US" sz="1100"/>
          </a:p>
        </p:txBody>
      </p:sp>
      <p:sp>
        <p:nvSpPr>
          <p:cNvPr id="19" name="AutoShape 19"/>
          <p:cNvSpPr/>
          <p:nvPr/>
        </p:nvSpPr>
        <p:spPr>
          <a:xfrm>
            <a:off x="381000" y="4775200"/>
            <a:ext cx="7239000" cy="1117600"/>
          </a:xfrm>
          <a:prstGeom prst="roundRect">
            <a:avLst>
              <a:gd name="adj" fmla="val 0"/>
            </a:avLst>
          </a:prstGeom>
          <a:solidFill>
            <a:srgbClr val="F1F5F9">
              <a:alpha val="100000"/>
            </a:srgbClr>
          </a:solidFill>
          <a:ln cap="flat" cmpd="sng">
            <a:solidFill>
              <a:srgbClr val="C2D1E0">
                <a:alpha val="10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381000" y="4775200"/>
            <a:ext cx="38100" cy="11176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635000" y="4813300"/>
            <a:ext cx="16510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600" b="1" i="0" u="none" strike="noStrike">
                <a:solidFill>
                  <a:srgbClr val="1E3A8A"/>
                </a:solidFill>
                <a:latin typeface="Noto Sans SC"/>
                <a:ea typeface="Noto Sans SC"/>
                <a:cs typeface="Noto Sans SC"/>
                <a:sym typeface="Noto Sans SC"/>
              </a:rPr>
              <a:t>业务价值</a:t>
            </a:r>
            <a:endParaRPr lang="en-US" sz="1100"/>
          </a:p>
        </p:txBody>
      </p:sp>
      <p:sp>
        <p:nvSpPr>
          <p:cNvPr id="22" name="AutoShape 22"/>
          <p:cNvSpPr/>
          <p:nvPr/>
        </p:nvSpPr>
        <p:spPr>
          <a:xfrm>
            <a:off x="635000" y="5156200"/>
            <a:ext cx="6731000" cy="609600"/>
          </a:xfrm>
          <a:prstGeom prst="rect">
            <a:avLst/>
          </a:prstGeom>
          <a:noFill/>
          <a:ln w="12700" cap="flat" cmpd="sng">
            <a:noFill/>
            <a:prstDash val="solid"/>
            <a:round/>
          </a:ln>
        </p:spPr>
        <p:txBody>
          <a:bodyPr vert="horz" wrap="square" lIns="0" tIns="0" rIns="0" bIns="0" rtlCol="0" anchor="t" anchorCtr="0"/>
          <a:lstStyle/>
          <a:p>
            <a:pPr marL="0" indent="0" algn="l">
              <a:lnSpc>
                <a:spcPct val="121000"/>
              </a:lnSpc>
              <a:defRPr/>
            </a:pPr>
            <a:r>
              <a:rPr lang="en-US" sz="1400" b="0" i="0" u="none" strike="noStrike">
                <a:solidFill>
                  <a:srgbClr val="334155"/>
                </a:solidFill>
                <a:latin typeface="Noto Sans SC"/>
                <a:ea typeface="Noto Sans SC"/>
                <a:cs typeface="Noto Sans SC"/>
                <a:sym typeface="Noto Sans SC"/>
              </a:rPr>
              <a:t>提升镶嵌影像的视觉效果和数据一致性。</a:t>
            </a:r>
            <a:endParaRPr lang="en-US" sz="1100"/>
          </a:p>
        </p:txBody>
      </p:sp>
      <p:sp>
        <p:nvSpPr>
          <p:cNvPr id="23" name="AutoShape 23"/>
          <p:cNvSpPr/>
          <p:nvPr/>
        </p:nvSpPr>
        <p:spPr>
          <a:xfrm>
            <a:off x="7874000" y="1270000"/>
            <a:ext cx="3937000" cy="1625600"/>
          </a:xfrm>
          <a:prstGeom prst="roundRect">
            <a:avLst>
              <a:gd name="adj" fmla="val 0"/>
            </a:avLst>
          </a:prstGeom>
          <a:solidFill>
            <a:srgbClr val="F59E0B">
              <a:alpha val="9000"/>
            </a:srgbClr>
          </a:solidFill>
          <a:ln cap="flat" cmpd="sng">
            <a:solidFill>
              <a:srgbClr val="DC8A00">
                <a:alpha val="9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7874000" y="1270000"/>
            <a:ext cx="50800" cy="1625600"/>
          </a:xfrm>
          <a:prstGeom prst="roundRect">
            <a:avLst>
              <a:gd name="adj" fmla="val 0"/>
            </a:avLst>
          </a:prstGeom>
          <a:solidFill>
            <a:srgbClr val="F59E0B">
              <a:alpha val="100000"/>
            </a:srgbClr>
          </a:solidFill>
          <a:ln cap="flat" cmpd="sng">
            <a:solidFill>
              <a:srgbClr val="DC8A00">
                <a:alpha val="100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8102600" y="1308100"/>
            <a:ext cx="3556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700" b="1" i="0" u="none" strike="noStrike">
                <a:solidFill>
                  <a:srgbClr val="B45309"/>
                </a:solidFill>
                <a:latin typeface="Noto Sans SC"/>
                <a:ea typeface="Noto Sans SC"/>
                <a:cs typeface="Noto Sans SC"/>
                <a:sym typeface="Noto Sans SC"/>
              </a:rPr>
              <a:t>缺失影响</a:t>
            </a:r>
            <a:endParaRPr lang="en-US" sz="1100"/>
          </a:p>
        </p:txBody>
      </p:sp>
      <p:sp>
        <p:nvSpPr>
          <p:cNvPr id="26" name="AutoShape 26"/>
          <p:cNvSpPr/>
          <p:nvPr/>
        </p:nvSpPr>
        <p:spPr>
          <a:xfrm>
            <a:off x="8102600" y="1676400"/>
            <a:ext cx="3606800" cy="8382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300" b="0" i="0" u="none" strike="noStrike">
                <a:solidFill>
                  <a:srgbClr val="451A03"/>
                </a:solidFill>
                <a:latin typeface="Noto Sans SC"/>
                <a:ea typeface="Noto Sans SC"/>
                <a:cs typeface="Noto Sans SC"/>
                <a:sym typeface="Noto Sans SC"/>
              </a:rPr>
              <a:t>镶嵌后的影像会存在明显的接缝或色调差异,影响视觉效果和后续分析。</a:t>
            </a:r>
            <a:endParaRPr lang="en-US" sz="1100"/>
          </a:p>
        </p:txBody>
      </p:sp>
      <p:sp>
        <p:nvSpPr>
          <p:cNvPr id="27" name="AutoShape 27"/>
          <p:cNvSpPr/>
          <p:nvPr/>
        </p:nvSpPr>
        <p:spPr>
          <a:xfrm>
            <a:off x="7874000" y="3048000"/>
            <a:ext cx="3937000" cy="2844800"/>
          </a:xfrm>
          <a:prstGeom prst="roundRect">
            <a:avLst>
              <a:gd name="adj" fmla="val 0"/>
            </a:avLst>
          </a:prstGeom>
          <a:gradFill rotWithShape="1">
            <a:gsLst>
              <a:gs pos="0">
                <a:srgbClr val="EFF6FF">
                  <a:alpha val="100000"/>
                </a:srgbClr>
              </a:gs>
              <a:gs pos="100000">
                <a:srgbClr val="DBEAFE">
                  <a:alpha val="100000"/>
                </a:srgbClr>
              </a:gs>
            </a:gsLst>
            <a:lin ang="2700000"/>
          </a:gradFill>
          <a:ln cap="flat" cmpd="sng">
            <a:gradFill rotWithShape="1">
              <a:gsLst>
                <a:gs pos="0">
                  <a:srgbClr val="C0D0E6">
                    <a:alpha val="100000"/>
                  </a:srgbClr>
                </a:gs>
                <a:gs pos="100000">
                  <a:srgbClr val="AEC5E5">
                    <a:alpha val="100000"/>
                  </a:srgbClr>
                </a:gs>
              </a:gsLst>
              <a:lin ang="2700000"/>
            </a:gradFill>
            <a:prstDash val="solid"/>
            <a:round/>
          </a:ln>
        </p:spPr>
        <p:txBody>
          <a:bodyPr vert="horz" wrap="square" lIns="63500" tIns="63500" rIns="63500" bIns="63500" rtlCol="0" anchor="ctr"/>
          <a:lstStyle/>
          <a:p>
            <a:pPr algn="ctr">
              <a:defRPr/>
            </a:pPr>
          </a:p>
        </p:txBody>
      </p:sp>
      <p:sp>
        <p:nvSpPr>
          <p:cNvPr id="28" name="AutoShape 28"/>
          <p:cNvSpPr/>
          <p:nvPr/>
        </p:nvSpPr>
        <p:spPr>
          <a:xfrm>
            <a:off x="7874000" y="3048000"/>
            <a:ext cx="50800" cy="28448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29" name="AutoShape 29"/>
          <p:cNvSpPr/>
          <p:nvPr/>
        </p:nvSpPr>
        <p:spPr>
          <a:xfrm>
            <a:off x="8102600" y="3086100"/>
            <a:ext cx="3556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700" b="1" i="0" u="none" strike="noStrike">
                <a:solidFill>
                  <a:srgbClr val="1E3A8A"/>
                </a:solidFill>
                <a:latin typeface="Noto Sans SC"/>
                <a:ea typeface="Noto Sans SC"/>
                <a:cs typeface="Noto Sans SC"/>
                <a:sym typeface="Noto Sans SC"/>
              </a:rPr>
              <a:t>流程位置与关联</a:t>
            </a:r>
            <a:endParaRPr lang="en-US" sz="1100"/>
          </a:p>
        </p:txBody>
      </p:sp>
      <p:sp>
        <p:nvSpPr>
          <p:cNvPr id="30" name="AutoShape 30"/>
          <p:cNvSpPr/>
          <p:nvPr/>
        </p:nvSpPr>
        <p:spPr>
          <a:xfrm>
            <a:off x="8102600" y="3467100"/>
            <a:ext cx="13970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0" i="0" u="none" strike="noStrike">
                <a:solidFill>
                  <a:srgbClr val="64748B"/>
                </a:solidFill>
                <a:latin typeface="Noto Sans SC"/>
                <a:ea typeface="Noto Sans SC"/>
                <a:cs typeface="Noto Sans SC"/>
                <a:sym typeface="Noto Sans SC"/>
              </a:rPr>
              <a:t>在哪个环节:</a:t>
            </a:r>
            <a:endParaRPr lang="en-US" sz="1100"/>
          </a:p>
        </p:txBody>
      </p:sp>
      <p:sp>
        <p:nvSpPr>
          <p:cNvPr id="31" name="AutoShape 31"/>
          <p:cNvSpPr/>
          <p:nvPr/>
        </p:nvSpPr>
        <p:spPr>
          <a:xfrm>
            <a:off x="9423400" y="3467100"/>
            <a:ext cx="22860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1" i="0" u="none" strike="noStrike">
                <a:solidFill>
                  <a:srgbClr val="1E3A8A"/>
                </a:solidFill>
                <a:latin typeface="Noto Sans SC"/>
                <a:ea typeface="Noto Sans SC"/>
                <a:cs typeface="Noto Sans SC"/>
                <a:sym typeface="Noto Sans SC"/>
              </a:rPr>
              <a:t>L1→L2分析底图</a:t>
            </a:r>
            <a:endParaRPr lang="en-US" sz="1100"/>
          </a:p>
        </p:txBody>
      </p:sp>
      <p:cxnSp>
        <p:nvCxnSpPr>
          <p:cNvPr id="32" name="Connector 32"/>
          <p:cNvCxnSpPr/>
          <p:nvPr/>
        </p:nvCxnSpPr>
        <p:spPr>
          <a:xfrm rot="-12410">
            <a:off x="8102611" y="3829050"/>
            <a:ext cx="35179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33" name="AutoShape 33"/>
          <p:cNvSpPr/>
          <p:nvPr/>
        </p:nvSpPr>
        <p:spPr>
          <a:xfrm>
            <a:off x="8102600" y="3937000"/>
            <a:ext cx="13970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0" i="0" u="none" strike="noStrike">
                <a:solidFill>
                  <a:srgbClr val="64748B"/>
                </a:solidFill>
                <a:latin typeface="Noto Sans SC"/>
                <a:ea typeface="Noto Sans SC"/>
                <a:cs typeface="Noto Sans SC"/>
                <a:sym typeface="Noto Sans SC"/>
              </a:rPr>
              <a:t>关联:</a:t>
            </a:r>
            <a:endParaRPr lang="en-US" sz="1100"/>
          </a:p>
        </p:txBody>
      </p:sp>
      <p:sp>
        <p:nvSpPr>
          <p:cNvPr id="34" name="AutoShape 34"/>
          <p:cNvSpPr/>
          <p:nvPr/>
        </p:nvSpPr>
        <p:spPr>
          <a:xfrm>
            <a:off x="9423400" y="3937000"/>
            <a:ext cx="22860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1" i="0" u="none" strike="noStrike">
                <a:solidFill>
                  <a:srgbClr val="1E3A8A"/>
                </a:solidFill>
                <a:latin typeface="Noto Sans SC"/>
                <a:ea typeface="Noto Sans SC"/>
                <a:cs typeface="Noto Sans SC"/>
                <a:sym typeface="Noto Sans SC"/>
              </a:rPr>
              <a:t>#17影像匹配与镶嵌</a:t>
            </a:r>
            <a:endParaRPr lang="en-US" sz="1100"/>
          </a:p>
        </p:txBody>
      </p:sp>
      <p:cxnSp>
        <p:nvCxnSpPr>
          <p:cNvPr id="35" name="Connector 35"/>
          <p:cNvCxnSpPr/>
          <p:nvPr/>
        </p:nvCxnSpPr>
        <p:spPr>
          <a:xfrm rot="-12410">
            <a:off x="8102611" y="4349750"/>
            <a:ext cx="35179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36" name="AutoShape 36"/>
          <p:cNvSpPr/>
          <p:nvPr/>
        </p:nvSpPr>
        <p:spPr>
          <a:xfrm>
            <a:off x="8102600" y="4470400"/>
            <a:ext cx="3556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1" i="0" u="none" strike="noStrike">
                <a:solidFill>
                  <a:srgbClr val="1E3A8A"/>
                </a:solidFill>
                <a:latin typeface="Noto Sans SC"/>
                <a:ea typeface="Noto Sans SC"/>
                <a:cs typeface="Noto Sans SC"/>
                <a:sym typeface="Noto Sans SC"/>
              </a:rPr>
              <a:t>[API] 调用地址</a:t>
            </a:r>
            <a:endParaRPr lang="en-US" sz="1100"/>
          </a:p>
        </p:txBody>
      </p:sp>
      <p:sp>
        <p:nvSpPr>
          <p:cNvPr id="37" name="AutoShape 37"/>
          <p:cNvSpPr/>
          <p:nvPr/>
        </p:nvSpPr>
        <p:spPr>
          <a:xfrm>
            <a:off x="8102600" y="4826000"/>
            <a:ext cx="3683000" cy="6604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300" b="1" i="0" u="none" strike="noStrike">
                <a:solidFill>
                  <a:srgbClr val="334155"/>
                </a:solidFill>
                <a:latin typeface="Inter"/>
                <a:ea typeface="Inter"/>
                <a:cs typeface="Inter"/>
                <a:sym typeface="Inter"/>
              </a:rPr>
              <a:t>/api/v1/18_color_balancing/run</a:t>
            </a:r>
            <a:endParaRPr lang="en-US" sz="1100"/>
          </a:p>
        </p:txBody>
      </p:sp>
      <p:sp>
        <p:nvSpPr>
          <p:cNvPr id="38" name="AutoShape 38"/>
          <p:cNvSpPr/>
          <p:nvPr/>
        </p:nvSpPr>
        <p:spPr>
          <a:xfrm>
            <a:off x="0" y="6477000"/>
            <a:ext cx="12192000" cy="50800"/>
          </a:xfrm>
          <a:prstGeom prst="roundRect">
            <a:avLst>
              <a:gd name="adj" fmla="val 0"/>
            </a:avLst>
          </a:prstGeom>
          <a:gradFill rotWithShape="1">
            <a:gsLst>
              <a:gs pos="0">
                <a:srgbClr val="1E3A8A">
                  <a:alpha val="100000"/>
                </a:srgbClr>
              </a:gs>
              <a:gs pos="55000">
                <a:srgbClr val="1E3A8A">
                  <a:alpha val="35000"/>
                </a:srgbClr>
              </a:gs>
              <a:gs pos="100000">
                <a:srgbClr val="1E3A8A">
                  <a:alpha val="0"/>
                </a:srgbClr>
              </a:gs>
            </a:gsLst>
            <a:lin ang="0"/>
          </a:gradFill>
          <a:ln cap="flat" cmpd="sng">
            <a:gradFill rotWithShape="1">
              <a:gsLst>
                <a:gs pos="0">
                  <a:srgbClr val="0D2771">
                    <a:alpha val="100000"/>
                  </a:srgbClr>
                </a:gs>
                <a:gs pos="55000">
                  <a:srgbClr val="0D2771">
                    <a:alpha val="35000"/>
                  </a:srgbClr>
                </a:gs>
                <a:gs pos="100000">
                  <a:srgbClr val="0D2771">
                    <a:alpha val="0"/>
                  </a:srgbClr>
                </a:gs>
              </a:gsLst>
              <a:lin ang="0"/>
            </a:gradFill>
            <a:prstDash val="solid"/>
            <a:round/>
          </a:ln>
        </p:spPr>
        <p:txBody>
          <a:bodyPr vert="horz" wrap="square" lIns="63500" tIns="63500" rIns="63500" bIns="63500" rtlCol="0" anchor="ctr"/>
          <a:lstStyle/>
          <a:p>
            <a:pPr algn="ctr">
              <a:defRPr/>
            </a:p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7620000" cy="6604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3200" b="1" i="0" u="none" strike="noStrike" spc="100">
                <a:solidFill>
                  <a:srgbClr val="1E3A8A"/>
                </a:solidFill>
                <a:latin typeface="Noto Sans SC"/>
                <a:ea typeface="Noto Sans SC"/>
                <a:cs typeface="Noto Sans SC"/>
                <a:sym typeface="Noto Sans SC"/>
              </a:rPr>
              <a:t>多源配准</a:t>
            </a:r>
            <a:endParaRPr lang="en-US" sz="1100"/>
          </a:p>
        </p:txBody>
      </p:sp>
      <p:sp>
        <p:nvSpPr>
          <p:cNvPr id="3" name="AutoShape 3"/>
          <p:cNvSpPr/>
          <p:nvPr/>
        </p:nvSpPr>
        <p:spPr>
          <a:xfrm>
            <a:off x="8128000" y="431800"/>
            <a:ext cx="3683000" cy="279400"/>
          </a:xfrm>
          <a:prstGeom prst="rect">
            <a:avLst/>
          </a:prstGeom>
          <a:noFill/>
          <a:ln w="12700" cap="flat" cmpd="sng">
            <a:noFill/>
            <a:prstDash val="solid"/>
            <a:round/>
          </a:ln>
        </p:spPr>
        <p:txBody>
          <a:bodyPr vert="horz" wrap="square" lIns="0" tIns="0" rIns="0" bIns="0" rtlCol="0" anchor="ctr" anchorCtr="0"/>
          <a:lstStyle/>
          <a:p>
            <a:pPr marL="0" indent="0" algn="r">
              <a:lnSpc>
                <a:spcPct val="83000"/>
              </a:lnSpc>
              <a:defRPr/>
            </a:pPr>
            <a:r>
              <a:rPr lang="en-US" sz="1200" b="0" i="0" u="none" strike="noStrike" spc="100">
                <a:solidFill>
                  <a:srgbClr val="64748B"/>
                </a:solidFill>
                <a:latin typeface="Noto Sans SC"/>
                <a:ea typeface="Noto Sans SC"/>
                <a:cs typeface="Noto Sans SC"/>
                <a:sym typeface="Noto Sans SC"/>
              </a:rPr>
              <a:t>层级:L1→L2 ｜ 编号 #19</a:t>
            </a:r>
            <a:endParaRPr lang="en-US" sz="1100"/>
          </a:p>
        </p:txBody>
      </p:sp>
      <p:sp>
        <p:nvSpPr>
          <p:cNvPr id="4" name="AutoShape 4"/>
          <p:cNvSpPr/>
          <p:nvPr/>
        </p:nvSpPr>
        <p:spPr>
          <a:xfrm>
            <a:off x="8128000" y="762000"/>
            <a:ext cx="3683000" cy="279400"/>
          </a:xfrm>
          <a:prstGeom prst="rect">
            <a:avLst/>
          </a:prstGeom>
          <a:noFill/>
          <a:ln w="12700" cap="flat" cmpd="sng">
            <a:noFill/>
            <a:prstDash val="solid"/>
            <a:round/>
          </a:ln>
        </p:spPr>
        <p:txBody>
          <a:bodyPr vert="horz" wrap="square" lIns="0" tIns="0" rIns="0" bIns="0" rtlCol="0" anchor="ctr" anchorCtr="0"/>
          <a:lstStyle/>
          <a:p>
            <a:pPr marL="0" indent="0" algn="r">
              <a:lnSpc>
                <a:spcPct val="83000"/>
              </a:lnSpc>
              <a:defRPr/>
            </a:pPr>
            <a:r>
              <a:rPr lang="en-US" sz="1200" b="0" i="0" u="none" strike="noStrike">
                <a:solidFill>
                  <a:srgbClr val="94A3B8"/>
                </a:solidFill>
                <a:latin typeface="Noto Sans SC"/>
                <a:ea typeface="Noto Sans SC"/>
                <a:cs typeface="Noto Sans SC"/>
                <a:sym typeface="Noto Sans SC"/>
              </a:rPr>
              <a:t>辅导材料:算法清单与API</a:t>
            </a:r>
            <a:endParaRPr lang="en-US" sz="1100"/>
          </a:p>
        </p:txBody>
      </p:sp>
      <p:cxnSp>
        <p:nvCxnSpPr>
          <p:cNvPr id="5" name="Connector 5"/>
          <p:cNvCxnSpPr/>
          <p:nvPr/>
        </p:nvCxnSpPr>
        <p:spPr>
          <a:xfrm rot="-3906">
            <a:off x="508004" y="1238250"/>
            <a:ext cx="111760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6" name="AutoShape 6"/>
          <p:cNvSpPr/>
          <p:nvPr/>
        </p:nvSpPr>
        <p:spPr>
          <a:xfrm>
            <a:off x="508000" y="1397000"/>
            <a:ext cx="2235200" cy="29845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508000" y="1397000"/>
            <a:ext cx="50800" cy="29845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660400" y="1498600"/>
            <a:ext cx="19812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700" b="1" i="0" u="none" strike="noStrike" spc="200">
                <a:solidFill>
                  <a:srgbClr val="1E3A8A"/>
                </a:solidFill>
                <a:latin typeface="Noto Sans SC"/>
                <a:ea typeface="Noto Sans SC"/>
                <a:cs typeface="Noto Sans SC"/>
                <a:sym typeface="Noto Sans SC"/>
              </a:rPr>
              <a:t>功能定义</a:t>
            </a:r>
            <a:endParaRPr lang="en-US" sz="1100"/>
          </a:p>
        </p:txBody>
      </p:sp>
      <p:cxnSp>
        <p:nvCxnSpPr>
          <p:cNvPr id="9" name="Connector 9"/>
          <p:cNvCxnSpPr/>
          <p:nvPr/>
        </p:nvCxnSpPr>
        <p:spPr>
          <a:xfrm rot="-22616">
            <a:off x="660421" y="1898650"/>
            <a:ext cx="19304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10" name="AutoShape 10"/>
          <p:cNvSpPr/>
          <p:nvPr/>
        </p:nvSpPr>
        <p:spPr>
          <a:xfrm>
            <a:off x="660400" y="1981200"/>
            <a:ext cx="1981200" cy="1143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300" b="0" i="0" u="none" strike="noStrike">
                <a:solidFill>
                  <a:srgbClr val="334155"/>
                </a:solidFill>
                <a:latin typeface="Noto Sans SC"/>
                <a:ea typeface="Noto Sans SC"/>
                <a:cs typeface="Noto Sans SC"/>
                <a:sym typeface="Noto Sans SC"/>
              </a:rPr>
              <a:t>将不同传感器(如高光谱、RGB、激光雷达)采集的数据精确对齐。</a:t>
            </a:r>
            <a:endParaRPr lang="en-US" sz="1100"/>
          </a:p>
        </p:txBody>
      </p:sp>
      <p:sp>
        <p:nvSpPr>
          <p:cNvPr id="11" name="AutoShape 11"/>
          <p:cNvSpPr/>
          <p:nvPr/>
        </p:nvSpPr>
        <p:spPr>
          <a:xfrm>
            <a:off x="2946400" y="1397000"/>
            <a:ext cx="2235200" cy="29845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2946400" y="1397000"/>
            <a:ext cx="50800" cy="29845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3098800" y="1498600"/>
            <a:ext cx="19812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700" b="1" i="0" u="none" strike="noStrike" spc="200">
                <a:solidFill>
                  <a:srgbClr val="1E3A8A"/>
                </a:solidFill>
                <a:latin typeface="Noto Sans SC"/>
                <a:ea typeface="Noto Sans SC"/>
                <a:cs typeface="Noto Sans SC"/>
                <a:sym typeface="Noto Sans SC"/>
              </a:rPr>
              <a:t>方法要点</a:t>
            </a:r>
            <a:endParaRPr lang="en-US" sz="1100"/>
          </a:p>
        </p:txBody>
      </p:sp>
      <p:cxnSp>
        <p:nvCxnSpPr>
          <p:cNvPr id="14" name="Connector 14"/>
          <p:cNvCxnSpPr/>
          <p:nvPr/>
        </p:nvCxnSpPr>
        <p:spPr>
          <a:xfrm rot="-22616">
            <a:off x="3098821" y="1898650"/>
            <a:ext cx="19304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15" name="AutoShape 15"/>
          <p:cNvSpPr/>
          <p:nvPr/>
        </p:nvSpPr>
        <p:spPr>
          <a:xfrm>
            <a:off x="3098800" y="1981200"/>
            <a:ext cx="1981200" cy="1143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300" b="0" i="0" u="none" strike="noStrike">
                <a:solidFill>
                  <a:srgbClr val="334155"/>
                </a:solidFill>
                <a:latin typeface="Noto Sans SC"/>
                <a:ea typeface="Noto Sans SC"/>
                <a:cs typeface="Noto Sans SC"/>
                <a:sym typeface="Noto Sans SC"/>
              </a:rPr>
              <a:t>利用同名点或特征匹配算法,将不同数据源配准到同一坐标系下。</a:t>
            </a:r>
            <a:endParaRPr lang="en-US" sz="1100"/>
          </a:p>
        </p:txBody>
      </p:sp>
      <p:sp>
        <p:nvSpPr>
          <p:cNvPr id="16" name="AutoShape 16"/>
          <p:cNvSpPr/>
          <p:nvPr/>
        </p:nvSpPr>
        <p:spPr>
          <a:xfrm>
            <a:off x="5384800" y="1397000"/>
            <a:ext cx="2235200" cy="29845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5384800" y="1397000"/>
            <a:ext cx="50800" cy="29845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5537200" y="1498600"/>
            <a:ext cx="19812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700" b="1" i="0" u="none" strike="noStrike" spc="200">
                <a:solidFill>
                  <a:srgbClr val="1E3A8A"/>
                </a:solidFill>
                <a:latin typeface="Noto Sans SC"/>
                <a:ea typeface="Noto Sans SC"/>
                <a:cs typeface="Noto Sans SC"/>
                <a:sym typeface="Noto Sans SC"/>
              </a:rPr>
              <a:t>适用场景</a:t>
            </a:r>
            <a:endParaRPr lang="en-US" sz="1100"/>
          </a:p>
        </p:txBody>
      </p:sp>
      <p:cxnSp>
        <p:nvCxnSpPr>
          <p:cNvPr id="19" name="Connector 19"/>
          <p:cNvCxnSpPr/>
          <p:nvPr/>
        </p:nvCxnSpPr>
        <p:spPr>
          <a:xfrm rot="-22616">
            <a:off x="5537221" y="1898650"/>
            <a:ext cx="19304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20" name="AutoShape 20"/>
          <p:cNvSpPr/>
          <p:nvPr/>
        </p:nvSpPr>
        <p:spPr>
          <a:xfrm>
            <a:off x="5537200" y="1981200"/>
            <a:ext cx="1981200" cy="1143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300" b="0" i="0" u="none" strike="noStrike">
                <a:solidFill>
                  <a:srgbClr val="334155"/>
                </a:solidFill>
                <a:latin typeface="Noto Sans SC"/>
                <a:ea typeface="Noto Sans SC"/>
                <a:cs typeface="Noto Sans SC"/>
                <a:sym typeface="Noto Sans SC"/>
              </a:rPr>
              <a:t>多源数据融合分析,如利用RGB影像进行样本标注,利用激光雷达数据进行高程校正。</a:t>
            </a:r>
            <a:endParaRPr lang="en-US" sz="1100"/>
          </a:p>
        </p:txBody>
      </p:sp>
      <p:sp>
        <p:nvSpPr>
          <p:cNvPr id="21" name="AutoShape 21"/>
          <p:cNvSpPr/>
          <p:nvPr/>
        </p:nvSpPr>
        <p:spPr>
          <a:xfrm>
            <a:off x="7823200" y="1397000"/>
            <a:ext cx="2235200" cy="29845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7823200" y="1397000"/>
            <a:ext cx="50800" cy="29845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7975600" y="1498600"/>
            <a:ext cx="19812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700" b="1" i="0" u="none" strike="noStrike" spc="200">
                <a:solidFill>
                  <a:srgbClr val="1E3A8A"/>
                </a:solidFill>
                <a:latin typeface="Noto Sans SC"/>
                <a:ea typeface="Noto Sans SC"/>
                <a:cs typeface="Noto Sans SC"/>
                <a:sym typeface="Noto Sans SC"/>
              </a:rPr>
              <a:t>业务价值</a:t>
            </a:r>
            <a:endParaRPr lang="en-US" sz="1100"/>
          </a:p>
        </p:txBody>
      </p:sp>
      <p:cxnSp>
        <p:nvCxnSpPr>
          <p:cNvPr id="24" name="Connector 24"/>
          <p:cNvCxnSpPr/>
          <p:nvPr/>
        </p:nvCxnSpPr>
        <p:spPr>
          <a:xfrm rot="-22616">
            <a:off x="7975621" y="1898650"/>
            <a:ext cx="19304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25" name="AutoShape 25"/>
          <p:cNvSpPr/>
          <p:nvPr/>
        </p:nvSpPr>
        <p:spPr>
          <a:xfrm>
            <a:off x="7975600" y="1981200"/>
            <a:ext cx="1981200" cy="1143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300" b="0" i="0" u="none" strike="noStrike">
                <a:solidFill>
                  <a:srgbClr val="334155"/>
                </a:solidFill>
                <a:latin typeface="Noto Sans SC"/>
                <a:ea typeface="Noto Sans SC"/>
                <a:cs typeface="Noto Sans SC"/>
                <a:sym typeface="Noto Sans SC"/>
              </a:rPr>
              <a:t>实现多源数据的协同分析,发挥不同传感器的优势。</a:t>
            </a:r>
            <a:endParaRPr lang="en-US" sz="1100"/>
          </a:p>
        </p:txBody>
      </p:sp>
      <p:sp>
        <p:nvSpPr>
          <p:cNvPr id="26" name="AutoShape 26"/>
          <p:cNvSpPr/>
          <p:nvPr/>
        </p:nvSpPr>
        <p:spPr>
          <a:xfrm>
            <a:off x="10160000" y="1397000"/>
            <a:ext cx="1676400" cy="2984500"/>
          </a:xfrm>
          <a:prstGeom prst="roundRect">
            <a:avLst>
              <a:gd name="adj" fmla="val 0"/>
            </a:avLst>
          </a:prstGeom>
          <a:solidFill>
            <a:srgbClr val="DC2626">
              <a:alpha val="5000"/>
            </a:srgbClr>
          </a:solidFill>
          <a:ln cap="flat" cmpd="sng">
            <a:solidFill>
              <a:srgbClr val="C30E0E">
                <a:alpha val="5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10160000" y="1397000"/>
            <a:ext cx="50800" cy="2984500"/>
          </a:xfrm>
          <a:prstGeom prst="roundRect">
            <a:avLst>
              <a:gd name="adj" fmla="val 0"/>
            </a:avLst>
          </a:prstGeom>
          <a:solidFill>
            <a:srgbClr val="DC2626">
              <a:alpha val="100000"/>
            </a:srgbClr>
          </a:solidFill>
          <a:ln cap="flat" cmpd="sng">
            <a:solidFill>
              <a:srgbClr val="C30E0E">
                <a:alpha val="100000"/>
              </a:srgbClr>
            </a:solidFill>
            <a:prstDash val="solid"/>
            <a:round/>
          </a:ln>
        </p:spPr>
        <p:txBody>
          <a:bodyPr vert="horz" wrap="square" lIns="63500" tIns="63500" rIns="63500" bIns="63500" rtlCol="0" anchor="ctr"/>
          <a:lstStyle/>
          <a:p>
            <a:pPr algn="ctr">
              <a:defRPr/>
            </a:pPr>
          </a:p>
        </p:txBody>
      </p:sp>
      <p:sp>
        <p:nvSpPr>
          <p:cNvPr id="28" name="AutoShape 28"/>
          <p:cNvSpPr/>
          <p:nvPr/>
        </p:nvSpPr>
        <p:spPr>
          <a:xfrm>
            <a:off x="10312400" y="1498600"/>
            <a:ext cx="14732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700" b="1" i="0" u="none" strike="noStrike" spc="200">
                <a:solidFill>
                  <a:srgbClr val="DC2626"/>
                </a:solidFill>
                <a:latin typeface="Noto Sans SC"/>
                <a:ea typeface="Noto Sans SC"/>
                <a:cs typeface="Noto Sans SC"/>
                <a:sym typeface="Noto Sans SC"/>
              </a:rPr>
              <a:t>缺失影响</a:t>
            </a:r>
            <a:endParaRPr lang="en-US" sz="1100"/>
          </a:p>
        </p:txBody>
      </p:sp>
      <p:cxnSp>
        <p:nvCxnSpPr>
          <p:cNvPr id="29" name="Connector 29"/>
          <p:cNvCxnSpPr/>
          <p:nvPr/>
        </p:nvCxnSpPr>
        <p:spPr>
          <a:xfrm rot="-31830">
            <a:off x="10312429" y="1898650"/>
            <a:ext cx="1371600" cy="12700"/>
          </a:xfrm>
          <a:prstGeom prst="straightConnector1">
            <a:avLst/>
          </a:prstGeom>
          <a:solidFill>
            <a:srgbClr val="DEE0E3">
              <a:alpha val="100000"/>
            </a:srgbClr>
          </a:solidFill>
          <a:ln w="12700" cap="flat" cmpd="sng">
            <a:solidFill>
              <a:srgbClr val="DC2626">
                <a:alpha val="20000"/>
              </a:srgbClr>
            </a:solidFill>
            <a:prstDash val="solid"/>
            <a:round/>
            <a:headEnd type="none" w="med" len="med"/>
            <a:tailEnd type="none" w="med" len="med"/>
          </a:ln>
        </p:spPr>
      </p:cxnSp>
      <p:sp>
        <p:nvSpPr>
          <p:cNvPr id="30" name="AutoShape 30"/>
          <p:cNvSpPr/>
          <p:nvPr/>
        </p:nvSpPr>
        <p:spPr>
          <a:xfrm>
            <a:off x="10312400" y="1981200"/>
            <a:ext cx="1473200" cy="1143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300" b="0" i="0" u="none" strike="noStrike">
                <a:solidFill>
                  <a:srgbClr val="334155"/>
                </a:solidFill>
                <a:latin typeface="Noto Sans SC"/>
                <a:ea typeface="Noto Sans SC"/>
                <a:cs typeface="Noto Sans SC"/>
                <a:sym typeface="Noto Sans SC"/>
              </a:rPr>
              <a:t>不同数据源之间存在错位,无法进行有效的融合分析。</a:t>
            </a:r>
            <a:endParaRPr lang="en-US" sz="1100"/>
          </a:p>
        </p:txBody>
      </p:sp>
      <p:sp>
        <p:nvSpPr>
          <p:cNvPr id="31" name="AutoShape 31"/>
          <p:cNvSpPr/>
          <p:nvPr/>
        </p:nvSpPr>
        <p:spPr>
          <a:xfrm>
            <a:off x="508000" y="4572000"/>
            <a:ext cx="11328400" cy="16510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32" name="AutoShape 32"/>
          <p:cNvSpPr/>
          <p:nvPr/>
        </p:nvSpPr>
        <p:spPr>
          <a:xfrm>
            <a:off x="762000" y="4699000"/>
            <a:ext cx="3302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500" b="1" i="0" u="none" strike="noStrike" spc="300">
                <a:solidFill>
                  <a:srgbClr val="1E3A8A"/>
                </a:solidFill>
                <a:latin typeface="Noto Sans SC"/>
                <a:ea typeface="Noto Sans SC"/>
                <a:cs typeface="Noto Sans SC"/>
                <a:sym typeface="Noto Sans SC"/>
              </a:rPr>
              <a:t>流程位置</a:t>
            </a:r>
            <a:endParaRPr lang="en-US" sz="1100"/>
          </a:p>
        </p:txBody>
      </p:sp>
      <p:sp>
        <p:nvSpPr>
          <p:cNvPr id="33" name="AutoShape 33"/>
          <p:cNvSpPr/>
          <p:nvPr/>
        </p:nvSpPr>
        <p:spPr>
          <a:xfrm>
            <a:off x="762000" y="5080000"/>
            <a:ext cx="33020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0" i="0" u="none" strike="noStrike">
                <a:solidFill>
                  <a:srgbClr val="475569"/>
                </a:solidFill>
                <a:latin typeface="Noto Sans SC"/>
                <a:ea typeface="Noto Sans SC"/>
                <a:cs typeface="Noto Sans SC"/>
                <a:sym typeface="Noto Sans SC"/>
              </a:rPr>
              <a:t>在哪个环节:</a:t>
            </a:r>
            <a:r>
              <a:rPr lang="en-US" sz="1300" b="1" i="0" u="none" strike="noStrike">
                <a:solidFill>
                  <a:srgbClr val="1E3A8A"/>
                </a:solidFill>
                <a:latin typeface="Noto Sans SC"/>
                <a:ea typeface="Noto Sans SC"/>
                <a:cs typeface="Noto Sans SC"/>
                <a:sym typeface="Noto Sans SC"/>
              </a:rPr>
              <a:t>L1→L2分析底图</a:t>
            </a:r>
            <a:endParaRPr lang="en-US" sz="1100"/>
          </a:p>
        </p:txBody>
      </p:sp>
      <p:cxnSp>
        <p:nvCxnSpPr>
          <p:cNvPr id="34" name="Connector 34"/>
          <p:cNvCxnSpPr/>
          <p:nvPr/>
        </p:nvCxnSpPr>
        <p:spPr>
          <a:xfrm rot="5364922">
            <a:off x="3695700" y="5365782"/>
            <a:ext cx="12446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35" name="AutoShape 35"/>
          <p:cNvSpPr/>
          <p:nvPr/>
        </p:nvSpPr>
        <p:spPr>
          <a:xfrm>
            <a:off x="4572000" y="4699000"/>
            <a:ext cx="3810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500" b="1" i="0" u="none" strike="noStrike" spc="300">
                <a:solidFill>
                  <a:srgbClr val="1E3A8A"/>
                </a:solidFill>
                <a:latin typeface="Noto Sans SC"/>
                <a:ea typeface="Noto Sans SC"/>
                <a:cs typeface="Noto Sans SC"/>
                <a:sym typeface="Noto Sans SC"/>
              </a:rPr>
              <a:t>关联</a:t>
            </a:r>
            <a:endParaRPr lang="en-US" sz="1100"/>
          </a:p>
        </p:txBody>
      </p:sp>
      <p:sp>
        <p:nvSpPr>
          <p:cNvPr id="36" name="AutoShape 36"/>
          <p:cNvSpPr/>
          <p:nvPr/>
        </p:nvSpPr>
        <p:spPr>
          <a:xfrm>
            <a:off x="4572000" y="5080000"/>
            <a:ext cx="3937000" cy="660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300" b="0" i="0" u="none" strike="noStrike">
                <a:solidFill>
                  <a:srgbClr val="475569"/>
                </a:solidFill>
                <a:latin typeface="Noto Sans SC"/>
                <a:ea typeface="Noto Sans SC"/>
                <a:cs typeface="Noto Sans SC"/>
                <a:sym typeface="Noto Sans SC"/>
              </a:rPr>
              <a:t>#2 时间对齐,</a:t>
            </a:r>
            <a:r>
              <a:rPr lang="en-US" sz="1300" b="1" i="0" u="none" strike="noStrike">
                <a:solidFill>
                  <a:srgbClr val="1E3A8A"/>
                </a:solidFill>
                <a:latin typeface="Noto Sans SC"/>
                <a:ea typeface="Noto Sans SC"/>
                <a:cs typeface="Noto Sans SC"/>
                <a:sym typeface="Noto Sans SC"/>
              </a:rPr>
              <a:t>#16 正射校正</a:t>
            </a:r>
            <a:endParaRPr lang="en-US" sz="1100"/>
          </a:p>
        </p:txBody>
      </p:sp>
      <p:cxnSp>
        <p:nvCxnSpPr>
          <p:cNvPr id="37" name="Connector 37"/>
          <p:cNvCxnSpPr/>
          <p:nvPr/>
        </p:nvCxnSpPr>
        <p:spPr>
          <a:xfrm rot="5364922">
            <a:off x="7785100" y="5365782"/>
            <a:ext cx="12446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38" name="AutoShape 38"/>
          <p:cNvSpPr/>
          <p:nvPr/>
        </p:nvSpPr>
        <p:spPr>
          <a:xfrm>
            <a:off x="8661400" y="4699000"/>
            <a:ext cx="30226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500" b="1" i="0" u="none" strike="noStrike" spc="300">
                <a:solidFill>
                  <a:srgbClr val="1E3A8A"/>
                </a:solidFill>
                <a:latin typeface="Noto Sans SC"/>
                <a:ea typeface="Noto Sans SC"/>
                <a:cs typeface="Noto Sans SC"/>
                <a:sym typeface="Noto Sans SC"/>
              </a:rPr>
              <a:t>API</a:t>
            </a:r>
            <a:endParaRPr lang="en-US" sz="1100"/>
          </a:p>
        </p:txBody>
      </p:sp>
      <p:sp>
        <p:nvSpPr>
          <p:cNvPr id="39" name="AutoShape 39"/>
          <p:cNvSpPr/>
          <p:nvPr/>
        </p:nvSpPr>
        <p:spPr>
          <a:xfrm>
            <a:off x="8661400" y="5080000"/>
            <a:ext cx="3022600" cy="762000"/>
          </a:xfrm>
          <a:prstGeom prst="roundRect">
            <a:avLst>
              <a:gd name="adj" fmla="val 0"/>
            </a:avLst>
          </a:prstGeom>
          <a:gradFill rotWithShape="1">
            <a:gsLst>
              <a:gs pos="0">
                <a:srgbClr val="1E3A8A">
                  <a:alpha val="100000"/>
                </a:srgbClr>
              </a:gs>
              <a:gs pos="100000">
                <a:srgbClr val="3B82F6">
                  <a:alpha val="100000"/>
                </a:srgbClr>
              </a:gs>
            </a:gsLst>
            <a:lin ang="0"/>
          </a:gradFill>
          <a:ln cap="flat" cmpd="sng">
            <a:gradFill rotWithShape="1">
              <a:gsLst>
                <a:gs pos="0">
                  <a:srgbClr val="0D2771">
                    <a:alpha val="100000"/>
                  </a:srgbClr>
                </a:gs>
                <a:gs pos="100000">
                  <a:srgbClr val="1F67DD">
                    <a:alpha val="100000"/>
                  </a:srgbClr>
                </a:gs>
              </a:gsLst>
              <a:lin ang="0"/>
            </a:gradFill>
            <a:prstDash val="solid"/>
            <a:round/>
          </a:ln>
        </p:spPr>
        <p:txBody>
          <a:bodyPr vert="horz" wrap="square" lIns="63500" tIns="63500" rIns="63500" bIns="63500" rtlCol="0" anchor="ctr"/>
          <a:lstStyle/>
          <a:p>
            <a:pPr algn="ctr">
              <a:defRPr/>
            </a:pPr>
          </a:p>
        </p:txBody>
      </p:sp>
      <p:sp>
        <p:nvSpPr>
          <p:cNvPr id="40" name="AutoShape 40"/>
          <p:cNvSpPr/>
          <p:nvPr/>
        </p:nvSpPr>
        <p:spPr>
          <a:xfrm>
            <a:off x="8661400" y="5080000"/>
            <a:ext cx="30226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96000"/>
              </a:lnSpc>
              <a:defRPr/>
            </a:pPr>
            <a:r>
              <a:rPr lang="en-US" sz="1100" b="0" i="0" u="none" strike="noStrike" spc="50">
                <a:solidFill>
                  <a:srgbClr val="FFFFFF">
                    <a:alpha val="85098"/>
                  </a:srgbClr>
                </a:solidFill>
                <a:latin typeface="Noto Sans SC"/>
                <a:ea typeface="Noto Sans SC"/>
                <a:cs typeface="Noto Sans SC"/>
                <a:sym typeface="Noto Sans SC"/>
              </a:rPr>
              <a:t>/api/v1/</a:t>
            </a:r>
            <a:endParaRPr lang="en-US" sz="1100"/>
          </a:p>
          <a:p>
            <a:pPr marL="0" indent="0" algn="ctr">
              <a:lnSpc>
                <a:spcPct val="96000"/>
              </a:lnSpc>
            </a:pPr>
            <a:r>
              <a:rPr lang="en-US" sz="1100" b="1" i="0" u="none" strike="noStrike" spc="50">
                <a:solidFill>
                  <a:srgbClr val="FFFFFF"/>
                </a:solidFill>
                <a:latin typeface="Noto Sans SC"/>
                <a:ea typeface="Noto Sans SC"/>
                <a:cs typeface="Noto Sans SC"/>
                <a:sym typeface="Noto Sans SC"/>
              </a:rPr>
              <a:t>19_multi_source_registration/run</a:t>
            </a:r>
            <a:endParaRPr lang="en-US" sz="1100" b="1" i="0" u="none" strike="noStrike" spc="50">
              <a:solidFill>
                <a:srgbClr val="FFFFFF"/>
              </a:solidFill>
              <a:latin typeface="Noto Sans SC"/>
              <a:ea typeface="Noto Sans SC"/>
              <a:cs typeface="Noto Sans SC"/>
              <a:sym typeface="Noto Sans SC"/>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9144000" cy="6350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2800" b="1" i="0" u="none" strike="noStrike" spc="100">
                <a:solidFill>
                  <a:srgbClr val="1E3A8A"/>
                </a:solidFill>
                <a:latin typeface="Noto Sans SC"/>
                <a:ea typeface="Noto Sans SC"/>
                <a:cs typeface="Noto Sans SC"/>
                <a:sym typeface="Noto Sans SC"/>
              </a:rPr>
              <a:t>坏波段剔除与光谱去噪</a:t>
            </a:r>
            <a:endParaRPr lang="en-US" sz="1100"/>
          </a:p>
        </p:txBody>
      </p:sp>
      <p:sp>
        <p:nvSpPr>
          <p:cNvPr id="3" name="AutoShape 3"/>
          <p:cNvSpPr/>
          <p:nvPr/>
        </p:nvSpPr>
        <p:spPr>
          <a:xfrm>
            <a:off x="9652000" y="381000"/>
            <a:ext cx="2032000" cy="762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4400" b="1" i="0" u="none" strike="noStrike" spc="200">
                <a:solidFill>
                  <a:srgbClr val="1E3A8A">
                    <a:alpha val="18039"/>
                  </a:srgbClr>
                </a:solidFill>
                <a:latin typeface="Noto Sans SC"/>
                <a:ea typeface="Noto Sans SC"/>
                <a:cs typeface="Noto Sans SC"/>
                <a:sym typeface="Noto Sans SC"/>
              </a:rPr>
              <a:t>#20</a:t>
            </a:r>
            <a:endParaRPr lang="en-US" sz="1100"/>
          </a:p>
        </p:txBody>
      </p:sp>
      <p:sp>
        <p:nvSpPr>
          <p:cNvPr id="4" name="AutoShape 4"/>
          <p:cNvSpPr/>
          <p:nvPr/>
        </p:nvSpPr>
        <p:spPr>
          <a:xfrm>
            <a:off x="508000" y="1041400"/>
            <a:ext cx="1117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0" i="0" u="none" strike="noStrike">
                <a:solidFill>
                  <a:srgbClr val="64748B"/>
                </a:solidFill>
                <a:latin typeface="Noto Sans SC"/>
                <a:ea typeface="Noto Sans SC"/>
                <a:cs typeface="Noto Sans SC"/>
                <a:sym typeface="Noto Sans SC"/>
              </a:rPr>
              <a:t>所属层级:L2 ｜ 辅导材料:算法清单与API</a:t>
            </a:r>
            <a:endParaRPr lang="en-US" sz="1100"/>
          </a:p>
        </p:txBody>
      </p:sp>
      <p:cxnSp>
        <p:nvCxnSpPr>
          <p:cNvPr id="5" name="Connector 5"/>
          <p:cNvCxnSpPr/>
          <p:nvPr/>
        </p:nvCxnSpPr>
        <p:spPr>
          <a:xfrm rot="-3906">
            <a:off x="508004" y="1517650"/>
            <a:ext cx="111760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6" name="AutoShape 6"/>
          <p:cNvSpPr/>
          <p:nvPr/>
        </p:nvSpPr>
        <p:spPr>
          <a:xfrm>
            <a:off x="508000" y="1651000"/>
            <a:ext cx="5715000" cy="10414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508000" y="1651000"/>
            <a:ext cx="50800" cy="1041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762000" y="1651000"/>
            <a:ext cx="533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700" b="1" i="0" u="none" strike="noStrike" spc="100">
                <a:solidFill>
                  <a:srgbClr val="1E3A8A"/>
                </a:solidFill>
                <a:latin typeface="Noto Sans SC"/>
                <a:ea typeface="Noto Sans SC"/>
                <a:cs typeface="Noto Sans SC"/>
                <a:sym typeface="Noto Sans SC"/>
              </a:rPr>
              <a:t>功能定义</a:t>
            </a:r>
            <a:endParaRPr lang="en-US" sz="1100"/>
          </a:p>
        </p:txBody>
      </p:sp>
      <p:sp>
        <p:nvSpPr>
          <p:cNvPr id="9" name="AutoShape 9"/>
          <p:cNvSpPr/>
          <p:nvPr/>
        </p:nvSpPr>
        <p:spPr>
          <a:xfrm>
            <a:off x="762000" y="2006600"/>
            <a:ext cx="5397500" cy="6096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34155"/>
                </a:solidFill>
                <a:latin typeface="Noto Sans SC"/>
                <a:ea typeface="Noto Sans SC"/>
                <a:cs typeface="Noto Sans SC"/>
                <a:sym typeface="Noto Sans SC"/>
              </a:rPr>
              <a:t>去除受水汽吸收等影响的噪声波段,并平滑光谱曲线。</a:t>
            </a:r>
            <a:endParaRPr lang="en-US" sz="1100"/>
          </a:p>
        </p:txBody>
      </p:sp>
      <p:sp>
        <p:nvSpPr>
          <p:cNvPr id="10" name="AutoShape 10"/>
          <p:cNvSpPr/>
          <p:nvPr/>
        </p:nvSpPr>
        <p:spPr>
          <a:xfrm>
            <a:off x="508000" y="2819400"/>
            <a:ext cx="5715000" cy="12446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508000" y="2819400"/>
            <a:ext cx="50800" cy="12446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762000" y="2819400"/>
            <a:ext cx="533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700" b="1" i="0" u="none" strike="noStrike" spc="100">
                <a:solidFill>
                  <a:srgbClr val="1E3A8A"/>
                </a:solidFill>
                <a:latin typeface="Noto Sans SC"/>
                <a:ea typeface="Noto Sans SC"/>
                <a:cs typeface="Noto Sans SC"/>
                <a:sym typeface="Noto Sans SC"/>
              </a:rPr>
              <a:t>方法要点</a:t>
            </a:r>
            <a:endParaRPr lang="en-US" sz="1100"/>
          </a:p>
        </p:txBody>
      </p:sp>
      <p:sp>
        <p:nvSpPr>
          <p:cNvPr id="13" name="AutoShape 13"/>
          <p:cNvSpPr/>
          <p:nvPr/>
        </p:nvSpPr>
        <p:spPr>
          <a:xfrm>
            <a:off x="762000" y="3175000"/>
            <a:ext cx="5397500" cy="787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34155"/>
                </a:solidFill>
                <a:latin typeface="Noto Sans SC"/>
                <a:ea typeface="Noto Sans SC"/>
                <a:cs typeface="Noto Sans SC"/>
                <a:sym typeface="Noto Sans SC"/>
              </a:rPr>
              <a:t>根据光谱曲线的特征,剔除噪声较大的波段(如1400nm和1900nm附近的水汽吸收带),并使用平滑算法(如SG滤波)去除光谱噪声。</a:t>
            </a:r>
            <a:endParaRPr lang="en-US" sz="1100"/>
          </a:p>
        </p:txBody>
      </p:sp>
      <p:sp>
        <p:nvSpPr>
          <p:cNvPr id="14" name="AutoShape 14"/>
          <p:cNvSpPr/>
          <p:nvPr/>
        </p:nvSpPr>
        <p:spPr>
          <a:xfrm>
            <a:off x="508000" y="4191000"/>
            <a:ext cx="5715000" cy="10414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508000" y="4191000"/>
            <a:ext cx="50800" cy="1041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762000" y="4191000"/>
            <a:ext cx="533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700" b="1" i="0" u="none" strike="noStrike" spc="100">
                <a:solidFill>
                  <a:srgbClr val="1E3A8A"/>
                </a:solidFill>
                <a:latin typeface="Noto Sans SC"/>
                <a:ea typeface="Noto Sans SC"/>
                <a:cs typeface="Noto Sans SC"/>
                <a:sym typeface="Noto Sans SC"/>
              </a:rPr>
              <a:t>适用场景</a:t>
            </a:r>
            <a:endParaRPr lang="en-US" sz="1100"/>
          </a:p>
        </p:txBody>
      </p:sp>
      <p:sp>
        <p:nvSpPr>
          <p:cNvPr id="17" name="AutoShape 17"/>
          <p:cNvSpPr/>
          <p:nvPr/>
        </p:nvSpPr>
        <p:spPr>
          <a:xfrm>
            <a:off x="762000" y="4546600"/>
            <a:ext cx="5397500" cy="6096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34155"/>
                </a:solidFill>
                <a:latin typeface="Noto Sans SC"/>
                <a:ea typeface="Noto Sans SC"/>
                <a:cs typeface="Noto Sans SC"/>
                <a:sym typeface="Noto Sans SC"/>
              </a:rPr>
              <a:t>分类、指数计算、反演等所有高级分析之前。</a:t>
            </a:r>
            <a:endParaRPr lang="en-US" sz="1100"/>
          </a:p>
        </p:txBody>
      </p:sp>
      <p:sp>
        <p:nvSpPr>
          <p:cNvPr id="18" name="AutoShape 18"/>
          <p:cNvSpPr/>
          <p:nvPr/>
        </p:nvSpPr>
        <p:spPr>
          <a:xfrm>
            <a:off x="6477000" y="1651000"/>
            <a:ext cx="5207000" cy="1498600"/>
          </a:xfrm>
          <a:prstGeom prst="roundRect">
            <a:avLst>
              <a:gd name="adj" fmla="val 0"/>
            </a:avLst>
          </a:prstGeom>
          <a:solidFill>
            <a:srgbClr val="10B981">
              <a:alpha val="8000"/>
            </a:srgbClr>
          </a:solidFill>
          <a:ln cap="flat" cmpd="sng">
            <a:solidFill>
              <a:srgbClr val="00A06B">
                <a:alpha val="8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6477000" y="1651000"/>
            <a:ext cx="50800" cy="1498600"/>
          </a:xfrm>
          <a:prstGeom prst="roundRect">
            <a:avLst>
              <a:gd name="adj" fmla="val 0"/>
            </a:avLst>
          </a:prstGeom>
          <a:solidFill>
            <a:srgbClr val="10B981">
              <a:alpha val="100000"/>
            </a:srgbClr>
          </a:solidFill>
          <a:ln cap="flat" cmpd="sng">
            <a:solidFill>
              <a:srgbClr val="00A06B">
                <a:alpha val="10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6731000" y="1651000"/>
            <a:ext cx="48260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700" b="1" i="0" u="none" strike="noStrike" spc="100">
                <a:solidFill>
                  <a:srgbClr val="10B981"/>
                </a:solidFill>
                <a:latin typeface="Noto Sans SC"/>
                <a:ea typeface="Noto Sans SC"/>
                <a:cs typeface="Noto Sans SC"/>
                <a:sym typeface="Noto Sans SC"/>
              </a:rPr>
              <a:t>业务价值</a:t>
            </a:r>
            <a:endParaRPr lang="en-US" sz="1100"/>
          </a:p>
        </p:txBody>
      </p:sp>
      <p:sp>
        <p:nvSpPr>
          <p:cNvPr id="21" name="AutoShape 21"/>
          <p:cNvSpPr/>
          <p:nvPr/>
        </p:nvSpPr>
        <p:spPr>
          <a:xfrm>
            <a:off x="6731000" y="2032000"/>
            <a:ext cx="4826000" cy="8382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提高数据质量,减少噪声干扰,使模型能更专注于有效的光谱特征。</a:t>
            </a:r>
            <a:endParaRPr lang="en-US" sz="1100"/>
          </a:p>
        </p:txBody>
      </p:sp>
      <p:sp>
        <p:nvSpPr>
          <p:cNvPr id="22" name="AutoShape 22"/>
          <p:cNvSpPr/>
          <p:nvPr/>
        </p:nvSpPr>
        <p:spPr>
          <a:xfrm>
            <a:off x="6477000" y="3302000"/>
            <a:ext cx="5207000" cy="1498600"/>
          </a:xfrm>
          <a:prstGeom prst="roundRect">
            <a:avLst>
              <a:gd name="adj" fmla="val 0"/>
            </a:avLst>
          </a:prstGeom>
          <a:solidFill>
            <a:srgbClr val="F59E0B">
              <a:alpha val="8000"/>
            </a:srgbClr>
          </a:solidFill>
          <a:ln cap="flat" cmpd="sng">
            <a:solidFill>
              <a:srgbClr val="DC8A00">
                <a:alpha val="8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6477000" y="3302000"/>
            <a:ext cx="50800" cy="1498600"/>
          </a:xfrm>
          <a:prstGeom prst="roundRect">
            <a:avLst>
              <a:gd name="adj" fmla="val 0"/>
            </a:avLst>
          </a:prstGeom>
          <a:solidFill>
            <a:srgbClr val="F59E0B">
              <a:alpha val="100000"/>
            </a:srgbClr>
          </a:solidFill>
          <a:ln cap="flat" cmpd="sng">
            <a:solidFill>
              <a:srgbClr val="DC8A00">
                <a:alpha val="100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6731000" y="3302000"/>
            <a:ext cx="48260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700" b="1" i="0" u="none" strike="noStrike" spc="100">
                <a:solidFill>
                  <a:srgbClr val="F59E0B"/>
                </a:solidFill>
                <a:latin typeface="Noto Sans SC"/>
                <a:ea typeface="Noto Sans SC"/>
                <a:cs typeface="Noto Sans SC"/>
                <a:sym typeface="Noto Sans SC"/>
              </a:rPr>
              <a:t>缺失影响</a:t>
            </a:r>
            <a:endParaRPr lang="en-US" sz="1100"/>
          </a:p>
        </p:txBody>
      </p:sp>
      <p:sp>
        <p:nvSpPr>
          <p:cNvPr id="25" name="AutoShape 25"/>
          <p:cNvSpPr/>
          <p:nvPr/>
        </p:nvSpPr>
        <p:spPr>
          <a:xfrm>
            <a:off x="6731000" y="3683000"/>
            <a:ext cx="4826000" cy="8382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噪声波段和光谱噪声会干扰模型训练,降低分析精度。</a:t>
            </a:r>
            <a:endParaRPr lang="en-US" sz="1100"/>
          </a:p>
        </p:txBody>
      </p:sp>
      <p:sp>
        <p:nvSpPr>
          <p:cNvPr id="26" name="AutoShape 26"/>
          <p:cNvSpPr/>
          <p:nvPr/>
        </p:nvSpPr>
        <p:spPr>
          <a:xfrm>
            <a:off x="508000" y="5486400"/>
            <a:ext cx="11176000" cy="1041400"/>
          </a:xfrm>
          <a:prstGeom prst="roundRect">
            <a:avLst>
              <a:gd name="adj" fmla="val 0"/>
            </a:avLst>
          </a:prstGeom>
          <a:gradFill rotWithShape="1">
            <a:gsLst>
              <a:gs pos="0">
                <a:srgbClr val="1E3A8A">
                  <a:alpha val="6000"/>
                </a:srgbClr>
              </a:gs>
              <a:gs pos="100000">
                <a:srgbClr val="1E3A8A">
                  <a:alpha val="12000"/>
                </a:srgbClr>
              </a:gs>
            </a:gsLst>
            <a:lin ang="0"/>
          </a:gradFill>
          <a:ln cap="flat" cmpd="sng">
            <a:gradFill rotWithShape="1">
              <a:gsLst>
                <a:gs pos="0">
                  <a:srgbClr val="0D2771">
                    <a:alpha val="6000"/>
                  </a:srgbClr>
                </a:gs>
                <a:gs pos="100000">
                  <a:srgbClr val="0D2771">
                    <a:alpha val="12000"/>
                  </a:srgbClr>
                </a:gs>
              </a:gsLst>
              <a:lin ang="0"/>
            </a:gradFill>
            <a:prstDash val="solid"/>
            <a:round/>
          </a:ln>
        </p:spPr>
        <p:txBody>
          <a:bodyPr vert="horz" wrap="square" lIns="63500" tIns="63500" rIns="63500" bIns="63500" rtlCol="0" anchor="ctr"/>
          <a:lstStyle/>
          <a:p>
            <a:pPr algn="ctr">
              <a:defRPr/>
            </a:pPr>
          </a:p>
        </p:txBody>
      </p:sp>
      <p:sp>
        <p:nvSpPr>
          <p:cNvPr id="27" name="AutoShape 27"/>
          <p:cNvSpPr/>
          <p:nvPr/>
        </p:nvSpPr>
        <p:spPr>
          <a:xfrm>
            <a:off x="508000" y="5486400"/>
            <a:ext cx="50800" cy="1041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28" name="AutoShape 28"/>
          <p:cNvSpPr/>
          <p:nvPr/>
        </p:nvSpPr>
        <p:spPr>
          <a:xfrm>
            <a:off x="762000" y="5486400"/>
            <a:ext cx="62230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1" i="0" u="none" strike="noStrike" spc="100">
                <a:solidFill>
                  <a:srgbClr val="1E3A8A"/>
                </a:solidFill>
                <a:latin typeface="Noto Sans SC"/>
                <a:ea typeface="Noto Sans SC"/>
                <a:cs typeface="Noto Sans SC"/>
                <a:sym typeface="Noto Sans SC"/>
              </a:rPr>
              <a:t>流程位置与关联</a:t>
            </a:r>
            <a:endParaRPr lang="en-US" sz="1100"/>
          </a:p>
        </p:txBody>
      </p:sp>
      <p:sp>
        <p:nvSpPr>
          <p:cNvPr id="29" name="AutoShape 29"/>
          <p:cNvSpPr/>
          <p:nvPr/>
        </p:nvSpPr>
        <p:spPr>
          <a:xfrm>
            <a:off x="762000" y="5842000"/>
            <a:ext cx="6350000" cy="558800"/>
          </a:xfrm>
          <a:prstGeom prst="rect">
            <a:avLst/>
          </a:prstGeom>
          <a:noFill/>
          <a:ln w="12700" cap="flat" cmpd="sng">
            <a:noFill/>
            <a:prstDash val="solid"/>
            <a:round/>
          </a:ln>
        </p:spPr>
        <p:txBody>
          <a:bodyPr vert="horz" wrap="square" lIns="0" tIns="0" rIns="0" bIns="0" rtlCol="0" anchor="t" anchorCtr="0"/>
          <a:lstStyle/>
          <a:p>
            <a:pPr marL="0" indent="0" algn="l">
              <a:lnSpc>
                <a:spcPct val="113000"/>
              </a:lnSpc>
              <a:defRPr/>
            </a:pPr>
            <a:r>
              <a:rPr lang="en-US" sz="1200" b="0" i="0" u="none" strike="noStrike">
                <a:solidFill>
                  <a:srgbClr val="475569"/>
                </a:solidFill>
                <a:latin typeface="Noto Sans SC"/>
                <a:ea typeface="Noto Sans SC"/>
                <a:cs typeface="Noto Sans SC"/>
                <a:sym typeface="Noto Sans SC"/>
              </a:rPr>
              <a:t>环节:L2分析前处理 ｜ 关联:</a:t>
            </a:r>
            <a:r>
              <a:rPr lang="en-US" sz="1200" b="1" i="0" u="none" strike="noStrike">
                <a:solidFill>
                  <a:srgbClr val="1E3A8A"/>
                </a:solidFill>
                <a:latin typeface="Noto Sans SC"/>
                <a:ea typeface="Noto Sans SC"/>
                <a:cs typeface="Noto Sans SC"/>
                <a:sym typeface="Noto Sans SC"/>
              </a:rPr>
              <a:t>#21平滑 · #22标准化 · #23降维</a:t>
            </a:r>
            <a:endParaRPr lang="en-US" sz="1100"/>
          </a:p>
        </p:txBody>
      </p:sp>
      <p:cxnSp>
        <p:nvCxnSpPr>
          <p:cNvPr id="30" name="Connector 30"/>
          <p:cNvCxnSpPr/>
          <p:nvPr/>
        </p:nvCxnSpPr>
        <p:spPr>
          <a:xfrm rot="5346289">
            <a:off x="6832600" y="5988100"/>
            <a:ext cx="812800" cy="12700"/>
          </a:xfrm>
          <a:prstGeom prst="straightConnector1">
            <a:avLst/>
          </a:prstGeom>
          <a:solidFill>
            <a:srgbClr val="DEE0E3">
              <a:alpha val="100000"/>
            </a:srgbClr>
          </a:solidFill>
          <a:ln w="12700" cap="flat" cmpd="sng">
            <a:solidFill>
              <a:srgbClr val="1E3A8A">
                <a:alpha val="20000"/>
              </a:srgbClr>
            </a:solidFill>
            <a:prstDash val="solid"/>
            <a:round/>
            <a:headEnd type="none" w="med" len="med"/>
            <a:tailEnd type="none" w="med" len="med"/>
          </a:ln>
        </p:spPr>
      </p:cxnSp>
      <p:sp>
        <p:nvSpPr>
          <p:cNvPr id="31" name="AutoShape 31"/>
          <p:cNvSpPr/>
          <p:nvPr/>
        </p:nvSpPr>
        <p:spPr>
          <a:xfrm>
            <a:off x="7493000" y="5486400"/>
            <a:ext cx="41910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1" i="0" u="none" strike="noStrike" spc="100">
                <a:solidFill>
                  <a:srgbClr val="1E3A8A"/>
                </a:solidFill>
                <a:latin typeface="Noto Sans SC"/>
                <a:ea typeface="Noto Sans SC"/>
                <a:cs typeface="Noto Sans SC"/>
                <a:sym typeface="Noto Sans SC"/>
              </a:rPr>
              <a:t>调用API</a:t>
            </a:r>
            <a:endParaRPr lang="en-US" sz="1100"/>
          </a:p>
        </p:txBody>
      </p:sp>
      <p:sp>
        <p:nvSpPr>
          <p:cNvPr id="32" name="AutoShape 32"/>
          <p:cNvSpPr/>
          <p:nvPr/>
        </p:nvSpPr>
        <p:spPr>
          <a:xfrm>
            <a:off x="7493000" y="5842000"/>
            <a:ext cx="4254500" cy="558800"/>
          </a:xfrm>
          <a:prstGeom prst="rect">
            <a:avLst/>
          </a:prstGeom>
          <a:noFill/>
          <a:ln w="12700" cap="flat" cmpd="sng">
            <a:noFill/>
            <a:prstDash val="solid"/>
            <a:round/>
          </a:ln>
        </p:spPr>
        <p:txBody>
          <a:bodyPr vert="horz" wrap="square" lIns="0" tIns="0" rIns="0" bIns="0" rtlCol="0" anchor="t" anchorCtr="0"/>
          <a:lstStyle/>
          <a:p>
            <a:pPr marL="0" indent="0" algn="l">
              <a:lnSpc>
                <a:spcPct val="113000"/>
              </a:lnSpc>
              <a:defRPr/>
            </a:pPr>
            <a:r>
              <a:rPr lang="en-US" sz="1200" b="0" i="0" u="none" strike="noStrike">
                <a:solidFill>
                  <a:srgbClr val="475569"/>
                </a:solidFill>
                <a:latin typeface="Noto Sans SC"/>
                <a:ea typeface="Noto Sans SC"/>
                <a:cs typeface="Noto Sans SC"/>
                <a:sym typeface="Noto Sans SC"/>
              </a:rPr>
              <a:t>/api/v1/</a:t>
            </a:r>
            <a:r>
              <a:rPr lang="en-US" sz="1200" b="1" i="0" u="none" strike="noStrike">
                <a:solidFill>
                  <a:srgbClr val="1E3A8A"/>
                </a:solidFill>
                <a:latin typeface="Noto Sans SC"/>
                <a:ea typeface="Noto Sans SC"/>
                <a:cs typeface="Noto Sans SC"/>
                <a:sym typeface="Noto Sans SC"/>
              </a:rPr>
              <a:t>20_band_selection_denoising</a:t>
            </a:r>
            <a:r>
              <a:rPr lang="en-US" sz="1200" b="0" i="0" u="none" strike="noStrike">
                <a:solidFill>
                  <a:srgbClr val="475569"/>
                </a:solidFill>
                <a:latin typeface="Noto Sans SC"/>
                <a:ea typeface="Noto Sans SC"/>
                <a:cs typeface="Noto Sans SC"/>
                <a:sym typeface="Noto Sans SC"/>
              </a:rPr>
              <a:t>/run</a:t>
            </a:r>
            <a:endParaRPr lang="en-US" sz="11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17500"/>
            <a:ext cx="10160000" cy="635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spc="100">
                <a:solidFill>
                  <a:srgbClr val="1E3A8A"/>
                </a:solidFill>
                <a:latin typeface="Noto Sans SC"/>
                <a:ea typeface="Noto Sans SC"/>
                <a:cs typeface="Noto Sans SC"/>
                <a:sym typeface="Noto Sans SC"/>
              </a:rPr>
              <a:t>Savitzky-Golay平滑/包络线去除</a:t>
            </a:r>
            <a:endParaRPr lang="en-US" sz="1100"/>
          </a:p>
        </p:txBody>
      </p:sp>
      <p:sp>
        <p:nvSpPr>
          <p:cNvPr id="3" name="AutoShape 3"/>
          <p:cNvSpPr/>
          <p:nvPr/>
        </p:nvSpPr>
        <p:spPr>
          <a:xfrm>
            <a:off x="381000" y="1016000"/>
            <a:ext cx="10160000" cy="2794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200" b="0" i="0" u="none" strike="noStrike" spc="50">
                <a:solidFill>
                  <a:srgbClr val="64748B"/>
                </a:solidFill>
                <a:latin typeface="Noto Sans SC"/>
                <a:ea typeface="Noto Sans SC"/>
                <a:cs typeface="Noto Sans SC"/>
                <a:sym typeface="Noto Sans SC"/>
              </a:rPr>
              <a:t>L2层级 · 编号#21 · 辅导材料:算法清单与API</a:t>
            </a:r>
            <a:endParaRPr lang="en-US" sz="1100"/>
          </a:p>
        </p:txBody>
      </p:sp>
      <p:cxnSp>
        <p:nvCxnSpPr>
          <p:cNvPr id="4" name="Connector 4"/>
          <p:cNvCxnSpPr/>
          <p:nvPr/>
        </p:nvCxnSpPr>
        <p:spPr>
          <a:xfrm rot="-3819">
            <a:off x="381004" y="1390650"/>
            <a:ext cx="114300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5" name="AutoShape 5"/>
          <p:cNvSpPr/>
          <p:nvPr/>
        </p:nvSpPr>
        <p:spPr>
          <a:xfrm>
            <a:off x="381000" y="1524000"/>
            <a:ext cx="6350000" cy="381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000" b="1" i="0" u="none" strike="noStrike" spc="100">
                <a:solidFill>
                  <a:srgbClr val="1E3A8A"/>
                </a:solidFill>
                <a:latin typeface="Noto Sans SC"/>
                <a:ea typeface="Noto Sans SC"/>
                <a:cs typeface="Noto Sans SC"/>
                <a:sym typeface="Noto Sans SC"/>
              </a:rPr>
              <a:t>功能定义</a:t>
            </a:r>
            <a:endParaRPr lang="en-US" sz="1100"/>
          </a:p>
        </p:txBody>
      </p:sp>
      <p:sp>
        <p:nvSpPr>
          <p:cNvPr id="6" name="AutoShape 6"/>
          <p:cNvSpPr/>
          <p:nvPr/>
        </p:nvSpPr>
        <p:spPr>
          <a:xfrm>
            <a:off x="381000" y="1930400"/>
            <a:ext cx="6350000" cy="6985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500" b="0" i="0" u="none" strike="noStrike">
                <a:solidFill>
                  <a:srgbClr val="334155"/>
                </a:solidFill>
                <a:latin typeface="Noto Sans SC"/>
                <a:ea typeface="Noto Sans SC"/>
                <a:cs typeface="Noto Sans SC"/>
                <a:sym typeface="Noto Sans SC"/>
              </a:rPr>
              <a:t>平滑光谱曲线,或去除光谱曲线的包络线,突出吸收特征。</a:t>
            </a:r>
            <a:endParaRPr lang="en-US" sz="1100"/>
          </a:p>
        </p:txBody>
      </p:sp>
      <p:cxnSp>
        <p:nvCxnSpPr>
          <p:cNvPr id="7" name="Connector 7"/>
          <p:cNvCxnSpPr/>
          <p:nvPr/>
        </p:nvCxnSpPr>
        <p:spPr>
          <a:xfrm rot="-6875">
            <a:off x="381006" y="2787650"/>
            <a:ext cx="6350000" cy="12700"/>
          </a:xfrm>
          <a:prstGeom prst="straightConnector1">
            <a:avLst/>
          </a:prstGeom>
          <a:solidFill>
            <a:srgbClr val="DEE0E3">
              <a:alpha val="100000"/>
            </a:srgbClr>
          </a:solidFill>
          <a:ln w="12700" cap="flat" cmpd="sng">
            <a:solidFill>
              <a:srgbClr val="1E3A8A">
                <a:alpha val="12000"/>
              </a:srgbClr>
            </a:solidFill>
            <a:prstDash val="solid"/>
            <a:round/>
            <a:headEnd type="none" w="med" len="med"/>
            <a:tailEnd type="none" w="med" len="med"/>
          </a:ln>
        </p:spPr>
      </p:cxnSp>
      <p:sp>
        <p:nvSpPr>
          <p:cNvPr id="8" name="AutoShape 8"/>
          <p:cNvSpPr/>
          <p:nvPr/>
        </p:nvSpPr>
        <p:spPr>
          <a:xfrm>
            <a:off x="381000" y="2921000"/>
            <a:ext cx="6350000" cy="381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000" b="1" i="0" u="none" strike="noStrike" spc="100">
                <a:solidFill>
                  <a:srgbClr val="1E3A8A"/>
                </a:solidFill>
                <a:latin typeface="Noto Sans SC"/>
                <a:ea typeface="Noto Sans SC"/>
                <a:cs typeface="Noto Sans SC"/>
                <a:sym typeface="Noto Sans SC"/>
              </a:rPr>
              <a:t>方法要点</a:t>
            </a:r>
            <a:endParaRPr lang="en-US" sz="1100"/>
          </a:p>
        </p:txBody>
      </p:sp>
      <p:sp>
        <p:nvSpPr>
          <p:cNvPr id="9" name="AutoShape 9"/>
          <p:cNvSpPr/>
          <p:nvPr/>
        </p:nvSpPr>
        <p:spPr>
          <a:xfrm>
            <a:off x="381000" y="3327400"/>
            <a:ext cx="6350000" cy="8890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381000" y="3327400"/>
            <a:ext cx="50800" cy="889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635000" y="3327400"/>
            <a:ext cx="59690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600" b="1" i="0" u="none" strike="noStrike">
                <a:solidFill>
                  <a:srgbClr val="1E3A8A"/>
                </a:solidFill>
                <a:latin typeface="Noto Sans SC"/>
                <a:ea typeface="Noto Sans SC"/>
                <a:cs typeface="Noto Sans SC"/>
                <a:sym typeface="Noto Sans SC"/>
              </a:rPr>
              <a:t>Savitzky-Golay平滑</a:t>
            </a:r>
            <a:endParaRPr lang="en-US" sz="1100"/>
          </a:p>
        </p:txBody>
      </p:sp>
      <p:sp>
        <p:nvSpPr>
          <p:cNvPr id="12" name="AutoShape 12"/>
          <p:cNvSpPr/>
          <p:nvPr/>
        </p:nvSpPr>
        <p:spPr>
          <a:xfrm>
            <a:off x="635000" y="3683000"/>
            <a:ext cx="5969000" cy="533400"/>
          </a:xfrm>
          <a:prstGeom prst="rect">
            <a:avLst/>
          </a:prstGeom>
          <a:noFill/>
          <a:ln w="12700" cap="flat" cmpd="sng">
            <a:noFill/>
            <a:prstDash val="solid"/>
            <a:round/>
          </a:ln>
        </p:spPr>
        <p:txBody>
          <a:bodyPr vert="horz" wrap="square" lIns="0" tIns="0" rIns="0" bIns="0" rtlCol="0" anchor="t" anchorCtr="0"/>
          <a:lstStyle/>
          <a:p>
            <a:pPr marL="0" indent="0" algn="l">
              <a:lnSpc>
                <a:spcPct val="121000"/>
              </a:lnSpc>
              <a:defRPr/>
            </a:pPr>
            <a:r>
              <a:rPr lang="en-US" sz="1300" b="0" i="0" u="none" strike="noStrike">
                <a:solidFill>
                  <a:srgbClr val="475569"/>
                </a:solidFill>
                <a:latin typeface="Noto Sans SC"/>
                <a:ea typeface="Noto Sans SC"/>
                <a:cs typeface="Noto Sans SC"/>
                <a:sym typeface="Noto Sans SC"/>
              </a:rPr>
              <a:t>利用多项式拟合来平滑光谱曲线,有效去除高频噪声。</a:t>
            </a:r>
            <a:endParaRPr lang="en-US" sz="1100"/>
          </a:p>
        </p:txBody>
      </p:sp>
      <p:sp>
        <p:nvSpPr>
          <p:cNvPr id="13" name="AutoShape 13"/>
          <p:cNvSpPr/>
          <p:nvPr/>
        </p:nvSpPr>
        <p:spPr>
          <a:xfrm>
            <a:off x="381000" y="4318000"/>
            <a:ext cx="6350000" cy="8890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381000" y="4318000"/>
            <a:ext cx="50800" cy="889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635000" y="4318000"/>
            <a:ext cx="59690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600" b="1" i="0" u="none" strike="noStrike">
                <a:solidFill>
                  <a:srgbClr val="1E3A8A"/>
                </a:solidFill>
                <a:latin typeface="Noto Sans SC"/>
                <a:ea typeface="Noto Sans SC"/>
                <a:cs typeface="Noto Sans SC"/>
                <a:sym typeface="Noto Sans SC"/>
              </a:rPr>
              <a:t>包络线去除</a:t>
            </a:r>
            <a:endParaRPr lang="en-US" sz="1100"/>
          </a:p>
        </p:txBody>
      </p:sp>
      <p:sp>
        <p:nvSpPr>
          <p:cNvPr id="16" name="AutoShape 16"/>
          <p:cNvSpPr/>
          <p:nvPr/>
        </p:nvSpPr>
        <p:spPr>
          <a:xfrm>
            <a:off x="635000" y="4673600"/>
            <a:ext cx="5969000" cy="533400"/>
          </a:xfrm>
          <a:prstGeom prst="rect">
            <a:avLst/>
          </a:prstGeom>
          <a:noFill/>
          <a:ln w="12700" cap="flat" cmpd="sng">
            <a:noFill/>
            <a:prstDash val="solid"/>
            <a:round/>
          </a:ln>
        </p:spPr>
        <p:txBody>
          <a:bodyPr vert="horz" wrap="square" lIns="0" tIns="0" rIns="0" bIns="0" rtlCol="0" anchor="t" anchorCtr="0"/>
          <a:lstStyle/>
          <a:p>
            <a:pPr marL="0" indent="0" algn="l">
              <a:lnSpc>
                <a:spcPct val="121000"/>
              </a:lnSpc>
              <a:defRPr/>
            </a:pPr>
            <a:r>
              <a:rPr lang="en-US" sz="1300" b="0" i="0" u="none" strike="noStrike">
                <a:solidFill>
                  <a:srgbClr val="475569"/>
                </a:solidFill>
                <a:latin typeface="Noto Sans SC"/>
                <a:ea typeface="Noto Sans SC"/>
                <a:cs typeface="Noto Sans SC"/>
                <a:sym typeface="Noto Sans SC"/>
              </a:rPr>
              <a:t>通过连接光谱曲线的峰值点形成包络线,然后将原始光谱除以该包络线。</a:t>
            </a:r>
            <a:endParaRPr lang="en-US" sz="1100"/>
          </a:p>
        </p:txBody>
      </p:sp>
      <p:sp>
        <p:nvSpPr>
          <p:cNvPr id="17" name="AutoShape 17"/>
          <p:cNvSpPr/>
          <p:nvPr/>
        </p:nvSpPr>
        <p:spPr>
          <a:xfrm>
            <a:off x="7112000" y="1524000"/>
            <a:ext cx="4699000" cy="11430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7112000" y="1524000"/>
            <a:ext cx="50800" cy="1143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7366000" y="1524000"/>
            <a:ext cx="42545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适用场景</a:t>
            </a:r>
            <a:endParaRPr lang="en-US" sz="1100"/>
          </a:p>
        </p:txBody>
      </p:sp>
      <p:sp>
        <p:nvSpPr>
          <p:cNvPr id="20" name="AutoShape 20"/>
          <p:cNvSpPr/>
          <p:nvPr/>
        </p:nvSpPr>
        <p:spPr>
          <a:xfrm>
            <a:off x="7366000" y="1905000"/>
            <a:ext cx="4254500" cy="660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300" b="0" i="0" u="none" strike="noStrike">
                <a:solidFill>
                  <a:srgbClr val="334155"/>
                </a:solidFill>
                <a:latin typeface="Noto Sans SC"/>
                <a:ea typeface="Noto Sans SC"/>
                <a:cs typeface="Noto Sans SC"/>
                <a:sym typeface="Noto Sans SC"/>
              </a:rPr>
              <a:t>光谱特征提取、矿物识别、植被生化参数反演。</a:t>
            </a:r>
            <a:endParaRPr lang="en-US" sz="1100"/>
          </a:p>
        </p:txBody>
      </p:sp>
      <p:sp>
        <p:nvSpPr>
          <p:cNvPr id="21" name="AutoShape 21"/>
          <p:cNvSpPr/>
          <p:nvPr/>
        </p:nvSpPr>
        <p:spPr>
          <a:xfrm>
            <a:off x="7112000" y="2794000"/>
            <a:ext cx="4699000" cy="1143000"/>
          </a:xfrm>
          <a:prstGeom prst="roundRect">
            <a:avLst>
              <a:gd name="adj" fmla="val 0"/>
            </a:avLst>
          </a:prstGeom>
          <a:solidFill>
            <a:srgbClr val="10B981">
              <a:alpha val="6000"/>
            </a:srgbClr>
          </a:solidFill>
          <a:ln cap="flat" cmpd="sng">
            <a:solidFill>
              <a:srgbClr val="00A06B">
                <a:alpha val="6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7112000" y="2794000"/>
            <a:ext cx="50800" cy="1143000"/>
          </a:xfrm>
          <a:prstGeom prst="roundRect">
            <a:avLst>
              <a:gd name="adj" fmla="val 0"/>
            </a:avLst>
          </a:prstGeom>
          <a:solidFill>
            <a:srgbClr val="10B981">
              <a:alpha val="100000"/>
            </a:srgbClr>
          </a:solidFill>
          <a:ln cap="flat" cmpd="sng">
            <a:solidFill>
              <a:srgbClr val="00A06B">
                <a:alpha val="10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7366000" y="2794000"/>
            <a:ext cx="42545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0B981"/>
                </a:solidFill>
                <a:latin typeface="Noto Sans SC"/>
                <a:ea typeface="Noto Sans SC"/>
                <a:cs typeface="Noto Sans SC"/>
                <a:sym typeface="Noto Sans SC"/>
              </a:rPr>
              <a:t>业务价值</a:t>
            </a:r>
            <a:endParaRPr lang="en-US" sz="1100"/>
          </a:p>
        </p:txBody>
      </p:sp>
      <p:sp>
        <p:nvSpPr>
          <p:cNvPr id="24" name="AutoShape 24"/>
          <p:cNvSpPr/>
          <p:nvPr/>
        </p:nvSpPr>
        <p:spPr>
          <a:xfrm>
            <a:off x="7366000" y="3175000"/>
            <a:ext cx="4254500" cy="660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300" b="0" i="0" u="none" strike="noStrike">
                <a:solidFill>
                  <a:srgbClr val="334155"/>
                </a:solidFill>
                <a:latin typeface="Noto Sans SC"/>
                <a:ea typeface="Noto Sans SC"/>
                <a:cs typeface="Noto Sans SC"/>
                <a:sym typeface="Noto Sans SC"/>
              </a:rPr>
              <a:t>增强光谱特征,使光谱曲线更易于分析和比较。</a:t>
            </a:r>
            <a:endParaRPr lang="en-US" sz="1100"/>
          </a:p>
        </p:txBody>
      </p:sp>
      <p:sp>
        <p:nvSpPr>
          <p:cNvPr id="25" name="AutoShape 25"/>
          <p:cNvSpPr/>
          <p:nvPr/>
        </p:nvSpPr>
        <p:spPr>
          <a:xfrm>
            <a:off x="7112000" y="4064000"/>
            <a:ext cx="4699000" cy="1143000"/>
          </a:xfrm>
          <a:prstGeom prst="roundRect">
            <a:avLst>
              <a:gd name="adj" fmla="val 0"/>
            </a:avLst>
          </a:prstGeom>
          <a:solidFill>
            <a:srgbClr val="DC2626">
              <a:alpha val="6000"/>
            </a:srgbClr>
          </a:solidFill>
          <a:ln cap="flat" cmpd="sng">
            <a:solidFill>
              <a:srgbClr val="C30E0E">
                <a:alpha val="6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7112000" y="4064000"/>
            <a:ext cx="50800" cy="1143000"/>
          </a:xfrm>
          <a:prstGeom prst="roundRect">
            <a:avLst>
              <a:gd name="adj" fmla="val 0"/>
            </a:avLst>
          </a:prstGeom>
          <a:solidFill>
            <a:srgbClr val="DC2626">
              <a:alpha val="100000"/>
            </a:srgbClr>
          </a:solidFill>
          <a:ln cap="flat" cmpd="sng">
            <a:solidFill>
              <a:srgbClr val="C30E0E">
                <a:alpha val="100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7366000" y="4064000"/>
            <a:ext cx="42545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DC2626"/>
                </a:solidFill>
                <a:latin typeface="Noto Sans SC"/>
                <a:ea typeface="Noto Sans SC"/>
                <a:cs typeface="Noto Sans SC"/>
                <a:sym typeface="Noto Sans SC"/>
              </a:rPr>
              <a:t>缺失影响</a:t>
            </a:r>
            <a:endParaRPr lang="en-US" sz="1100"/>
          </a:p>
        </p:txBody>
      </p:sp>
      <p:sp>
        <p:nvSpPr>
          <p:cNvPr id="28" name="AutoShape 28"/>
          <p:cNvSpPr/>
          <p:nvPr/>
        </p:nvSpPr>
        <p:spPr>
          <a:xfrm>
            <a:off x="7366000" y="4445000"/>
            <a:ext cx="4254500" cy="736600"/>
          </a:xfrm>
          <a:prstGeom prst="rect">
            <a:avLst/>
          </a:prstGeom>
          <a:noFill/>
          <a:ln w="12700" cap="flat" cmpd="sng">
            <a:noFill/>
            <a:prstDash val="solid"/>
            <a:round/>
          </a:ln>
        </p:spPr>
        <p:txBody>
          <a:bodyPr vert="horz" wrap="square" lIns="0" tIns="0" rIns="0" bIns="0" rtlCol="0" anchor="t" anchorCtr="0"/>
          <a:lstStyle/>
          <a:p>
            <a:pPr marL="0" indent="0" algn="l">
              <a:lnSpc>
                <a:spcPct val="121000"/>
              </a:lnSpc>
              <a:defRPr/>
            </a:pPr>
            <a:r>
              <a:rPr lang="en-US" sz="1300" b="0" i="0" u="none" strike="noStrike">
                <a:solidFill>
                  <a:srgbClr val="334155"/>
                </a:solidFill>
                <a:latin typeface="Noto Sans SC"/>
                <a:ea typeface="Noto Sans SC"/>
                <a:cs typeface="Noto Sans SC"/>
                <a:sym typeface="Noto Sans SC"/>
              </a:rPr>
              <a:t>光谱曲线噪声较大,或吸收特征不明显,影响后续的特征提取和反演精度。</a:t>
            </a:r>
            <a:endParaRPr lang="en-US" sz="1100"/>
          </a:p>
        </p:txBody>
      </p:sp>
      <p:sp>
        <p:nvSpPr>
          <p:cNvPr id="29" name="AutoShape 29"/>
          <p:cNvSpPr/>
          <p:nvPr/>
        </p:nvSpPr>
        <p:spPr>
          <a:xfrm>
            <a:off x="381000" y="5461000"/>
            <a:ext cx="11430000" cy="1079500"/>
          </a:xfrm>
          <a:prstGeom prst="roundRect">
            <a:avLst>
              <a:gd name="adj" fmla="val 0"/>
            </a:avLst>
          </a:prstGeom>
          <a:gradFill rotWithShape="1">
            <a:gsLst>
              <a:gs pos="0">
                <a:srgbClr val="1E3A8A">
                  <a:alpha val="8000"/>
                </a:srgbClr>
              </a:gs>
              <a:gs pos="100000">
                <a:srgbClr val="1E3A8A">
                  <a:alpha val="2000"/>
                </a:srgbClr>
              </a:gs>
            </a:gsLst>
            <a:lin ang="0"/>
          </a:gradFill>
          <a:ln cap="flat" cmpd="sng">
            <a:gradFill rotWithShape="1">
              <a:gsLst>
                <a:gs pos="0">
                  <a:srgbClr val="0D2771">
                    <a:alpha val="8000"/>
                  </a:srgbClr>
                </a:gs>
                <a:gs pos="100000">
                  <a:srgbClr val="0D2771">
                    <a:alpha val="2000"/>
                  </a:srgbClr>
                </a:gs>
              </a:gsLst>
              <a:lin ang="0"/>
            </a:gradFill>
            <a:prstDash val="solid"/>
            <a:round/>
          </a:ln>
        </p:spPr>
        <p:txBody>
          <a:bodyPr vert="horz" wrap="square" lIns="63500" tIns="63500" rIns="63500" bIns="63500" rtlCol="0" anchor="ctr"/>
          <a:lstStyle/>
          <a:p>
            <a:pPr algn="ctr">
              <a:defRPr/>
            </a:pPr>
          </a:p>
        </p:txBody>
      </p:sp>
      <p:sp>
        <p:nvSpPr>
          <p:cNvPr id="30" name="AutoShape 30"/>
          <p:cNvSpPr/>
          <p:nvPr/>
        </p:nvSpPr>
        <p:spPr>
          <a:xfrm>
            <a:off x="635000" y="5549900"/>
            <a:ext cx="34290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100" b="1" i="0" u="none" strike="noStrike" spc="100">
                <a:solidFill>
                  <a:srgbClr val="64748B"/>
                </a:solidFill>
                <a:latin typeface="Noto Sans SC"/>
                <a:ea typeface="Noto Sans SC"/>
                <a:cs typeface="Noto Sans SC"/>
                <a:sym typeface="Noto Sans SC"/>
              </a:rPr>
              <a:t>流程位置</a:t>
            </a:r>
            <a:endParaRPr lang="en-US" sz="1100"/>
          </a:p>
        </p:txBody>
      </p:sp>
      <p:sp>
        <p:nvSpPr>
          <p:cNvPr id="31" name="AutoShape 31"/>
          <p:cNvSpPr/>
          <p:nvPr/>
        </p:nvSpPr>
        <p:spPr>
          <a:xfrm>
            <a:off x="635000" y="5842000"/>
            <a:ext cx="3429000" cy="5080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1500" b="1" i="0" u="none" strike="noStrike">
                <a:solidFill>
                  <a:srgbClr val="1E3A8A"/>
                </a:solidFill>
                <a:latin typeface="Noto Sans SC"/>
                <a:ea typeface="Noto Sans SC"/>
                <a:cs typeface="Noto Sans SC"/>
                <a:sym typeface="Noto Sans SC"/>
              </a:rPr>
              <a:t>L2分析前处理</a:t>
            </a:r>
            <a:endParaRPr lang="en-US" sz="1100"/>
          </a:p>
        </p:txBody>
      </p:sp>
      <p:cxnSp>
        <p:nvCxnSpPr>
          <p:cNvPr id="32" name="Connector 32"/>
          <p:cNvCxnSpPr/>
          <p:nvPr/>
        </p:nvCxnSpPr>
        <p:spPr>
          <a:xfrm rot="5350892">
            <a:off x="3873500" y="6026195"/>
            <a:ext cx="8890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33" name="AutoShape 33"/>
          <p:cNvSpPr/>
          <p:nvPr/>
        </p:nvSpPr>
        <p:spPr>
          <a:xfrm>
            <a:off x="4572000" y="5549900"/>
            <a:ext cx="38100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100" b="1" i="0" u="none" strike="noStrike" spc="100">
                <a:solidFill>
                  <a:srgbClr val="64748B"/>
                </a:solidFill>
                <a:latin typeface="Noto Sans SC"/>
                <a:ea typeface="Noto Sans SC"/>
                <a:cs typeface="Noto Sans SC"/>
                <a:sym typeface="Noto Sans SC"/>
              </a:rPr>
              <a:t>关联算法</a:t>
            </a:r>
            <a:endParaRPr lang="en-US" sz="1100"/>
          </a:p>
        </p:txBody>
      </p:sp>
      <p:sp>
        <p:nvSpPr>
          <p:cNvPr id="34" name="AutoShape 34"/>
          <p:cNvSpPr/>
          <p:nvPr/>
        </p:nvSpPr>
        <p:spPr>
          <a:xfrm>
            <a:off x="4572000" y="5842000"/>
            <a:ext cx="3810000" cy="5080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1500" b="0" i="0" u="none" strike="noStrike">
                <a:solidFill>
                  <a:srgbClr val="334155"/>
                </a:solidFill>
                <a:latin typeface="Noto Sans SC"/>
                <a:ea typeface="Noto Sans SC"/>
                <a:cs typeface="Noto Sans SC"/>
                <a:sym typeface="Noto Sans SC"/>
              </a:rPr>
              <a:t>#20坏波段剔除 · #22标准化</a:t>
            </a:r>
            <a:endParaRPr lang="en-US" sz="1100"/>
          </a:p>
        </p:txBody>
      </p:sp>
      <p:cxnSp>
        <p:nvCxnSpPr>
          <p:cNvPr id="35" name="Connector 35"/>
          <p:cNvCxnSpPr/>
          <p:nvPr/>
        </p:nvCxnSpPr>
        <p:spPr>
          <a:xfrm rot="5350892">
            <a:off x="7937500" y="6026195"/>
            <a:ext cx="8890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36" name="AutoShape 36"/>
          <p:cNvSpPr/>
          <p:nvPr/>
        </p:nvSpPr>
        <p:spPr>
          <a:xfrm>
            <a:off x="8636000" y="5549900"/>
            <a:ext cx="31115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100" b="1" i="0" u="none" strike="noStrike" spc="100">
                <a:solidFill>
                  <a:srgbClr val="64748B"/>
                </a:solidFill>
                <a:latin typeface="Noto Sans SC"/>
                <a:ea typeface="Noto Sans SC"/>
                <a:cs typeface="Noto Sans SC"/>
                <a:sym typeface="Noto Sans SC"/>
              </a:rPr>
              <a:t>API接口</a:t>
            </a:r>
            <a:endParaRPr lang="en-US" sz="1100"/>
          </a:p>
        </p:txBody>
      </p:sp>
      <p:sp>
        <p:nvSpPr>
          <p:cNvPr id="37" name="AutoShape 37"/>
          <p:cNvSpPr/>
          <p:nvPr/>
        </p:nvSpPr>
        <p:spPr>
          <a:xfrm>
            <a:off x="8636000" y="5842000"/>
            <a:ext cx="3238500" cy="508000"/>
          </a:xfrm>
          <a:prstGeom prst="rect">
            <a:avLst/>
          </a:prstGeom>
          <a:noFill/>
          <a:ln w="12700" cap="flat" cmpd="sng">
            <a:noFill/>
            <a:prstDash val="solid"/>
            <a:round/>
          </a:ln>
        </p:spPr>
        <p:txBody>
          <a:bodyPr vert="horz" wrap="square" lIns="0" tIns="0" rIns="0" bIns="0" rtlCol="0" anchor="t" anchorCtr="0"/>
          <a:lstStyle/>
          <a:p>
            <a:pPr marL="0" indent="0" algn="l">
              <a:lnSpc>
                <a:spcPct val="104000"/>
              </a:lnSpc>
              <a:defRPr/>
            </a:pPr>
            <a:r>
              <a:rPr lang="en-US" sz="1300" b="1" i="0" u="none" strike="noStrike">
                <a:solidFill>
                  <a:srgbClr val="1E3A8A"/>
                </a:solidFill>
                <a:latin typeface="Noto Sans SC"/>
                <a:ea typeface="Noto Sans SC"/>
                <a:cs typeface="Noto Sans SC"/>
                <a:sym typeface="Noto Sans SC"/>
              </a:rPr>
              <a:t>/api/v1/21_sg_smoothing_derivative/run</a:t>
            </a:r>
            <a:endParaRPr lang="en-US" sz="11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43000" cy="889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5600" b="1" i="0" u="none" strike="noStrike">
                <a:solidFill>
                  <a:srgbClr val="1E3A8A">
                    <a:alpha val="12157"/>
                  </a:srgbClr>
                </a:solidFill>
                <a:latin typeface="Noto Sans SC"/>
                <a:ea typeface="Noto Sans SC"/>
                <a:cs typeface="Noto Sans SC"/>
                <a:sym typeface="Noto Sans SC"/>
              </a:rPr>
              <a:t>22</a:t>
            </a:r>
            <a:endParaRPr lang="en-US" sz="1100"/>
          </a:p>
        </p:txBody>
      </p:sp>
      <p:sp>
        <p:nvSpPr>
          <p:cNvPr id="3" name="AutoShape 3"/>
          <p:cNvSpPr/>
          <p:nvPr/>
        </p:nvSpPr>
        <p:spPr>
          <a:xfrm>
            <a:off x="1651000" y="431800"/>
            <a:ext cx="8128000" cy="533400"/>
          </a:xfrm>
          <a:prstGeom prst="rect">
            <a:avLst/>
          </a:prstGeom>
          <a:noFill/>
          <a:ln w="12700" cap="flat" cmpd="sng">
            <a:noFill/>
            <a:prstDash val="solid"/>
            <a:round/>
          </a:ln>
        </p:spPr>
        <p:txBody>
          <a:bodyPr vert="horz" wrap="square" lIns="0" tIns="0" rIns="0" bIns="0" rtlCol="0" anchor="t" anchorCtr="0"/>
          <a:lstStyle/>
          <a:p>
            <a:pPr marL="0" indent="0" algn="l">
              <a:lnSpc>
                <a:spcPct val="92000"/>
              </a:lnSpc>
              <a:defRPr/>
            </a:pPr>
            <a:r>
              <a:rPr lang="en-US" sz="2800" b="1" i="0" u="none" strike="noStrike">
                <a:solidFill>
                  <a:srgbClr val="1E3A8A"/>
                </a:solidFill>
                <a:latin typeface="Noto Sans SC"/>
                <a:ea typeface="Noto Sans SC"/>
                <a:cs typeface="Noto Sans SC"/>
                <a:sym typeface="Noto Sans SC"/>
              </a:rPr>
              <a:t>标准化/归一化</a:t>
            </a:r>
            <a:endParaRPr lang="en-US" sz="1100"/>
          </a:p>
        </p:txBody>
      </p:sp>
      <p:sp>
        <p:nvSpPr>
          <p:cNvPr id="4" name="AutoShape 4"/>
          <p:cNvSpPr/>
          <p:nvPr/>
        </p:nvSpPr>
        <p:spPr>
          <a:xfrm>
            <a:off x="1651000" y="1016000"/>
            <a:ext cx="8890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300" b="0" i="0" u="none" strike="noStrike">
                <a:solidFill>
                  <a:srgbClr val="64748B"/>
                </a:solidFill>
                <a:latin typeface="Noto Sans SC"/>
                <a:ea typeface="Noto Sans SC"/>
                <a:cs typeface="Noto Sans SC"/>
                <a:sym typeface="Noto Sans SC"/>
              </a:rPr>
              <a:t>所属层级:L2 ｜ 编号#22 ｜ 辅导材料:算法清单与API</a:t>
            </a:r>
            <a:endParaRPr lang="en-US" sz="1100"/>
          </a:p>
        </p:txBody>
      </p:sp>
      <p:cxnSp>
        <p:nvCxnSpPr>
          <p:cNvPr id="5" name="Connector 5"/>
          <p:cNvCxnSpPr/>
          <p:nvPr/>
        </p:nvCxnSpPr>
        <p:spPr>
          <a:xfrm rot="-3906">
            <a:off x="508004" y="1517650"/>
            <a:ext cx="11176000" cy="12700"/>
          </a:xfrm>
          <a:prstGeom prst="straightConnector1">
            <a:avLst/>
          </a:prstGeom>
          <a:solidFill>
            <a:srgbClr val="DEE0E3">
              <a:alpha val="100000"/>
            </a:srgbClr>
          </a:solidFill>
          <a:ln w="12700" cap="flat" cmpd="sng">
            <a:solidFill>
              <a:srgbClr val="94A3B8">
                <a:alpha val="35000"/>
              </a:srgbClr>
            </a:solidFill>
            <a:prstDash val="solid"/>
            <a:round/>
            <a:headEnd type="none" w="med" len="med"/>
            <a:tailEnd type="none" w="med" len="med"/>
          </a:ln>
        </p:spPr>
      </p:cxnSp>
      <p:sp>
        <p:nvSpPr>
          <p:cNvPr id="6" name="AutoShape 6"/>
          <p:cNvSpPr/>
          <p:nvPr/>
        </p:nvSpPr>
        <p:spPr>
          <a:xfrm>
            <a:off x="508000" y="1651000"/>
            <a:ext cx="5715000" cy="3556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功能定义</a:t>
            </a:r>
            <a:endParaRPr lang="en-US" sz="1100"/>
          </a:p>
        </p:txBody>
      </p:sp>
      <p:sp>
        <p:nvSpPr>
          <p:cNvPr id="7" name="AutoShape 7"/>
          <p:cNvSpPr/>
          <p:nvPr/>
        </p:nvSpPr>
        <p:spPr>
          <a:xfrm>
            <a:off x="508000" y="2057400"/>
            <a:ext cx="5715000" cy="660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将光谱数据缩放到一个统一的范围,消除量纲影响。</a:t>
            </a:r>
            <a:endParaRPr lang="en-US" sz="1100"/>
          </a:p>
        </p:txBody>
      </p:sp>
      <p:cxnSp>
        <p:nvCxnSpPr>
          <p:cNvPr id="8" name="Connector 8"/>
          <p:cNvCxnSpPr/>
          <p:nvPr/>
        </p:nvCxnSpPr>
        <p:spPr>
          <a:xfrm rot="-7639">
            <a:off x="508007" y="2813050"/>
            <a:ext cx="5715000" cy="12700"/>
          </a:xfrm>
          <a:prstGeom prst="straightConnector1">
            <a:avLst/>
          </a:prstGeom>
          <a:solidFill>
            <a:srgbClr val="DEE0E3">
              <a:alpha val="100000"/>
            </a:srgbClr>
          </a:solidFill>
          <a:ln w="12700" cap="flat" cmpd="sng">
            <a:solidFill>
              <a:srgbClr val="94A3B8">
                <a:alpha val="22000"/>
              </a:srgbClr>
            </a:solidFill>
            <a:prstDash val="solid"/>
            <a:round/>
            <a:headEnd type="none" w="med" len="med"/>
            <a:tailEnd type="none" w="med" len="med"/>
          </a:ln>
        </p:spPr>
      </p:cxnSp>
      <p:sp>
        <p:nvSpPr>
          <p:cNvPr id="9" name="AutoShape 9"/>
          <p:cNvSpPr/>
          <p:nvPr/>
        </p:nvSpPr>
        <p:spPr>
          <a:xfrm>
            <a:off x="508000" y="2921000"/>
            <a:ext cx="5715000" cy="3556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方法要点</a:t>
            </a:r>
            <a:endParaRPr lang="en-US" sz="1100"/>
          </a:p>
        </p:txBody>
      </p:sp>
      <p:sp>
        <p:nvSpPr>
          <p:cNvPr id="10" name="AutoShape 10"/>
          <p:cNvSpPr/>
          <p:nvPr/>
        </p:nvSpPr>
        <p:spPr>
          <a:xfrm>
            <a:off x="508000" y="3327400"/>
            <a:ext cx="5715000" cy="8382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常用方法包括最小-最大归一化(将数据缩放到</a:t>
            </a:r>
            <a:r>
              <a:rPr lang="en-US" sz="1400" b="1" i="0" u="none" strike="noStrike">
                <a:solidFill>
                  <a:srgbClr val="1E3A8A"/>
                </a:solidFill>
                <a:latin typeface="Noto Sans SC"/>
                <a:ea typeface="Noto Sans SC"/>
                <a:cs typeface="Noto Sans SC"/>
                <a:sym typeface="Noto Sans SC"/>
              </a:rPr>
              <a:t>[0,1]</a:t>
            </a:r>
            <a:r>
              <a:rPr lang="en-US" sz="1400" b="0" i="0" u="none" strike="noStrike">
                <a:solidFill>
                  <a:srgbClr val="334155"/>
                </a:solidFill>
                <a:latin typeface="Noto Sans SC"/>
                <a:ea typeface="Noto Sans SC"/>
                <a:cs typeface="Noto Sans SC"/>
                <a:sym typeface="Noto Sans SC"/>
              </a:rPr>
              <a:t>区间)和标准化(将数据转换为均值为0,方差为1)。</a:t>
            </a:r>
            <a:endParaRPr lang="en-US" sz="1100"/>
          </a:p>
        </p:txBody>
      </p:sp>
      <p:cxnSp>
        <p:nvCxnSpPr>
          <p:cNvPr id="11" name="Connector 11"/>
          <p:cNvCxnSpPr/>
          <p:nvPr/>
        </p:nvCxnSpPr>
        <p:spPr>
          <a:xfrm rot="-7639">
            <a:off x="508007" y="4260850"/>
            <a:ext cx="5715000" cy="12700"/>
          </a:xfrm>
          <a:prstGeom prst="straightConnector1">
            <a:avLst/>
          </a:prstGeom>
          <a:solidFill>
            <a:srgbClr val="DEE0E3">
              <a:alpha val="100000"/>
            </a:srgbClr>
          </a:solidFill>
          <a:ln w="12700" cap="flat" cmpd="sng">
            <a:solidFill>
              <a:srgbClr val="94A3B8">
                <a:alpha val="22000"/>
              </a:srgbClr>
            </a:solidFill>
            <a:prstDash val="solid"/>
            <a:round/>
            <a:headEnd type="none" w="med" len="med"/>
            <a:tailEnd type="none" w="med" len="med"/>
          </a:ln>
        </p:spPr>
      </p:cxnSp>
      <p:sp>
        <p:nvSpPr>
          <p:cNvPr id="12" name="AutoShape 12"/>
          <p:cNvSpPr/>
          <p:nvPr/>
        </p:nvSpPr>
        <p:spPr>
          <a:xfrm>
            <a:off x="508000" y="4368800"/>
            <a:ext cx="5715000" cy="3556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适用场景</a:t>
            </a:r>
            <a:endParaRPr lang="en-US" sz="1100"/>
          </a:p>
        </p:txBody>
      </p:sp>
      <p:sp>
        <p:nvSpPr>
          <p:cNvPr id="13" name="AutoShape 13"/>
          <p:cNvSpPr/>
          <p:nvPr/>
        </p:nvSpPr>
        <p:spPr>
          <a:xfrm>
            <a:off x="508000" y="4775200"/>
            <a:ext cx="5715000" cy="660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机器学习模型训练前,特别是当不同波段的数值范围差异较大时。</a:t>
            </a:r>
            <a:endParaRPr lang="en-US" sz="1100"/>
          </a:p>
        </p:txBody>
      </p:sp>
      <p:cxnSp>
        <p:nvCxnSpPr>
          <p:cNvPr id="14" name="Connector 14"/>
          <p:cNvCxnSpPr/>
          <p:nvPr/>
        </p:nvCxnSpPr>
        <p:spPr>
          <a:xfrm rot="5388616">
            <a:off x="4559300" y="3562361"/>
            <a:ext cx="3835400" cy="12700"/>
          </a:xfrm>
          <a:prstGeom prst="straightConnector1">
            <a:avLst/>
          </a:prstGeom>
          <a:solidFill>
            <a:srgbClr val="DEE0E3">
              <a:alpha val="100000"/>
            </a:srgbClr>
          </a:solidFill>
          <a:ln w="12700" cap="flat" cmpd="sng">
            <a:solidFill>
              <a:srgbClr val="94A3B8">
                <a:alpha val="28000"/>
              </a:srgbClr>
            </a:solidFill>
            <a:prstDash val="solid"/>
            <a:round/>
            <a:headEnd type="none" w="med" len="med"/>
            <a:tailEnd type="none" w="med" len="med"/>
          </a:ln>
        </p:spPr>
      </p:cxnSp>
      <p:sp>
        <p:nvSpPr>
          <p:cNvPr id="15" name="AutoShape 15"/>
          <p:cNvSpPr/>
          <p:nvPr/>
        </p:nvSpPr>
        <p:spPr>
          <a:xfrm>
            <a:off x="6731000" y="1651000"/>
            <a:ext cx="4953000" cy="1219200"/>
          </a:xfrm>
          <a:prstGeom prst="roundRect">
            <a:avLst>
              <a:gd name="adj" fmla="val 0"/>
            </a:avLst>
          </a:prstGeom>
          <a:solidFill>
            <a:srgbClr val="10B981">
              <a:alpha val="10000"/>
            </a:srgbClr>
          </a:solidFill>
          <a:ln cap="flat" cmpd="sng">
            <a:solidFill>
              <a:srgbClr val="00A06B">
                <a:alpha val="1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6731000" y="1651000"/>
            <a:ext cx="50800" cy="1219200"/>
          </a:xfrm>
          <a:prstGeom prst="roundRect">
            <a:avLst>
              <a:gd name="adj" fmla="val 0"/>
            </a:avLst>
          </a:prstGeom>
          <a:solidFill>
            <a:srgbClr val="10B981">
              <a:alpha val="100000"/>
            </a:srgbClr>
          </a:solidFill>
          <a:ln cap="flat" cmpd="sng">
            <a:solidFill>
              <a:srgbClr val="00A06B">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6985000" y="1701800"/>
            <a:ext cx="4572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0B981"/>
                </a:solidFill>
                <a:latin typeface="Noto Sans SC"/>
                <a:ea typeface="Noto Sans SC"/>
                <a:cs typeface="Noto Sans SC"/>
                <a:sym typeface="Noto Sans SC"/>
              </a:rPr>
              <a:t>业务价值</a:t>
            </a:r>
            <a:endParaRPr lang="en-US" sz="1100"/>
          </a:p>
        </p:txBody>
      </p:sp>
      <p:sp>
        <p:nvSpPr>
          <p:cNvPr id="18" name="AutoShape 18"/>
          <p:cNvSpPr/>
          <p:nvPr/>
        </p:nvSpPr>
        <p:spPr>
          <a:xfrm>
            <a:off x="6985000" y="2082800"/>
            <a:ext cx="4635500" cy="7112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34155"/>
                </a:solidFill>
                <a:latin typeface="Noto Sans SC"/>
                <a:ea typeface="Noto Sans SC"/>
                <a:cs typeface="Noto Sans SC"/>
                <a:sym typeface="Noto Sans SC"/>
              </a:rPr>
              <a:t>加快模型收敛速度,提高模型精度。</a:t>
            </a:r>
            <a:endParaRPr lang="en-US" sz="1100"/>
          </a:p>
        </p:txBody>
      </p:sp>
      <p:sp>
        <p:nvSpPr>
          <p:cNvPr id="19" name="AutoShape 19"/>
          <p:cNvSpPr/>
          <p:nvPr/>
        </p:nvSpPr>
        <p:spPr>
          <a:xfrm>
            <a:off x="6731000" y="2946400"/>
            <a:ext cx="4953000" cy="1219200"/>
          </a:xfrm>
          <a:prstGeom prst="roundRect">
            <a:avLst>
              <a:gd name="adj" fmla="val 0"/>
            </a:avLst>
          </a:prstGeom>
          <a:solidFill>
            <a:srgbClr val="F97316">
              <a:alpha val="10000"/>
            </a:srgbClr>
          </a:solidFill>
          <a:ln cap="flat" cmpd="sng">
            <a:solidFill>
              <a:srgbClr val="E05C00">
                <a:alpha val="1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6731000" y="2946400"/>
            <a:ext cx="50800" cy="1219200"/>
          </a:xfrm>
          <a:prstGeom prst="roundRect">
            <a:avLst>
              <a:gd name="adj" fmla="val 0"/>
            </a:avLst>
          </a:prstGeom>
          <a:solidFill>
            <a:srgbClr val="F97316">
              <a:alpha val="100000"/>
            </a:srgbClr>
          </a:solidFill>
          <a:ln cap="flat" cmpd="sng">
            <a:solidFill>
              <a:srgbClr val="E05C00">
                <a:alpha val="10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6985000" y="2997200"/>
            <a:ext cx="4572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F97316"/>
                </a:solidFill>
                <a:latin typeface="Noto Sans SC"/>
                <a:ea typeface="Noto Sans SC"/>
                <a:cs typeface="Noto Sans SC"/>
                <a:sym typeface="Noto Sans SC"/>
              </a:rPr>
              <a:t>缺失影响</a:t>
            </a:r>
            <a:endParaRPr lang="en-US" sz="1100"/>
          </a:p>
        </p:txBody>
      </p:sp>
      <p:sp>
        <p:nvSpPr>
          <p:cNvPr id="22" name="AutoShape 22"/>
          <p:cNvSpPr/>
          <p:nvPr/>
        </p:nvSpPr>
        <p:spPr>
          <a:xfrm>
            <a:off x="6985000" y="3378200"/>
            <a:ext cx="4635500" cy="7112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34155"/>
                </a:solidFill>
                <a:latin typeface="Noto Sans SC"/>
                <a:ea typeface="Noto Sans SC"/>
                <a:cs typeface="Noto Sans SC"/>
                <a:sym typeface="Noto Sans SC"/>
              </a:rPr>
              <a:t>数值范围较大的波段会在模型训练中占据主导地位,影响模型的公平性和精度。</a:t>
            </a:r>
            <a:endParaRPr lang="en-US" sz="1100"/>
          </a:p>
        </p:txBody>
      </p:sp>
      <p:sp>
        <p:nvSpPr>
          <p:cNvPr id="23" name="AutoShape 23"/>
          <p:cNvSpPr/>
          <p:nvPr/>
        </p:nvSpPr>
        <p:spPr>
          <a:xfrm>
            <a:off x="6731000" y="4267200"/>
            <a:ext cx="4953000" cy="14224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6731000" y="4267200"/>
            <a:ext cx="50800" cy="1422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6985000" y="4318000"/>
            <a:ext cx="4572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流程位置与关联</a:t>
            </a:r>
            <a:endParaRPr lang="en-US" sz="1100"/>
          </a:p>
        </p:txBody>
      </p:sp>
      <p:sp>
        <p:nvSpPr>
          <p:cNvPr id="26" name="AutoShape 26"/>
          <p:cNvSpPr/>
          <p:nvPr/>
        </p:nvSpPr>
        <p:spPr>
          <a:xfrm>
            <a:off x="6985000" y="4699000"/>
            <a:ext cx="46355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300" b="0" i="0" u="none" strike="noStrike">
                <a:solidFill>
                  <a:srgbClr val="475569"/>
                </a:solidFill>
                <a:latin typeface="Noto Sans SC"/>
                <a:ea typeface="Noto Sans SC"/>
                <a:cs typeface="Noto Sans SC"/>
                <a:sym typeface="Noto Sans SC"/>
              </a:rPr>
              <a:t>环节:</a:t>
            </a:r>
            <a:r>
              <a:rPr lang="en-US" sz="1300" b="1" i="0" u="none" strike="noStrike">
                <a:solidFill>
                  <a:srgbClr val="1E3A8A"/>
                </a:solidFill>
                <a:latin typeface="Noto Sans SC"/>
                <a:ea typeface="Noto Sans SC"/>
                <a:cs typeface="Noto Sans SC"/>
                <a:sym typeface="Noto Sans SC"/>
              </a:rPr>
              <a:t>L2分析前处理</a:t>
            </a:r>
            <a:r>
              <a:rPr lang="en-US" sz="1300" b="0" i="0" u="none" strike="noStrike">
                <a:solidFill>
                  <a:srgbClr val="475569"/>
                </a:solidFill>
                <a:latin typeface="Noto Sans SC"/>
                <a:ea typeface="Noto Sans SC"/>
                <a:cs typeface="Noto Sans SC"/>
                <a:sym typeface="Noto Sans SC"/>
              </a:rPr>
              <a:t>｜ 关联:</a:t>
            </a:r>
            <a:r>
              <a:rPr lang="en-US" sz="1300" b="1" i="0" u="none" strike="noStrike">
                <a:solidFill>
                  <a:srgbClr val="1E3A8A"/>
                </a:solidFill>
                <a:latin typeface="Noto Sans SC"/>
                <a:ea typeface="Noto Sans SC"/>
                <a:cs typeface="Noto Sans SC"/>
                <a:sym typeface="Noto Sans SC"/>
              </a:rPr>
              <a:t>#23降维,#34-39分类</a:t>
            </a:r>
            <a:endParaRPr lang="en-US" sz="1100"/>
          </a:p>
        </p:txBody>
      </p:sp>
      <p:sp>
        <p:nvSpPr>
          <p:cNvPr id="27" name="AutoShape 27"/>
          <p:cNvSpPr/>
          <p:nvPr/>
        </p:nvSpPr>
        <p:spPr>
          <a:xfrm>
            <a:off x="6985000" y="5143500"/>
            <a:ext cx="4635500" cy="4826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0" i="0" u="none" strike="noStrike">
                <a:solidFill>
                  <a:srgbClr val="64748B"/>
                </a:solidFill>
                <a:latin typeface="Noto Sans SC"/>
                <a:ea typeface="Noto Sans SC"/>
                <a:cs typeface="Noto Sans SC"/>
                <a:sym typeface="Noto Sans SC"/>
              </a:rPr>
              <a:t>API:</a:t>
            </a:r>
            <a:r>
              <a:rPr lang="en-US" sz="1200" b="1" i="0" u="none" strike="noStrike">
                <a:solidFill>
                  <a:srgbClr val="1E3A8A"/>
                </a:solidFill>
                <a:latin typeface="Noto Sans SC"/>
                <a:ea typeface="Noto Sans SC"/>
                <a:cs typeface="Noto Sans SC"/>
                <a:sym typeface="Noto Sans SC"/>
              </a:rPr>
              <a:t>/api/v1/22_normalization/run</a:t>
            </a:r>
            <a:endParaRPr lang="en-US" sz="1100"/>
          </a:p>
        </p:txBody>
      </p:sp>
      <p:cxnSp>
        <p:nvCxnSpPr>
          <p:cNvPr id="28" name="Connector 28"/>
          <p:cNvCxnSpPr/>
          <p:nvPr/>
        </p:nvCxnSpPr>
        <p:spPr>
          <a:xfrm rot="-3906">
            <a:off x="508004" y="5835650"/>
            <a:ext cx="11176000" cy="12700"/>
          </a:xfrm>
          <a:prstGeom prst="straightConnector1">
            <a:avLst/>
          </a:prstGeom>
          <a:solidFill>
            <a:srgbClr val="DEE0E3">
              <a:alpha val="100000"/>
            </a:srgbClr>
          </a:solidFill>
          <a:ln w="12700" cap="flat" cmpd="sng">
            <a:solidFill>
              <a:srgbClr val="94A3B8">
                <a:alpha val="22000"/>
              </a:srgbClr>
            </a:solidFill>
            <a:prstDash val="solid"/>
            <a:round/>
            <a:headEnd type="none" w="med" len="med"/>
            <a:tailEnd type="none" w="med" len="med"/>
          </a:ln>
        </p:spPr>
      </p:cxnSp>
      <p:sp>
        <p:nvSpPr>
          <p:cNvPr id="29" name="AutoShape 29"/>
          <p:cNvSpPr/>
          <p:nvPr/>
        </p:nvSpPr>
        <p:spPr>
          <a:xfrm>
            <a:off x="508000" y="5969000"/>
            <a:ext cx="11176000" cy="6350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300" b="0" i="0" u="none" strike="noStrike">
                <a:solidFill>
                  <a:srgbClr val="64748B"/>
                </a:solidFill>
                <a:latin typeface="Noto Sans SC"/>
                <a:ea typeface="Noto Sans SC"/>
                <a:cs typeface="Noto Sans SC"/>
                <a:sym typeface="Noto Sans SC"/>
              </a:rPr>
              <a:t>在进行机器学习模型训练时,不同波段的数值范围可能差异很大。这个算法将所有数据缩放到一个统一的范围,这样可以加快模型的收敛速度,并提高模型的精度。</a:t>
            </a:r>
            <a:endParaRPr lang="en-US" sz="11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55600"/>
            <a:ext cx="9144000" cy="6604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3200" b="1" i="0" u="none" strike="noStrike">
                <a:solidFill>
                  <a:srgbClr val="1E3A8A"/>
                </a:solidFill>
                <a:latin typeface="Noto Sans SC"/>
                <a:ea typeface="Noto Sans SC"/>
                <a:cs typeface="Noto Sans SC"/>
                <a:sym typeface="Noto Sans SC"/>
              </a:rPr>
              <a:t>23.降维(PCA/MNF/ICA)</a:t>
            </a:r>
            <a:endParaRPr lang="en-US" sz="1100"/>
          </a:p>
        </p:txBody>
      </p:sp>
      <p:sp>
        <p:nvSpPr>
          <p:cNvPr id="3" name="AutoShape 3"/>
          <p:cNvSpPr/>
          <p:nvPr/>
        </p:nvSpPr>
        <p:spPr>
          <a:xfrm>
            <a:off x="9398000" y="406400"/>
            <a:ext cx="2413000" cy="584200"/>
          </a:xfrm>
          <a:prstGeom prst="rect">
            <a:avLst/>
          </a:prstGeom>
          <a:noFill/>
          <a:ln w="12700" cap="flat" cmpd="sng">
            <a:noFill/>
            <a:prstDash val="solid"/>
            <a:round/>
          </a:ln>
        </p:spPr>
        <p:txBody>
          <a:bodyPr vert="horz" wrap="square" lIns="0" tIns="0" rIns="0" bIns="0" rtlCol="0" anchor="ctr" anchorCtr="0"/>
          <a:lstStyle/>
          <a:p>
            <a:pPr marL="0" indent="0" algn="r">
              <a:lnSpc>
                <a:spcPct val="108000"/>
              </a:lnSpc>
              <a:defRPr/>
            </a:pPr>
            <a:r>
              <a:rPr lang="en-US" sz="1200" b="0" i="0" u="none" strike="noStrike">
                <a:solidFill>
                  <a:srgbClr val="64748B"/>
                </a:solidFill>
                <a:latin typeface="Noto Sans SC"/>
                <a:ea typeface="Noto Sans SC"/>
                <a:cs typeface="Noto Sans SC"/>
                <a:sym typeface="Noto Sans SC"/>
              </a:rPr>
              <a:t>层级:L2｜编号:#23</a:t>
            </a:r>
            <a:br>
              <a:rPr lang="en-US" sz="1600" b="0" i="0" u="none" strike="noStrike">
                <a:solidFill>
                  <a:srgbClr val="1F2329"/>
                </a:solidFill>
                <a:latin typeface="Noto Sans SC"/>
                <a:ea typeface="Noto Sans SC"/>
                <a:cs typeface="Noto Sans SC"/>
                <a:sym typeface="Noto Sans SC"/>
              </a:rPr>
            </a:br>
            <a:r>
              <a:rPr lang="en-US" sz="1100" b="0" i="0" u="none" strike="noStrike">
                <a:solidFill>
                  <a:srgbClr val="94A3B8"/>
                </a:solidFill>
                <a:latin typeface="Noto Sans SC"/>
                <a:ea typeface="Noto Sans SC"/>
                <a:cs typeface="Noto Sans SC"/>
                <a:sym typeface="Noto Sans SC"/>
              </a:rPr>
              <a:t>辅导材料:算法清单与API</a:t>
            </a:r>
            <a:endParaRPr lang="en-US" sz="1100"/>
          </a:p>
        </p:txBody>
      </p:sp>
      <p:cxnSp>
        <p:nvCxnSpPr>
          <p:cNvPr id="4" name="Connector 4"/>
          <p:cNvCxnSpPr/>
          <p:nvPr/>
        </p:nvCxnSpPr>
        <p:spPr>
          <a:xfrm rot="-3906">
            <a:off x="508004" y="1035050"/>
            <a:ext cx="111760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5" name="AutoShape 5"/>
          <p:cNvSpPr/>
          <p:nvPr/>
        </p:nvSpPr>
        <p:spPr>
          <a:xfrm>
            <a:off x="508000" y="1168400"/>
            <a:ext cx="5588000" cy="381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2000" b="1" i="0" u="none" strike="noStrike">
                <a:solidFill>
                  <a:srgbClr val="1E3A8A"/>
                </a:solidFill>
                <a:latin typeface="Noto Sans SC"/>
                <a:ea typeface="Noto Sans SC"/>
                <a:cs typeface="Noto Sans SC"/>
                <a:sym typeface="Noto Sans SC"/>
              </a:rPr>
              <a:t>功能定义</a:t>
            </a:r>
            <a:endParaRPr lang="en-US" sz="1100"/>
          </a:p>
        </p:txBody>
      </p:sp>
      <p:sp>
        <p:nvSpPr>
          <p:cNvPr id="6" name="AutoShape 6"/>
          <p:cNvSpPr/>
          <p:nvPr/>
        </p:nvSpPr>
        <p:spPr>
          <a:xfrm>
            <a:off x="508000" y="1600200"/>
            <a:ext cx="5588000" cy="762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500" b="0" i="0" u="none" strike="noStrike">
                <a:solidFill>
                  <a:srgbClr val="334155"/>
                </a:solidFill>
                <a:latin typeface="Noto Sans SC"/>
                <a:ea typeface="Noto Sans SC"/>
                <a:cs typeface="Noto Sans SC"/>
                <a:sym typeface="Noto Sans SC"/>
              </a:rPr>
              <a:t>将上百个高度相关的波段压缩为少数几个包含主要信息的新波段。</a:t>
            </a:r>
            <a:endParaRPr lang="en-US" sz="1100"/>
          </a:p>
        </p:txBody>
      </p:sp>
      <p:sp>
        <p:nvSpPr>
          <p:cNvPr id="7" name="AutoShape 7"/>
          <p:cNvSpPr/>
          <p:nvPr/>
        </p:nvSpPr>
        <p:spPr>
          <a:xfrm>
            <a:off x="6350000" y="1168400"/>
            <a:ext cx="2603500" cy="1778000"/>
          </a:xfrm>
          <a:prstGeom prst="roundRect">
            <a:avLst>
              <a:gd name="adj" fmla="val 0"/>
            </a:avLst>
          </a:prstGeom>
          <a:solidFill>
            <a:srgbClr val="F8FAFC">
              <a:alpha val="100000"/>
            </a:srgbClr>
          </a:solidFill>
          <a:ln cap="flat" cmpd="sng">
            <a:solidFill>
              <a:srgbClr val="C8D5E3">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6350000" y="1168400"/>
            <a:ext cx="50800" cy="1778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6527800" y="1193800"/>
            <a:ext cx="2387600" cy="381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2000" b="1" i="0" u="none" strike="noStrike">
                <a:solidFill>
                  <a:srgbClr val="1E3A8A"/>
                </a:solidFill>
                <a:latin typeface="Noto Sans SC"/>
                <a:ea typeface="Noto Sans SC"/>
                <a:cs typeface="Noto Sans SC"/>
                <a:sym typeface="Noto Sans SC"/>
              </a:rPr>
              <a:t>PCA</a:t>
            </a:r>
            <a:endParaRPr lang="en-US" sz="1100"/>
          </a:p>
        </p:txBody>
      </p:sp>
      <p:sp>
        <p:nvSpPr>
          <p:cNvPr id="10" name="AutoShape 10"/>
          <p:cNvSpPr/>
          <p:nvPr/>
        </p:nvSpPr>
        <p:spPr>
          <a:xfrm>
            <a:off x="6527800" y="1600200"/>
            <a:ext cx="23876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400" b="1" i="0" u="none" strike="noStrike">
                <a:solidFill>
                  <a:srgbClr val="334155"/>
                </a:solidFill>
                <a:latin typeface="Noto Sans SC"/>
                <a:ea typeface="Noto Sans SC"/>
                <a:cs typeface="Noto Sans SC"/>
                <a:sym typeface="Noto Sans SC"/>
              </a:rPr>
              <a:t>主成分分析</a:t>
            </a:r>
            <a:endParaRPr lang="en-US" sz="1100"/>
          </a:p>
        </p:txBody>
      </p:sp>
      <p:sp>
        <p:nvSpPr>
          <p:cNvPr id="11" name="AutoShape 11"/>
          <p:cNvSpPr/>
          <p:nvPr/>
        </p:nvSpPr>
        <p:spPr>
          <a:xfrm>
            <a:off x="6527800" y="1955800"/>
            <a:ext cx="2387600" cy="711200"/>
          </a:xfrm>
          <a:prstGeom prst="rect">
            <a:avLst/>
          </a:prstGeom>
          <a:noFill/>
          <a:ln w="12700" cap="flat" cmpd="sng">
            <a:noFill/>
            <a:prstDash val="solid"/>
            <a:round/>
          </a:ln>
        </p:spPr>
        <p:txBody>
          <a:bodyPr vert="horz" wrap="square" lIns="0" tIns="0" rIns="0" bIns="0" rtlCol="0" anchor="t" anchorCtr="0"/>
          <a:lstStyle/>
          <a:p>
            <a:pPr marL="0" indent="0" algn="l">
              <a:lnSpc>
                <a:spcPct val="121000"/>
              </a:lnSpc>
              <a:defRPr/>
            </a:pPr>
            <a:r>
              <a:rPr lang="en-US" sz="1200" b="0" i="0" u="none" strike="noStrike">
                <a:solidFill>
                  <a:srgbClr val="475569"/>
                </a:solidFill>
                <a:latin typeface="Noto Sans SC"/>
                <a:ea typeface="Noto Sans SC"/>
                <a:cs typeface="Noto Sans SC"/>
                <a:sym typeface="Noto Sans SC"/>
              </a:rPr>
              <a:t>寻找数据中方差最大的方向,是最经典的线性降维方法。</a:t>
            </a:r>
            <a:endParaRPr lang="en-US" sz="1100"/>
          </a:p>
        </p:txBody>
      </p:sp>
      <p:sp>
        <p:nvSpPr>
          <p:cNvPr id="12" name="AutoShape 12"/>
          <p:cNvSpPr/>
          <p:nvPr/>
        </p:nvSpPr>
        <p:spPr>
          <a:xfrm>
            <a:off x="9017000" y="1168400"/>
            <a:ext cx="2667000" cy="1778000"/>
          </a:xfrm>
          <a:prstGeom prst="roundRect">
            <a:avLst>
              <a:gd name="adj" fmla="val 0"/>
            </a:avLst>
          </a:prstGeom>
          <a:solidFill>
            <a:srgbClr val="F8FAFC">
              <a:alpha val="100000"/>
            </a:srgbClr>
          </a:solidFill>
          <a:ln cap="flat" cmpd="sng">
            <a:solidFill>
              <a:srgbClr val="C8D5E3">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9017000" y="1168400"/>
            <a:ext cx="50800" cy="1778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9194800" y="1193800"/>
            <a:ext cx="2438400" cy="381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2000" b="1" i="0" u="none" strike="noStrike">
                <a:solidFill>
                  <a:srgbClr val="1E3A8A"/>
                </a:solidFill>
                <a:latin typeface="Noto Sans SC"/>
                <a:ea typeface="Noto Sans SC"/>
                <a:cs typeface="Noto Sans SC"/>
                <a:sym typeface="Noto Sans SC"/>
              </a:rPr>
              <a:t>MNF</a:t>
            </a:r>
            <a:endParaRPr lang="en-US" sz="1100"/>
          </a:p>
        </p:txBody>
      </p:sp>
      <p:sp>
        <p:nvSpPr>
          <p:cNvPr id="15" name="AutoShape 15"/>
          <p:cNvSpPr/>
          <p:nvPr/>
        </p:nvSpPr>
        <p:spPr>
          <a:xfrm>
            <a:off x="9194800" y="1600200"/>
            <a:ext cx="24384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400" b="1" i="0" u="none" strike="noStrike">
                <a:solidFill>
                  <a:srgbClr val="334155"/>
                </a:solidFill>
                <a:latin typeface="Noto Sans SC"/>
                <a:ea typeface="Noto Sans SC"/>
                <a:cs typeface="Noto Sans SC"/>
                <a:sym typeface="Noto Sans SC"/>
              </a:rPr>
              <a:t>最小噪声分离</a:t>
            </a:r>
            <a:endParaRPr lang="en-US" sz="1100"/>
          </a:p>
        </p:txBody>
      </p:sp>
      <p:sp>
        <p:nvSpPr>
          <p:cNvPr id="16" name="AutoShape 16"/>
          <p:cNvSpPr/>
          <p:nvPr/>
        </p:nvSpPr>
        <p:spPr>
          <a:xfrm>
            <a:off x="9194800" y="1955800"/>
            <a:ext cx="2438400" cy="711200"/>
          </a:xfrm>
          <a:prstGeom prst="rect">
            <a:avLst/>
          </a:prstGeom>
          <a:noFill/>
          <a:ln w="12700" cap="flat" cmpd="sng">
            <a:noFill/>
            <a:prstDash val="solid"/>
            <a:round/>
          </a:ln>
        </p:spPr>
        <p:txBody>
          <a:bodyPr vert="horz" wrap="square" lIns="0" tIns="0" rIns="0" bIns="0" rtlCol="0" anchor="t" anchorCtr="0"/>
          <a:lstStyle/>
          <a:p>
            <a:pPr marL="0" indent="0" algn="l">
              <a:lnSpc>
                <a:spcPct val="121000"/>
              </a:lnSpc>
              <a:defRPr/>
            </a:pPr>
            <a:r>
              <a:rPr lang="en-US" sz="1200" b="0" i="0" u="none" strike="noStrike">
                <a:solidFill>
                  <a:srgbClr val="475569"/>
                </a:solidFill>
                <a:latin typeface="Noto Sans SC"/>
                <a:ea typeface="Noto Sans SC"/>
                <a:cs typeface="Noto Sans SC"/>
                <a:sym typeface="Noto Sans SC"/>
              </a:rPr>
              <a:t>先进行噪声白化,再进行PCA,更适合高光谱数据。</a:t>
            </a:r>
            <a:endParaRPr lang="en-US" sz="1100"/>
          </a:p>
        </p:txBody>
      </p:sp>
      <p:cxnSp>
        <p:nvCxnSpPr>
          <p:cNvPr id="17" name="Connector 17"/>
          <p:cNvCxnSpPr/>
          <p:nvPr/>
        </p:nvCxnSpPr>
        <p:spPr>
          <a:xfrm rot="-3906">
            <a:off x="508004" y="3041650"/>
            <a:ext cx="11176000" cy="12700"/>
          </a:xfrm>
          <a:prstGeom prst="straightConnector1">
            <a:avLst/>
          </a:prstGeom>
          <a:solidFill>
            <a:srgbClr val="DEE0E3">
              <a:alpha val="100000"/>
            </a:srgbClr>
          </a:solidFill>
          <a:ln w="12700" cap="flat" cmpd="sng">
            <a:solidFill>
              <a:srgbClr val="1E3A8A">
                <a:alpha val="10000"/>
              </a:srgbClr>
            </a:solidFill>
            <a:prstDash val="solid"/>
            <a:round/>
            <a:headEnd type="none" w="med" len="med"/>
            <a:tailEnd type="none" w="med" len="med"/>
          </a:ln>
        </p:spPr>
      </p:cxnSp>
      <p:sp>
        <p:nvSpPr>
          <p:cNvPr id="18" name="AutoShape 18"/>
          <p:cNvSpPr/>
          <p:nvPr/>
        </p:nvSpPr>
        <p:spPr>
          <a:xfrm>
            <a:off x="508000" y="3200400"/>
            <a:ext cx="3683000" cy="1905000"/>
          </a:xfrm>
          <a:prstGeom prst="roundRect">
            <a:avLst>
              <a:gd name="adj" fmla="val 0"/>
            </a:avLst>
          </a:prstGeom>
          <a:solidFill>
            <a:srgbClr val="3B82F6">
              <a:alpha val="8000"/>
            </a:srgbClr>
          </a:solidFill>
          <a:ln cap="flat" cmpd="sng">
            <a:solidFill>
              <a:srgbClr val="1F67DD">
                <a:alpha val="8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508000" y="3200400"/>
            <a:ext cx="50800" cy="1905000"/>
          </a:xfrm>
          <a:prstGeom prst="roundRect">
            <a:avLst>
              <a:gd name="adj" fmla="val 0"/>
            </a:avLst>
          </a:prstGeom>
          <a:solidFill>
            <a:srgbClr val="3B82F6">
              <a:alpha val="100000"/>
            </a:srgbClr>
          </a:solidFill>
          <a:ln cap="flat" cmpd="sng">
            <a:solidFill>
              <a:srgbClr val="1F67DD">
                <a:alpha val="10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736600" y="3251200"/>
            <a:ext cx="3302000" cy="381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900" b="1" i="0" u="none" strike="noStrike">
                <a:solidFill>
                  <a:srgbClr val="3B82F6"/>
                </a:solidFill>
                <a:latin typeface="Noto Sans SC"/>
                <a:ea typeface="Noto Sans SC"/>
                <a:cs typeface="Noto Sans SC"/>
                <a:sym typeface="Noto Sans SC"/>
              </a:rPr>
              <a:t>适用场景</a:t>
            </a:r>
            <a:endParaRPr lang="en-US" sz="1100"/>
          </a:p>
        </p:txBody>
      </p:sp>
      <p:cxnSp>
        <p:nvCxnSpPr>
          <p:cNvPr id="21" name="Connector 21"/>
          <p:cNvCxnSpPr/>
          <p:nvPr/>
        </p:nvCxnSpPr>
        <p:spPr>
          <a:xfrm rot="-13324">
            <a:off x="736612" y="3676650"/>
            <a:ext cx="3276600" cy="12700"/>
          </a:xfrm>
          <a:prstGeom prst="straightConnector1">
            <a:avLst/>
          </a:prstGeom>
          <a:solidFill>
            <a:srgbClr val="DEE0E3">
              <a:alpha val="100000"/>
            </a:srgbClr>
          </a:solidFill>
          <a:ln w="12700" cap="flat" cmpd="sng">
            <a:solidFill>
              <a:srgbClr val="3B82F6">
                <a:alpha val="20000"/>
              </a:srgbClr>
            </a:solidFill>
            <a:prstDash val="solid"/>
            <a:round/>
            <a:headEnd type="none" w="med" len="med"/>
            <a:tailEnd type="none" w="med" len="med"/>
          </a:ln>
        </p:spPr>
      </p:cxnSp>
      <p:sp>
        <p:nvSpPr>
          <p:cNvPr id="22" name="AutoShape 22"/>
          <p:cNvSpPr/>
          <p:nvPr/>
        </p:nvSpPr>
        <p:spPr>
          <a:xfrm>
            <a:off x="736600" y="3759200"/>
            <a:ext cx="3327400" cy="914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深度学习模型训练前、小样本场景、算力有限时。</a:t>
            </a:r>
            <a:endParaRPr lang="en-US" sz="1100"/>
          </a:p>
        </p:txBody>
      </p:sp>
      <p:sp>
        <p:nvSpPr>
          <p:cNvPr id="23" name="AutoShape 23"/>
          <p:cNvSpPr/>
          <p:nvPr/>
        </p:nvSpPr>
        <p:spPr>
          <a:xfrm>
            <a:off x="4381500" y="3200400"/>
            <a:ext cx="3683000" cy="1905000"/>
          </a:xfrm>
          <a:prstGeom prst="roundRect">
            <a:avLst>
              <a:gd name="adj" fmla="val 0"/>
            </a:avLst>
          </a:prstGeom>
          <a:solidFill>
            <a:srgbClr val="10B981">
              <a:alpha val="8000"/>
            </a:srgbClr>
          </a:solidFill>
          <a:ln cap="flat" cmpd="sng">
            <a:solidFill>
              <a:srgbClr val="00A06B">
                <a:alpha val="8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4381500" y="3200400"/>
            <a:ext cx="50800" cy="1905000"/>
          </a:xfrm>
          <a:prstGeom prst="roundRect">
            <a:avLst>
              <a:gd name="adj" fmla="val 0"/>
            </a:avLst>
          </a:prstGeom>
          <a:solidFill>
            <a:srgbClr val="10B981">
              <a:alpha val="100000"/>
            </a:srgbClr>
          </a:solidFill>
          <a:ln cap="flat" cmpd="sng">
            <a:solidFill>
              <a:srgbClr val="00A06B">
                <a:alpha val="100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4610100" y="3251200"/>
            <a:ext cx="3302000" cy="381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900" b="1" i="0" u="none" strike="noStrike">
                <a:solidFill>
                  <a:srgbClr val="10B981"/>
                </a:solidFill>
                <a:latin typeface="Noto Sans SC"/>
                <a:ea typeface="Noto Sans SC"/>
                <a:cs typeface="Noto Sans SC"/>
                <a:sym typeface="Noto Sans SC"/>
              </a:rPr>
              <a:t>业务价值</a:t>
            </a:r>
            <a:endParaRPr lang="en-US" sz="1100"/>
          </a:p>
        </p:txBody>
      </p:sp>
      <p:cxnSp>
        <p:nvCxnSpPr>
          <p:cNvPr id="26" name="Connector 26"/>
          <p:cNvCxnSpPr/>
          <p:nvPr/>
        </p:nvCxnSpPr>
        <p:spPr>
          <a:xfrm rot="-13324">
            <a:off x="4610112" y="3676650"/>
            <a:ext cx="3276600" cy="12700"/>
          </a:xfrm>
          <a:prstGeom prst="straightConnector1">
            <a:avLst/>
          </a:prstGeom>
          <a:solidFill>
            <a:srgbClr val="DEE0E3">
              <a:alpha val="100000"/>
            </a:srgbClr>
          </a:solidFill>
          <a:ln w="12700" cap="flat" cmpd="sng">
            <a:solidFill>
              <a:srgbClr val="10B981">
                <a:alpha val="20000"/>
              </a:srgbClr>
            </a:solidFill>
            <a:prstDash val="solid"/>
            <a:round/>
            <a:headEnd type="none" w="med" len="med"/>
            <a:tailEnd type="none" w="med" len="med"/>
          </a:ln>
        </p:spPr>
      </p:cxnSp>
      <p:sp>
        <p:nvSpPr>
          <p:cNvPr id="27" name="AutoShape 27"/>
          <p:cNvSpPr/>
          <p:nvPr/>
        </p:nvSpPr>
        <p:spPr>
          <a:xfrm>
            <a:off x="4610100" y="3759200"/>
            <a:ext cx="3327400" cy="1041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减少数据冗余和计算量,同时在一定程度上抑制噪声,提升模型训练效率和泛化能力。</a:t>
            </a:r>
            <a:endParaRPr lang="en-US" sz="1100"/>
          </a:p>
        </p:txBody>
      </p:sp>
      <p:sp>
        <p:nvSpPr>
          <p:cNvPr id="28" name="AutoShape 28"/>
          <p:cNvSpPr/>
          <p:nvPr/>
        </p:nvSpPr>
        <p:spPr>
          <a:xfrm>
            <a:off x="8255000" y="3200400"/>
            <a:ext cx="3683000" cy="1905000"/>
          </a:xfrm>
          <a:prstGeom prst="roundRect">
            <a:avLst>
              <a:gd name="adj" fmla="val 0"/>
            </a:avLst>
          </a:prstGeom>
          <a:solidFill>
            <a:srgbClr val="EA580C">
              <a:alpha val="8000"/>
            </a:srgbClr>
          </a:solidFill>
          <a:ln cap="flat" cmpd="sng">
            <a:solidFill>
              <a:srgbClr val="D14700">
                <a:alpha val="8000"/>
              </a:srgbClr>
            </a:solidFill>
            <a:prstDash val="solid"/>
            <a:round/>
          </a:ln>
        </p:spPr>
        <p:txBody>
          <a:bodyPr vert="horz" wrap="square" lIns="63500" tIns="63500" rIns="63500" bIns="63500" rtlCol="0" anchor="ctr"/>
          <a:lstStyle/>
          <a:p>
            <a:pPr algn="ctr">
              <a:defRPr/>
            </a:pPr>
          </a:p>
        </p:txBody>
      </p:sp>
      <p:sp>
        <p:nvSpPr>
          <p:cNvPr id="29" name="AutoShape 29"/>
          <p:cNvSpPr/>
          <p:nvPr/>
        </p:nvSpPr>
        <p:spPr>
          <a:xfrm>
            <a:off x="8255000" y="3200400"/>
            <a:ext cx="50800" cy="1905000"/>
          </a:xfrm>
          <a:prstGeom prst="roundRect">
            <a:avLst>
              <a:gd name="adj" fmla="val 0"/>
            </a:avLst>
          </a:prstGeom>
          <a:solidFill>
            <a:srgbClr val="EA580C">
              <a:alpha val="100000"/>
            </a:srgbClr>
          </a:solidFill>
          <a:ln cap="flat" cmpd="sng">
            <a:solidFill>
              <a:srgbClr val="D14700">
                <a:alpha val="100000"/>
              </a:srgbClr>
            </a:solidFill>
            <a:prstDash val="solid"/>
            <a:round/>
          </a:ln>
        </p:spPr>
        <p:txBody>
          <a:bodyPr vert="horz" wrap="square" lIns="63500" tIns="63500" rIns="63500" bIns="63500" rtlCol="0" anchor="ctr"/>
          <a:lstStyle/>
          <a:p>
            <a:pPr algn="ctr">
              <a:defRPr/>
            </a:pPr>
          </a:p>
        </p:txBody>
      </p:sp>
      <p:sp>
        <p:nvSpPr>
          <p:cNvPr id="30" name="AutoShape 30"/>
          <p:cNvSpPr/>
          <p:nvPr/>
        </p:nvSpPr>
        <p:spPr>
          <a:xfrm>
            <a:off x="8483600" y="3251200"/>
            <a:ext cx="3302000" cy="381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900" b="1" i="0" u="none" strike="noStrike">
                <a:solidFill>
                  <a:srgbClr val="EA580C"/>
                </a:solidFill>
                <a:latin typeface="Noto Sans SC"/>
                <a:ea typeface="Noto Sans SC"/>
                <a:cs typeface="Noto Sans SC"/>
                <a:sym typeface="Noto Sans SC"/>
              </a:rPr>
              <a:t>缺失影响</a:t>
            </a:r>
            <a:endParaRPr lang="en-US" sz="1100"/>
          </a:p>
        </p:txBody>
      </p:sp>
      <p:cxnSp>
        <p:nvCxnSpPr>
          <p:cNvPr id="31" name="Connector 31"/>
          <p:cNvCxnSpPr/>
          <p:nvPr/>
        </p:nvCxnSpPr>
        <p:spPr>
          <a:xfrm rot="-13641">
            <a:off x="8483613" y="3676650"/>
            <a:ext cx="3200400" cy="12700"/>
          </a:xfrm>
          <a:prstGeom prst="straightConnector1">
            <a:avLst/>
          </a:prstGeom>
          <a:solidFill>
            <a:srgbClr val="DEE0E3">
              <a:alpha val="100000"/>
            </a:srgbClr>
          </a:solidFill>
          <a:ln w="12700" cap="flat" cmpd="sng">
            <a:solidFill>
              <a:srgbClr val="EA580C">
                <a:alpha val="20000"/>
              </a:srgbClr>
            </a:solidFill>
            <a:prstDash val="solid"/>
            <a:round/>
            <a:headEnd type="none" w="med" len="med"/>
            <a:tailEnd type="none" w="med" len="med"/>
          </a:ln>
        </p:spPr>
      </p:cxnSp>
      <p:sp>
        <p:nvSpPr>
          <p:cNvPr id="32" name="AutoShape 32"/>
          <p:cNvSpPr/>
          <p:nvPr/>
        </p:nvSpPr>
        <p:spPr>
          <a:xfrm>
            <a:off x="8483600" y="3759200"/>
            <a:ext cx="3327400" cy="1041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数据维度太高,计算量大,模型训练时间长,且容易过拟合。</a:t>
            </a:r>
            <a:endParaRPr lang="en-US" sz="1100"/>
          </a:p>
        </p:txBody>
      </p:sp>
      <p:cxnSp>
        <p:nvCxnSpPr>
          <p:cNvPr id="33" name="Connector 33"/>
          <p:cNvCxnSpPr/>
          <p:nvPr/>
        </p:nvCxnSpPr>
        <p:spPr>
          <a:xfrm rot="-3906">
            <a:off x="508004" y="5353050"/>
            <a:ext cx="11176000" cy="12700"/>
          </a:xfrm>
          <a:prstGeom prst="straightConnector1">
            <a:avLst/>
          </a:prstGeom>
          <a:solidFill>
            <a:srgbClr val="DEE0E3">
              <a:alpha val="100000"/>
            </a:srgbClr>
          </a:solidFill>
          <a:ln w="12700" cap="flat" cmpd="sng">
            <a:solidFill>
              <a:srgbClr val="1E3A8A">
                <a:alpha val="10000"/>
              </a:srgbClr>
            </a:solidFill>
            <a:prstDash val="solid"/>
            <a:round/>
            <a:headEnd type="none" w="med" len="med"/>
            <a:tailEnd type="none" w="med" len="med"/>
          </a:ln>
        </p:spPr>
      </p:cxnSp>
      <p:sp>
        <p:nvSpPr>
          <p:cNvPr id="34" name="AutoShape 34"/>
          <p:cNvSpPr/>
          <p:nvPr/>
        </p:nvSpPr>
        <p:spPr>
          <a:xfrm>
            <a:off x="508000" y="5486400"/>
            <a:ext cx="33020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1" i="0" u="none" strike="noStrike">
                <a:solidFill>
                  <a:srgbClr val="1E3A8A"/>
                </a:solidFill>
                <a:latin typeface="Noto Sans SC"/>
                <a:ea typeface="Noto Sans SC"/>
                <a:cs typeface="Noto Sans SC"/>
                <a:sym typeface="Noto Sans SC"/>
              </a:rPr>
              <a:t>流程位置</a:t>
            </a:r>
            <a:endParaRPr lang="en-US" sz="1100"/>
          </a:p>
        </p:txBody>
      </p:sp>
      <p:sp>
        <p:nvSpPr>
          <p:cNvPr id="35" name="AutoShape 35"/>
          <p:cNvSpPr/>
          <p:nvPr/>
        </p:nvSpPr>
        <p:spPr>
          <a:xfrm>
            <a:off x="508000" y="5842000"/>
            <a:ext cx="3302000" cy="508000"/>
          </a:xfrm>
          <a:prstGeom prst="rect">
            <a:avLst/>
          </a:prstGeom>
          <a:noFill/>
          <a:ln w="12700" cap="flat" cmpd="sng">
            <a:noFill/>
            <a:prstDash val="solid"/>
            <a:round/>
          </a:ln>
        </p:spPr>
        <p:txBody>
          <a:bodyPr vert="horz" wrap="square" lIns="0" tIns="0" rIns="0" bIns="0" rtlCol="0" anchor="t" anchorCtr="0"/>
          <a:lstStyle/>
          <a:p>
            <a:pPr marL="0" indent="0" algn="l">
              <a:lnSpc>
                <a:spcPct val="113000"/>
              </a:lnSpc>
              <a:defRPr/>
            </a:pPr>
            <a:r>
              <a:rPr lang="en-US" sz="1300" b="0" i="0" u="none" strike="noStrike">
                <a:solidFill>
                  <a:srgbClr val="475569"/>
                </a:solidFill>
                <a:latin typeface="Noto Sans SC"/>
                <a:ea typeface="Noto Sans SC"/>
                <a:cs typeface="Noto Sans SC"/>
                <a:sym typeface="Noto Sans SC"/>
              </a:rPr>
              <a:t>L2分析前处理</a:t>
            </a:r>
            <a:endParaRPr lang="en-US" sz="1100"/>
          </a:p>
        </p:txBody>
      </p:sp>
      <p:cxnSp>
        <p:nvCxnSpPr>
          <p:cNvPr id="36" name="Connector 36"/>
          <p:cNvCxnSpPr/>
          <p:nvPr/>
        </p:nvCxnSpPr>
        <p:spPr>
          <a:xfrm rot="5344557">
            <a:off x="3606800" y="5911901"/>
            <a:ext cx="787400" cy="12700"/>
          </a:xfrm>
          <a:prstGeom prst="straightConnector1">
            <a:avLst/>
          </a:prstGeom>
          <a:solidFill>
            <a:srgbClr val="DEE0E3">
              <a:alpha val="100000"/>
            </a:srgbClr>
          </a:solidFill>
          <a:ln w="12700" cap="flat" cmpd="sng">
            <a:solidFill>
              <a:srgbClr val="1E3A8A">
                <a:alpha val="12000"/>
              </a:srgbClr>
            </a:solidFill>
            <a:prstDash val="solid"/>
            <a:round/>
            <a:headEnd type="none" w="med" len="med"/>
            <a:tailEnd type="none" w="med" len="med"/>
          </a:ln>
        </p:spPr>
      </p:cxnSp>
      <p:sp>
        <p:nvSpPr>
          <p:cNvPr id="37" name="AutoShape 37"/>
          <p:cNvSpPr/>
          <p:nvPr/>
        </p:nvSpPr>
        <p:spPr>
          <a:xfrm>
            <a:off x="4254500" y="5486400"/>
            <a:ext cx="39370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1" i="0" u="none" strike="noStrike">
                <a:solidFill>
                  <a:srgbClr val="1E3A8A"/>
                </a:solidFill>
                <a:latin typeface="Noto Sans SC"/>
                <a:ea typeface="Noto Sans SC"/>
                <a:cs typeface="Noto Sans SC"/>
                <a:sym typeface="Noto Sans SC"/>
              </a:rPr>
              <a:t>关联算法</a:t>
            </a:r>
            <a:endParaRPr lang="en-US" sz="1100"/>
          </a:p>
        </p:txBody>
      </p:sp>
      <p:sp>
        <p:nvSpPr>
          <p:cNvPr id="38" name="AutoShape 38"/>
          <p:cNvSpPr/>
          <p:nvPr/>
        </p:nvSpPr>
        <p:spPr>
          <a:xfrm>
            <a:off x="4254500" y="5842000"/>
            <a:ext cx="3937000" cy="508000"/>
          </a:xfrm>
          <a:prstGeom prst="rect">
            <a:avLst/>
          </a:prstGeom>
          <a:noFill/>
          <a:ln w="12700" cap="flat" cmpd="sng">
            <a:noFill/>
            <a:prstDash val="solid"/>
            <a:round/>
          </a:ln>
        </p:spPr>
        <p:txBody>
          <a:bodyPr vert="horz" wrap="square" lIns="0" tIns="0" rIns="0" bIns="0" rtlCol="0" anchor="t" anchorCtr="0"/>
          <a:lstStyle/>
          <a:p>
            <a:pPr marL="0" indent="0" algn="l">
              <a:lnSpc>
                <a:spcPct val="113000"/>
              </a:lnSpc>
              <a:defRPr/>
            </a:pPr>
            <a:r>
              <a:rPr lang="en-US" sz="1300" b="0" i="0" u="none" strike="noStrike">
                <a:solidFill>
                  <a:srgbClr val="475569"/>
                </a:solidFill>
                <a:latin typeface="Noto Sans SC"/>
                <a:ea typeface="Noto Sans SC"/>
                <a:cs typeface="Noto Sans SC"/>
                <a:sym typeface="Noto Sans SC"/>
              </a:rPr>
              <a:t>#22标准化,#34-39分类</a:t>
            </a:r>
            <a:endParaRPr lang="en-US" sz="1100"/>
          </a:p>
        </p:txBody>
      </p:sp>
      <p:cxnSp>
        <p:nvCxnSpPr>
          <p:cNvPr id="39" name="Connector 39"/>
          <p:cNvCxnSpPr/>
          <p:nvPr/>
        </p:nvCxnSpPr>
        <p:spPr>
          <a:xfrm rot="5344557">
            <a:off x="7734300" y="5911901"/>
            <a:ext cx="787400" cy="12700"/>
          </a:xfrm>
          <a:prstGeom prst="straightConnector1">
            <a:avLst/>
          </a:prstGeom>
          <a:solidFill>
            <a:srgbClr val="DEE0E3">
              <a:alpha val="100000"/>
            </a:srgbClr>
          </a:solidFill>
          <a:ln w="12700" cap="flat" cmpd="sng">
            <a:solidFill>
              <a:srgbClr val="1E3A8A">
                <a:alpha val="12000"/>
              </a:srgbClr>
            </a:solidFill>
            <a:prstDash val="solid"/>
            <a:round/>
            <a:headEnd type="none" w="med" len="med"/>
            <a:tailEnd type="none" w="med" len="med"/>
          </a:ln>
        </p:spPr>
      </p:cxnSp>
      <p:sp>
        <p:nvSpPr>
          <p:cNvPr id="40" name="AutoShape 40"/>
          <p:cNvSpPr/>
          <p:nvPr/>
        </p:nvSpPr>
        <p:spPr>
          <a:xfrm>
            <a:off x="8382000" y="5486400"/>
            <a:ext cx="33020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1" i="0" u="none" strike="noStrike">
                <a:solidFill>
                  <a:srgbClr val="1E3A8A"/>
                </a:solidFill>
                <a:latin typeface="Noto Sans SC"/>
                <a:ea typeface="Noto Sans SC"/>
                <a:cs typeface="Noto Sans SC"/>
                <a:sym typeface="Noto Sans SC"/>
              </a:rPr>
              <a:t>调用API</a:t>
            </a:r>
            <a:endParaRPr lang="en-US" sz="1100"/>
          </a:p>
        </p:txBody>
      </p:sp>
      <p:sp>
        <p:nvSpPr>
          <p:cNvPr id="41" name="AutoShape 41"/>
          <p:cNvSpPr/>
          <p:nvPr/>
        </p:nvSpPr>
        <p:spPr>
          <a:xfrm>
            <a:off x="8382000" y="5842000"/>
            <a:ext cx="3429000" cy="508000"/>
          </a:xfrm>
          <a:prstGeom prst="rect">
            <a:avLst/>
          </a:prstGeom>
          <a:noFill/>
          <a:ln w="12700" cap="flat" cmpd="sng">
            <a:noFill/>
            <a:prstDash val="solid"/>
            <a:round/>
          </a:ln>
        </p:spPr>
        <p:txBody>
          <a:bodyPr vert="horz" wrap="square" lIns="0" tIns="0" rIns="0" bIns="0" rtlCol="0" anchor="t" anchorCtr="0"/>
          <a:lstStyle/>
          <a:p>
            <a:pPr marL="0" indent="0" algn="l">
              <a:lnSpc>
                <a:spcPct val="113000"/>
              </a:lnSpc>
              <a:defRPr/>
            </a:pPr>
            <a:r>
              <a:rPr lang="en-US" sz="1200" b="0" i="0" u="none" strike="noStrike">
                <a:solidFill>
                  <a:srgbClr val="475569"/>
                </a:solidFill>
                <a:latin typeface="Noto Sans SC"/>
                <a:ea typeface="Noto Sans SC"/>
                <a:cs typeface="Noto Sans SC"/>
                <a:sym typeface="Noto Sans SC"/>
              </a:rPr>
              <a:t>/api/v1/23_dimensionality_reduction/run</a:t>
            </a:r>
            <a:endParaRPr lang="en-US" sz="11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8890000" cy="5842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spc="100">
                <a:solidFill>
                  <a:srgbClr val="1E3A8A"/>
                </a:solidFill>
                <a:latin typeface="Noto Sans SC"/>
                <a:ea typeface="Noto Sans SC"/>
                <a:cs typeface="Noto Sans SC"/>
                <a:sym typeface="Noto Sans SC"/>
              </a:rPr>
              <a:t>波段选择/特征选择</a:t>
            </a:r>
            <a:endParaRPr lang="en-US" sz="1100"/>
          </a:p>
        </p:txBody>
      </p:sp>
      <p:sp>
        <p:nvSpPr>
          <p:cNvPr id="3" name="AutoShape 3"/>
          <p:cNvSpPr/>
          <p:nvPr/>
        </p:nvSpPr>
        <p:spPr>
          <a:xfrm>
            <a:off x="508000" y="1016000"/>
            <a:ext cx="8890000" cy="2794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200" b="0" i="0" u="none" strike="noStrike" spc="100">
                <a:solidFill>
                  <a:srgbClr val="64748B"/>
                </a:solidFill>
                <a:latin typeface="Noto Sans SC"/>
                <a:ea typeface="Noto Sans SC"/>
                <a:cs typeface="Noto Sans SC"/>
                <a:sym typeface="Noto Sans SC"/>
              </a:rPr>
              <a:t>所属层级:L2 ｜ 编号#24 ｜ 辅导材料:算法清单与API</a:t>
            </a:r>
            <a:endParaRPr lang="en-US" sz="1100"/>
          </a:p>
        </p:txBody>
      </p:sp>
      <p:cxnSp>
        <p:nvCxnSpPr>
          <p:cNvPr id="4" name="Connector 4"/>
          <p:cNvCxnSpPr/>
          <p:nvPr/>
        </p:nvCxnSpPr>
        <p:spPr>
          <a:xfrm rot="-3906">
            <a:off x="508004" y="1416050"/>
            <a:ext cx="11176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5" name="AutoShape 5"/>
          <p:cNvSpPr/>
          <p:nvPr/>
        </p:nvSpPr>
        <p:spPr>
          <a:xfrm>
            <a:off x="508000" y="1549400"/>
            <a:ext cx="5715000" cy="1270000"/>
          </a:xfrm>
          <a:prstGeom prst="roundRect">
            <a:avLst>
              <a:gd name="adj" fmla="val 0"/>
            </a:avLst>
          </a:prstGeom>
          <a:solidFill>
            <a:srgbClr val="F1F5F9">
              <a:alpha val="100000"/>
            </a:srgbClr>
          </a:solidFill>
          <a:ln cap="flat" cmpd="sng">
            <a:solidFill>
              <a:srgbClr val="C2D1E0">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508000" y="1549400"/>
            <a:ext cx="50800" cy="1270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762000" y="1549400"/>
            <a:ext cx="5207000" cy="3302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800" b="1" i="0" u="none" strike="noStrike" spc="100">
                <a:solidFill>
                  <a:srgbClr val="1E3A8A"/>
                </a:solidFill>
                <a:latin typeface="Noto Sans SC"/>
                <a:ea typeface="Noto Sans SC"/>
                <a:cs typeface="Noto Sans SC"/>
                <a:sym typeface="Noto Sans SC"/>
              </a:rPr>
              <a:t>功能定义</a:t>
            </a:r>
            <a:endParaRPr lang="en-US" sz="1100"/>
          </a:p>
        </p:txBody>
      </p:sp>
      <p:sp>
        <p:nvSpPr>
          <p:cNvPr id="8" name="AutoShape 8"/>
          <p:cNvSpPr/>
          <p:nvPr/>
        </p:nvSpPr>
        <p:spPr>
          <a:xfrm>
            <a:off x="762000" y="1930400"/>
            <a:ext cx="5270500" cy="762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34155"/>
                </a:solidFill>
                <a:latin typeface="Noto Sans SC"/>
                <a:ea typeface="Noto Sans SC"/>
                <a:cs typeface="Noto Sans SC"/>
                <a:sym typeface="Noto Sans SC"/>
              </a:rPr>
              <a:t>从众多波段中,挑选出对特定任务(如区分两种作物)最有帮助的波段。</a:t>
            </a:r>
            <a:endParaRPr lang="en-US" sz="1100"/>
          </a:p>
        </p:txBody>
      </p:sp>
      <p:sp>
        <p:nvSpPr>
          <p:cNvPr id="9" name="AutoShape 9"/>
          <p:cNvSpPr/>
          <p:nvPr/>
        </p:nvSpPr>
        <p:spPr>
          <a:xfrm>
            <a:off x="508000" y="2946400"/>
            <a:ext cx="5715000" cy="1270000"/>
          </a:xfrm>
          <a:prstGeom prst="roundRect">
            <a:avLst>
              <a:gd name="adj" fmla="val 0"/>
            </a:avLst>
          </a:prstGeom>
          <a:solidFill>
            <a:srgbClr val="F1F5F9">
              <a:alpha val="100000"/>
            </a:srgbClr>
          </a:solidFill>
          <a:ln cap="flat" cmpd="sng">
            <a:solidFill>
              <a:srgbClr val="C2D1E0">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508000" y="2946400"/>
            <a:ext cx="50800" cy="1270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762000" y="2946400"/>
            <a:ext cx="5207000" cy="3302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800" b="1" i="0" u="none" strike="noStrike" spc="100">
                <a:solidFill>
                  <a:srgbClr val="1E3A8A"/>
                </a:solidFill>
                <a:latin typeface="Noto Sans SC"/>
                <a:ea typeface="Noto Sans SC"/>
                <a:cs typeface="Noto Sans SC"/>
                <a:sym typeface="Noto Sans SC"/>
              </a:rPr>
              <a:t>方法要点</a:t>
            </a:r>
            <a:endParaRPr lang="en-US" sz="1100"/>
          </a:p>
        </p:txBody>
      </p:sp>
      <p:sp>
        <p:nvSpPr>
          <p:cNvPr id="12" name="AutoShape 12"/>
          <p:cNvSpPr/>
          <p:nvPr/>
        </p:nvSpPr>
        <p:spPr>
          <a:xfrm>
            <a:off x="762000" y="3327400"/>
            <a:ext cx="5270500" cy="762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34155"/>
                </a:solidFill>
                <a:latin typeface="Noto Sans SC"/>
                <a:ea typeface="Noto Sans SC"/>
                <a:cs typeface="Noto Sans SC"/>
                <a:sym typeface="Noto Sans SC"/>
              </a:rPr>
              <a:t>通过统计方法(如相关性分析、信息增益)或机器学习方法(如递归特征消除)来选择最优波段组合。</a:t>
            </a:r>
            <a:endParaRPr lang="en-US" sz="1100"/>
          </a:p>
        </p:txBody>
      </p:sp>
      <p:sp>
        <p:nvSpPr>
          <p:cNvPr id="13" name="AutoShape 13"/>
          <p:cNvSpPr/>
          <p:nvPr/>
        </p:nvSpPr>
        <p:spPr>
          <a:xfrm>
            <a:off x="508000" y="4343400"/>
            <a:ext cx="5715000" cy="1270000"/>
          </a:xfrm>
          <a:prstGeom prst="roundRect">
            <a:avLst>
              <a:gd name="adj" fmla="val 0"/>
            </a:avLst>
          </a:prstGeom>
          <a:solidFill>
            <a:srgbClr val="F1F5F9">
              <a:alpha val="100000"/>
            </a:srgbClr>
          </a:solidFill>
          <a:ln cap="flat" cmpd="sng">
            <a:solidFill>
              <a:srgbClr val="C2D1E0">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508000" y="4343400"/>
            <a:ext cx="50800" cy="1270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762000" y="4343400"/>
            <a:ext cx="5207000" cy="3302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800" b="1" i="0" u="none" strike="noStrike" spc="100">
                <a:solidFill>
                  <a:srgbClr val="1E3A8A"/>
                </a:solidFill>
                <a:latin typeface="Noto Sans SC"/>
                <a:ea typeface="Noto Sans SC"/>
                <a:cs typeface="Noto Sans SC"/>
                <a:sym typeface="Noto Sans SC"/>
              </a:rPr>
              <a:t>适用场景</a:t>
            </a:r>
            <a:endParaRPr lang="en-US" sz="1100"/>
          </a:p>
        </p:txBody>
      </p:sp>
      <p:sp>
        <p:nvSpPr>
          <p:cNvPr id="16" name="AutoShape 16"/>
          <p:cNvSpPr/>
          <p:nvPr/>
        </p:nvSpPr>
        <p:spPr>
          <a:xfrm>
            <a:off x="762000" y="4749800"/>
            <a:ext cx="1651000" cy="482600"/>
          </a:xfrm>
          <a:prstGeom prst="roundRect">
            <a:avLst>
              <a:gd name="adj" fmla="val 0"/>
            </a:avLst>
          </a:prstGeom>
          <a:solidFill>
            <a:srgbClr val="DBEAFE">
              <a:alpha val="100000"/>
            </a:srgbClr>
          </a:solidFill>
          <a:ln cap="flat" cmpd="sng">
            <a:solidFill>
              <a:srgbClr val="AEC5E5">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762000" y="4749800"/>
            <a:ext cx="1651000" cy="4826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300" b="0" i="0" u="none" strike="noStrike">
                <a:solidFill>
                  <a:srgbClr val="1E3A8A"/>
                </a:solidFill>
                <a:latin typeface="Noto Sans SC"/>
                <a:ea typeface="Noto Sans SC"/>
                <a:cs typeface="Noto Sans SC"/>
                <a:sym typeface="Noto Sans SC"/>
              </a:rPr>
              <a:t>特定作物识别</a:t>
            </a:r>
            <a:endParaRPr lang="en-US" sz="1100"/>
          </a:p>
        </p:txBody>
      </p:sp>
      <p:sp>
        <p:nvSpPr>
          <p:cNvPr id="18" name="AutoShape 18"/>
          <p:cNvSpPr/>
          <p:nvPr/>
        </p:nvSpPr>
        <p:spPr>
          <a:xfrm>
            <a:off x="2540000" y="4749800"/>
            <a:ext cx="1651000" cy="482600"/>
          </a:xfrm>
          <a:prstGeom prst="roundRect">
            <a:avLst>
              <a:gd name="adj" fmla="val 0"/>
            </a:avLst>
          </a:prstGeom>
          <a:solidFill>
            <a:srgbClr val="DBEAFE">
              <a:alpha val="100000"/>
            </a:srgbClr>
          </a:solidFill>
          <a:ln cap="flat" cmpd="sng">
            <a:solidFill>
              <a:srgbClr val="AEC5E5">
                <a:alpha val="10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2540000" y="4749800"/>
            <a:ext cx="1651000" cy="4826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300" b="0" i="0" u="none" strike="noStrike">
                <a:solidFill>
                  <a:srgbClr val="1E3A8A"/>
                </a:solidFill>
                <a:latin typeface="Noto Sans SC"/>
                <a:ea typeface="Noto Sans SC"/>
                <a:cs typeface="Noto Sans SC"/>
                <a:sym typeface="Noto Sans SC"/>
              </a:rPr>
              <a:t>传感器波段设计</a:t>
            </a:r>
            <a:endParaRPr lang="en-US" sz="1100"/>
          </a:p>
        </p:txBody>
      </p:sp>
      <p:sp>
        <p:nvSpPr>
          <p:cNvPr id="20" name="AutoShape 20"/>
          <p:cNvSpPr/>
          <p:nvPr/>
        </p:nvSpPr>
        <p:spPr>
          <a:xfrm>
            <a:off x="4318000" y="4749800"/>
            <a:ext cx="1714500" cy="482600"/>
          </a:xfrm>
          <a:prstGeom prst="roundRect">
            <a:avLst>
              <a:gd name="adj" fmla="val 0"/>
            </a:avLst>
          </a:prstGeom>
          <a:solidFill>
            <a:srgbClr val="DBEAFE">
              <a:alpha val="100000"/>
            </a:srgbClr>
          </a:solidFill>
          <a:ln cap="flat" cmpd="sng">
            <a:solidFill>
              <a:srgbClr val="AEC5E5">
                <a:alpha val="10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4318000" y="4749800"/>
            <a:ext cx="1714500" cy="4826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300" b="0" i="0" u="none" strike="noStrike">
                <a:solidFill>
                  <a:srgbClr val="1E3A8A"/>
                </a:solidFill>
                <a:latin typeface="Noto Sans SC"/>
                <a:ea typeface="Noto Sans SC"/>
                <a:cs typeface="Noto Sans SC"/>
                <a:sym typeface="Noto Sans SC"/>
              </a:rPr>
              <a:t>边缘设备轻量化部署</a:t>
            </a:r>
            <a:endParaRPr lang="en-US" sz="1100"/>
          </a:p>
        </p:txBody>
      </p:sp>
      <p:sp>
        <p:nvSpPr>
          <p:cNvPr id="22" name="AutoShape 22"/>
          <p:cNvSpPr/>
          <p:nvPr/>
        </p:nvSpPr>
        <p:spPr>
          <a:xfrm>
            <a:off x="6477000" y="1549400"/>
            <a:ext cx="5207000" cy="1270000"/>
          </a:xfrm>
          <a:prstGeom prst="roundRect">
            <a:avLst>
              <a:gd name="adj" fmla="val 0"/>
            </a:avLst>
          </a:prstGeom>
          <a:solidFill>
            <a:srgbClr val="22C55E">
              <a:alpha val="10000"/>
            </a:srgbClr>
          </a:solidFill>
          <a:ln cap="flat" cmpd="sng">
            <a:solidFill>
              <a:srgbClr val="0CAC47">
                <a:alpha val="1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6477000" y="1549400"/>
            <a:ext cx="50800" cy="1270000"/>
          </a:xfrm>
          <a:prstGeom prst="roundRect">
            <a:avLst>
              <a:gd name="adj" fmla="val 0"/>
            </a:avLst>
          </a:prstGeom>
          <a:solidFill>
            <a:srgbClr val="22C55E">
              <a:alpha val="100000"/>
            </a:srgbClr>
          </a:solidFill>
          <a:ln cap="flat" cmpd="sng">
            <a:solidFill>
              <a:srgbClr val="0CAC47">
                <a:alpha val="100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6731000" y="1549400"/>
            <a:ext cx="4826000" cy="3302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800" b="1" i="0" u="none" strike="noStrike" spc="100">
                <a:solidFill>
                  <a:srgbClr val="15803D"/>
                </a:solidFill>
                <a:latin typeface="Noto Sans SC"/>
                <a:ea typeface="Noto Sans SC"/>
                <a:cs typeface="Noto Sans SC"/>
                <a:sym typeface="Noto Sans SC"/>
              </a:rPr>
              <a:t>业务价值</a:t>
            </a:r>
            <a:endParaRPr lang="en-US" sz="1100"/>
          </a:p>
        </p:txBody>
      </p:sp>
      <p:sp>
        <p:nvSpPr>
          <p:cNvPr id="25" name="AutoShape 25"/>
          <p:cNvSpPr/>
          <p:nvPr/>
        </p:nvSpPr>
        <p:spPr>
          <a:xfrm>
            <a:off x="6731000" y="1930400"/>
            <a:ext cx="4826000" cy="762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34155"/>
                </a:solidFill>
                <a:latin typeface="Noto Sans SC"/>
                <a:ea typeface="Noto Sans SC"/>
                <a:cs typeface="Noto Sans SC"/>
                <a:sym typeface="Noto Sans SC"/>
              </a:rPr>
              <a:t>提高模型的针对性和效率,避免使用无关波段引入干扰。</a:t>
            </a:r>
            <a:endParaRPr lang="en-US" sz="1100"/>
          </a:p>
        </p:txBody>
      </p:sp>
      <p:sp>
        <p:nvSpPr>
          <p:cNvPr id="26" name="AutoShape 26"/>
          <p:cNvSpPr/>
          <p:nvPr/>
        </p:nvSpPr>
        <p:spPr>
          <a:xfrm>
            <a:off x="6477000" y="2946400"/>
            <a:ext cx="5207000" cy="1270000"/>
          </a:xfrm>
          <a:prstGeom prst="roundRect">
            <a:avLst>
              <a:gd name="adj" fmla="val 0"/>
            </a:avLst>
          </a:prstGeom>
          <a:solidFill>
            <a:srgbClr val="EF4444">
              <a:alpha val="10000"/>
            </a:srgbClr>
          </a:solidFill>
          <a:ln cap="flat" cmpd="sng">
            <a:solidFill>
              <a:srgbClr val="D52727">
                <a:alpha val="10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6477000" y="2946400"/>
            <a:ext cx="50800" cy="1270000"/>
          </a:xfrm>
          <a:prstGeom prst="roundRect">
            <a:avLst>
              <a:gd name="adj" fmla="val 0"/>
            </a:avLst>
          </a:prstGeom>
          <a:solidFill>
            <a:srgbClr val="EF4444">
              <a:alpha val="100000"/>
            </a:srgbClr>
          </a:solidFill>
          <a:ln cap="flat" cmpd="sng">
            <a:solidFill>
              <a:srgbClr val="D52727">
                <a:alpha val="100000"/>
              </a:srgbClr>
            </a:solidFill>
            <a:prstDash val="solid"/>
            <a:round/>
          </a:ln>
        </p:spPr>
        <p:txBody>
          <a:bodyPr vert="horz" wrap="square" lIns="63500" tIns="63500" rIns="63500" bIns="63500" rtlCol="0" anchor="ctr"/>
          <a:lstStyle/>
          <a:p>
            <a:pPr algn="ctr">
              <a:defRPr/>
            </a:pPr>
          </a:p>
        </p:txBody>
      </p:sp>
      <p:sp>
        <p:nvSpPr>
          <p:cNvPr id="28" name="AutoShape 28"/>
          <p:cNvSpPr/>
          <p:nvPr/>
        </p:nvSpPr>
        <p:spPr>
          <a:xfrm>
            <a:off x="6731000" y="2946400"/>
            <a:ext cx="4826000" cy="3302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800" b="1" i="0" u="none" strike="noStrike" spc="100">
                <a:solidFill>
                  <a:srgbClr val="B91C1C"/>
                </a:solidFill>
                <a:latin typeface="Noto Sans SC"/>
                <a:ea typeface="Noto Sans SC"/>
                <a:cs typeface="Noto Sans SC"/>
                <a:sym typeface="Noto Sans SC"/>
              </a:rPr>
              <a:t>缺失影响</a:t>
            </a:r>
            <a:endParaRPr lang="en-US" sz="1100"/>
          </a:p>
        </p:txBody>
      </p:sp>
      <p:sp>
        <p:nvSpPr>
          <p:cNvPr id="29" name="AutoShape 29"/>
          <p:cNvSpPr/>
          <p:nvPr/>
        </p:nvSpPr>
        <p:spPr>
          <a:xfrm>
            <a:off x="6731000" y="3327400"/>
            <a:ext cx="4826000" cy="762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34155"/>
                </a:solidFill>
                <a:latin typeface="Noto Sans SC"/>
                <a:ea typeface="Noto Sans SC"/>
                <a:cs typeface="Noto Sans SC"/>
                <a:sym typeface="Noto Sans SC"/>
              </a:rPr>
              <a:t>使用所有波段进行分析,可能引入噪声和冗余信息,降低模型精度和效率。</a:t>
            </a:r>
            <a:endParaRPr lang="en-US" sz="1100"/>
          </a:p>
        </p:txBody>
      </p:sp>
      <p:sp>
        <p:nvSpPr>
          <p:cNvPr id="30" name="AutoShape 30"/>
          <p:cNvSpPr/>
          <p:nvPr/>
        </p:nvSpPr>
        <p:spPr>
          <a:xfrm>
            <a:off x="6477000" y="4343400"/>
            <a:ext cx="5207000" cy="1270000"/>
          </a:xfrm>
          <a:prstGeom prst="roundRect">
            <a:avLst>
              <a:gd name="adj" fmla="val 0"/>
            </a:avLst>
          </a:prstGeom>
          <a:solidFill>
            <a:srgbClr val="3B82F6">
              <a:alpha val="10000"/>
            </a:srgbClr>
          </a:solidFill>
          <a:ln cap="flat" cmpd="sng">
            <a:solidFill>
              <a:srgbClr val="1F67DD">
                <a:alpha val="10000"/>
              </a:srgbClr>
            </a:solidFill>
            <a:prstDash val="solid"/>
            <a:round/>
          </a:ln>
        </p:spPr>
        <p:txBody>
          <a:bodyPr vert="horz" wrap="square" lIns="63500" tIns="63500" rIns="63500" bIns="63500" rtlCol="0" anchor="ctr"/>
          <a:lstStyle/>
          <a:p>
            <a:pPr algn="ctr">
              <a:defRPr/>
            </a:pPr>
          </a:p>
        </p:txBody>
      </p:sp>
      <p:sp>
        <p:nvSpPr>
          <p:cNvPr id="31" name="AutoShape 31"/>
          <p:cNvSpPr/>
          <p:nvPr/>
        </p:nvSpPr>
        <p:spPr>
          <a:xfrm>
            <a:off x="6477000" y="4343400"/>
            <a:ext cx="50800" cy="1270000"/>
          </a:xfrm>
          <a:prstGeom prst="roundRect">
            <a:avLst>
              <a:gd name="adj" fmla="val 0"/>
            </a:avLst>
          </a:prstGeom>
          <a:solidFill>
            <a:srgbClr val="3B82F6">
              <a:alpha val="100000"/>
            </a:srgbClr>
          </a:solidFill>
          <a:ln cap="flat" cmpd="sng">
            <a:solidFill>
              <a:srgbClr val="1F67DD">
                <a:alpha val="100000"/>
              </a:srgbClr>
            </a:solidFill>
            <a:prstDash val="solid"/>
            <a:round/>
          </a:ln>
        </p:spPr>
        <p:txBody>
          <a:bodyPr vert="horz" wrap="square" lIns="63500" tIns="63500" rIns="63500" bIns="63500" rtlCol="0" anchor="ctr"/>
          <a:lstStyle/>
          <a:p>
            <a:pPr algn="ctr">
              <a:defRPr/>
            </a:pPr>
          </a:p>
        </p:txBody>
      </p:sp>
      <p:sp>
        <p:nvSpPr>
          <p:cNvPr id="32" name="AutoShape 32"/>
          <p:cNvSpPr/>
          <p:nvPr/>
        </p:nvSpPr>
        <p:spPr>
          <a:xfrm>
            <a:off x="6731000" y="4343400"/>
            <a:ext cx="4826000" cy="3302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800" b="1" i="0" u="none" strike="noStrike" spc="100">
                <a:solidFill>
                  <a:srgbClr val="1D4ED8"/>
                </a:solidFill>
                <a:latin typeface="Noto Sans SC"/>
                <a:ea typeface="Noto Sans SC"/>
                <a:cs typeface="Noto Sans SC"/>
                <a:sym typeface="Noto Sans SC"/>
              </a:rPr>
              <a:t>流程位置与关联</a:t>
            </a:r>
            <a:endParaRPr lang="en-US" sz="1100"/>
          </a:p>
        </p:txBody>
      </p:sp>
      <p:sp>
        <p:nvSpPr>
          <p:cNvPr id="33" name="AutoShape 33"/>
          <p:cNvSpPr/>
          <p:nvPr/>
        </p:nvSpPr>
        <p:spPr>
          <a:xfrm>
            <a:off x="6731000" y="4724400"/>
            <a:ext cx="2286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1" i="0" u="none" strike="noStrike">
                <a:solidFill>
                  <a:srgbClr val="475569"/>
                </a:solidFill>
                <a:latin typeface="Noto Sans SC"/>
                <a:ea typeface="Noto Sans SC"/>
                <a:cs typeface="Noto Sans SC"/>
                <a:sym typeface="Noto Sans SC"/>
              </a:rPr>
              <a:t>在哪个环节:</a:t>
            </a:r>
            <a:r>
              <a:rPr lang="en-US" sz="1200" b="0" i="0" u="none" strike="noStrike">
                <a:solidFill>
                  <a:srgbClr val="334155"/>
                </a:solidFill>
                <a:latin typeface="Noto Sans SC"/>
                <a:ea typeface="Noto Sans SC"/>
                <a:cs typeface="Noto Sans SC"/>
                <a:sym typeface="Noto Sans SC"/>
              </a:rPr>
              <a:t>L2分析前处理</a:t>
            </a:r>
            <a:endParaRPr lang="en-US" sz="1100"/>
          </a:p>
        </p:txBody>
      </p:sp>
      <p:sp>
        <p:nvSpPr>
          <p:cNvPr id="34" name="AutoShape 34"/>
          <p:cNvSpPr/>
          <p:nvPr/>
        </p:nvSpPr>
        <p:spPr>
          <a:xfrm>
            <a:off x="9144000" y="4724400"/>
            <a:ext cx="26035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1" i="0" u="none" strike="noStrike">
                <a:solidFill>
                  <a:srgbClr val="475569"/>
                </a:solidFill>
                <a:latin typeface="Noto Sans SC"/>
                <a:ea typeface="Noto Sans SC"/>
                <a:cs typeface="Noto Sans SC"/>
                <a:sym typeface="Noto Sans SC"/>
              </a:rPr>
              <a:t>关联:</a:t>
            </a:r>
            <a:r>
              <a:rPr lang="en-US" sz="1200" b="0" i="0" u="none" strike="noStrike">
                <a:solidFill>
                  <a:srgbClr val="334155"/>
                </a:solidFill>
                <a:latin typeface="Noto Sans SC"/>
                <a:ea typeface="Noto Sans SC"/>
                <a:cs typeface="Noto Sans SC"/>
                <a:sym typeface="Noto Sans SC"/>
              </a:rPr>
              <a:t>#23降维,#34-39分类</a:t>
            </a:r>
            <a:endParaRPr lang="en-US" sz="1100"/>
          </a:p>
        </p:txBody>
      </p:sp>
      <p:sp>
        <p:nvSpPr>
          <p:cNvPr id="35" name="AutoShape 35"/>
          <p:cNvSpPr/>
          <p:nvPr/>
        </p:nvSpPr>
        <p:spPr>
          <a:xfrm>
            <a:off x="508000" y="5842000"/>
            <a:ext cx="11176000" cy="698500"/>
          </a:xfrm>
          <a:prstGeom prst="roundRect">
            <a:avLst>
              <a:gd name="adj" fmla="val 0"/>
            </a:avLst>
          </a:prstGeom>
          <a:gradFill rotWithShape="1">
            <a:gsLst>
              <a:gs pos="0">
                <a:srgbClr val="1E3A8A">
                  <a:alpha val="100000"/>
                </a:srgbClr>
              </a:gs>
              <a:gs pos="100000">
                <a:srgbClr val="3359B2">
                  <a:alpha val="100000"/>
                </a:srgbClr>
              </a:gs>
            </a:gsLst>
            <a:lin ang="0"/>
          </a:gradFill>
          <a:ln cap="flat" cmpd="sng">
            <a:gradFill rotWithShape="1">
              <a:gsLst>
                <a:gs pos="0">
                  <a:srgbClr val="0D2771">
                    <a:alpha val="100000"/>
                  </a:srgbClr>
                </a:gs>
                <a:gs pos="100000">
                  <a:srgbClr val="1C4299">
                    <a:alpha val="100000"/>
                  </a:srgbClr>
                </a:gs>
              </a:gsLst>
              <a:lin ang="0"/>
            </a:gradFill>
            <a:prstDash val="solid"/>
            <a:round/>
          </a:ln>
        </p:spPr>
        <p:txBody>
          <a:bodyPr vert="horz" wrap="square" lIns="63500" tIns="63500" rIns="63500" bIns="63500" rtlCol="0" anchor="ctr"/>
          <a:lstStyle/>
          <a:p>
            <a:pPr algn="ctr">
              <a:defRPr/>
            </a:pPr>
          </a:p>
        </p:txBody>
      </p:sp>
      <p:sp>
        <p:nvSpPr>
          <p:cNvPr id="36" name="AutoShape 36"/>
          <p:cNvSpPr/>
          <p:nvPr/>
        </p:nvSpPr>
        <p:spPr>
          <a:xfrm>
            <a:off x="762000" y="5842000"/>
            <a:ext cx="1524000" cy="6985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500" b="1" i="0" u="none" strike="noStrike" spc="200">
                <a:solidFill>
                  <a:srgbClr val="FFFFFF">
                    <a:alpha val="85098"/>
                  </a:srgbClr>
                </a:solidFill>
                <a:latin typeface="Noto Sans SC"/>
                <a:ea typeface="Noto Sans SC"/>
                <a:cs typeface="Noto Sans SC"/>
                <a:sym typeface="Noto Sans SC"/>
              </a:rPr>
              <a:t>[API]</a:t>
            </a:r>
            <a:endParaRPr lang="en-US" sz="1100"/>
          </a:p>
        </p:txBody>
      </p:sp>
      <p:cxnSp>
        <p:nvCxnSpPr>
          <p:cNvPr id="37" name="Connector 37"/>
          <p:cNvCxnSpPr/>
          <p:nvPr/>
        </p:nvCxnSpPr>
        <p:spPr>
          <a:xfrm rot="5301805">
            <a:off x="2063750" y="6184991"/>
            <a:ext cx="444500" cy="12700"/>
          </a:xfrm>
          <a:prstGeom prst="straightConnector1">
            <a:avLst/>
          </a:prstGeom>
          <a:solidFill>
            <a:srgbClr val="DEE0E3">
              <a:alpha val="100000"/>
            </a:srgbClr>
          </a:solidFill>
          <a:ln w="12700" cap="flat" cmpd="sng">
            <a:solidFill>
              <a:srgbClr val="FFFFFF">
                <a:alpha val="28000"/>
              </a:srgbClr>
            </a:solidFill>
            <a:prstDash val="solid"/>
            <a:round/>
            <a:headEnd type="none" w="med" len="med"/>
            <a:tailEnd type="none" w="med" len="med"/>
          </a:ln>
        </p:spPr>
      </p:cxnSp>
      <p:sp>
        <p:nvSpPr>
          <p:cNvPr id="38" name="AutoShape 38"/>
          <p:cNvSpPr/>
          <p:nvPr/>
        </p:nvSpPr>
        <p:spPr>
          <a:xfrm>
            <a:off x="2540000" y="5842000"/>
            <a:ext cx="8890000" cy="6985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600" b="0" i="0" u="none" strike="noStrike">
                <a:solidFill>
                  <a:srgbClr val="FFFFFF"/>
                </a:solidFill>
                <a:latin typeface="Noto Sans SC"/>
                <a:ea typeface="Noto Sans SC"/>
                <a:cs typeface="Noto Sans SC"/>
                <a:sym typeface="Noto Sans SC"/>
              </a:rPr>
              <a:t>/api/v1/24_feature_selection/run</a:t>
            </a:r>
            <a:endParaRPr lang="en-US" sz="11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8890000" cy="5842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2800" b="1" i="0" u="none" strike="noStrike" spc="100">
                <a:solidFill>
                  <a:srgbClr val="1E3A8A"/>
                </a:solidFill>
                <a:latin typeface="Noto Sans SC"/>
                <a:ea typeface="Noto Sans SC"/>
                <a:cs typeface="Noto Sans SC"/>
                <a:sym typeface="Noto Sans SC"/>
              </a:rPr>
              <a:t>图像素/面向对象分割</a:t>
            </a:r>
            <a:endParaRPr lang="en-US" sz="1100"/>
          </a:p>
        </p:txBody>
      </p:sp>
      <p:sp>
        <p:nvSpPr>
          <p:cNvPr id="3" name="AutoShape 3"/>
          <p:cNvSpPr/>
          <p:nvPr/>
        </p:nvSpPr>
        <p:spPr>
          <a:xfrm>
            <a:off x="508000" y="1016000"/>
            <a:ext cx="101600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0" i="0" u="none" strike="noStrike">
                <a:solidFill>
                  <a:srgbClr val="64748B"/>
                </a:solidFill>
                <a:latin typeface="Noto Sans SC"/>
                <a:ea typeface="Noto Sans SC"/>
                <a:cs typeface="Noto Sans SC"/>
                <a:sym typeface="Noto Sans SC"/>
              </a:rPr>
              <a:t>所属层级:L2</a:t>
            </a:r>
            <a:r>
              <a:rPr lang="en-US" sz="1200" b="0" i="0" u="none" strike="noStrike">
                <a:solidFill>
                  <a:srgbClr val="CBD5E1"/>
                </a:solidFill>
                <a:latin typeface="Noto Sans SC"/>
                <a:ea typeface="Noto Sans SC"/>
                <a:cs typeface="Noto Sans SC"/>
                <a:sym typeface="Noto Sans SC"/>
              </a:rPr>
              <a:t>｜</a:t>
            </a:r>
            <a:r>
              <a:rPr lang="en-US" sz="1200" b="0" i="0" u="none" strike="noStrike">
                <a:solidFill>
                  <a:srgbClr val="64748B"/>
                </a:solidFill>
                <a:latin typeface="Noto Sans SC"/>
                <a:ea typeface="Noto Sans SC"/>
                <a:cs typeface="Noto Sans SC"/>
                <a:sym typeface="Noto Sans SC"/>
              </a:rPr>
              <a:t>编号#25</a:t>
            </a:r>
            <a:r>
              <a:rPr lang="en-US" sz="1200" b="0" i="0" u="none" strike="noStrike">
                <a:solidFill>
                  <a:srgbClr val="CBD5E1"/>
                </a:solidFill>
                <a:latin typeface="Noto Sans SC"/>
                <a:ea typeface="Noto Sans SC"/>
                <a:cs typeface="Noto Sans SC"/>
                <a:sym typeface="Noto Sans SC"/>
              </a:rPr>
              <a:t>｜</a:t>
            </a:r>
            <a:r>
              <a:rPr lang="en-US" sz="1200" b="0" i="0" u="none" strike="noStrike">
                <a:solidFill>
                  <a:srgbClr val="64748B"/>
                </a:solidFill>
                <a:latin typeface="Noto Sans SC"/>
                <a:ea typeface="Noto Sans SC"/>
                <a:cs typeface="Noto Sans SC"/>
                <a:sym typeface="Noto Sans SC"/>
              </a:rPr>
              <a:t>辅导材料:算法清单与API</a:t>
            </a:r>
            <a:endParaRPr lang="en-US" sz="1100"/>
          </a:p>
        </p:txBody>
      </p:sp>
      <p:cxnSp>
        <p:nvCxnSpPr>
          <p:cNvPr id="4" name="Connector 4"/>
          <p:cNvCxnSpPr/>
          <p:nvPr/>
        </p:nvCxnSpPr>
        <p:spPr>
          <a:xfrm rot="-3906">
            <a:off x="508004" y="1416050"/>
            <a:ext cx="11176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5" name="AutoShape 5"/>
          <p:cNvSpPr/>
          <p:nvPr/>
        </p:nvSpPr>
        <p:spPr>
          <a:xfrm>
            <a:off x="508000" y="1549400"/>
            <a:ext cx="5588000" cy="3556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2000" b="1" i="0" u="none" strike="noStrike">
                <a:solidFill>
                  <a:srgbClr val="1E3A8A"/>
                </a:solidFill>
                <a:latin typeface="Noto Sans SC"/>
                <a:ea typeface="Noto Sans SC"/>
                <a:cs typeface="Noto Sans SC"/>
                <a:sym typeface="Noto Sans SC"/>
              </a:rPr>
              <a:t>功能定义</a:t>
            </a:r>
            <a:endParaRPr lang="en-US" sz="1100"/>
          </a:p>
        </p:txBody>
      </p:sp>
      <p:sp>
        <p:nvSpPr>
          <p:cNvPr id="6" name="AutoShape 6"/>
          <p:cNvSpPr/>
          <p:nvPr/>
        </p:nvSpPr>
        <p:spPr>
          <a:xfrm>
            <a:off x="508000" y="1930400"/>
            <a:ext cx="5588000" cy="7112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500" b="0" i="0" u="none" strike="noStrike">
                <a:solidFill>
                  <a:srgbClr val="334155"/>
                </a:solidFill>
                <a:latin typeface="Noto Sans SC"/>
                <a:ea typeface="Noto Sans SC"/>
                <a:cs typeface="Noto Sans SC"/>
                <a:sym typeface="Noto Sans SC"/>
              </a:rPr>
              <a:t>将影像分割成具有相同特征的像素块或对象。</a:t>
            </a:r>
            <a:endParaRPr lang="en-US" sz="1100"/>
          </a:p>
        </p:txBody>
      </p:sp>
      <p:sp>
        <p:nvSpPr>
          <p:cNvPr id="7" name="AutoShape 7"/>
          <p:cNvSpPr/>
          <p:nvPr/>
        </p:nvSpPr>
        <p:spPr>
          <a:xfrm>
            <a:off x="508000" y="2717800"/>
            <a:ext cx="5588000" cy="3556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2000" b="1" i="0" u="none" strike="noStrike">
                <a:solidFill>
                  <a:srgbClr val="1E3A8A"/>
                </a:solidFill>
                <a:latin typeface="Noto Sans SC"/>
                <a:ea typeface="Noto Sans SC"/>
                <a:cs typeface="Noto Sans SC"/>
                <a:sym typeface="Noto Sans SC"/>
              </a:rPr>
              <a:t>方法要点</a:t>
            </a:r>
            <a:endParaRPr lang="en-US" sz="1100"/>
          </a:p>
        </p:txBody>
      </p:sp>
      <p:sp>
        <p:nvSpPr>
          <p:cNvPr id="8" name="AutoShape 8"/>
          <p:cNvSpPr/>
          <p:nvPr/>
        </p:nvSpPr>
        <p:spPr>
          <a:xfrm>
            <a:off x="508000" y="3098800"/>
            <a:ext cx="5588000" cy="838200"/>
          </a:xfrm>
          <a:prstGeom prst="roundRect">
            <a:avLst>
              <a:gd name="adj" fmla="val 0"/>
            </a:avLst>
          </a:prstGeom>
          <a:solidFill>
            <a:srgbClr val="EFF6FF">
              <a:alpha val="100000"/>
            </a:srgbClr>
          </a:solidFill>
          <a:ln cap="flat" cmpd="sng">
            <a:solidFill>
              <a:srgbClr val="C0D0E6">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508000" y="3098800"/>
            <a:ext cx="50800" cy="8382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62000" y="3098800"/>
            <a:ext cx="5207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500" b="1" i="0" u="none" strike="noStrike">
                <a:solidFill>
                  <a:srgbClr val="1E3A8A"/>
                </a:solidFill>
                <a:latin typeface="Noto Sans SC"/>
                <a:ea typeface="Noto Sans SC"/>
                <a:cs typeface="Noto Sans SC"/>
                <a:sym typeface="Noto Sans SC"/>
              </a:rPr>
              <a:t>像素级分割</a:t>
            </a:r>
            <a:endParaRPr lang="en-US" sz="1100"/>
          </a:p>
        </p:txBody>
      </p:sp>
      <p:sp>
        <p:nvSpPr>
          <p:cNvPr id="11" name="AutoShape 11"/>
          <p:cNvSpPr/>
          <p:nvPr/>
        </p:nvSpPr>
        <p:spPr>
          <a:xfrm>
            <a:off x="762000" y="3429000"/>
            <a:ext cx="5207000" cy="4572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300" b="0" i="0" u="none" strike="noStrike">
                <a:solidFill>
                  <a:srgbClr val="475569"/>
                </a:solidFill>
                <a:latin typeface="Noto Sans SC"/>
                <a:ea typeface="Noto Sans SC"/>
                <a:cs typeface="Noto Sans SC"/>
                <a:sym typeface="Noto Sans SC"/>
              </a:rPr>
              <a:t>基于单个像素的光谱特征进行分割。</a:t>
            </a:r>
            <a:endParaRPr lang="en-US" sz="1100"/>
          </a:p>
        </p:txBody>
      </p:sp>
      <p:sp>
        <p:nvSpPr>
          <p:cNvPr id="12" name="AutoShape 12"/>
          <p:cNvSpPr/>
          <p:nvPr/>
        </p:nvSpPr>
        <p:spPr>
          <a:xfrm>
            <a:off x="508000" y="4013200"/>
            <a:ext cx="5588000" cy="838200"/>
          </a:xfrm>
          <a:prstGeom prst="roundRect">
            <a:avLst>
              <a:gd name="adj" fmla="val 0"/>
            </a:avLst>
          </a:prstGeom>
          <a:solidFill>
            <a:srgbClr val="EFF6FF">
              <a:alpha val="100000"/>
            </a:srgbClr>
          </a:solidFill>
          <a:ln cap="flat" cmpd="sng">
            <a:solidFill>
              <a:srgbClr val="C0D0E6">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508000" y="4013200"/>
            <a:ext cx="50800" cy="8382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762000" y="4013200"/>
            <a:ext cx="5207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500" b="1" i="0" u="none" strike="noStrike">
                <a:solidFill>
                  <a:srgbClr val="1E3A8A"/>
                </a:solidFill>
                <a:latin typeface="Noto Sans SC"/>
                <a:ea typeface="Noto Sans SC"/>
                <a:cs typeface="Noto Sans SC"/>
                <a:sym typeface="Noto Sans SC"/>
              </a:rPr>
              <a:t>面向对象分割</a:t>
            </a:r>
            <a:endParaRPr lang="en-US" sz="1100"/>
          </a:p>
        </p:txBody>
      </p:sp>
      <p:sp>
        <p:nvSpPr>
          <p:cNvPr id="15" name="AutoShape 15"/>
          <p:cNvSpPr/>
          <p:nvPr/>
        </p:nvSpPr>
        <p:spPr>
          <a:xfrm>
            <a:off x="762000" y="4343400"/>
            <a:ext cx="5207000" cy="5080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300" b="0" i="0" u="none" strike="noStrike">
                <a:solidFill>
                  <a:srgbClr val="475569"/>
                </a:solidFill>
                <a:latin typeface="Noto Sans SC"/>
                <a:ea typeface="Noto Sans SC"/>
                <a:cs typeface="Noto Sans SC"/>
                <a:sym typeface="Noto Sans SC"/>
              </a:rPr>
              <a:t>先进行过分割,然后根据光谱和空间特征合并成对象。</a:t>
            </a:r>
            <a:endParaRPr lang="en-US" sz="1100"/>
          </a:p>
        </p:txBody>
      </p:sp>
      <p:sp>
        <p:nvSpPr>
          <p:cNvPr id="16" name="AutoShape 16"/>
          <p:cNvSpPr/>
          <p:nvPr/>
        </p:nvSpPr>
        <p:spPr>
          <a:xfrm>
            <a:off x="508000" y="4978400"/>
            <a:ext cx="5588000" cy="3556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2000" b="1" i="0" u="none" strike="noStrike">
                <a:solidFill>
                  <a:srgbClr val="1E3A8A"/>
                </a:solidFill>
                <a:latin typeface="Noto Sans SC"/>
                <a:ea typeface="Noto Sans SC"/>
                <a:cs typeface="Noto Sans SC"/>
                <a:sym typeface="Noto Sans SC"/>
              </a:rPr>
              <a:t>适用场景</a:t>
            </a:r>
            <a:endParaRPr lang="en-US" sz="1100"/>
          </a:p>
        </p:txBody>
      </p:sp>
      <p:sp>
        <p:nvSpPr>
          <p:cNvPr id="17" name="AutoShape 17"/>
          <p:cNvSpPr/>
          <p:nvPr/>
        </p:nvSpPr>
        <p:spPr>
          <a:xfrm>
            <a:off x="508000" y="5359400"/>
            <a:ext cx="5588000" cy="3810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500" b="0" i="0" u="none" strike="noStrike">
                <a:solidFill>
                  <a:srgbClr val="334155"/>
                </a:solidFill>
                <a:latin typeface="Noto Sans SC"/>
                <a:ea typeface="Noto Sans SC"/>
                <a:cs typeface="Noto Sans SC"/>
                <a:sym typeface="Noto Sans SC"/>
              </a:rPr>
              <a:t>地物分类、目标检测、样本构建。</a:t>
            </a:r>
            <a:endParaRPr lang="en-US" sz="1100"/>
          </a:p>
        </p:txBody>
      </p:sp>
      <p:cxnSp>
        <p:nvCxnSpPr>
          <p:cNvPr id="18" name="Connector 18"/>
          <p:cNvCxnSpPr/>
          <p:nvPr/>
        </p:nvCxnSpPr>
        <p:spPr>
          <a:xfrm rot="5389582">
            <a:off x="4254500" y="3638560"/>
            <a:ext cx="4191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19" name="AutoShape 19"/>
          <p:cNvSpPr/>
          <p:nvPr/>
        </p:nvSpPr>
        <p:spPr>
          <a:xfrm>
            <a:off x="6604000" y="1549400"/>
            <a:ext cx="5080000" cy="3556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2000" b="1" i="0" u="none" strike="noStrike">
                <a:solidFill>
                  <a:srgbClr val="1E3A8A"/>
                </a:solidFill>
                <a:latin typeface="Noto Sans SC"/>
                <a:ea typeface="Noto Sans SC"/>
                <a:cs typeface="Noto Sans SC"/>
                <a:sym typeface="Noto Sans SC"/>
              </a:rPr>
              <a:t>业务价值</a:t>
            </a:r>
            <a:endParaRPr lang="en-US" sz="1100"/>
          </a:p>
        </p:txBody>
      </p:sp>
      <p:sp>
        <p:nvSpPr>
          <p:cNvPr id="20" name="AutoShape 20"/>
          <p:cNvSpPr/>
          <p:nvPr/>
        </p:nvSpPr>
        <p:spPr>
          <a:xfrm>
            <a:off x="6604000" y="1930400"/>
            <a:ext cx="5080000" cy="863600"/>
          </a:xfrm>
          <a:prstGeom prst="roundRect">
            <a:avLst>
              <a:gd name="adj" fmla="val 0"/>
            </a:avLst>
          </a:prstGeom>
          <a:solidFill>
            <a:srgbClr val="10B981">
              <a:alpha val="8000"/>
            </a:srgbClr>
          </a:solidFill>
          <a:ln cap="flat" cmpd="sng">
            <a:solidFill>
              <a:srgbClr val="00A06B">
                <a:alpha val="8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6604000" y="1930400"/>
            <a:ext cx="50800" cy="863600"/>
          </a:xfrm>
          <a:prstGeom prst="roundRect">
            <a:avLst>
              <a:gd name="adj" fmla="val 0"/>
            </a:avLst>
          </a:prstGeom>
          <a:solidFill>
            <a:srgbClr val="10B981">
              <a:alpha val="100000"/>
            </a:srgbClr>
          </a:solidFill>
          <a:ln cap="flat" cmpd="sng">
            <a:solidFill>
              <a:srgbClr val="00A06B">
                <a:alpha val="10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6858000" y="1930400"/>
            <a:ext cx="4699000" cy="863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34155"/>
                </a:solidFill>
                <a:latin typeface="Noto Sans SC"/>
                <a:ea typeface="Noto Sans SC"/>
                <a:cs typeface="Noto Sans SC"/>
                <a:sym typeface="Noto Sans SC"/>
              </a:rPr>
              <a:t>利用空间信息,提高</a:t>
            </a:r>
            <a:r>
              <a:rPr lang="en-US" sz="1400" b="1" i="0" u="none" strike="noStrike">
                <a:solidFill>
                  <a:srgbClr val="10B981"/>
                </a:solidFill>
                <a:latin typeface="Noto Sans SC"/>
                <a:ea typeface="Noto Sans SC"/>
                <a:cs typeface="Noto Sans SC"/>
                <a:sym typeface="Noto Sans SC"/>
              </a:rPr>
              <a:t>分类和检测的精度</a:t>
            </a:r>
            <a:r>
              <a:rPr lang="en-US" sz="1400" b="0" i="0" u="none" strike="noStrike">
                <a:solidFill>
                  <a:srgbClr val="334155"/>
                </a:solidFill>
                <a:latin typeface="Noto Sans SC"/>
                <a:ea typeface="Noto Sans SC"/>
                <a:cs typeface="Noto Sans SC"/>
                <a:sym typeface="Noto Sans SC"/>
              </a:rPr>
              <a:t>。</a:t>
            </a:r>
            <a:endParaRPr lang="en-US" sz="1100"/>
          </a:p>
        </p:txBody>
      </p:sp>
      <p:sp>
        <p:nvSpPr>
          <p:cNvPr id="23" name="AutoShape 23"/>
          <p:cNvSpPr/>
          <p:nvPr/>
        </p:nvSpPr>
        <p:spPr>
          <a:xfrm>
            <a:off x="6604000" y="2946400"/>
            <a:ext cx="5080000" cy="3556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2000" b="1" i="0" u="none" strike="noStrike">
                <a:solidFill>
                  <a:srgbClr val="1E3A8A"/>
                </a:solidFill>
                <a:latin typeface="Noto Sans SC"/>
                <a:ea typeface="Noto Sans SC"/>
                <a:cs typeface="Noto Sans SC"/>
                <a:sym typeface="Noto Sans SC"/>
              </a:rPr>
              <a:t>缺失影响</a:t>
            </a:r>
            <a:endParaRPr lang="en-US" sz="1100"/>
          </a:p>
        </p:txBody>
      </p:sp>
      <p:sp>
        <p:nvSpPr>
          <p:cNvPr id="24" name="AutoShape 24"/>
          <p:cNvSpPr/>
          <p:nvPr/>
        </p:nvSpPr>
        <p:spPr>
          <a:xfrm>
            <a:off x="6604000" y="3327400"/>
            <a:ext cx="5080000" cy="965200"/>
          </a:xfrm>
          <a:prstGeom prst="roundRect">
            <a:avLst>
              <a:gd name="adj" fmla="val 0"/>
            </a:avLst>
          </a:prstGeom>
          <a:solidFill>
            <a:srgbClr val="F59E0B">
              <a:alpha val="8000"/>
            </a:srgbClr>
          </a:solidFill>
          <a:ln cap="flat" cmpd="sng">
            <a:solidFill>
              <a:srgbClr val="DC8A00">
                <a:alpha val="8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6604000" y="3327400"/>
            <a:ext cx="50800" cy="965200"/>
          </a:xfrm>
          <a:prstGeom prst="roundRect">
            <a:avLst>
              <a:gd name="adj" fmla="val 0"/>
            </a:avLst>
          </a:prstGeom>
          <a:solidFill>
            <a:srgbClr val="F59E0B">
              <a:alpha val="100000"/>
            </a:srgbClr>
          </a:solidFill>
          <a:ln cap="flat" cmpd="sng">
            <a:solidFill>
              <a:srgbClr val="DC8A00">
                <a:alpha val="100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6858000" y="3327400"/>
            <a:ext cx="4699000" cy="965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34155"/>
                </a:solidFill>
                <a:latin typeface="Noto Sans SC"/>
                <a:ea typeface="Noto Sans SC"/>
                <a:cs typeface="Noto Sans SC"/>
                <a:sym typeface="Noto Sans SC"/>
              </a:rPr>
              <a:t>仅使用单个像素的光谱信息,容易受到噪声影响,导致</a:t>
            </a:r>
            <a:r>
              <a:rPr lang="en-US" sz="1400" b="1" i="0" u="none" strike="noStrike">
                <a:solidFill>
                  <a:srgbClr val="F59E0B"/>
                </a:solidFill>
                <a:latin typeface="Noto Sans SC"/>
                <a:ea typeface="Noto Sans SC"/>
                <a:cs typeface="Noto Sans SC"/>
                <a:sym typeface="Noto Sans SC"/>
              </a:rPr>
              <a:t>"椒盐噪声"</a:t>
            </a:r>
            <a:r>
              <a:rPr lang="en-US" sz="1400" b="0" i="0" u="none" strike="noStrike">
                <a:solidFill>
                  <a:srgbClr val="334155"/>
                </a:solidFill>
                <a:latin typeface="Noto Sans SC"/>
                <a:ea typeface="Noto Sans SC"/>
                <a:cs typeface="Noto Sans SC"/>
                <a:sym typeface="Noto Sans SC"/>
              </a:rPr>
              <a:t>。</a:t>
            </a:r>
            <a:endParaRPr lang="en-US" sz="1100"/>
          </a:p>
        </p:txBody>
      </p:sp>
      <p:sp>
        <p:nvSpPr>
          <p:cNvPr id="27" name="AutoShape 27"/>
          <p:cNvSpPr/>
          <p:nvPr/>
        </p:nvSpPr>
        <p:spPr>
          <a:xfrm>
            <a:off x="6604000" y="4445000"/>
            <a:ext cx="5080000" cy="3556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2000" b="1" i="0" u="none" strike="noStrike">
                <a:solidFill>
                  <a:srgbClr val="1E3A8A"/>
                </a:solidFill>
                <a:latin typeface="Noto Sans SC"/>
                <a:ea typeface="Noto Sans SC"/>
                <a:cs typeface="Noto Sans SC"/>
                <a:sym typeface="Noto Sans SC"/>
              </a:rPr>
              <a:t>流程位置与关联</a:t>
            </a:r>
            <a:endParaRPr lang="en-US" sz="1100"/>
          </a:p>
        </p:txBody>
      </p:sp>
      <p:sp>
        <p:nvSpPr>
          <p:cNvPr id="28" name="AutoShape 28"/>
          <p:cNvSpPr/>
          <p:nvPr/>
        </p:nvSpPr>
        <p:spPr>
          <a:xfrm>
            <a:off x="6604000" y="4826000"/>
            <a:ext cx="22860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0" i="0" u="none" strike="noStrike">
                <a:solidFill>
                  <a:srgbClr val="94A3B8"/>
                </a:solidFill>
                <a:latin typeface="Noto Sans SC"/>
                <a:ea typeface="Noto Sans SC"/>
                <a:cs typeface="Noto Sans SC"/>
                <a:sym typeface="Noto Sans SC"/>
              </a:rPr>
              <a:t>在哪个环节</a:t>
            </a:r>
            <a:endParaRPr lang="en-US" sz="1100"/>
          </a:p>
        </p:txBody>
      </p:sp>
      <p:sp>
        <p:nvSpPr>
          <p:cNvPr id="29" name="AutoShape 29"/>
          <p:cNvSpPr/>
          <p:nvPr/>
        </p:nvSpPr>
        <p:spPr>
          <a:xfrm>
            <a:off x="6604000" y="5105400"/>
            <a:ext cx="2286000" cy="381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500" b="1" i="0" u="none" strike="noStrike">
                <a:solidFill>
                  <a:srgbClr val="1E3A8A"/>
                </a:solidFill>
                <a:latin typeface="Noto Sans SC"/>
                <a:ea typeface="Noto Sans SC"/>
                <a:cs typeface="Noto Sans SC"/>
                <a:sym typeface="Noto Sans SC"/>
              </a:rPr>
              <a:t>L2分析前处理</a:t>
            </a:r>
            <a:endParaRPr lang="en-US" sz="1100"/>
          </a:p>
        </p:txBody>
      </p:sp>
      <p:sp>
        <p:nvSpPr>
          <p:cNvPr id="30" name="AutoShape 30"/>
          <p:cNvSpPr/>
          <p:nvPr/>
        </p:nvSpPr>
        <p:spPr>
          <a:xfrm>
            <a:off x="9144000" y="4826000"/>
            <a:ext cx="25400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0" i="0" u="none" strike="noStrike">
                <a:solidFill>
                  <a:srgbClr val="94A3B8"/>
                </a:solidFill>
                <a:latin typeface="Noto Sans SC"/>
                <a:ea typeface="Noto Sans SC"/>
                <a:cs typeface="Noto Sans SC"/>
                <a:sym typeface="Noto Sans SC"/>
              </a:rPr>
              <a:t>关联算法</a:t>
            </a:r>
            <a:endParaRPr lang="en-US" sz="1100"/>
          </a:p>
        </p:txBody>
      </p:sp>
      <p:sp>
        <p:nvSpPr>
          <p:cNvPr id="31" name="AutoShape 31"/>
          <p:cNvSpPr/>
          <p:nvPr/>
        </p:nvSpPr>
        <p:spPr>
          <a:xfrm>
            <a:off x="9144000" y="5105400"/>
            <a:ext cx="2540000" cy="381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400" b="0" i="0" u="none" strike="noStrike">
                <a:solidFill>
                  <a:srgbClr val="334155"/>
                </a:solidFill>
                <a:latin typeface="Noto Sans SC"/>
                <a:ea typeface="Noto Sans SC"/>
                <a:cs typeface="Noto Sans SC"/>
                <a:sym typeface="Noto Sans SC"/>
              </a:rPr>
              <a:t>#26样本构建,#34-39分类</a:t>
            </a:r>
            <a:endParaRPr lang="en-US" sz="1100"/>
          </a:p>
        </p:txBody>
      </p:sp>
      <p:sp>
        <p:nvSpPr>
          <p:cNvPr id="32" name="AutoShape 32"/>
          <p:cNvSpPr/>
          <p:nvPr/>
        </p:nvSpPr>
        <p:spPr>
          <a:xfrm>
            <a:off x="508000" y="5969000"/>
            <a:ext cx="11176000" cy="698500"/>
          </a:xfrm>
          <a:prstGeom prst="roundRect">
            <a:avLst>
              <a:gd name="adj" fmla="val 0"/>
            </a:avLst>
          </a:prstGeom>
          <a:gradFill rotWithShape="1">
            <a:gsLst>
              <a:gs pos="0">
                <a:srgbClr val="1E3A8A">
                  <a:alpha val="6000"/>
                </a:srgbClr>
              </a:gs>
              <a:gs pos="100000">
                <a:srgbClr val="1E3A8A">
                  <a:alpha val="2000"/>
                </a:srgbClr>
              </a:gs>
            </a:gsLst>
            <a:lin ang="0"/>
          </a:gradFill>
          <a:ln cap="flat" cmpd="sng">
            <a:gradFill rotWithShape="1">
              <a:gsLst>
                <a:gs pos="0">
                  <a:srgbClr val="0D2771">
                    <a:alpha val="6000"/>
                  </a:srgbClr>
                </a:gs>
                <a:gs pos="100000">
                  <a:srgbClr val="0D2771">
                    <a:alpha val="2000"/>
                  </a:srgbClr>
                </a:gs>
              </a:gsLst>
              <a:lin ang="0"/>
            </a:gradFill>
            <a:prstDash val="solid"/>
            <a:round/>
          </a:ln>
        </p:spPr>
        <p:txBody>
          <a:bodyPr vert="horz" wrap="square" lIns="63500" tIns="63500" rIns="63500" bIns="63500" rtlCol="0" anchor="ctr"/>
          <a:lstStyle/>
          <a:p>
            <a:pPr algn="ctr">
              <a:defRPr/>
            </a:pPr>
          </a:p>
        </p:txBody>
      </p:sp>
      <p:sp>
        <p:nvSpPr>
          <p:cNvPr id="33" name="AutoShape 33"/>
          <p:cNvSpPr/>
          <p:nvPr/>
        </p:nvSpPr>
        <p:spPr>
          <a:xfrm>
            <a:off x="508000" y="5969000"/>
            <a:ext cx="50800" cy="6985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34" name="AutoShape 34"/>
          <p:cNvSpPr/>
          <p:nvPr/>
        </p:nvSpPr>
        <p:spPr>
          <a:xfrm>
            <a:off x="762000" y="5969000"/>
            <a:ext cx="1397000" cy="6985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1" i="0" u="none" strike="noStrike">
                <a:solidFill>
                  <a:srgbClr val="1E3A8A"/>
                </a:solidFill>
                <a:latin typeface="Noto Sans SC"/>
                <a:ea typeface="Noto Sans SC"/>
                <a:cs typeface="Noto Sans SC"/>
                <a:sym typeface="Noto Sans SC"/>
              </a:rPr>
              <a:t>[API]</a:t>
            </a:r>
            <a:endParaRPr lang="en-US" sz="1100"/>
          </a:p>
        </p:txBody>
      </p:sp>
      <p:cxnSp>
        <p:nvCxnSpPr>
          <p:cNvPr id="35" name="Connector 35"/>
          <p:cNvCxnSpPr/>
          <p:nvPr/>
        </p:nvCxnSpPr>
        <p:spPr>
          <a:xfrm rot="5301805">
            <a:off x="2063750" y="6311991"/>
            <a:ext cx="444500" cy="12700"/>
          </a:xfrm>
          <a:prstGeom prst="straightConnector1">
            <a:avLst/>
          </a:prstGeom>
          <a:solidFill>
            <a:srgbClr val="DEE0E3">
              <a:alpha val="100000"/>
            </a:srgbClr>
          </a:solidFill>
          <a:ln w="12700" cap="flat" cmpd="sng">
            <a:solidFill>
              <a:srgbClr val="CBD5E1">
                <a:alpha val="100000"/>
              </a:srgbClr>
            </a:solidFill>
            <a:prstDash val="solid"/>
            <a:round/>
            <a:headEnd type="none" w="med" len="med"/>
            <a:tailEnd type="none" w="med" len="med"/>
          </a:ln>
        </p:spPr>
      </p:cxnSp>
      <p:sp>
        <p:nvSpPr>
          <p:cNvPr id="36" name="AutoShape 36"/>
          <p:cNvSpPr/>
          <p:nvPr/>
        </p:nvSpPr>
        <p:spPr>
          <a:xfrm>
            <a:off x="2476500" y="5969000"/>
            <a:ext cx="4572000" cy="6985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400" b="0" i="0" u="none" strike="noStrike">
                <a:solidFill>
                  <a:srgbClr val="334155"/>
                </a:solidFill>
                <a:latin typeface="Noto Sans SC"/>
                <a:ea typeface="Noto Sans SC"/>
                <a:cs typeface="Noto Sans SC"/>
                <a:sym typeface="Noto Sans SC"/>
              </a:rPr>
              <a:t>/api/v1/25_segmentation/run</a:t>
            </a:r>
            <a:endParaRPr lang="en-US" sz="1100"/>
          </a:p>
        </p:txBody>
      </p:sp>
      <p:cxnSp>
        <p:nvCxnSpPr>
          <p:cNvPr id="37" name="Connector 37"/>
          <p:cNvCxnSpPr/>
          <p:nvPr/>
        </p:nvCxnSpPr>
        <p:spPr>
          <a:xfrm rot="5301805">
            <a:off x="7016750" y="6311991"/>
            <a:ext cx="444500" cy="12700"/>
          </a:xfrm>
          <a:prstGeom prst="straightConnector1">
            <a:avLst/>
          </a:prstGeom>
          <a:solidFill>
            <a:srgbClr val="DEE0E3">
              <a:alpha val="100000"/>
            </a:srgbClr>
          </a:solidFill>
          <a:ln w="12700" cap="flat" cmpd="sng">
            <a:solidFill>
              <a:srgbClr val="CBD5E1">
                <a:alpha val="100000"/>
              </a:srgbClr>
            </a:solidFill>
            <a:prstDash val="solid"/>
            <a:round/>
            <a:headEnd type="none" w="med" len="med"/>
            <a:tailEnd type="none" w="med" len="med"/>
          </a:ln>
        </p:spPr>
      </p:cxnSp>
      <p:sp>
        <p:nvSpPr>
          <p:cNvPr id="38" name="AutoShape 38"/>
          <p:cNvSpPr/>
          <p:nvPr/>
        </p:nvSpPr>
        <p:spPr>
          <a:xfrm>
            <a:off x="7429500" y="5969000"/>
            <a:ext cx="4254500" cy="6985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200" b="0" i="0" u="none" strike="noStrike">
                <a:solidFill>
                  <a:srgbClr val="64748B"/>
                </a:solidFill>
                <a:latin typeface="Noto Sans SC"/>
                <a:ea typeface="Noto Sans SC"/>
                <a:cs typeface="Noto Sans SC"/>
                <a:sym typeface="Noto Sans SC"/>
              </a:rPr>
              <a:t>关联:</a:t>
            </a:r>
            <a:r>
              <a:rPr lang="en-US" sz="1200" b="1" i="0" u="none" strike="noStrike">
                <a:solidFill>
                  <a:srgbClr val="1E3A8A"/>
                </a:solidFill>
                <a:latin typeface="Noto Sans SC"/>
                <a:ea typeface="Noto Sans SC"/>
                <a:cs typeface="Noto Sans SC"/>
                <a:sym typeface="Noto Sans SC"/>
              </a:rPr>
              <a:t>#26样本构建</a:t>
            </a:r>
            <a:r>
              <a:rPr lang="en-US" sz="1200" b="0" i="0" u="none" strike="noStrike">
                <a:solidFill>
                  <a:srgbClr val="CBD5E1"/>
                </a:solidFill>
                <a:latin typeface="Noto Sans SC"/>
                <a:ea typeface="Noto Sans SC"/>
                <a:cs typeface="Noto Sans SC"/>
                <a:sym typeface="Noto Sans SC"/>
              </a:rPr>
              <a:t>·</a:t>
            </a:r>
            <a:r>
              <a:rPr lang="en-US" sz="1200" b="1" i="0" u="none" strike="noStrike">
                <a:solidFill>
                  <a:srgbClr val="1E3A8A"/>
                </a:solidFill>
                <a:latin typeface="Noto Sans SC"/>
                <a:ea typeface="Noto Sans SC"/>
                <a:cs typeface="Noto Sans SC"/>
                <a:sym typeface="Noto Sans SC"/>
              </a:rPr>
              <a:t>#34-39分类</a:t>
            </a:r>
            <a:endParaRPr lang="en-US" sz="11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508000"/>
            <a:ext cx="2794000" cy="1905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0" b="1" i="0" u="none" strike="noStrike">
                <a:latin typeface="Poppins"/>
                <a:ea typeface="Poppins"/>
                <a:cs typeface="Poppins"/>
                <a:sym typeface="Poppins"/>
              </a:rPr>
              <a:t>26</a:t>
            </a:r>
            <a:endParaRPr lang="en-US" sz="1100"/>
          </a:p>
        </p:txBody>
      </p:sp>
      <p:sp>
        <p:nvSpPr>
          <p:cNvPr id="3" name="AutoShape 3"/>
          <p:cNvSpPr/>
          <p:nvPr/>
        </p:nvSpPr>
        <p:spPr>
          <a:xfrm>
            <a:off x="508000" y="2540000"/>
            <a:ext cx="4318000" cy="762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3200" b="1" i="0" u="none" strike="noStrike">
                <a:solidFill>
                  <a:srgbClr val="0F172A"/>
                </a:solidFill>
                <a:latin typeface="Noto Sans SC"/>
                <a:ea typeface="Noto Sans SC"/>
                <a:cs typeface="Noto Sans SC"/>
                <a:sym typeface="Noto Sans SC"/>
              </a:rPr>
              <a:t>Patch/样本构建</a:t>
            </a:r>
            <a:endParaRPr lang="en-US" sz="1100"/>
          </a:p>
        </p:txBody>
      </p:sp>
      <p:sp>
        <p:nvSpPr>
          <p:cNvPr id="4" name="AutoShape 4"/>
          <p:cNvSpPr/>
          <p:nvPr/>
        </p:nvSpPr>
        <p:spPr>
          <a:xfrm>
            <a:off x="508000" y="3403600"/>
            <a:ext cx="889000" cy="330200"/>
          </a:xfrm>
          <a:prstGeom prst="roundRect">
            <a:avLst>
              <a:gd name="adj" fmla="val 0"/>
            </a:avLst>
          </a:prstGeom>
          <a:solidFill>
            <a:srgbClr val="2563EB">
              <a:alpha val="100000"/>
            </a:srgbClr>
          </a:solidFill>
          <a:ln cap="flat" cmpd="sng">
            <a:solidFill>
              <a:srgbClr val="0C4AD2">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508000" y="3403600"/>
            <a:ext cx="889000" cy="3302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300" b="1" i="0" u="none" strike="noStrike">
                <a:solidFill>
                  <a:srgbClr val="FFFFFF"/>
                </a:solidFill>
                <a:latin typeface="Noto Sans SC"/>
                <a:ea typeface="Noto Sans SC"/>
                <a:cs typeface="Noto Sans SC"/>
                <a:sym typeface="Noto Sans SC"/>
              </a:rPr>
              <a:t>L2 层级</a:t>
            </a:r>
            <a:endParaRPr lang="en-US" sz="1100"/>
          </a:p>
        </p:txBody>
      </p:sp>
      <p:sp>
        <p:nvSpPr>
          <p:cNvPr id="6" name="AutoShape 6"/>
          <p:cNvSpPr/>
          <p:nvPr/>
        </p:nvSpPr>
        <p:spPr>
          <a:xfrm>
            <a:off x="1524000" y="3403600"/>
            <a:ext cx="2921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0" i="0" u="none" strike="noStrike">
                <a:solidFill>
                  <a:srgbClr val="64748B"/>
                </a:solidFill>
                <a:latin typeface="Noto Sans SC"/>
                <a:ea typeface="Noto Sans SC"/>
                <a:cs typeface="Noto Sans SC"/>
                <a:sym typeface="Noto Sans SC"/>
              </a:rPr>
              <a:t>编号#26 · 辅导材料:算法清单与API</a:t>
            </a:r>
            <a:endParaRPr lang="en-US" sz="1100"/>
          </a:p>
        </p:txBody>
      </p:sp>
      <p:cxnSp>
        <p:nvCxnSpPr>
          <p:cNvPr id="7" name="Connector 7"/>
          <p:cNvCxnSpPr/>
          <p:nvPr/>
        </p:nvCxnSpPr>
        <p:spPr>
          <a:xfrm rot="-11459">
            <a:off x="508011" y="3956050"/>
            <a:ext cx="3810000" cy="12700"/>
          </a:xfrm>
          <a:prstGeom prst="straightConnector1">
            <a:avLst/>
          </a:prstGeom>
          <a:solidFill>
            <a:srgbClr val="DEE0E3">
              <a:alpha val="100000"/>
            </a:srgbClr>
          </a:solidFill>
          <a:ln w="12700" cap="flat" cmpd="sng">
            <a:solidFill>
              <a:srgbClr val="94A3B8">
                <a:alpha val="35000"/>
              </a:srgbClr>
            </a:solidFill>
            <a:prstDash val="solid"/>
            <a:round/>
            <a:headEnd type="none" w="med" len="med"/>
            <a:tailEnd type="none" w="med" len="med"/>
          </a:ln>
        </p:spPr>
      </p:cxnSp>
      <p:sp>
        <p:nvSpPr>
          <p:cNvPr id="8" name="AutoShape 8"/>
          <p:cNvSpPr/>
          <p:nvPr/>
        </p:nvSpPr>
        <p:spPr>
          <a:xfrm>
            <a:off x="508000" y="4089400"/>
            <a:ext cx="4318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600" b="1" i="0" u="none" strike="noStrike">
                <a:solidFill>
                  <a:srgbClr val="334155"/>
                </a:solidFill>
                <a:latin typeface="Noto Sans SC"/>
                <a:ea typeface="Noto Sans SC"/>
                <a:cs typeface="Noto Sans SC"/>
                <a:sym typeface="Noto Sans SC"/>
              </a:rPr>
              <a:t>功能定义</a:t>
            </a:r>
            <a:endParaRPr lang="en-US" sz="1100"/>
          </a:p>
        </p:txBody>
      </p:sp>
      <p:sp>
        <p:nvSpPr>
          <p:cNvPr id="9" name="AutoShape 9"/>
          <p:cNvSpPr/>
          <p:nvPr/>
        </p:nvSpPr>
        <p:spPr>
          <a:xfrm>
            <a:off x="508000" y="4470400"/>
            <a:ext cx="4318000" cy="762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500" b="0" i="0" u="none" strike="noStrike">
                <a:solidFill>
                  <a:srgbClr val="475569"/>
                </a:solidFill>
                <a:latin typeface="Noto Sans SC"/>
                <a:ea typeface="Noto Sans SC"/>
                <a:cs typeface="Noto Sans SC"/>
                <a:sym typeface="Noto Sans SC"/>
              </a:rPr>
              <a:t>为深度学习模型准备训练样本。</a:t>
            </a:r>
            <a:endParaRPr lang="en-US" sz="1100"/>
          </a:p>
        </p:txBody>
      </p:sp>
      <p:sp>
        <p:nvSpPr>
          <p:cNvPr id="10" name="AutoShape 10"/>
          <p:cNvSpPr/>
          <p:nvPr/>
        </p:nvSpPr>
        <p:spPr>
          <a:xfrm>
            <a:off x="5207000" y="508000"/>
            <a:ext cx="6477000" cy="1460500"/>
          </a:xfrm>
          <a:prstGeom prst="roundRect">
            <a:avLst>
              <a:gd name="adj" fmla="val 0"/>
            </a:avLst>
          </a:prstGeom>
          <a:solidFill>
            <a:srgbClr val="2563EB">
              <a:alpha val="7000"/>
            </a:srgbClr>
          </a:solidFill>
          <a:ln cap="flat" cmpd="sng">
            <a:solidFill>
              <a:srgbClr val="0C4AD2">
                <a:alpha val="7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5207000" y="508000"/>
            <a:ext cx="50800" cy="1460500"/>
          </a:xfrm>
          <a:prstGeom prst="roundRect">
            <a:avLst>
              <a:gd name="adj" fmla="val 0"/>
            </a:avLst>
          </a:prstGeom>
          <a:solidFill>
            <a:srgbClr val="2563EB">
              <a:alpha val="100000"/>
            </a:srgbClr>
          </a:solidFill>
          <a:ln cap="flat" cmpd="sng">
            <a:solidFill>
              <a:srgbClr val="0C4AD2">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5435600" y="571500"/>
            <a:ext cx="6096000" cy="3556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2000" b="1" i="0" u="none" strike="noStrike">
                <a:solidFill>
                  <a:srgbClr val="2563EB"/>
                </a:solidFill>
                <a:latin typeface="Noto Sans SC"/>
                <a:ea typeface="Noto Sans SC"/>
                <a:cs typeface="Noto Sans SC"/>
                <a:sym typeface="Noto Sans SC"/>
              </a:rPr>
              <a:t>方法要点</a:t>
            </a:r>
            <a:endParaRPr lang="en-US" sz="1100"/>
          </a:p>
        </p:txBody>
      </p:sp>
      <p:sp>
        <p:nvSpPr>
          <p:cNvPr id="13" name="AutoShape 13"/>
          <p:cNvSpPr/>
          <p:nvPr/>
        </p:nvSpPr>
        <p:spPr>
          <a:xfrm>
            <a:off x="5435600" y="990600"/>
            <a:ext cx="6172200" cy="787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500" b="0" i="0" u="none" strike="noStrike">
                <a:solidFill>
                  <a:srgbClr val="334155"/>
                </a:solidFill>
                <a:latin typeface="Noto Sans SC"/>
                <a:ea typeface="Noto Sans SC"/>
                <a:cs typeface="Noto Sans SC"/>
                <a:sym typeface="Noto Sans SC"/>
              </a:rPr>
              <a:t>从影像中裁剪出固定大小的图像块(Patch),并为每个Patch赋予对应的标签。</a:t>
            </a:r>
            <a:endParaRPr lang="en-US" sz="1100"/>
          </a:p>
        </p:txBody>
      </p:sp>
      <p:sp>
        <p:nvSpPr>
          <p:cNvPr id="14" name="AutoShape 14"/>
          <p:cNvSpPr/>
          <p:nvPr/>
        </p:nvSpPr>
        <p:spPr>
          <a:xfrm>
            <a:off x="5207000" y="2159000"/>
            <a:ext cx="2082800" cy="1651000"/>
          </a:xfrm>
          <a:prstGeom prst="roundRect">
            <a:avLst>
              <a:gd name="adj" fmla="val 0"/>
            </a:avLst>
          </a:prstGeom>
          <a:solidFill>
            <a:srgbClr val="2563EB">
              <a:alpha val="6000"/>
            </a:srgbClr>
          </a:solidFill>
          <a:ln cap="flat" cmpd="sng">
            <a:solidFill>
              <a:srgbClr val="0C4AD2">
                <a:alpha val="6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5207000" y="2159000"/>
            <a:ext cx="38100" cy="1651000"/>
          </a:xfrm>
          <a:prstGeom prst="roundRect">
            <a:avLst>
              <a:gd name="adj" fmla="val 0"/>
            </a:avLst>
          </a:prstGeom>
          <a:solidFill>
            <a:srgbClr val="2563EB">
              <a:alpha val="100000"/>
            </a:srgbClr>
          </a:solidFill>
          <a:ln cap="flat" cmpd="sng">
            <a:solidFill>
              <a:srgbClr val="0C4AD2">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5359400" y="2235200"/>
            <a:ext cx="18542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500" b="1" i="0" u="none" strike="noStrike">
                <a:solidFill>
                  <a:srgbClr val="2563EB"/>
                </a:solidFill>
                <a:latin typeface="Noto Sans SC"/>
                <a:ea typeface="Noto Sans SC"/>
                <a:cs typeface="Noto Sans SC"/>
                <a:sym typeface="Noto Sans SC"/>
              </a:rPr>
              <a:t>适用场景</a:t>
            </a:r>
            <a:endParaRPr lang="en-US" sz="1100"/>
          </a:p>
        </p:txBody>
      </p:sp>
      <p:cxnSp>
        <p:nvCxnSpPr>
          <p:cNvPr id="17" name="Connector 17"/>
          <p:cNvCxnSpPr/>
          <p:nvPr/>
        </p:nvCxnSpPr>
        <p:spPr>
          <a:xfrm rot="-24039">
            <a:off x="5359422" y="2660650"/>
            <a:ext cx="1816100" cy="12700"/>
          </a:xfrm>
          <a:prstGeom prst="straightConnector1">
            <a:avLst/>
          </a:prstGeom>
          <a:solidFill>
            <a:srgbClr val="DEE0E3">
              <a:alpha val="100000"/>
            </a:srgbClr>
          </a:solidFill>
          <a:ln w="12700" cap="flat" cmpd="sng">
            <a:solidFill>
              <a:srgbClr val="2563EB">
                <a:alpha val="18000"/>
              </a:srgbClr>
            </a:solidFill>
            <a:prstDash val="solid"/>
            <a:round/>
            <a:headEnd type="none" w="med" len="med"/>
            <a:tailEnd type="none" w="med" len="med"/>
          </a:ln>
        </p:spPr>
      </p:cxnSp>
      <p:sp>
        <p:nvSpPr>
          <p:cNvPr id="18" name="AutoShape 18"/>
          <p:cNvSpPr/>
          <p:nvPr/>
        </p:nvSpPr>
        <p:spPr>
          <a:xfrm>
            <a:off x="5359400" y="2743200"/>
            <a:ext cx="1854200" cy="914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34155"/>
                </a:solidFill>
                <a:latin typeface="Noto Sans SC"/>
                <a:ea typeface="Noto Sans SC"/>
                <a:cs typeface="Noto Sans SC"/>
                <a:sym typeface="Noto Sans SC"/>
              </a:rPr>
              <a:t>深度学习模型训练。</a:t>
            </a:r>
            <a:endParaRPr lang="en-US" sz="1100"/>
          </a:p>
        </p:txBody>
      </p:sp>
      <p:sp>
        <p:nvSpPr>
          <p:cNvPr id="19" name="AutoShape 19"/>
          <p:cNvSpPr/>
          <p:nvPr/>
        </p:nvSpPr>
        <p:spPr>
          <a:xfrm>
            <a:off x="7416800" y="2159000"/>
            <a:ext cx="2082800" cy="1651000"/>
          </a:xfrm>
          <a:prstGeom prst="roundRect">
            <a:avLst>
              <a:gd name="adj" fmla="val 0"/>
            </a:avLst>
          </a:prstGeom>
          <a:solidFill>
            <a:srgbClr val="10B981">
              <a:alpha val="6000"/>
            </a:srgbClr>
          </a:solidFill>
          <a:ln cap="flat" cmpd="sng">
            <a:solidFill>
              <a:srgbClr val="00A06B">
                <a:alpha val="6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7416800" y="2159000"/>
            <a:ext cx="38100" cy="1651000"/>
          </a:xfrm>
          <a:prstGeom prst="roundRect">
            <a:avLst>
              <a:gd name="adj" fmla="val 0"/>
            </a:avLst>
          </a:prstGeom>
          <a:solidFill>
            <a:srgbClr val="10B981">
              <a:alpha val="100000"/>
            </a:srgbClr>
          </a:solidFill>
          <a:ln cap="flat" cmpd="sng">
            <a:solidFill>
              <a:srgbClr val="00A06B">
                <a:alpha val="10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7569200" y="2235200"/>
            <a:ext cx="18542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500" b="1" i="0" u="none" strike="noStrike">
                <a:solidFill>
                  <a:srgbClr val="10B981"/>
                </a:solidFill>
                <a:latin typeface="Noto Sans SC"/>
                <a:ea typeface="Noto Sans SC"/>
                <a:cs typeface="Noto Sans SC"/>
                <a:sym typeface="Noto Sans SC"/>
              </a:rPr>
              <a:t>业务价值</a:t>
            </a:r>
            <a:endParaRPr lang="en-US" sz="1100"/>
          </a:p>
        </p:txBody>
      </p:sp>
      <p:cxnSp>
        <p:nvCxnSpPr>
          <p:cNvPr id="22" name="Connector 22"/>
          <p:cNvCxnSpPr/>
          <p:nvPr/>
        </p:nvCxnSpPr>
        <p:spPr>
          <a:xfrm rot="-24039">
            <a:off x="7569222" y="2660650"/>
            <a:ext cx="1816100" cy="12700"/>
          </a:xfrm>
          <a:prstGeom prst="straightConnector1">
            <a:avLst/>
          </a:prstGeom>
          <a:solidFill>
            <a:srgbClr val="DEE0E3">
              <a:alpha val="100000"/>
            </a:srgbClr>
          </a:solidFill>
          <a:ln w="12700" cap="flat" cmpd="sng">
            <a:solidFill>
              <a:srgbClr val="10B981">
                <a:alpha val="18000"/>
              </a:srgbClr>
            </a:solidFill>
            <a:prstDash val="solid"/>
            <a:round/>
            <a:headEnd type="none" w="med" len="med"/>
            <a:tailEnd type="none" w="med" len="med"/>
          </a:ln>
        </p:spPr>
      </p:cxnSp>
      <p:sp>
        <p:nvSpPr>
          <p:cNvPr id="23" name="AutoShape 23"/>
          <p:cNvSpPr/>
          <p:nvPr/>
        </p:nvSpPr>
        <p:spPr>
          <a:xfrm>
            <a:off x="7569200" y="2743200"/>
            <a:ext cx="1854200" cy="914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34155"/>
                </a:solidFill>
                <a:latin typeface="Noto Sans SC"/>
                <a:ea typeface="Noto Sans SC"/>
                <a:cs typeface="Noto Sans SC"/>
                <a:sym typeface="Noto Sans SC"/>
              </a:rPr>
              <a:t>为模型提供标准化的训练数据。</a:t>
            </a:r>
            <a:endParaRPr lang="en-US" sz="1100"/>
          </a:p>
        </p:txBody>
      </p:sp>
      <p:sp>
        <p:nvSpPr>
          <p:cNvPr id="24" name="AutoShape 24"/>
          <p:cNvSpPr/>
          <p:nvPr/>
        </p:nvSpPr>
        <p:spPr>
          <a:xfrm>
            <a:off x="9601200" y="2159000"/>
            <a:ext cx="2082800" cy="1651000"/>
          </a:xfrm>
          <a:prstGeom prst="roundRect">
            <a:avLst>
              <a:gd name="adj" fmla="val 0"/>
            </a:avLst>
          </a:prstGeom>
          <a:solidFill>
            <a:srgbClr val="EF4444">
              <a:alpha val="6000"/>
            </a:srgbClr>
          </a:solidFill>
          <a:ln cap="flat" cmpd="sng">
            <a:solidFill>
              <a:srgbClr val="D52727">
                <a:alpha val="6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9601200" y="2159000"/>
            <a:ext cx="38100" cy="1651000"/>
          </a:xfrm>
          <a:prstGeom prst="roundRect">
            <a:avLst>
              <a:gd name="adj" fmla="val 0"/>
            </a:avLst>
          </a:prstGeom>
          <a:solidFill>
            <a:srgbClr val="EF4444">
              <a:alpha val="100000"/>
            </a:srgbClr>
          </a:solidFill>
          <a:ln cap="flat" cmpd="sng">
            <a:solidFill>
              <a:srgbClr val="D52727">
                <a:alpha val="100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9753600" y="2235200"/>
            <a:ext cx="18542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500" b="1" i="0" u="none" strike="noStrike">
                <a:solidFill>
                  <a:srgbClr val="EF4444"/>
                </a:solidFill>
                <a:latin typeface="Noto Sans SC"/>
                <a:ea typeface="Noto Sans SC"/>
                <a:cs typeface="Noto Sans SC"/>
                <a:sym typeface="Noto Sans SC"/>
              </a:rPr>
              <a:t>缺失影响</a:t>
            </a:r>
            <a:endParaRPr lang="en-US" sz="1100"/>
          </a:p>
        </p:txBody>
      </p:sp>
      <p:cxnSp>
        <p:nvCxnSpPr>
          <p:cNvPr id="27" name="Connector 27"/>
          <p:cNvCxnSpPr/>
          <p:nvPr/>
        </p:nvCxnSpPr>
        <p:spPr>
          <a:xfrm rot="-24209">
            <a:off x="9753622" y="2660650"/>
            <a:ext cx="1803400" cy="12700"/>
          </a:xfrm>
          <a:prstGeom prst="straightConnector1">
            <a:avLst/>
          </a:prstGeom>
          <a:solidFill>
            <a:srgbClr val="DEE0E3">
              <a:alpha val="100000"/>
            </a:srgbClr>
          </a:solidFill>
          <a:ln w="12700" cap="flat" cmpd="sng">
            <a:solidFill>
              <a:srgbClr val="EF4444">
                <a:alpha val="18000"/>
              </a:srgbClr>
            </a:solidFill>
            <a:prstDash val="solid"/>
            <a:round/>
            <a:headEnd type="none" w="med" len="med"/>
            <a:tailEnd type="none" w="med" len="med"/>
          </a:ln>
        </p:spPr>
      </p:cxnSp>
      <p:sp>
        <p:nvSpPr>
          <p:cNvPr id="28" name="AutoShape 28"/>
          <p:cNvSpPr/>
          <p:nvPr/>
        </p:nvSpPr>
        <p:spPr>
          <a:xfrm>
            <a:off x="9753600" y="2743200"/>
            <a:ext cx="1854200" cy="914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34155"/>
                </a:solidFill>
                <a:latin typeface="Noto Sans SC"/>
                <a:ea typeface="Noto Sans SC"/>
                <a:cs typeface="Noto Sans SC"/>
                <a:sym typeface="Noto Sans SC"/>
              </a:rPr>
              <a:t>无法直接用于深度学习模型训练。</a:t>
            </a:r>
            <a:endParaRPr lang="en-US" sz="1100"/>
          </a:p>
        </p:txBody>
      </p:sp>
      <p:sp>
        <p:nvSpPr>
          <p:cNvPr id="29" name="AutoShape 29"/>
          <p:cNvSpPr/>
          <p:nvPr/>
        </p:nvSpPr>
        <p:spPr>
          <a:xfrm>
            <a:off x="5207000" y="4064000"/>
            <a:ext cx="6477000" cy="1841500"/>
          </a:xfrm>
          <a:prstGeom prst="roundRect">
            <a:avLst>
              <a:gd name="adj" fmla="val 0"/>
            </a:avLst>
          </a:prstGeom>
          <a:gradFill rotWithShape="1">
            <a:gsLst>
              <a:gs pos="0">
                <a:srgbClr val="1E293B">
                  <a:alpha val="100000"/>
                </a:srgbClr>
              </a:gs>
              <a:gs pos="100000">
                <a:srgbClr val="334155">
                  <a:alpha val="100000"/>
                </a:srgbClr>
              </a:gs>
            </a:gsLst>
            <a:lin ang="2700000"/>
          </a:gradFill>
          <a:ln cap="flat" cmpd="sng">
            <a:gradFill rotWithShape="1">
              <a:gsLst>
                <a:gs pos="0">
                  <a:srgbClr val="0E1522">
                    <a:alpha val="100000"/>
                  </a:srgbClr>
                </a:gs>
                <a:gs pos="100000">
                  <a:srgbClr val="1E2A3B">
                    <a:alpha val="100000"/>
                  </a:srgbClr>
                </a:gs>
              </a:gsLst>
              <a:lin ang="2700000"/>
            </a:gradFill>
            <a:prstDash val="solid"/>
            <a:round/>
          </a:ln>
        </p:spPr>
        <p:txBody>
          <a:bodyPr vert="horz" wrap="square" lIns="63500" tIns="63500" rIns="63500" bIns="63500" rtlCol="0" anchor="ctr"/>
          <a:lstStyle/>
          <a:p>
            <a:pPr algn="ctr">
              <a:defRPr/>
            </a:pPr>
          </a:p>
        </p:txBody>
      </p:sp>
      <p:sp>
        <p:nvSpPr>
          <p:cNvPr id="30" name="AutoShape 30"/>
          <p:cNvSpPr/>
          <p:nvPr/>
        </p:nvSpPr>
        <p:spPr>
          <a:xfrm>
            <a:off x="5435600" y="4216400"/>
            <a:ext cx="2794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300" b="1" i="0" u="none" strike="noStrike">
                <a:solidFill>
                  <a:srgbClr val="FFFFFF">
                    <a:alpha val="60000"/>
                  </a:srgbClr>
                </a:solidFill>
                <a:latin typeface="Noto Sans SC"/>
                <a:ea typeface="Noto Sans SC"/>
                <a:cs typeface="Noto Sans SC"/>
                <a:sym typeface="Noto Sans SC"/>
              </a:rPr>
              <a:t>流程位置</a:t>
            </a:r>
            <a:endParaRPr lang="en-US" sz="1100"/>
          </a:p>
        </p:txBody>
      </p:sp>
      <p:sp>
        <p:nvSpPr>
          <p:cNvPr id="31" name="AutoShape 31"/>
          <p:cNvSpPr/>
          <p:nvPr/>
        </p:nvSpPr>
        <p:spPr>
          <a:xfrm>
            <a:off x="5435600" y="4546600"/>
            <a:ext cx="2794000" cy="381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FFFFFF"/>
                </a:solidFill>
                <a:latin typeface="Noto Sans SC"/>
                <a:ea typeface="Noto Sans SC"/>
                <a:cs typeface="Noto Sans SC"/>
                <a:sym typeface="Noto Sans SC"/>
              </a:rPr>
              <a:t>L2分析前处理</a:t>
            </a:r>
            <a:endParaRPr lang="en-US" sz="1100"/>
          </a:p>
        </p:txBody>
      </p:sp>
      <p:cxnSp>
        <p:nvCxnSpPr>
          <p:cNvPr id="32" name="Connector 32"/>
          <p:cNvCxnSpPr/>
          <p:nvPr/>
        </p:nvCxnSpPr>
        <p:spPr>
          <a:xfrm rot="5352910">
            <a:off x="7918450" y="4673643"/>
            <a:ext cx="927100" cy="12700"/>
          </a:xfrm>
          <a:prstGeom prst="straightConnector1">
            <a:avLst/>
          </a:prstGeom>
          <a:solidFill>
            <a:srgbClr val="DEE0E3">
              <a:alpha val="100000"/>
            </a:srgbClr>
          </a:solidFill>
          <a:ln w="12700" cap="flat" cmpd="sng">
            <a:solidFill>
              <a:srgbClr val="FFFFFF">
                <a:alpha val="18000"/>
              </a:srgbClr>
            </a:solidFill>
            <a:prstDash val="solid"/>
            <a:round/>
            <a:headEnd type="none" w="med" len="med"/>
            <a:tailEnd type="none" w="med" len="med"/>
          </a:ln>
        </p:spPr>
      </p:cxnSp>
      <p:sp>
        <p:nvSpPr>
          <p:cNvPr id="33" name="AutoShape 33"/>
          <p:cNvSpPr/>
          <p:nvPr/>
        </p:nvSpPr>
        <p:spPr>
          <a:xfrm>
            <a:off x="8572500" y="4216400"/>
            <a:ext cx="3048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300" b="1" i="0" u="none" strike="noStrike">
                <a:solidFill>
                  <a:srgbClr val="FFFFFF">
                    <a:alpha val="60000"/>
                  </a:srgbClr>
                </a:solidFill>
                <a:latin typeface="Noto Sans SC"/>
                <a:ea typeface="Noto Sans SC"/>
                <a:cs typeface="Noto Sans SC"/>
                <a:sym typeface="Noto Sans SC"/>
              </a:rPr>
              <a:t>关联算法</a:t>
            </a:r>
            <a:endParaRPr lang="en-US" sz="1100"/>
          </a:p>
        </p:txBody>
      </p:sp>
      <p:sp>
        <p:nvSpPr>
          <p:cNvPr id="34" name="AutoShape 34"/>
          <p:cNvSpPr/>
          <p:nvPr/>
        </p:nvSpPr>
        <p:spPr>
          <a:xfrm>
            <a:off x="8572500" y="4546600"/>
            <a:ext cx="3048000" cy="381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500" b="0" i="0" u="none" strike="noStrike">
                <a:solidFill>
                  <a:srgbClr val="FFFFFF">
                    <a:alpha val="92157"/>
                  </a:srgbClr>
                </a:solidFill>
                <a:latin typeface="Noto Sans SC"/>
                <a:ea typeface="Noto Sans SC"/>
                <a:cs typeface="Noto Sans SC"/>
                <a:sym typeface="Noto Sans SC"/>
              </a:rPr>
              <a:t>#25分割 · #34-39分类</a:t>
            </a:r>
            <a:endParaRPr lang="en-US" sz="1100"/>
          </a:p>
        </p:txBody>
      </p:sp>
      <p:cxnSp>
        <p:nvCxnSpPr>
          <p:cNvPr id="35" name="Connector 35"/>
          <p:cNvCxnSpPr/>
          <p:nvPr/>
        </p:nvCxnSpPr>
        <p:spPr>
          <a:xfrm rot="-7283">
            <a:off x="5435607" y="5264150"/>
            <a:ext cx="5994400" cy="12700"/>
          </a:xfrm>
          <a:prstGeom prst="straightConnector1">
            <a:avLst/>
          </a:prstGeom>
          <a:solidFill>
            <a:srgbClr val="DEE0E3">
              <a:alpha val="100000"/>
            </a:srgbClr>
          </a:solidFill>
          <a:ln w="12700" cap="flat" cmpd="sng">
            <a:solidFill>
              <a:srgbClr val="FFFFFF">
                <a:alpha val="14000"/>
              </a:srgbClr>
            </a:solidFill>
            <a:prstDash val="solid"/>
            <a:round/>
            <a:headEnd type="none" w="med" len="med"/>
            <a:tailEnd type="none" w="med" len="med"/>
          </a:ln>
        </p:spPr>
      </p:cxnSp>
      <p:sp>
        <p:nvSpPr>
          <p:cNvPr id="36" name="AutoShape 36"/>
          <p:cNvSpPr/>
          <p:nvPr/>
        </p:nvSpPr>
        <p:spPr>
          <a:xfrm>
            <a:off x="5435600" y="5359400"/>
            <a:ext cx="114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200" b="1" i="0" u="none" strike="noStrike">
                <a:solidFill>
                  <a:srgbClr val="FFFFFF">
                    <a:alpha val="54902"/>
                  </a:srgbClr>
                </a:solidFill>
                <a:latin typeface="Noto Sans SC"/>
                <a:ea typeface="Noto Sans SC"/>
                <a:cs typeface="Noto Sans SC"/>
                <a:sym typeface="Noto Sans SC"/>
              </a:rPr>
              <a:t>[API]</a:t>
            </a:r>
            <a:endParaRPr lang="en-US" sz="1100"/>
          </a:p>
        </p:txBody>
      </p:sp>
      <p:sp>
        <p:nvSpPr>
          <p:cNvPr id="37" name="AutoShape 37"/>
          <p:cNvSpPr/>
          <p:nvPr/>
        </p:nvSpPr>
        <p:spPr>
          <a:xfrm>
            <a:off x="6604000" y="53594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0" i="0" u="none" strike="noStrike">
                <a:solidFill>
                  <a:srgbClr val="FFFFFF">
                    <a:alpha val="90196"/>
                  </a:srgbClr>
                </a:solidFill>
                <a:latin typeface="Poppins"/>
                <a:ea typeface="Poppins"/>
                <a:cs typeface="Poppins"/>
                <a:sym typeface="Poppins"/>
              </a:rPr>
              <a:t>/api/v1/26_patch_generation/run</a:t>
            </a:r>
            <a:endParaRPr lang="en-US" sz="11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8FAF9">
                <a:alpha val="100000"/>
              </a:srgbClr>
            </a:gs>
            <a:gs pos="100000">
              <a:srgbClr val="ECF2EF">
                <a:alpha val="100000"/>
              </a:srgbClr>
            </a:gs>
          </a:gsLst>
          <a:lin ang="5400000"/>
        </a:gradFill>
        <a:effectLst/>
      </p:bgPr>
    </p:bg>
    <p:spTree>
      <p:nvGrpSpPr>
        <p:cNvPr id="1" name=""/>
        <p:cNvGrpSpPr/>
        <p:nvPr/>
      </p:nvGrpSpPr>
      <p:grpSpPr>
        <a:xfrm>
          <a:off x="0" y="0"/>
          <a:ext cx="0" cy="0"/>
          <a:chOff x="0" y="0"/>
          <a:chExt cx="0" cy="0"/>
        </a:xfrm>
      </p:grpSpPr>
      <p:sp>
        <p:nvSpPr>
          <p:cNvPr id="2" name="AutoShape 2"/>
          <p:cNvSpPr/>
          <p:nvPr/>
        </p:nvSpPr>
        <p:spPr>
          <a:xfrm>
            <a:off x="508000" y="381000"/>
            <a:ext cx="8890000" cy="6604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2800" b="1" i="0" u="none" strike="noStrike" spc="100">
                <a:solidFill>
                  <a:srgbClr val="1C2028"/>
                </a:solidFill>
                <a:latin typeface="Noto Sans SC"/>
                <a:ea typeface="Noto Sans SC"/>
                <a:cs typeface="Noto Sans SC"/>
                <a:sym typeface="Noto Sans SC"/>
              </a:rPr>
              <a:t>NDVI:归一化植被指数</a:t>
            </a:r>
            <a:endParaRPr lang="en-US" sz="1100"/>
          </a:p>
        </p:txBody>
      </p:sp>
      <p:sp>
        <p:nvSpPr>
          <p:cNvPr id="3" name="AutoShape 3"/>
          <p:cNvSpPr/>
          <p:nvPr/>
        </p:nvSpPr>
        <p:spPr>
          <a:xfrm>
            <a:off x="9398000" y="381000"/>
            <a:ext cx="2286000" cy="762000"/>
          </a:xfrm>
          <a:prstGeom prst="rect">
            <a:avLst/>
          </a:prstGeom>
          <a:noFill/>
          <a:ln w="12700" cap="flat" cmpd="sng">
            <a:noFill/>
            <a:prstDash val="solid"/>
            <a:round/>
          </a:ln>
        </p:spPr>
        <p:txBody>
          <a:bodyPr vert="horz" wrap="square" lIns="0" tIns="0" rIns="0" bIns="0" rtlCol="0" anchor="ctr" anchorCtr="0"/>
          <a:lstStyle/>
          <a:p>
            <a:pPr marL="0" indent="0" algn="r">
              <a:lnSpc>
                <a:spcPct val="83000"/>
              </a:lnSpc>
              <a:defRPr/>
            </a:pPr>
            <a:r>
              <a:rPr lang="en-US" sz="4800" b="1" i="0" u="none" strike="noStrike" spc="400">
                <a:solidFill>
                  <a:srgbClr val="15803D">
                    <a:alpha val="18039"/>
                  </a:srgbClr>
                </a:solidFill>
                <a:latin typeface="Noto Sans SC"/>
                <a:ea typeface="Noto Sans SC"/>
                <a:cs typeface="Noto Sans SC"/>
                <a:sym typeface="Noto Sans SC"/>
              </a:rPr>
              <a:t>#27</a:t>
            </a:r>
            <a:endParaRPr lang="en-US" sz="1100"/>
          </a:p>
        </p:txBody>
      </p:sp>
      <p:sp>
        <p:nvSpPr>
          <p:cNvPr id="4" name="AutoShape 4"/>
          <p:cNvSpPr/>
          <p:nvPr/>
        </p:nvSpPr>
        <p:spPr>
          <a:xfrm>
            <a:off x="508000" y="1117600"/>
            <a:ext cx="762000" cy="304800"/>
          </a:xfrm>
          <a:prstGeom prst="roundRect">
            <a:avLst>
              <a:gd name="adj" fmla="val 0"/>
            </a:avLst>
          </a:prstGeom>
          <a:solidFill>
            <a:srgbClr val="15803D">
              <a:alpha val="10000"/>
            </a:srgbClr>
          </a:solidFill>
          <a:ln cap="flat" cmpd="sng">
            <a:solidFill>
              <a:srgbClr val="07672A">
                <a:alpha val="1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508000" y="1117600"/>
            <a:ext cx="762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200" b="1" i="0" u="none" strike="noStrike" spc="100">
                <a:solidFill>
                  <a:srgbClr val="15803D"/>
                </a:solidFill>
                <a:latin typeface="Noto Sans SC"/>
                <a:ea typeface="Noto Sans SC"/>
                <a:cs typeface="Noto Sans SC"/>
                <a:sym typeface="Noto Sans SC"/>
              </a:rPr>
              <a:t>L3</a:t>
            </a:r>
            <a:endParaRPr lang="en-US" sz="1100"/>
          </a:p>
        </p:txBody>
      </p:sp>
      <p:sp>
        <p:nvSpPr>
          <p:cNvPr id="6" name="AutoShape 6"/>
          <p:cNvSpPr/>
          <p:nvPr/>
        </p:nvSpPr>
        <p:spPr>
          <a:xfrm>
            <a:off x="1397000" y="1117600"/>
            <a:ext cx="635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0" i="0" u="none" strike="noStrike">
                <a:solidFill>
                  <a:srgbClr val="5A5F69"/>
                </a:solidFill>
                <a:latin typeface="Noto Sans SC"/>
                <a:ea typeface="Noto Sans SC"/>
                <a:cs typeface="Noto Sans SC"/>
                <a:sym typeface="Noto Sans SC"/>
              </a:rPr>
              <a:t>辅导材料:算法清单与API</a:t>
            </a:r>
            <a:endParaRPr lang="en-US" sz="1100"/>
          </a:p>
        </p:txBody>
      </p:sp>
      <p:cxnSp>
        <p:nvCxnSpPr>
          <p:cNvPr id="7" name="Connector 7"/>
          <p:cNvCxnSpPr/>
          <p:nvPr/>
        </p:nvCxnSpPr>
        <p:spPr>
          <a:xfrm rot="-3906">
            <a:off x="508004" y="1543050"/>
            <a:ext cx="11176000" cy="12700"/>
          </a:xfrm>
          <a:prstGeom prst="straightConnector1">
            <a:avLst/>
          </a:prstGeom>
          <a:solidFill>
            <a:srgbClr val="DEE0E3">
              <a:alpha val="100000"/>
            </a:srgbClr>
          </a:solidFill>
          <a:ln w="12700" cap="flat" cmpd="sng">
            <a:solidFill>
              <a:srgbClr val="000000">
                <a:alpha val="8000"/>
              </a:srgbClr>
            </a:solidFill>
            <a:prstDash val="solid"/>
            <a:round/>
            <a:headEnd type="none" w="med" len="med"/>
            <a:tailEnd type="none" w="med" len="med"/>
          </a:ln>
        </p:spPr>
      </p:cxnSp>
      <p:sp>
        <p:nvSpPr>
          <p:cNvPr id="8" name="AutoShape 8"/>
          <p:cNvSpPr/>
          <p:nvPr/>
        </p:nvSpPr>
        <p:spPr>
          <a:xfrm>
            <a:off x="508000" y="1676400"/>
            <a:ext cx="6731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C2028"/>
                </a:solidFill>
                <a:latin typeface="Noto Sans SC"/>
                <a:ea typeface="Noto Sans SC"/>
                <a:cs typeface="Noto Sans SC"/>
                <a:sym typeface="Noto Sans SC"/>
              </a:rPr>
              <a:t>功能定义</a:t>
            </a:r>
            <a:endParaRPr lang="en-US" sz="1100"/>
          </a:p>
        </p:txBody>
      </p:sp>
      <p:sp>
        <p:nvSpPr>
          <p:cNvPr id="9" name="AutoShape 9"/>
          <p:cNvSpPr/>
          <p:nvPr/>
        </p:nvSpPr>
        <p:spPr>
          <a:xfrm>
            <a:off x="508000" y="2057400"/>
            <a:ext cx="6731000" cy="7112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500" b="0" i="0" u="none" strike="noStrike">
                <a:solidFill>
                  <a:srgbClr val="3C424B"/>
                </a:solidFill>
                <a:latin typeface="Noto Sans SC"/>
                <a:ea typeface="Noto Sans SC"/>
                <a:cs typeface="Noto Sans SC"/>
                <a:sym typeface="Noto Sans SC"/>
              </a:rPr>
              <a:t>最经典、最通用的植被绿度和长势指标。</a:t>
            </a:r>
            <a:endParaRPr lang="en-US" sz="1100"/>
          </a:p>
        </p:txBody>
      </p:sp>
      <p:sp>
        <p:nvSpPr>
          <p:cNvPr id="10" name="AutoShape 10"/>
          <p:cNvSpPr/>
          <p:nvPr/>
        </p:nvSpPr>
        <p:spPr>
          <a:xfrm>
            <a:off x="508000" y="2794000"/>
            <a:ext cx="6731000" cy="1143000"/>
          </a:xfrm>
          <a:prstGeom prst="roundRect">
            <a:avLst>
              <a:gd name="adj" fmla="val 0"/>
            </a:avLst>
          </a:prstGeom>
          <a:gradFill rotWithShape="1">
            <a:gsLst>
              <a:gs pos="0">
                <a:srgbClr val="15803D">
                  <a:alpha val="9000"/>
                </a:srgbClr>
              </a:gs>
              <a:gs pos="100000">
                <a:srgbClr val="15803D">
                  <a:alpha val="3000"/>
                </a:srgbClr>
              </a:gs>
            </a:gsLst>
            <a:lin ang="2700000"/>
          </a:gradFill>
          <a:ln cap="flat" cmpd="sng">
            <a:gradFill rotWithShape="1">
              <a:gsLst>
                <a:gs pos="0">
                  <a:srgbClr val="07672A">
                    <a:alpha val="9000"/>
                  </a:srgbClr>
                </a:gs>
                <a:gs pos="100000">
                  <a:srgbClr val="07672A">
                    <a:alpha val="3000"/>
                  </a:srgbClr>
                </a:gs>
              </a:gsLst>
              <a:lin ang="2700000"/>
            </a:gradFill>
            <a:prstDash val="solid"/>
            <a:round/>
          </a:ln>
        </p:spPr>
        <p:txBody>
          <a:bodyPr vert="horz" wrap="square" lIns="63500" tIns="63500" rIns="63500" bIns="63500" rtlCol="0" anchor="ctr"/>
          <a:lstStyle/>
          <a:p>
            <a:pPr algn="ctr">
              <a:defRPr/>
            </a:pPr>
          </a:p>
        </p:txBody>
      </p:sp>
      <p:sp>
        <p:nvSpPr>
          <p:cNvPr id="11" name="AutoShape 11"/>
          <p:cNvSpPr/>
          <p:nvPr/>
        </p:nvSpPr>
        <p:spPr>
          <a:xfrm>
            <a:off x="508000" y="2794000"/>
            <a:ext cx="50800" cy="1143000"/>
          </a:xfrm>
          <a:prstGeom prst="roundRect">
            <a:avLst>
              <a:gd name="adj" fmla="val 0"/>
            </a:avLst>
          </a:prstGeom>
          <a:solidFill>
            <a:srgbClr val="15803D">
              <a:alpha val="100000"/>
            </a:srgbClr>
          </a:solidFill>
          <a:ln cap="flat" cmpd="sng">
            <a:solidFill>
              <a:srgbClr val="07672A">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762000" y="2819400"/>
            <a:ext cx="62230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1" i="0" u="none" strike="noStrike" spc="100">
                <a:solidFill>
                  <a:srgbClr val="15803D"/>
                </a:solidFill>
                <a:latin typeface="Noto Sans SC"/>
                <a:ea typeface="Noto Sans SC"/>
                <a:cs typeface="Noto Sans SC"/>
                <a:sym typeface="Noto Sans SC"/>
              </a:rPr>
              <a:t>方法要点</a:t>
            </a:r>
            <a:r>
              <a:rPr lang="en-US" sz="1300" b="0" i="0" u="none" strike="noStrike" spc="100">
                <a:solidFill>
                  <a:srgbClr val="000000">
                    <a:alpha val="30196"/>
                  </a:srgbClr>
                </a:solidFill>
                <a:latin typeface="Noto Sans SC"/>
                <a:ea typeface="Noto Sans SC"/>
                <a:cs typeface="Noto Sans SC"/>
                <a:sym typeface="Noto Sans SC"/>
              </a:rPr>
              <a:t>· 计算公式</a:t>
            </a:r>
            <a:endParaRPr lang="en-US" sz="1100"/>
          </a:p>
        </p:txBody>
      </p:sp>
      <p:sp>
        <p:nvSpPr>
          <p:cNvPr id="13" name="AutoShape 13"/>
          <p:cNvSpPr/>
          <p:nvPr/>
        </p:nvSpPr>
        <p:spPr>
          <a:xfrm>
            <a:off x="762000" y="3175000"/>
            <a:ext cx="6223000" cy="584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2200" b="1" i="0" u="none" strike="noStrike" spc="100">
                <a:solidFill>
                  <a:srgbClr val="15803D"/>
                </a:solidFill>
                <a:latin typeface="Noto Sans SC"/>
                <a:ea typeface="Noto Sans SC"/>
                <a:cs typeface="Noto Sans SC"/>
                <a:sym typeface="Noto Sans SC"/>
              </a:rPr>
              <a:t>(NIR - Red) / (NIR + Red)</a:t>
            </a:r>
            <a:endParaRPr lang="en-US" sz="1100"/>
          </a:p>
        </p:txBody>
      </p:sp>
      <p:sp>
        <p:nvSpPr>
          <p:cNvPr id="14" name="AutoShape 14"/>
          <p:cNvSpPr/>
          <p:nvPr/>
        </p:nvSpPr>
        <p:spPr>
          <a:xfrm>
            <a:off x="508000" y="4089400"/>
            <a:ext cx="6731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C2028"/>
                </a:solidFill>
                <a:latin typeface="Noto Sans SC"/>
                <a:ea typeface="Noto Sans SC"/>
                <a:cs typeface="Noto Sans SC"/>
                <a:sym typeface="Noto Sans SC"/>
              </a:rPr>
              <a:t>适用场景</a:t>
            </a:r>
            <a:endParaRPr lang="en-US" sz="1100"/>
          </a:p>
        </p:txBody>
      </p:sp>
      <p:sp>
        <p:nvSpPr>
          <p:cNvPr id="15" name="AutoShape 15"/>
          <p:cNvSpPr/>
          <p:nvPr/>
        </p:nvSpPr>
        <p:spPr>
          <a:xfrm>
            <a:off x="508000" y="4495800"/>
            <a:ext cx="2133600" cy="685800"/>
          </a:xfrm>
          <a:prstGeom prst="roundRect">
            <a:avLst>
              <a:gd name="adj" fmla="val 0"/>
            </a:avLst>
          </a:prstGeom>
          <a:solidFill>
            <a:srgbClr val="15803D">
              <a:alpha val="10000"/>
            </a:srgbClr>
          </a:solidFill>
          <a:ln cap="flat" cmpd="sng">
            <a:solidFill>
              <a:srgbClr val="07672A">
                <a:alpha val="1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508000" y="4495800"/>
            <a:ext cx="2133600" cy="6858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400" b="1" i="0" u="none" strike="noStrike">
                <a:solidFill>
                  <a:srgbClr val="15803D"/>
                </a:solidFill>
                <a:latin typeface="Noto Sans SC"/>
                <a:ea typeface="Noto Sans SC"/>
                <a:cs typeface="Noto Sans SC"/>
                <a:sym typeface="Noto Sans SC"/>
              </a:rPr>
              <a:t>作物长势监测</a:t>
            </a:r>
            <a:endParaRPr lang="en-US" sz="1100"/>
          </a:p>
        </p:txBody>
      </p:sp>
      <p:sp>
        <p:nvSpPr>
          <p:cNvPr id="17" name="AutoShape 17"/>
          <p:cNvSpPr/>
          <p:nvPr/>
        </p:nvSpPr>
        <p:spPr>
          <a:xfrm>
            <a:off x="2806700" y="4495800"/>
            <a:ext cx="2133600" cy="685800"/>
          </a:xfrm>
          <a:prstGeom prst="roundRect">
            <a:avLst>
              <a:gd name="adj" fmla="val 0"/>
            </a:avLst>
          </a:prstGeom>
          <a:solidFill>
            <a:srgbClr val="15803D">
              <a:alpha val="10000"/>
            </a:srgbClr>
          </a:solidFill>
          <a:ln cap="flat" cmpd="sng">
            <a:solidFill>
              <a:srgbClr val="07672A">
                <a:alpha val="1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2806700" y="4495800"/>
            <a:ext cx="2133600" cy="6858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400" b="1" i="0" u="none" strike="noStrike">
                <a:solidFill>
                  <a:srgbClr val="15803D"/>
                </a:solidFill>
                <a:latin typeface="Noto Sans SC"/>
                <a:ea typeface="Noto Sans SC"/>
                <a:cs typeface="Noto Sans SC"/>
                <a:sym typeface="Noto Sans SC"/>
              </a:rPr>
              <a:t>物候期识别</a:t>
            </a:r>
            <a:endParaRPr lang="en-US" sz="1100"/>
          </a:p>
        </p:txBody>
      </p:sp>
      <p:sp>
        <p:nvSpPr>
          <p:cNvPr id="19" name="AutoShape 19"/>
          <p:cNvSpPr/>
          <p:nvPr/>
        </p:nvSpPr>
        <p:spPr>
          <a:xfrm>
            <a:off x="5105400" y="4495800"/>
            <a:ext cx="2133600" cy="685800"/>
          </a:xfrm>
          <a:prstGeom prst="roundRect">
            <a:avLst>
              <a:gd name="adj" fmla="val 0"/>
            </a:avLst>
          </a:prstGeom>
          <a:solidFill>
            <a:srgbClr val="15803D">
              <a:alpha val="10000"/>
            </a:srgbClr>
          </a:solidFill>
          <a:ln cap="flat" cmpd="sng">
            <a:solidFill>
              <a:srgbClr val="07672A">
                <a:alpha val="1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5105400" y="4495800"/>
            <a:ext cx="2133600" cy="6858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400" b="1" i="0" u="none" strike="noStrike">
                <a:solidFill>
                  <a:srgbClr val="15803D"/>
                </a:solidFill>
                <a:latin typeface="Noto Sans SC"/>
                <a:ea typeface="Noto Sans SC"/>
                <a:cs typeface="Noto Sans SC"/>
                <a:sym typeface="Noto Sans SC"/>
              </a:rPr>
              <a:t>产量预估</a:t>
            </a:r>
            <a:endParaRPr lang="en-US" sz="1100"/>
          </a:p>
        </p:txBody>
      </p:sp>
      <p:sp>
        <p:nvSpPr>
          <p:cNvPr id="21" name="AutoShape 21"/>
          <p:cNvSpPr/>
          <p:nvPr/>
        </p:nvSpPr>
        <p:spPr>
          <a:xfrm>
            <a:off x="7493000" y="1676400"/>
            <a:ext cx="4191000" cy="1371600"/>
          </a:xfrm>
          <a:prstGeom prst="roundRect">
            <a:avLst>
              <a:gd name="adj" fmla="val 0"/>
            </a:avLst>
          </a:prstGeom>
          <a:solidFill>
            <a:srgbClr val="15803D">
              <a:alpha val="6000"/>
            </a:srgbClr>
          </a:solidFill>
          <a:ln cap="flat" cmpd="sng">
            <a:solidFill>
              <a:srgbClr val="07672A">
                <a:alpha val="6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7493000" y="1676400"/>
            <a:ext cx="50800" cy="1371600"/>
          </a:xfrm>
          <a:prstGeom prst="roundRect">
            <a:avLst>
              <a:gd name="adj" fmla="val 0"/>
            </a:avLst>
          </a:prstGeom>
          <a:solidFill>
            <a:srgbClr val="15803D">
              <a:alpha val="100000"/>
            </a:srgbClr>
          </a:solidFill>
          <a:ln cap="flat" cmpd="sng">
            <a:solidFill>
              <a:srgbClr val="07672A">
                <a:alpha val="10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7696200" y="1701800"/>
            <a:ext cx="39116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15803D"/>
                </a:solidFill>
                <a:latin typeface="Noto Sans SC"/>
                <a:ea typeface="Noto Sans SC"/>
                <a:cs typeface="Noto Sans SC"/>
                <a:sym typeface="Noto Sans SC"/>
              </a:rPr>
              <a:t>业务价值</a:t>
            </a:r>
            <a:endParaRPr lang="en-US" sz="1100"/>
          </a:p>
        </p:txBody>
      </p:sp>
      <p:sp>
        <p:nvSpPr>
          <p:cNvPr id="24" name="AutoShape 24"/>
          <p:cNvSpPr/>
          <p:nvPr/>
        </p:nvSpPr>
        <p:spPr>
          <a:xfrm>
            <a:off x="7696200" y="2057400"/>
            <a:ext cx="3911600" cy="889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C424B"/>
                </a:solidFill>
                <a:latin typeface="Noto Sans SC"/>
                <a:ea typeface="Noto Sans SC"/>
                <a:cs typeface="Noto Sans SC"/>
                <a:sym typeface="Noto Sans SC"/>
              </a:rPr>
              <a:t>快速、直观地评估植被的健康状况和光合活性。</a:t>
            </a:r>
            <a:endParaRPr lang="en-US" sz="1100"/>
          </a:p>
        </p:txBody>
      </p:sp>
      <p:sp>
        <p:nvSpPr>
          <p:cNvPr id="25" name="AutoShape 25"/>
          <p:cNvSpPr/>
          <p:nvPr/>
        </p:nvSpPr>
        <p:spPr>
          <a:xfrm>
            <a:off x="7493000" y="3149600"/>
            <a:ext cx="4191000" cy="1371600"/>
          </a:xfrm>
          <a:prstGeom prst="roundRect">
            <a:avLst>
              <a:gd name="adj" fmla="val 0"/>
            </a:avLst>
          </a:prstGeom>
          <a:solidFill>
            <a:srgbClr val="DC2626">
              <a:alpha val="6000"/>
            </a:srgbClr>
          </a:solidFill>
          <a:ln cap="flat" cmpd="sng">
            <a:solidFill>
              <a:srgbClr val="C30E0E">
                <a:alpha val="6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7493000" y="3149600"/>
            <a:ext cx="50800" cy="1371600"/>
          </a:xfrm>
          <a:prstGeom prst="roundRect">
            <a:avLst>
              <a:gd name="adj" fmla="val 0"/>
            </a:avLst>
          </a:prstGeom>
          <a:solidFill>
            <a:srgbClr val="DC2626">
              <a:alpha val="100000"/>
            </a:srgbClr>
          </a:solidFill>
          <a:ln cap="flat" cmpd="sng">
            <a:solidFill>
              <a:srgbClr val="C30E0E">
                <a:alpha val="100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7696200" y="3175000"/>
            <a:ext cx="39116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DC2626"/>
                </a:solidFill>
                <a:latin typeface="Noto Sans SC"/>
                <a:ea typeface="Noto Sans SC"/>
                <a:cs typeface="Noto Sans SC"/>
                <a:sym typeface="Noto Sans SC"/>
              </a:rPr>
              <a:t>缺失影响</a:t>
            </a:r>
            <a:endParaRPr lang="en-US" sz="1100"/>
          </a:p>
        </p:txBody>
      </p:sp>
      <p:sp>
        <p:nvSpPr>
          <p:cNvPr id="28" name="AutoShape 28"/>
          <p:cNvSpPr/>
          <p:nvPr/>
        </p:nvSpPr>
        <p:spPr>
          <a:xfrm>
            <a:off x="7696200" y="3530600"/>
            <a:ext cx="3911600" cy="889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C424B"/>
                </a:solidFill>
                <a:latin typeface="Noto Sans SC"/>
                <a:ea typeface="Noto Sans SC"/>
                <a:cs typeface="Noto Sans SC"/>
                <a:sym typeface="Noto Sans SC"/>
              </a:rPr>
              <a:t>无法快速宏观评估植被长势,是后续许多分析的基础。</a:t>
            </a:r>
            <a:endParaRPr lang="en-US" sz="1100"/>
          </a:p>
        </p:txBody>
      </p:sp>
      <p:sp>
        <p:nvSpPr>
          <p:cNvPr id="29" name="AutoShape 29"/>
          <p:cNvSpPr/>
          <p:nvPr/>
        </p:nvSpPr>
        <p:spPr>
          <a:xfrm>
            <a:off x="7493000" y="4597400"/>
            <a:ext cx="4191000" cy="1397000"/>
          </a:xfrm>
          <a:prstGeom prst="roundRect">
            <a:avLst>
              <a:gd name="adj" fmla="val 0"/>
            </a:avLst>
          </a:prstGeom>
          <a:solidFill>
            <a:srgbClr val="000000">
              <a:alpha val="4000"/>
            </a:srgbClr>
          </a:solidFill>
          <a:ln cap="flat" cmpd="sng">
            <a:solidFill>
              <a:srgbClr val="000000">
                <a:alpha val="4000"/>
              </a:srgbClr>
            </a:solidFill>
            <a:prstDash val="solid"/>
            <a:round/>
          </a:ln>
        </p:spPr>
        <p:txBody>
          <a:bodyPr vert="horz" wrap="square" lIns="63500" tIns="63500" rIns="63500" bIns="63500" rtlCol="0" anchor="ctr"/>
          <a:lstStyle/>
          <a:p>
            <a:pPr algn="ctr">
              <a:defRPr/>
            </a:pPr>
          </a:p>
        </p:txBody>
      </p:sp>
      <p:sp>
        <p:nvSpPr>
          <p:cNvPr id="30" name="AutoShape 30"/>
          <p:cNvSpPr/>
          <p:nvPr/>
        </p:nvSpPr>
        <p:spPr>
          <a:xfrm>
            <a:off x="7696200" y="4597400"/>
            <a:ext cx="39116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1" i="0" u="none" strike="noStrike" spc="100">
                <a:solidFill>
                  <a:srgbClr val="1C2028"/>
                </a:solidFill>
                <a:latin typeface="Noto Sans SC"/>
                <a:ea typeface="Noto Sans SC"/>
                <a:cs typeface="Noto Sans SC"/>
                <a:sym typeface="Noto Sans SC"/>
              </a:rPr>
              <a:t>流程位置与关联</a:t>
            </a:r>
            <a:endParaRPr lang="en-US" sz="1100"/>
          </a:p>
        </p:txBody>
      </p:sp>
      <p:sp>
        <p:nvSpPr>
          <p:cNvPr id="31" name="AutoShape 31"/>
          <p:cNvSpPr/>
          <p:nvPr/>
        </p:nvSpPr>
        <p:spPr>
          <a:xfrm>
            <a:off x="7696200" y="4927600"/>
            <a:ext cx="3911600" cy="254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200" b="0" i="0" u="none" strike="noStrike">
                <a:solidFill>
                  <a:srgbClr val="50565F"/>
                </a:solidFill>
                <a:latin typeface="Noto Sans SC"/>
                <a:ea typeface="Noto Sans SC"/>
                <a:cs typeface="Noto Sans SC"/>
                <a:sym typeface="Noto Sans SC"/>
              </a:rPr>
              <a:t>环节:L3指数与反演 · 关联:</a:t>
            </a:r>
            <a:r>
              <a:rPr lang="en-US" sz="1200" b="1" i="0" u="none" strike="noStrike">
                <a:solidFill>
                  <a:srgbClr val="15803D"/>
                </a:solidFill>
                <a:latin typeface="Noto Sans SC"/>
                <a:ea typeface="Noto Sans SC"/>
                <a:cs typeface="Noto Sans SC"/>
                <a:sym typeface="Noto Sans SC"/>
              </a:rPr>
              <a:t>#28 NDRE,#32 反演,#45 告警</a:t>
            </a:r>
            <a:endParaRPr lang="en-US" sz="1100"/>
          </a:p>
        </p:txBody>
      </p:sp>
      <p:sp>
        <p:nvSpPr>
          <p:cNvPr id="32" name="AutoShape 32"/>
          <p:cNvSpPr/>
          <p:nvPr/>
        </p:nvSpPr>
        <p:spPr>
          <a:xfrm>
            <a:off x="7696200" y="5334000"/>
            <a:ext cx="3911600" cy="533400"/>
          </a:xfrm>
          <a:prstGeom prst="roundRect">
            <a:avLst>
              <a:gd name="adj" fmla="val 0"/>
            </a:avLst>
          </a:prstGeom>
          <a:gradFill rotWithShape="1">
            <a:gsLst>
              <a:gs pos="0">
                <a:srgbClr val="15803D">
                  <a:alpha val="100000"/>
                </a:srgbClr>
              </a:gs>
              <a:gs pos="100000">
                <a:srgbClr val="269B58">
                  <a:alpha val="100000"/>
                </a:srgbClr>
              </a:gs>
            </a:gsLst>
            <a:lin ang="0"/>
          </a:gradFill>
          <a:ln cap="flat" cmpd="sng">
            <a:gradFill rotWithShape="1">
              <a:gsLst>
                <a:gs pos="0">
                  <a:srgbClr val="07672A">
                    <a:alpha val="100000"/>
                  </a:srgbClr>
                </a:gs>
                <a:gs pos="100000">
                  <a:srgbClr val="138242">
                    <a:alpha val="100000"/>
                  </a:srgbClr>
                </a:gs>
              </a:gsLst>
              <a:lin ang="0"/>
            </a:gradFill>
            <a:prstDash val="solid"/>
            <a:round/>
          </a:ln>
        </p:spPr>
        <p:txBody>
          <a:bodyPr vert="horz" wrap="square" lIns="63500" tIns="63500" rIns="63500" bIns="63500" rtlCol="0" anchor="ctr"/>
          <a:lstStyle/>
          <a:p>
            <a:pPr algn="ctr">
              <a:defRPr/>
            </a:pPr>
          </a:p>
        </p:txBody>
      </p:sp>
      <p:sp>
        <p:nvSpPr>
          <p:cNvPr id="33" name="AutoShape 33"/>
          <p:cNvSpPr/>
          <p:nvPr/>
        </p:nvSpPr>
        <p:spPr>
          <a:xfrm>
            <a:off x="7696200" y="5334000"/>
            <a:ext cx="3911600" cy="5334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200" b="1" i="0" u="none" strike="noStrike" spc="100">
                <a:solidFill>
                  <a:srgbClr val="FFFFFF">
                    <a:alpha val="85098"/>
                  </a:srgbClr>
                </a:solidFill>
                <a:latin typeface="Noto Sans SC"/>
                <a:ea typeface="Noto Sans SC"/>
                <a:cs typeface="Noto Sans SC"/>
                <a:sym typeface="Noto Sans SC"/>
              </a:rPr>
              <a:t>[API]</a:t>
            </a:r>
            <a:r>
              <a:rPr lang="en-US" sz="1300" b="0" i="0" u="none" strike="noStrike" spc="100">
                <a:solidFill>
                  <a:srgbClr val="FFFFFF"/>
                </a:solidFill>
                <a:latin typeface="Noto Sans SC"/>
                <a:ea typeface="Noto Sans SC"/>
                <a:cs typeface="Noto Sans SC"/>
                <a:sym typeface="Noto Sans SC"/>
              </a:rPr>
              <a:t>/api/v1/27_ndvi/run</a:t>
            </a:r>
            <a:endParaRPr lang="en-US" sz="1100"/>
          </a:p>
        </p:txBody>
      </p:sp>
      <p:cxnSp>
        <p:nvCxnSpPr>
          <p:cNvPr id="34" name="Connector 34"/>
          <p:cNvCxnSpPr/>
          <p:nvPr/>
        </p:nvCxnSpPr>
        <p:spPr>
          <a:xfrm rot="-3906">
            <a:off x="508004" y="6115050"/>
            <a:ext cx="11176000" cy="12700"/>
          </a:xfrm>
          <a:prstGeom prst="straightConnector1">
            <a:avLst/>
          </a:prstGeom>
          <a:solidFill>
            <a:srgbClr val="DEE0E3">
              <a:alpha val="100000"/>
            </a:srgbClr>
          </a:solidFill>
          <a:ln w="12700" cap="flat" cmpd="sng">
            <a:solidFill>
              <a:srgbClr val="000000">
                <a:alpha val="6000"/>
              </a:srgbClr>
            </a:solidFill>
            <a:prstDash val="solid"/>
            <a:round/>
            <a:headEnd type="none" w="med" len="med"/>
            <a:tailEnd type="none" w="med" len="med"/>
          </a:ln>
        </p:spPr>
      </p:cxnSp>
      <p:sp>
        <p:nvSpPr>
          <p:cNvPr id="35" name="AutoShape 35"/>
          <p:cNvSpPr/>
          <p:nvPr/>
        </p:nvSpPr>
        <p:spPr>
          <a:xfrm>
            <a:off x="508000" y="6223000"/>
            <a:ext cx="1117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100" b="0" i="0" u="none" strike="noStrike" spc="100">
                <a:solidFill>
                  <a:srgbClr val="000000">
                    <a:alpha val="40000"/>
                  </a:srgbClr>
                </a:solidFill>
                <a:latin typeface="Noto Sans SC"/>
                <a:ea typeface="Noto Sans SC"/>
                <a:cs typeface="Noto Sans SC"/>
                <a:sym typeface="Noto Sans SC"/>
              </a:rPr>
              <a:t>算法编号 #27 · 辅导材料:算法清单与API</a:t>
            </a:r>
            <a:endParaRPr lang="en-US" sz="11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8890000" cy="6350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2800" b="1" i="0" u="none" strike="noStrike" spc="100">
                <a:solidFill>
                  <a:srgbClr val="111827"/>
                </a:solidFill>
                <a:latin typeface="Noto Sans SC"/>
                <a:ea typeface="Noto Sans SC"/>
                <a:cs typeface="Noto Sans SC"/>
                <a:sym typeface="Noto Sans SC"/>
              </a:rPr>
              <a:t>NDRE / 红边指数</a:t>
            </a:r>
            <a:endParaRPr lang="en-US" sz="1100"/>
          </a:p>
        </p:txBody>
      </p:sp>
      <p:sp>
        <p:nvSpPr>
          <p:cNvPr id="3" name="AutoShape 3"/>
          <p:cNvSpPr/>
          <p:nvPr/>
        </p:nvSpPr>
        <p:spPr>
          <a:xfrm>
            <a:off x="508000" y="1041400"/>
            <a:ext cx="11176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0" i="0" u="none" strike="noStrike">
                <a:solidFill>
                  <a:srgbClr val="6B7280"/>
                </a:solidFill>
                <a:latin typeface="Noto Sans SC"/>
                <a:ea typeface="Noto Sans SC"/>
                <a:cs typeface="Noto Sans SC"/>
                <a:sym typeface="Noto Sans SC"/>
              </a:rPr>
              <a:t>所属层级:L3 ｜ 编号 #28 ｜ 辅导材料:算法清单与API</a:t>
            </a:r>
            <a:endParaRPr lang="en-US" sz="1100"/>
          </a:p>
        </p:txBody>
      </p:sp>
      <p:cxnSp>
        <p:nvCxnSpPr>
          <p:cNvPr id="4" name="Connector 4"/>
          <p:cNvCxnSpPr/>
          <p:nvPr/>
        </p:nvCxnSpPr>
        <p:spPr>
          <a:xfrm rot="-3906">
            <a:off x="508004" y="1454150"/>
            <a:ext cx="11176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5" name="AutoShape 5"/>
          <p:cNvSpPr/>
          <p:nvPr/>
        </p:nvSpPr>
        <p:spPr>
          <a:xfrm>
            <a:off x="508000" y="1587500"/>
            <a:ext cx="6731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5803D"/>
                </a:solidFill>
                <a:latin typeface="Noto Sans SC"/>
                <a:ea typeface="Noto Sans SC"/>
                <a:cs typeface="Noto Sans SC"/>
                <a:sym typeface="Noto Sans SC"/>
              </a:rPr>
              <a:t>功能定义</a:t>
            </a:r>
            <a:endParaRPr lang="en-US" sz="1100"/>
          </a:p>
        </p:txBody>
      </p:sp>
      <p:sp>
        <p:nvSpPr>
          <p:cNvPr id="6" name="AutoShape 6"/>
          <p:cNvSpPr/>
          <p:nvPr/>
        </p:nvSpPr>
        <p:spPr>
          <a:xfrm>
            <a:off x="508000" y="1968500"/>
            <a:ext cx="6731000" cy="6985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500" b="0" i="0" u="none" strike="noStrike">
                <a:solidFill>
                  <a:srgbClr val="374151"/>
                </a:solidFill>
                <a:latin typeface="Noto Sans SC"/>
                <a:ea typeface="Noto Sans SC"/>
                <a:cs typeface="Noto Sans SC"/>
                <a:sym typeface="Noto Sans SC"/>
              </a:rPr>
              <a:t>利用红边波段对叶绿素的高敏感性,更精准地监测作物生长状况。</a:t>
            </a:r>
            <a:endParaRPr lang="en-US" sz="1100"/>
          </a:p>
        </p:txBody>
      </p:sp>
      <p:sp>
        <p:nvSpPr>
          <p:cNvPr id="7" name="AutoShape 7"/>
          <p:cNvSpPr/>
          <p:nvPr/>
        </p:nvSpPr>
        <p:spPr>
          <a:xfrm>
            <a:off x="508000" y="2794000"/>
            <a:ext cx="6731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5803D"/>
                </a:solidFill>
                <a:latin typeface="Noto Sans SC"/>
                <a:ea typeface="Noto Sans SC"/>
                <a:cs typeface="Noto Sans SC"/>
                <a:sym typeface="Noto Sans SC"/>
              </a:rPr>
              <a:t>方法要点</a:t>
            </a:r>
            <a:endParaRPr lang="en-US" sz="1100"/>
          </a:p>
        </p:txBody>
      </p:sp>
      <p:sp>
        <p:nvSpPr>
          <p:cNvPr id="8" name="AutoShape 8"/>
          <p:cNvSpPr/>
          <p:nvPr/>
        </p:nvSpPr>
        <p:spPr>
          <a:xfrm>
            <a:off x="508000" y="3175000"/>
            <a:ext cx="6731000" cy="914400"/>
          </a:xfrm>
          <a:prstGeom prst="roundRect">
            <a:avLst>
              <a:gd name="adj" fmla="val 0"/>
            </a:avLst>
          </a:prstGeom>
          <a:gradFill rotWithShape="1">
            <a:gsLst>
              <a:gs pos="0">
                <a:srgbClr val="15803D">
                  <a:alpha val="10000"/>
                </a:srgbClr>
              </a:gs>
              <a:gs pos="100000">
                <a:srgbClr val="15803D">
                  <a:alpha val="2000"/>
                </a:srgbClr>
              </a:gs>
            </a:gsLst>
            <a:lin ang="2700000"/>
          </a:gradFill>
          <a:ln cap="flat" cmpd="sng">
            <a:gradFill rotWithShape="1">
              <a:gsLst>
                <a:gs pos="0">
                  <a:srgbClr val="07672A">
                    <a:alpha val="10000"/>
                  </a:srgbClr>
                </a:gs>
                <a:gs pos="100000">
                  <a:srgbClr val="07672A">
                    <a:alpha val="2000"/>
                  </a:srgbClr>
                </a:gs>
              </a:gsLst>
              <a:lin ang="2700000"/>
            </a:gradFill>
            <a:prstDash val="solid"/>
            <a:round/>
          </a:ln>
        </p:spPr>
        <p:txBody>
          <a:bodyPr vert="horz" wrap="square" lIns="63500" tIns="63500" rIns="63500" bIns="63500" rtlCol="0" anchor="ctr"/>
          <a:lstStyle/>
          <a:p>
            <a:pPr algn="ctr">
              <a:defRPr/>
            </a:pPr>
          </a:p>
        </p:txBody>
      </p:sp>
      <p:sp>
        <p:nvSpPr>
          <p:cNvPr id="9" name="AutoShape 9"/>
          <p:cNvSpPr/>
          <p:nvPr/>
        </p:nvSpPr>
        <p:spPr>
          <a:xfrm>
            <a:off x="508000" y="3175000"/>
            <a:ext cx="6731000" cy="9144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2000" b="1" i="0" u="none" strike="noStrike">
                <a:solidFill>
                  <a:srgbClr val="15803D"/>
                </a:solidFill>
                <a:latin typeface="Noto Sans SC"/>
                <a:ea typeface="Noto Sans SC"/>
                <a:cs typeface="Noto Sans SC"/>
                <a:sym typeface="Noto Sans SC"/>
              </a:rPr>
              <a:t>(NIR - RedEdge) / (NIR + RedEdge)</a:t>
            </a:r>
            <a:endParaRPr lang="en-US" sz="1100"/>
          </a:p>
        </p:txBody>
      </p:sp>
      <p:sp>
        <p:nvSpPr>
          <p:cNvPr id="10" name="AutoShape 10"/>
          <p:cNvSpPr/>
          <p:nvPr/>
        </p:nvSpPr>
        <p:spPr>
          <a:xfrm>
            <a:off x="508000" y="4254500"/>
            <a:ext cx="6731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5803D"/>
                </a:solidFill>
                <a:latin typeface="Noto Sans SC"/>
                <a:ea typeface="Noto Sans SC"/>
                <a:cs typeface="Noto Sans SC"/>
                <a:sym typeface="Noto Sans SC"/>
              </a:rPr>
              <a:t>适用场景</a:t>
            </a:r>
            <a:endParaRPr lang="en-US" sz="1100"/>
          </a:p>
        </p:txBody>
      </p:sp>
      <p:sp>
        <p:nvSpPr>
          <p:cNvPr id="11" name="AutoShape 11"/>
          <p:cNvSpPr/>
          <p:nvPr/>
        </p:nvSpPr>
        <p:spPr>
          <a:xfrm>
            <a:off x="508000" y="4635500"/>
            <a:ext cx="6731000" cy="635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500" b="0" i="0" u="none" strike="noStrike">
                <a:solidFill>
                  <a:srgbClr val="374151"/>
                </a:solidFill>
                <a:latin typeface="Noto Sans SC"/>
                <a:ea typeface="Noto Sans SC"/>
                <a:cs typeface="Noto Sans SC"/>
                <a:sym typeface="Noto Sans SC"/>
              </a:rPr>
              <a:t>密植作物的中后期监测、氮素营养诊断。</a:t>
            </a:r>
            <a:endParaRPr lang="en-US" sz="1100"/>
          </a:p>
        </p:txBody>
      </p:sp>
      <p:sp>
        <p:nvSpPr>
          <p:cNvPr id="12" name="AutoShape 12"/>
          <p:cNvSpPr/>
          <p:nvPr/>
        </p:nvSpPr>
        <p:spPr>
          <a:xfrm>
            <a:off x="7620000" y="1587500"/>
            <a:ext cx="4064000" cy="1524000"/>
          </a:xfrm>
          <a:prstGeom prst="roundRect">
            <a:avLst>
              <a:gd name="adj" fmla="val 0"/>
            </a:avLst>
          </a:prstGeom>
          <a:solidFill>
            <a:srgbClr val="15803D">
              <a:alpha val="6000"/>
            </a:srgbClr>
          </a:solidFill>
          <a:ln cap="flat" cmpd="sng">
            <a:solidFill>
              <a:srgbClr val="07672A">
                <a:alpha val="6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7620000" y="1587500"/>
            <a:ext cx="50800" cy="1524000"/>
          </a:xfrm>
          <a:prstGeom prst="roundRect">
            <a:avLst>
              <a:gd name="adj" fmla="val 0"/>
            </a:avLst>
          </a:prstGeom>
          <a:solidFill>
            <a:srgbClr val="15803D">
              <a:alpha val="100000"/>
            </a:srgbClr>
          </a:solidFill>
          <a:ln cap="flat" cmpd="sng">
            <a:solidFill>
              <a:srgbClr val="07672A">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7823200" y="1587500"/>
            <a:ext cx="37465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5803D"/>
                </a:solidFill>
                <a:latin typeface="Noto Sans SC"/>
                <a:ea typeface="Noto Sans SC"/>
                <a:cs typeface="Noto Sans SC"/>
                <a:sym typeface="Noto Sans SC"/>
              </a:rPr>
              <a:t>业务价值</a:t>
            </a:r>
            <a:endParaRPr lang="en-US" sz="1100"/>
          </a:p>
        </p:txBody>
      </p:sp>
      <p:sp>
        <p:nvSpPr>
          <p:cNvPr id="15" name="AutoShape 15"/>
          <p:cNvSpPr/>
          <p:nvPr/>
        </p:nvSpPr>
        <p:spPr>
          <a:xfrm>
            <a:off x="7823200" y="1968500"/>
            <a:ext cx="3746500" cy="914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克服了NDVI在作物生长旺盛期容易饱和的缺点,提供更精细的长势信息。</a:t>
            </a:r>
            <a:endParaRPr lang="en-US" sz="1100"/>
          </a:p>
        </p:txBody>
      </p:sp>
      <p:sp>
        <p:nvSpPr>
          <p:cNvPr id="16" name="AutoShape 16"/>
          <p:cNvSpPr/>
          <p:nvPr/>
        </p:nvSpPr>
        <p:spPr>
          <a:xfrm>
            <a:off x="7620000" y="3213100"/>
            <a:ext cx="4064000" cy="1524000"/>
          </a:xfrm>
          <a:prstGeom prst="roundRect">
            <a:avLst>
              <a:gd name="adj" fmla="val 0"/>
            </a:avLst>
          </a:prstGeom>
          <a:solidFill>
            <a:srgbClr val="F59E0B">
              <a:alpha val="6000"/>
            </a:srgbClr>
          </a:solidFill>
          <a:ln cap="flat" cmpd="sng">
            <a:solidFill>
              <a:srgbClr val="DC8A00">
                <a:alpha val="6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7620000" y="3213100"/>
            <a:ext cx="50800" cy="1524000"/>
          </a:xfrm>
          <a:prstGeom prst="roundRect">
            <a:avLst>
              <a:gd name="adj" fmla="val 0"/>
            </a:avLst>
          </a:prstGeom>
          <a:solidFill>
            <a:srgbClr val="F59E0B">
              <a:alpha val="100000"/>
            </a:srgbClr>
          </a:solidFill>
          <a:ln cap="flat" cmpd="sng">
            <a:solidFill>
              <a:srgbClr val="DC8A00">
                <a:alpha val="10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7823200" y="3213100"/>
            <a:ext cx="37465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F59E0B"/>
                </a:solidFill>
                <a:latin typeface="Noto Sans SC"/>
                <a:ea typeface="Noto Sans SC"/>
                <a:cs typeface="Noto Sans SC"/>
                <a:sym typeface="Noto Sans SC"/>
              </a:rPr>
              <a:t>缺失影响</a:t>
            </a:r>
            <a:endParaRPr lang="en-US" sz="1100"/>
          </a:p>
        </p:txBody>
      </p:sp>
      <p:sp>
        <p:nvSpPr>
          <p:cNvPr id="19" name="AutoShape 19"/>
          <p:cNvSpPr/>
          <p:nvPr/>
        </p:nvSpPr>
        <p:spPr>
          <a:xfrm>
            <a:off x="7823200" y="3594100"/>
            <a:ext cx="3746500" cy="914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在作物生长旺盛期,无法区分细微的长势差异。</a:t>
            </a:r>
            <a:endParaRPr lang="en-US" sz="1100"/>
          </a:p>
        </p:txBody>
      </p:sp>
      <p:sp>
        <p:nvSpPr>
          <p:cNvPr id="20" name="AutoShape 20"/>
          <p:cNvSpPr/>
          <p:nvPr/>
        </p:nvSpPr>
        <p:spPr>
          <a:xfrm>
            <a:off x="508000" y="5524500"/>
            <a:ext cx="11176000" cy="952500"/>
          </a:xfrm>
          <a:prstGeom prst="roundRect">
            <a:avLst>
              <a:gd name="adj" fmla="val 0"/>
            </a:avLst>
          </a:prstGeom>
          <a:solidFill>
            <a:srgbClr val="F8FAFC">
              <a:alpha val="100000"/>
            </a:srgbClr>
          </a:solidFill>
          <a:ln cap="flat" cmpd="sng">
            <a:solidFill>
              <a:srgbClr val="C8D5E3">
                <a:alpha val="10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762000" y="5626100"/>
            <a:ext cx="33020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1" i="0" u="none" strike="noStrike">
                <a:solidFill>
                  <a:srgbClr val="6B7280"/>
                </a:solidFill>
                <a:latin typeface="Noto Sans SC"/>
                <a:ea typeface="Noto Sans SC"/>
                <a:cs typeface="Noto Sans SC"/>
                <a:sym typeface="Noto Sans SC"/>
              </a:rPr>
              <a:t>流程位置</a:t>
            </a:r>
            <a:endParaRPr lang="en-US" sz="1100"/>
          </a:p>
        </p:txBody>
      </p:sp>
      <p:sp>
        <p:nvSpPr>
          <p:cNvPr id="22" name="AutoShape 22"/>
          <p:cNvSpPr/>
          <p:nvPr/>
        </p:nvSpPr>
        <p:spPr>
          <a:xfrm>
            <a:off x="762000" y="5918200"/>
            <a:ext cx="3302000" cy="431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400" b="1" i="0" u="none" strike="noStrike">
                <a:solidFill>
                  <a:srgbClr val="1F2937"/>
                </a:solidFill>
                <a:latin typeface="Noto Sans SC"/>
                <a:ea typeface="Noto Sans SC"/>
                <a:cs typeface="Noto Sans SC"/>
                <a:sym typeface="Noto Sans SC"/>
              </a:rPr>
              <a:t>L3指数与反演</a:t>
            </a:r>
            <a:endParaRPr lang="en-US" sz="1100"/>
          </a:p>
        </p:txBody>
      </p:sp>
      <p:cxnSp>
        <p:nvCxnSpPr>
          <p:cNvPr id="23" name="Connector 23"/>
          <p:cNvCxnSpPr/>
          <p:nvPr/>
        </p:nvCxnSpPr>
        <p:spPr>
          <a:xfrm rot="5335144">
            <a:off x="3917950" y="6007160"/>
            <a:ext cx="6731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4" name="AutoShape 24"/>
          <p:cNvSpPr/>
          <p:nvPr/>
        </p:nvSpPr>
        <p:spPr>
          <a:xfrm>
            <a:off x="4508500" y="5626100"/>
            <a:ext cx="38100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1" i="0" u="none" strike="noStrike">
                <a:solidFill>
                  <a:srgbClr val="6B7280"/>
                </a:solidFill>
                <a:latin typeface="Noto Sans SC"/>
                <a:ea typeface="Noto Sans SC"/>
                <a:cs typeface="Noto Sans SC"/>
                <a:sym typeface="Noto Sans SC"/>
              </a:rPr>
              <a:t>关联算法</a:t>
            </a:r>
            <a:endParaRPr lang="en-US" sz="1100"/>
          </a:p>
        </p:txBody>
      </p:sp>
      <p:sp>
        <p:nvSpPr>
          <p:cNvPr id="25" name="AutoShape 25"/>
          <p:cNvSpPr/>
          <p:nvPr/>
        </p:nvSpPr>
        <p:spPr>
          <a:xfrm>
            <a:off x="4508500" y="5918200"/>
            <a:ext cx="3937000" cy="431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400" b="0" i="0" u="none" strike="noStrike">
                <a:solidFill>
                  <a:srgbClr val="374151"/>
                </a:solidFill>
                <a:latin typeface="Noto Sans SC"/>
                <a:ea typeface="Noto Sans SC"/>
                <a:cs typeface="Noto Sans SC"/>
                <a:sym typeface="Noto Sans SC"/>
              </a:rPr>
              <a:t>#27 NDVI · #32 反演 · #45 告警</a:t>
            </a:r>
            <a:endParaRPr lang="en-US" sz="1100"/>
          </a:p>
        </p:txBody>
      </p:sp>
      <p:cxnSp>
        <p:nvCxnSpPr>
          <p:cNvPr id="26" name="Connector 26"/>
          <p:cNvCxnSpPr/>
          <p:nvPr/>
        </p:nvCxnSpPr>
        <p:spPr>
          <a:xfrm rot="5335144">
            <a:off x="8172450" y="6007160"/>
            <a:ext cx="6731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7" name="AutoShape 27"/>
          <p:cNvSpPr/>
          <p:nvPr/>
        </p:nvSpPr>
        <p:spPr>
          <a:xfrm>
            <a:off x="8763000" y="5626100"/>
            <a:ext cx="29210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1" i="0" u="none" strike="noStrike">
                <a:solidFill>
                  <a:srgbClr val="6B7280"/>
                </a:solidFill>
                <a:latin typeface="Noto Sans SC"/>
                <a:ea typeface="Noto Sans SC"/>
                <a:cs typeface="Noto Sans SC"/>
                <a:sym typeface="Noto Sans SC"/>
              </a:rPr>
              <a:t>调用API</a:t>
            </a:r>
            <a:endParaRPr lang="en-US" sz="1100"/>
          </a:p>
        </p:txBody>
      </p:sp>
      <p:sp>
        <p:nvSpPr>
          <p:cNvPr id="28" name="AutoShape 28"/>
          <p:cNvSpPr/>
          <p:nvPr/>
        </p:nvSpPr>
        <p:spPr>
          <a:xfrm>
            <a:off x="8763000" y="5918200"/>
            <a:ext cx="2921000" cy="431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300" b="1" i="0" u="none" strike="noStrike">
                <a:solidFill>
                  <a:srgbClr val="15803D"/>
                </a:solidFill>
                <a:latin typeface="Noto Sans SC"/>
                <a:ea typeface="Noto Sans SC"/>
                <a:cs typeface="Noto Sans SC"/>
                <a:sym typeface="Noto Sans SC"/>
              </a:rPr>
              <a:t>/api/v1/28_ndre/run</a:t>
            </a:r>
            <a:endParaRPr lang="en-US" sz="11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143000"/>
          </a:xfrm>
          <a:prstGeom prst="roundRect">
            <a:avLst>
              <a:gd name="adj" fmla="val 0"/>
            </a:avLst>
          </a:prstGeom>
          <a:gradFill rotWithShape="1">
            <a:gsLst>
              <a:gs pos="0">
                <a:srgbClr val="1E3A8A">
                  <a:alpha val="100000"/>
                </a:srgbClr>
              </a:gs>
              <a:gs pos="100000">
                <a:srgbClr val="3350A8">
                  <a:alpha val="100000"/>
                </a:srgbClr>
              </a:gs>
            </a:gsLst>
            <a:lin ang="0"/>
          </a:gradFill>
          <a:ln cap="flat" cmpd="sng">
            <a:gradFill rotWithShape="1">
              <a:gsLst>
                <a:gs pos="0">
                  <a:srgbClr val="0D2771">
                    <a:alpha val="100000"/>
                  </a:srgbClr>
                </a:gs>
                <a:gs pos="100000">
                  <a:srgbClr val="1D398E">
                    <a:alpha val="100000"/>
                  </a:srgbClr>
                </a:gs>
              </a:gsLst>
              <a:lin ang="0"/>
            </a:gradFill>
            <a:prstDash val="solid"/>
            <a:round/>
          </a:ln>
        </p:spPr>
        <p:txBody>
          <a:bodyPr vert="horz" wrap="square" lIns="63500" tIns="63500" rIns="63500" bIns="63500" rtlCol="0" anchor="ctr"/>
          <a:lstStyle/>
          <a:p>
            <a:pPr algn="ctr">
              <a:defRPr/>
            </a:pPr>
          </a:p>
        </p:txBody>
      </p:sp>
      <p:sp>
        <p:nvSpPr>
          <p:cNvPr id="3" name="AutoShape 3"/>
          <p:cNvSpPr/>
          <p:nvPr/>
        </p:nvSpPr>
        <p:spPr>
          <a:xfrm>
            <a:off x="381000" y="190500"/>
            <a:ext cx="101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5600" b="1" i="0" u="none" strike="noStrike">
                <a:solidFill>
                  <a:srgbClr val="FFFFFF">
                    <a:alpha val="90196"/>
                  </a:srgbClr>
                </a:solidFill>
                <a:latin typeface="Inter"/>
                <a:ea typeface="Inter"/>
                <a:cs typeface="Inter"/>
                <a:sym typeface="Inter"/>
              </a:rPr>
              <a:t>29</a:t>
            </a:r>
            <a:endParaRPr lang="en-US" sz="1100"/>
          </a:p>
        </p:txBody>
      </p:sp>
      <p:sp>
        <p:nvSpPr>
          <p:cNvPr id="4" name="AutoShape 4"/>
          <p:cNvSpPr/>
          <p:nvPr/>
        </p:nvSpPr>
        <p:spPr>
          <a:xfrm>
            <a:off x="1524000" y="190500"/>
            <a:ext cx="7874000" cy="508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2800" b="1" i="0" u="none" strike="noStrike">
                <a:solidFill>
                  <a:srgbClr val="FFFFFF"/>
                </a:solidFill>
                <a:latin typeface="Noto Sans SC"/>
                <a:ea typeface="Noto Sans SC"/>
                <a:cs typeface="Noto Sans SC"/>
                <a:sym typeface="Noto Sans SC"/>
              </a:rPr>
              <a:t>EVI / SAVI</a:t>
            </a:r>
            <a:endParaRPr lang="en-US" sz="1100"/>
          </a:p>
        </p:txBody>
      </p:sp>
      <p:sp>
        <p:nvSpPr>
          <p:cNvPr id="5" name="AutoShape 5"/>
          <p:cNvSpPr/>
          <p:nvPr/>
        </p:nvSpPr>
        <p:spPr>
          <a:xfrm>
            <a:off x="1524000" y="673100"/>
            <a:ext cx="8890000" cy="3556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0" i="0" u="none" strike="noStrike">
                <a:solidFill>
                  <a:srgbClr val="FFFFFF">
                    <a:alpha val="78039"/>
                  </a:srgbClr>
                </a:solidFill>
                <a:latin typeface="Noto Sans SC"/>
                <a:ea typeface="Noto Sans SC"/>
                <a:cs typeface="Noto Sans SC"/>
                <a:sym typeface="Noto Sans SC"/>
              </a:rPr>
              <a:t>所属层级:L3 ｜ 编号#29 ｜ 辅导材料:算法清单与API</a:t>
            </a:r>
            <a:endParaRPr lang="en-US" sz="1100"/>
          </a:p>
        </p:txBody>
      </p:sp>
      <p:sp>
        <p:nvSpPr>
          <p:cNvPr id="6" name="AutoShape 6"/>
          <p:cNvSpPr/>
          <p:nvPr/>
        </p:nvSpPr>
        <p:spPr>
          <a:xfrm>
            <a:off x="381000" y="1270000"/>
            <a:ext cx="7112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功能定义</a:t>
            </a:r>
            <a:endParaRPr lang="en-US" sz="1100"/>
          </a:p>
        </p:txBody>
      </p:sp>
      <p:sp>
        <p:nvSpPr>
          <p:cNvPr id="7" name="AutoShape 7"/>
          <p:cNvSpPr/>
          <p:nvPr/>
        </p:nvSpPr>
        <p:spPr>
          <a:xfrm>
            <a:off x="381000" y="1651000"/>
            <a:ext cx="7112000" cy="7366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381000" y="1651000"/>
            <a:ext cx="50800" cy="7366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609600" y="1651000"/>
            <a:ext cx="6807200" cy="7366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0" i="0" u="none" strike="noStrike">
                <a:solidFill>
                  <a:srgbClr val="334155"/>
                </a:solidFill>
                <a:latin typeface="Noto Sans SC"/>
                <a:ea typeface="Noto Sans SC"/>
                <a:cs typeface="Noto Sans SC"/>
                <a:sym typeface="Noto Sans SC"/>
              </a:rPr>
              <a:t>改进型的植被指数,旨在克服NDVI的一些局限性。</a:t>
            </a:r>
            <a:endParaRPr lang="en-US" sz="1100"/>
          </a:p>
        </p:txBody>
      </p:sp>
      <p:sp>
        <p:nvSpPr>
          <p:cNvPr id="10" name="AutoShape 10"/>
          <p:cNvSpPr/>
          <p:nvPr/>
        </p:nvSpPr>
        <p:spPr>
          <a:xfrm>
            <a:off x="381000" y="2438400"/>
            <a:ext cx="7112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方法要点</a:t>
            </a:r>
            <a:endParaRPr lang="en-US" sz="1100"/>
          </a:p>
        </p:txBody>
      </p:sp>
      <p:sp>
        <p:nvSpPr>
          <p:cNvPr id="11" name="AutoShape 11"/>
          <p:cNvSpPr/>
          <p:nvPr/>
        </p:nvSpPr>
        <p:spPr>
          <a:xfrm>
            <a:off x="381000" y="2819400"/>
            <a:ext cx="3454400" cy="11684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381000" y="2819400"/>
            <a:ext cx="50800" cy="1168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584200" y="2819400"/>
            <a:ext cx="31496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500" b="1" i="0" u="none" strike="noStrike">
                <a:solidFill>
                  <a:srgbClr val="1E3A8A"/>
                </a:solidFill>
                <a:latin typeface="Noto Sans SC"/>
                <a:ea typeface="Noto Sans SC"/>
                <a:cs typeface="Noto Sans SC"/>
                <a:sym typeface="Noto Sans SC"/>
              </a:rPr>
              <a:t>EVI</a:t>
            </a:r>
            <a:r>
              <a:rPr lang="en-US" sz="1200" b="0" i="0" u="none" strike="noStrike">
                <a:solidFill>
                  <a:srgbClr val="64748B"/>
                </a:solidFill>
                <a:latin typeface="Noto Sans SC"/>
                <a:ea typeface="Noto Sans SC"/>
                <a:cs typeface="Noto Sans SC"/>
                <a:sym typeface="Noto Sans SC"/>
              </a:rPr>
              <a:t>· 增强型植被指数</a:t>
            </a:r>
            <a:endParaRPr lang="en-US" sz="1100"/>
          </a:p>
        </p:txBody>
      </p:sp>
      <p:sp>
        <p:nvSpPr>
          <p:cNvPr id="14" name="AutoShape 14"/>
          <p:cNvSpPr/>
          <p:nvPr/>
        </p:nvSpPr>
        <p:spPr>
          <a:xfrm>
            <a:off x="584200" y="3175000"/>
            <a:ext cx="3149600" cy="736600"/>
          </a:xfrm>
          <a:prstGeom prst="rect">
            <a:avLst/>
          </a:prstGeom>
          <a:noFill/>
          <a:ln w="12700" cap="flat" cmpd="sng">
            <a:noFill/>
            <a:prstDash val="solid"/>
            <a:round/>
          </a:ln>
        </p:spPr>
        <p:txBody>
          <a:bodyPr vert="horz" wrap="square" lIns="0" tIns="0" rIns="0" bIns="0" rtlCol="0" anchor="t" anchorCtr="0"/>
          <a:lstStyle/>
          <a:p>
            <a:pPr marL="0" indent="0" algn="l">
              <a:lnSpc>
                <a:spcPct val="113000"/>
              </a:lnSpc>
              <a:defRPr/>
            </a:pPr>
            <a:r>
              <a:rPr lang="en-US" sz="1300" b="0" i="0" u="none" strike="noStrike">
                <a:solidFill>
                  <a:srgbClr val="475569"/>
                </a:solidFill>
                <a:latin typeface="Noto Sans SC"/>
                <a:ea typeface="Noto Sans SC"/>
                <a:cs typeface="Noto Sans SC"/>
                <a:sym typeface="Noto Sans SC"/>
              </a:rPr>
              <a:t>引入了蓝色波段来校正大气影响和土壤背景。</a:t>
            </a:r>
            <a:endParaRPr lang="en-US" sz="1100"/>
          </a:p>
        </p:txBody>
      </p:sp>
      <p:sp>
        <p:nvSpPr>
          <p:cNvPr id="15" name="AutoShape 15"/>
          <p:cNvSpPr/>
          <p:nvPr/>
        </p:nvSpPr>
        <p:spPr>
          <a:xfrm>
            <a:off x="4013200" y="2819400"/>
            <a:ext cx="3454400" cy="1168400"/>
          </a:xfrm>
          <a:prstGeom prst="roundRect">
            <a:avLst>
              <a:gd name="adj" fmla="val 0"/>
            </a:avLst>
          </a:prstGeom>
          <a:solidFill>
            <a:srgbClr val="10B981">
              <a:alpha val="8000"/>
            </a:srgbClr>
          </a:solidFill>
          <a:ln cap="flat" cmpd="sng">
            <a:solidFill>
              <a:srgbClr val="00A06B">
                <a:alpha val="8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4013200" y="2819400"/>
            <a:ext cx="50800" cy="1168400"/>
          </a:xfrm>
          <a:prstGeom prst="roundRect">
            <a:avLst>
              <a:gd name="adj" fmla="val 0"/>
            </a:avLst>
          </a:prstGeom>
          <a:solidFill>
            <a:srgbClr val="10B981">
              <a:alpha val="100000"/>
            </a:srgbClr>
          </a:solidFill>
          <a:ln cap="flat" cmpd="sng">
            <a:solidFill>
              <a:srgbClr val="00A06B">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4216400" y="2819400"/>
            <a:ext cx="31496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500" b="1" i="0" u="none" strike="noStrike">
                <a:solidFill>
                  <a:srgbClr val="10B981"/>
                </a:solidFill>
                <a:latin typeface="Noto Sans SC"/>
                <a:ea typeface="Noto Sans SC"/>
                <a:cs typeface="Noto Sans SC"/>
                <a:sym typeface="Noto Sans SC"/>
              </a:rPr>
              <a:t>SAVI</a:t>
            </a:r>
            <a:r>
              <a:rPr lang="en-US" sz="1200" b="0" i="0" u="none" strike="noStrike">
                <a:solidFill>
                  <a:srgbClr val="64748B"/>
                </a:solidFill>
                <a:latin typeface="Noto Sans SC"/>
                <a:ea typeface="Noto Sans SC"/>
                <a:cs typeface="Noto Sans SC"/>
                <a:sym typeface="Noto Sans SC"/>
              </a:rPr>
              <a:t>· 土壤调整植被指数</a:t>
            </a:r>
            <a:endParaRPr lang="en-US" sz="1100"/>
          </a:p>
        </p:txBody>
      </p:sp>
      <p:sp>
        <p:nvSpPr>
          <p:cNvPr id="18" name="AutoShape 18"/>
          <p:cNvSpPr/>
          <p:nvPr/>
        </p:nvSpPr>
        <p:spPr>
          <a:xfrm>
            <a:off x="4216400" y="3175000"/>
            <a:ext cx="3149600" cy="736600"/>
          </a:xfrm>
          <a:prstGeom prst="rect">
            <a:avLst/>
          </a:prstGeom>
          <a:noFill/>
          <a:ln w="12700" cap="flat" cmpd="sng">
            <a:noFill/>
            <a:prstDash val="solid"/>
            <a:round/>
          </a:ln>
        </p:spPr>
        <p:txBody>
          <a:bodyPr vert="horz" wrap="square" lIns="0" tIns="0" rIns="0" bIns="0" rtlCol="0" anchor="t" anchorCtr="0"/>
          <a:lstStyle/>
          <a:p>
            <a:pPr marL="0" indent="0" algn="l">
              <a:lnSpc>
                <a:spcPct val="113000"/>
              </a:lnSpc>
              <a:defRPr/>
            </a:pPr>
            <a:r>
              <a:rPr lang="en-US" sz="1300" b="0" i="0" u="none" strike="noStrike">
                <a:solidFill>
                  <a:srgbClr val="475569"/>
                </a:solidFill>
                <a:latin typeface="Noto Sans SC"/>
                <a:ea typeface="Noto Sans SC"/>
                <a:cs typeface="Noto Sans SC"/>
                <a:sym typeface="Noto Sans SC"/>
              </a:rPr>
              <a:t>引入了土壤调节因子L,减少土壤背景影响。</a:t>
            </a:r>
            <a:endParaRPr lang="en-US" sz="1100"/>
          </a:p>
        </p:txBody>
      </p:sp>
      <p:sp>
        <p:nvSpPr>
          <p:cNvPr id="19" name="AutoShape 19"/>
          <p:cNvSpPr/>
          <p:nvPr/>
        </p:nvSpPr>
        <p:spPr>
          <a:xfrm>
            <a:off x="381000" y="4089400"/>
            <a:ext cx="7112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适用场景</a:t>
            </a:r>
            <a:endParaRPr lang="en-US" sz="1100"/>
          </a:p>
        </p:txBody>
      </p:sp>
      <p:sp>
        <p:nvSpPr>
          <p:cNvPr id="20" name="AutoShape 20"/>
          <p:cNvSpPr/>
          <p:nvPr/>
        </p:nvSpPr>
        <p:spPr>
          <a:xfrm>
            <a:off x="381000" y="4470400"/>
            <a:ext cx="7112000" cy="736600"/>
          </a:xfrm>
          <a:prstGeom prst="roundRect">
            <a:avLst>
              <a:gd name="adj" fmla="val 0"/>
            </a:avLst>
          </a:prstGeom>
          <a:solidFill>
            <a:srgbClr val="F59E0B">
              <a:alpha val="6000"/>
            </a:srgbClr>
          </a:solidFill>
          <a:ln cap="flat" cmpd="sng">
            <a:solidFill>
              <a:srgbClr val="DC8A00">
                <a:alpha val="6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381000" y="4470400"/>
            <a:ext cx="50800" cy="736600"/>
          </a:xfrm>
          <a:prstGeom prst="roundRect">
            <a:avLst>
              <a:gd name="adj" fmla="val 0"/>
            </a:avLst>
          </a:prstGeom>
          <a:solidFill>
            <a:srgbClr val="F59E0B">
              <a:alpha val="100000"/>
            </a:srgbClr>
          </a:solidFill>
          <a:ln cap="flat" cmpd="sng">
            <a:solidFill>
              <a:srgbClr val="DC8A00">
                <a:alpha val="10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609600" y="4470400"/>
            <a:ext cx="6807200" cy="7366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0" i="0" u="none" strike="noStrike">
                <a:solidFill>
                  <a:srgbClr val="334155"/>
                </a:solidFill>
                <a:latin typeface="Noto Sans SC"/>
                <a:ea typeface="Noto Sans SC"/>
                <a:cs typeface="Noto Sans SC"/>
                <a:sym typeface="Noto Sans SC"/>
              </a:rPr>
              <a:t>植被茂密区、土壤背景影响较大的区域。</a:t>
            </a:r>
            <a:endParaRPr lang="en-US" sz="1100"/>
          </a:p>
        </p:txBody>
      </p:sp>
      <p:sp>
        <p:nvSpPr>
          <p:cNvPr id="23" name="AutoShape 23"/>
          <p:cNvSpPr/>
          <p:nvPr/>
        </p:nvSpPr>
        <p:spPr>
          <a:xfrm>
            <a:off x="7772400" y="1270000"/>
            <a:ext cx="4191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0B981"/>
                </a:solidFill>
                <a:latin typeface="Noto Sans SC"/>
                <a:ea typeface="Noto Sans SC"/>
                <a:cs typeface="Noto Sans SC"/>
                <a:sym typeface="Noto Sans SC"/>
              </a:rPr>
              <a:t>业务价值</a:t>
            </a:r>
            <a:endParaRPr lang="en-US" sz="1100"/>
          </a:p>
        </p:txBody>
      </p:sp>
      <p:sp>
        <p:nvSpPr>
          <p:cNvPr id="24" name="AutoShape 24"/>
          <p:cNvSpPr/>
          <p:nvPr/>
        </p:nvSpPr>
        <p:spPr>
          <a:xfrm>
            <a:off x="7772400" y="1651000"/>
            <a:ext cx="4191000" cy="1168400"/>
          </a:xfrm>
          <a:prstGeom prst="roundRect">
            <a:avLst>
              <a:gd name="adj" fmla="val 0"/>
            </a:avLst>
          </a:prstGeom>
          <a:solidFill>
            <a:srgbClr val="10B981">
              <a:alpha val="9000"/>
            </a:srgbClr>
          </a:solidFill>
          <a:ln cap="flat" cmpd="sng">
            <a:solidFill>
              <a:srgbClr val="00A06B">
                <a:alpha val="9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7772400" y="1651000"/>
            <a:ext cx="50800" cy="1168400"/>
          </a:xfrm>
          <a:prstGeom prst="roundRect">
            <a:avLst>
              <a:gd name="adj" fmla="val 0"/>
            </a:avLst>
          </a:prstGeom>
          <a:solidFill>
            <a:srgbClr val="10B981">
              <a:alpha val="100000"/>
            </a:srgbClr>
          </a:solidFill>
          <a:ln cap="flat" cmpd="sng">
            <a:solidFill>
              <a:srgbClr val="00A06B">
                <a:alpha val="100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7975600" y="1651000"/>
            <a:ext cx="3860800" cy="11684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0" i="0" u="none" strike="noStrike">
                <a:solidFill>
                  <a:srgbClr val="334155"/>
                </a:solidFill>
                <a:latin typeface="Noto Sans SC"/>
                <a:ea typeface="Noto Sans SC"/>
                <a:cs typeface="Noto Sans SC"/>
                <a:sym typeface="Noto Sans SC"/>
              </a:rPr>
              <a:t>在特定场景下,</a:t>
            </a:r>
            <a:r>
              <a:rPr lang="en-US" sz="1500" b="1" i="0" u="none" strike="noStrike">
                <a:solidFill>
                  <a:srgbClr val="10B981"/>
                </a:solidFill>
                <a:latin typeface="Noto Sans SC"/>
                <a:ea typeface="Noto Sans SC"/>
                <a:cs typeface="Noto Sans SC"/>
                <a:sym typeface="Noto Sans SC"/>
              </a:rPr>
              <a:t>比NDVI更准确</a:t>
            </a:r>
            <a:r>
              <a:rPr lang="en-US" sz="1500" b="0" i="0" u="none" strike="noStrike">
                <a:solidFill>
                  <a:srgbClr val="334155"/>
                </a:solidFill>
                <a:latin typeface="Noto Sans SC"/>
                <a:ea typeface="Noto Sans SC"/>
                <a:cs typeface="Noto Sans SC"/>
                <a:sym typeface="Noto Sans SC"/>
              </a:rPr>
              <a:t>。</a:t>
            </a:r>
            <a:endParaRPr lang="en-US" sz="1100"/>
          </a:p>
        </p:txBody>
      </p:sp>
      <p:sp>
        <p:nvSpPr>
          <p:cNvPr id="27" name="AutoShape 27"/>
          <p:cNvSpPr/>
          <p:nvPr/>
        </p:nvSpPr>
        <p:spPr>
          <a:xfrm>
            <a:off x="7772400" y="2946400"/>
            <a:ext cx="4191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F59E0B"/>
                </a:solidFill>
                <a:latin typeface="Noto Sans SC"/>
                <a:ea typeface="Noto Sans SC"/>
                <a:cs typeface="Noto Sans SC"/>
                <a:sym typeface="Noto Sans SC"/>
              </a:rPr>
              <a:t>缺失影响</a:t>
            </a:r>
            <a:endParaRPr lang="en-US" sz="1100"/>
          </a:p>
        </p:txBody>
      </p:sp>
      <p:sp>
        <p:nvSpPr>
          <p:cNvPr id="28" name="AutoShape 28"/>
          <p:cNvSpPr/>
          <p:nvPr/>
        </p:nvSpPr>
        <p:spPr>
          <a:xfrm>
            <a:off x="7772400" y="3327400"/>
            <a:ext cx="4191000" cy="1168400"/>
          </a:xfrm>
          <a:prstGeom prst="roundRect">
            <a:avLst>
              <a:gd name="adj" fmla="val 0"/>
            </a:avLst>
          </a:prstGeom>
          <a:solidFill>
            <a:srgbClr val="F59E0B">
              <a:alpha val="8000"/>
            </a:srgbClr>
          </a:solidFill>
          <a:ln cap="flat" cmpd="sng">
            <a:solidFill>
              <a:srgbClr val="DC8A00">
                <a:alpha val="8000"/>
              </a:srgbClr>
            </a:solidFill>
            <a:prstDash val="solid"/>
            <a:round/>
          </a:ln>
        </p:spPr>
        <p:txBody>
          <a:bodyPr vert="horz" wrap="square" lIns="63500" tIns="63500" rIns="63500" bIns="63500" rtlCol="0" anchor="ctr"/>
          <a:lstStyle/>
          <a:p>
            <a:pPr algn="ctr">
              <a:defRPr/>
            </a:pPr>
          </a:p>
        </p:txBody>
      </p:sp>
      <p:sp>
        <p:nvSpPr>
          <p:cNvPr id="29" name="AutoShape 29"/>
          <p:cNvSpPr/>
          <p:nvPr/>
        </p:nvSpPr>
        <p:spPr>
          <a:xfrm>
            <a:off x="7772400" y="3327400"/>
            <a:ext cx="50800" cy="1168400"/>
          </a:xfrm>
          <a:prstGeom prst="roundRect">
            <a:avLst>
              <a:gd name="adj" fmla="val 0"/>
            </a:avLst>
          </a:prstGeom>
          <a:solidFill>
            <a:srgbClr val="F59E0B">
              <a:alpha val="100000"/>
            </a:srgbClr>
          </a:solidFill>
          <a:ln cap="flat" cmpd="sng">
            <a:solidFill>
              <a:srgbClr val="DC8A00">
                <a:alpha val="100000"/>
              </a:srgbClr>
            </a:solidFill>
            <a:prstDash val="solid"/>
            <a:round/>
          </a:ln>
        </p:spPr>
        <p:txBody>
          <a:bodyPr vert="horz" wrap="square" lIns="63500" tIns="63500" rIns="63500" bIns="63500" rtlCol="0" anchor="ctr"/>
          <a:lstStyle/>
          <a:p>
            <a:pPr algn="ctr">
              <a:defRPr/>
            </a:pPr>
          </a:p>
        </p:txBody>
      </p:sp>
      <p:sp>
        <p:nvSpPr>
          <p:cNvPr id="30" name="AutoShape 30"/>
          <p:cNvSpPr/>
          <p:nvPr/>
        </p:nvSpPr>
        <p:spPr>
          <a:xfrm>
            <a:off x="7975600" y="3327400"/>
            <a:ext cx="3860800" cy="11684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75569"/>
                </a:solidFill>
                <a:latin typeface="Noto Sans SC"/>
                <a:ea typeface="Noto Sans SC"/>
                <a:cs typeface="Noto Sans SC"/>
                <a:sym typeface="Noto Sans SC"/>
              </a:rPr>
              <a:t>在植被茂密或土壤背景影响大的区域,</a:t>
            </a:r>
            <a:r>
              <a:rPr lang="en-US" sz="1400" b="1" i="0" u="none" strike="noStrike">
                <a:solidFill>
                  <a:srgbClr val="F59E0B"/>
                </a:solidFill>
                <a:latin typeface="Noto Sans SC"/>
                <a:ea typeface="Noto Sans SC"/>
                <a:cs typeface="Noto Sans SC"/>
                <a:sym typeface="Noto Sans SC"/>
              </a:rPr>
              <a:t>NDVI的精度会下降</a:t>
            </a:r>
            <a:r>
              <a:rPr lang="en-US" sz="1400" b="0" i="0" u="none" strike="noStrike">
                <a:solidFill>
                  <a:srgbClr val="475569"/>
                </a:solidFill>
                <a:latin typeface="Noto Sans SC"/>
                <a:ea typeface="Noto Sans SC"/>
                <a:cs typeface="Noto Sans SC"/>
                <a:sym typeface="Noto Sans SC"/>
              </a:rPr>
              <a:t>。</a:t>
            </a:r>
            <a:endParaRPr lang="en-US" sz="1100"/>
          </a:p>
        </p:txBody>
      </p:sp>
      <p:cxnSp>
        <p:nvCxnSpPr>
          <p:cNvPr id="31" name="Connector 31"/>
          <p:cNvCxnSpPr/>
          <p:nvPr/>
        </p:nvCxnSpPr>
        <p:spPr>
          <a:xfrm rot="-3819">
            <a:off x="381004" y="5391150"/>
            <a:ext cx="11430000" cy="12700"/>
          </a:xfrm>
          <a:prstGeom prst="straightConnector1">
            <a:avLst/>
          </a:prstGeom>
          <a:solidFill>
            <a:srgbClr val="DEE0E3">
              <a:alpha val="100000"/>
            </a:srgbClr>
          </a:solidFill>
          <a:ln w="12700" cap="flat" cmpd="sng">
            <a:solidFill>
              <a:srgbClr val="94A3B8">
                <a:alpha val="35000"/>
              </a:srgbClr>
            </a:solidFill>
            <a:prstDash val="solid"/>
            <a:round/>
            <a:headEnd type="none" w="med" len="med"/>
            <a:tailEnd type="none" w="med" len="med"/>
          </a:ln>
        </p:spPr>
      </p:cxnSp>
      <p:sp>
        <p:nvSpPr>
          <p:cNvPr id="32" name="AutoShape 32"/>
          <p:cNvSpPr/>
          <p:nvPr/>
        </p:nvSpPr>
        <p:spPr>
          <a:xfrm>
            <a:off x="381000" y="5486400"/>
            <a:ext cx="6350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300" b="1" i="0" u="none" strike="noStrike">
                <a:solidFill>
                  <a:srgbClr val="1E3A8A"/>
                </a:solidFill>
                <a:latin typeface="Noto Sans SC"/>
                <a:ea typeface="Noto Sans SC"/>
                <a:cs typeface="Noto Sans SC"/>
                <a:sym typeface="Noto Sans SC"/>
              </a:rPr>
              <a:t>流程位置与关联</a:t>
            </a:r>
            <a:endParaRPr lang="en-US" sz="1100"/>
          </a:p>
        </p:txBody>
      </p:sp>
      <p:sp>
        <p:nvSpPr>
          <p:cNvPr id="33" name="AutoShape 33"/>
          <p:cNvSpPr/>
          <p:nvPr/>
        </p:nvSpPr>
        <p:spPr>
          <a:xfrm>
            <a:off x="381000" y="5842000"/>
            <a:ext cx="6731000" cy="533400"/>
          </a:xfrm>
          <a:prstGeom prst="rect">
            <a:avLst/>
          </a:prstGeom>
          <a:noFill/>
          <a:ln w="12700" cap="flat" cmpd="sng">
            <a:noFill/>
            <a:prstDash val="solid"/>
            <a:round/>
          </a:ln>
        </p:spPr>
        <p:txBody>
          <a:bodyPr vert="horz" wrap="square" lIns="0" tIns="0" rIns="0" bIns="0" rtlCol="0" anchor="t" anchorCtr="0"/>
          <a:lstStyle/>
          <a:p>
            <a:pPr marL="0" indent="0" algn="l">
              <a:lnSpc>
                <a:spcPct val="113000"/>
              </a:lnSpc>
              <a:defRPr/>
            </a:pPr>
            <a:r>
              <a:rPr lang="en-US" sz="1200" b="0" i="0" u="none" strike="noStrike">
                <a:solidFill>
                  <a:srgbClr val="64748B"/>
                </a:solidFill>
                <a:latin typeface="Noto Sans SC"/>
                <a:ea typeface="Noto Sans SC"/>
                <a:cs typeface="Noto Sans SC"/>
                <a:sym typeface="Noto Sans SC"/>
              </a:rPr>
              <a:t>环节:L3指数与反演 ｜ 关联:</a:t>
            </a:r>
            <a:r>
              <a:rPr lang="en-US" sz="1200" b="1" i="0" u="none" strike="noStrike">
                <a:solidFill>
                  <a:srgbClr val="1E3A8A"/>
                </a:solidFill>
                <a:latin typeface="Noto Sans SC"/>
                <a:ea typeface="Noto Sans SC"/>
                <a:cs typeface="Noto Sans SC"/>
                <a:sym typeface="Noto Sans SC"/>
              </a:rPr>
              <a:t>#27 NDVI</a:t>
            </a:r>
            <a:r>
              <a:rPr lang="en-US" sz="1200" b="0" i="0" u="none" strike="noStrike">
                <a:solidFill>
                  <a:srgbClr val="64748B"/>
                </a:solidFill>
                <a:latin typeface="Noto Sans SC"/>
                <a:ea typeface="Noto Sans SC"/>
                <a:cs typeface="Noto Sans SC"/>
                <a:sym typeface="Noto Sans SC"/>
              </a:rPr>
              <a:t>,</a:t>
            </a:r>
            <a:r>
              <a:rPr lang="en-US" sz="1200" b="1" i="0" u="none" strike="noStrike">
                <a:solidFill>
                  <a:srgbClr val="1E3A8A"/>
                </a:solidFill>
                <a:latin typeface="Noto Sans SC"/>
                <a:ea typeface="Noto Sans SC"/>
                <a:cs typeface="Noto Sans SC"/>
                <a:sym typeface="Noto Sans SC"/>
              </a:rPr>
              <a:t>#45 告警</a:t>
            </a:r>
            <a:endParaRPr lang="en-US" sz="1100"/>
          </a:p>
        </p:txBody>
      </p:sp>
      <p:sp>
        <p:nvSpPr>
          <p:cNvPr id="34" name="AutoShape 34"/>
          <p:cNvSpPr/>
          <p:nvPr/>
        </p:nvSpPr>
        <p:spPr>
          <a:xfrm>
            <a:off x="7493000" y="5486400"/>
            <a:ext cx="4381500" cy="914400"/>
          </a:xfrm>
          <a:prstGeom prst="roundRect">
            <a:avLst>
              <a:gd name="adj" fmla="val 0"/>
            </a:avLst>
          </a:prstGeom>
          <a:gradFill rotWithShape="1">
            <a:gsLst>
              <a:gs pos="0">
                <a:srgbClr val="1E3A8A">
                  <a:alpha val="100000"/>
                </a:srgbClr>
              </a:gs>
              <a:gs pos="100000">
                <a:srgbClr val="3B59AC">
                  <a:alpha val="100000"/>
                </a:srgbClr>
              </a:gs>
            </a:gsLst>
            <a:lin ang="0"/>
          </a:gradFill>
          <a:ln cap="flat" cmpd="sng">
            <a:gradFill rotWithShape="1">
              <a:gsLst>
                <a:gs pos="0">
                  <a:srgbClr val="0D2771">
                    <a:alpha val="100000"/>
                  </a:srgbClr>
                </a:gs>
                <a:gs pos="100000">
                  <a:srgbClr val="244193">
                    <a:alpha val="100000"/>
                  </a:srgbClr>
                </a:gs>
              </a:gsLst>
              <a:lin ang="0"/>
            </a:gradFill>
            <a:prstDash val="solid"/>
            <a:round/>
          </a:ln>
        </p:spPr>
        <p:txBody>
          <a:bodyPr vert="horz" wrap="square" lIns="63500" tIns="63500" rIns="63500" bIns="63500" rtlCol="0" anchor="ctr"/>
          <a:lstStyle/>
          <a:p>
            <a:pPr algn="ctr">
              <a:defRPr/>
            </a:pPr>
          </a:p>
        </p:txBody>
      </p:sp>
      <p:sp>
        <p:nvSpPr>
          <p:cNvPr id="35" name="AutoShape 35"/>
          <p:cNvSpPr/>
          <p:nvPr/>
        </p:nvSpPr>
        <p:spPr>
          <a:xfrm>
            <a:off x="7645400" y="5524500"/>
            <a:ext cx="41275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100" b="1" i="0" u="none" strike="noStrike">
                <a:solidFill>
                  <a:srgbClr val="FFFFFF">
                    <a:alpha val="70196"/>
                  </a:srgbClr>
                </a:solidFill>
                <a:latin typeface="Inter"/>
                <a:ea typeface="Inter"/>
                <a:cs typeface="Inter"/>
                <a:sym typeface="Inter"/>
              </a:rPr>
              <a:t>[API]</a:t>
            </a:r>
            <a:endParaRPr lang="en-US" sz="1100"/>
          </a:p>
        </p:txBody>
      </p:sp>
      <p:sp>
        <p:nvSpPr>
          <p:cNvPr id="36" name="AutoShape 36"/>
          <p:cNvSpPr/>
          <p:nvPr/>
        </p:nvSpPr>
        <p:spPr>
          <a:xfrm>
            <a:off x="7645400" y="5816600"/>
            <a:ext cx="4127500" cy="4826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500" b="1" i="0" u="none" strike="noStrike">
                <a:solidFill>
                  <a:srgbClr val="FFFFFF"/>
                </a:solidFill>
                <a:latin typeface="Inter"/>
                <a:ea typeface="Inter"/>
                <a:cs typeface="Inter"/>
                <a:sym typeface="Inter"/>
              </a:rPr>
              <a:t>/api/v1/29_evi_savi/run</a:t>
            </a:r>
            <a:endParaRPr lang="en-US" sz="11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35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spc="100">
                <a:solidFill>
                  <a:srgbClr val="1E3A8A"/>
                </a:solidFill>
                <a:latin typeface="Noto Sans SC"/>
                <a:ea typeface="Noto Sans SC"/>
                <a:cs typeface="Noto Sans SC"/>
                <a:sym typeface="Noto Sans SC"/>
              </a:rPr>
              <a:t>30.NDMI/NDWI(水分指数)</a:t>
            </a:r>
            <a:endParaRPr lang="en-US" sz="1100"/>
          </a:p>
        </p:txBody>
      </p:sp>
      <p:sp>
        <p:nvSpPr>
          <p:cNvPr id="3" name="AutoShape 3"/>
          <p:cNvSpPr/>
          <p:nvPr/>
        </p:nvSpPr>
        <p:spPr>
          <a:xfrm>
            <a:off x="508000" y="1041400"/>
            <a:ext cx="111760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0" i="0" u="none" strike="noStrike">
                <a:solidFill>
                  <a:srgbClr val="64748B"/>
                </a:solidFill>
                <a:latin typeface="Noto Sans SC"/>
                <a:ea typeface="Noto Sans SC"/>
                <a:cs typeface="Noto Sans SC"/>
                <a:sym typeface="Noto Sans SC"/>
              </a:rPr>
              <a:t>所属层级:L3 ｜ 编号#30 ｜ 辅导材料:算法清单与API</a:t>
            </a:r>
            <a:endParaRPr lang="en-US" sz="1100"/>
          </a:p>
        </p:txBody>
      </p:sp>
      <p:cxnSp>
        <p:nvCxnSpPr>
          <p:cNvPr id="4" name="Connector 4"/>
          <p:cNvCxnSpPr/>
          <p:nvPr/>
        </p:nvCxnSpPr>
        <p:spPr>
          <a:xfrm rot="-3906">
            <a:off x="508004" y="1454150"/>
            <a:ext cx="111760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5" name="AutoShape 5"/>
          <p:cNvSpPr/>
          <p:nvPr/>
        </p:nvSpPr>
        <p:spPr>
          <a:xfrm>
            <a:off x="508000" y="1549400"/>
            <a:ext cx="5969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功能定义</a:t>
            </a:r>
            <a:endParaRPr lang="en-US" sz="1100"/>
          </a:p>
        </p:txBody>
      </p:sp>
      <p:sp>
        <p:nvSpPr>
          <p:cNvPr id="6" name="AutoShape 6"/>
          <p:cNvSpPr/>
          <p:nvPr/>
        </p:nvSpPr>
        <p:spPr>
          <a:xfrm>
            <a:off x="508000" y="1930400"/>
            <a:ext cx="5969000" cy="660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500" b="0" i="0" u="none" strike="noStrike">
                <a:solidFill>
                  <a:srgbClr val="334155"/>
                </a:solidFill>
                <a:latin typeface="Noto Sans SC"/>
                <a:ea typeface="Noto Sans SC"/>
                <a:cs typeface="Noto Sans SC"/>
                <a:sym typeface="Noto Sans SC"/>
              </a:rPr>
              <a:t>估算植被冠层的水分含量或提取水体。</a:t>
            </a:r>
            <a:endParaRPr lang="en-US" sz="1100"/>
          </a:p>
        </p:txBody>
      </p:sp>
      <p:sp>
        <p:nvSpPr>
          <p:cNvPr id="7" name="AutoShape 7"/>
          <p:cNvSpPr/>
          <p:nvPr/>
        </p:nvSpPr>
        <p:spPr>
          <a:xfrm>
            <a:off x="508000" y="2667000"/>
            <a:ext cx="5969000" cy="11684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508000" y="2667000"/>
            <a:ext cx="50800" cy="1168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762000" y="2667000"/>
            <a:ext cx="5588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600" b="1" i="0" u="none" strike="noStrike">
                <a:solidFill>
                  <a:srgbClr val="1E3A8A"/>
                </a:solidFill>
                <a:latin typeface="Noto Sans SC"/>
                <a:ea typeface="Noto Sans SC"/>
                <a:cs typeface="Noto Sans SC"/>
                <a:sym typeface="Noto Sans SC"/>
              </a:rPr>
              <a:t>NDMI</a:t>
            </a:r>
            <a:r>
              <a:rPr lang="en-US" sz="1300" b="0" i="0" u="none" strike="noStrike">
                <a:solidFill>
                  <a:srgbClr val="475569"/>
                </a:solidFill>
                <a:latin typeface="Noto Sans SC"/>
                <a:ea typeface="Noto Sans SC"/>
                <a:cs typeface="Noto Sans SC"/>
                <a:sym typeface="Noto Sans SC"/>
              </a:rPr>
              <a:t>· 归一化差值水分指数</a:t>
            </a:r>
            <a:endParaRPr lang="en-US" sz="1100"/>
          </a:p>
        </p:txBody>
      </p:sp>
      <p:sp>
        <p:nvSpPr>
          <p:cNvPr id="10" name="AutoShape 10"/>
          <p:cNvSpPr/>
          <p:nvPr/>
        </p:nvSpPr>
        <p:spPr>
          <a:xfrm>
            <a:off x="762000" y="3048000"/>
            <a:ext cx="5588000" cy="533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2000" b="1" i="0" u="none" strike="noStrike">
                <a:solidFill>
                  <a:srgbClr val="1E293B"/>
                </a:solidFill>
                <a:latin typeface="Noto Sans SC"/>
                <a:ea typeface="Noto Sans SC"/>
                <a:cs typeface="Noto Sans SC"/>
                <a:sym typeface="Noto Sans SC"/>
              </a:rPr>
              <a:t>(NIR - SWIR) / (NIR + SWIR)</a:t>
            </a:r>
            <a:endParaRPr lang="en-US" sz="1100"/>
          </a:p>
        </p:txBody>
      </p:sp>
      <p:sp>
        <p:nvSpPr>
          <p:cNvPr id="11" name="AutoShape 11"/>
          <p:cNvSpPr/>
          <p:nvPr/>
        </p:nvSpPr>
        <p:spPr>
          <a:xfrm>
            <a:off x="508000" y="3937000"/>
            <a:ext cx="5969000" cy="1168400"/>
          </a:xfrm>
          <a:prstGeom prst="roundRect">
            <a:avLst>
              <a:gd name="adj" fmla="val 0"/>
            </a:avLst>
          </a:prstGeom>
          <a:solidFill>
            <a:srgbClr val="10B981">
              <a:alpha val="8000"/>
            </a:srgbClr>
          </a:solidFill>
          <a:ln cap="flat" cmpd="sng">
            <a:solidFill>
              <a:srgbClr val="00A06B">
                <a:alpha val="8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508000" y="3937000"/>
            <a:ext cx="50800" cy="1168400"/>
          </a:xfrm>
          <a:prstGeom prst="roundRect">
            <a:avLst>
              <a:gd name="adj" fmla="val 0"/>
            </a:avLst>
          </a:prstGeom>
          <a:solidFill>
            <a:srgbClr val="10B981">
              <a:alpha val="100000"/>
            </a:srgbClr>
          </a:solidFill>
          <a:ln cap="flat" cmpd="sng">
            <a:solidFill>
              <a:srgbClr val="00A06B">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762000" y="3937000"/>
            <a:ext cx="5588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600" b="1" i="0" u="none" strike="noStrike">
                <a:solidFill>
                  <a:srgbClr val="10B981"/>
                </a:solidFill>
                <a:latin typeface="Noto Sans SC"/>
                <a:ea typeface="Noto Sans SC"/>
                <a:cs typeface="Noto Sans SC"/>
                <a:sym typeface="Noto Sans SC"/>
              </a:rPr>
              <a:t>NDWI</a:t>
            </a:r>
            <a:r>
              <a:rPr lang="en-US" sz="1300" b="0" i="0" u="none" strike="noStrike">
                <a:solidFill>
                  <a:srgbClr val="475569"/>
                </a:solidFill>
                <a:latin typeface="Noto Sans SC"/>
                <a:ea typeface="Noto Sans SC"/>
                <a:cs typeface="Noto Sans SC"/>
                <a:sym typeface="Noto Sans SC"/>
              </a:rPr>
              <a:t>· 归一化差值水体指数</a:t>
            </a:r>
            <a:endParaRPr lang="en-US" sz="1100"/>
          </a:p>
        </p:txBody>
      </p:sp>
      <p:sp>
        <p:nvSpPr>
          <p:cNvPr id="14" name="AutoShape 14"/>
          <p:cNvSpPr/>
          <p:nvPr/>
        </p:nvSpPr>
        <p:spPr>
          <a:xfrm>
            <a:off x="762000" y="4318000"/>
            <a:ext cx="5588000" cy="533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2000" b="1" i="0" u="none" strike="noStrike">
                <a:solidFill>
                  <a:srgbClr val="1E293B"/>
                </a:solidFill>
                <a:latin typeface="Noto Sans SC"/>
                <a:ea typeface="Noto Sans SC"/>
                <a:cs typeface="Noto Sans SC"/>
                <a:sym typeface="Noto Sans SC"/>
              </a:rPr>
              <a:t>(Green - NIR) / (Green + NIR)</a:t>
            </a:r>
            <a:endParaRPr lang="en-US" sz="1100"/>
          </a:p>
        </p:txBody>
      </p:sp>
      <p:sp>
        <p:nvSpPr>
          <p:cNvPr id="15" name="AutoShape 15"/>
          <p:cNvSpPr/>
          <p:nvPr/>
        </p:nvSpPr>
        <p:spPr>
          <a:xfrm>
            <a:off x="6731000" y="1549400"/>
            <a:ext cx="4953000" cy="1143000"/>
          </a:xfrm>
          <a:prstGeom prst="roundRect">
            <a:avLst>
              <a:gd name="adj" fmla="val 0"/>
            </a:avLst>
          </a:prstGeom>
          <a:solidFill>
            <a:srgbClr val="FFFFFF">
              <a:alpha val="70000"/>
            </a:srgbClr>
          </a:solidFill>
          <a:ln cap="flat" cmpd="sng">
            <a:solidFill>
              <a:srgbClr val="E6CFCF">
                <a:alpha val="7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6731000" y="1549400"/>
            <a:ext cx="50800" cy="1143000"/>
          </a:xfrm>
          <a:prstGeom prst="roundRect">
            <a:avLst>
              <a:gd name="adj" fmla="val 0"/>
            </a:avLst>
          </a:prstGeom>
          <a:solidFill>
            <a:srgbClr val="3B82F6">
              <a:alpha val="100000"/>
            </a:srgbClr>
          </a:solidFill>
          <a:ln cap="flat" cmpd="sng">
            <a:solidFill>
              <a:srgbClr val="1F67DD">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6985000" y="1549400"/>
            <a:ext cx="457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600" b="1" i="0" u="none" strike="noStrike">
                <a:solidFill>
                  <a:srgbClr val="3B82F6"/>
                </a:solidFill>
                <a:latin typeface="Noto Sans SC"/>
                <a:ea typeface="Noto Sans SC"/>
                <a:cs typeface="Noto Sans SC"/>
                <a:sym typeface="Noto Sans SC"/>
              </a:rPr>
              <a:t>适用场景</a:t>
            </a:r>
            <a:endParaRPr lang="en-US" sz="1100"/>
          </a:p>
        </p:txBody>
      </p:sp>
      <p:sp>
        <p:nvSpPr>
          <p:cNvPr id="18" name="AutoShape 18"/>
          <p:cNvSpPr/>
          <p:nvPr/>
        </p:nvSpPr>
        <p:spPr>
          <a:xfrm>
            <a:off x="6985000" y="1905000"/>
            <a:ext cx="4572000" cy="6604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400" b="0" i="0" u="none" strike="noStrike">
                <a:solidFill>
                  <a:srgbClr val="334155"/>
                </a:solidFill>
                <a:latin typeface="Noto Sans SC"/>
                <a:ea typeface="Noto Sans SC"/>
                <a:cs typeface="Noto Sans SC"/>
                <a:sym typeface="Noto Sans SC"/>
              </a:rPr>
              <a:t>干旱监测、灌溉决策、湿地与农田积水识别。</a:t>
            </a:r>
            <a:endParaRPr lang="en-US" sz="1100"/>
          </a:p>
        </p:txBody>
      </p:sp>
      <p:sp>
        <p:nvSpPr>
          <p:cNvPr id="19" name="AutoShape 19"/>
          <p:cNvSpPr/>
          <p:nvPr/>
        </p:nvSpPr>
        <p:spPr>
          <a:xfrm>
            <a:off x="6731000" y="2794000"/>
            <a:ext cx="4953000" cy="1143000"/>
          </a:xfrm>
          <a:prstGeom prst="roundRect">
            <a:avLst>
              <a:gd name="adj" fmla="val 0"/>
            </a:avLst>
          </a:prstGeom>
          <a:solidFill>
            <a:srgbClr val="FFFFFF">
              <a:alpha val="70000"/>
            </a:srgbClr>
          </a:solidFill>
          <a:ln cap="flat" cmpd="sng">
            <a:solidFill>
              <a:srgbClr val="E6CFCF">
                <a:alpha val="7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6731000" y="2794000"/>
            <a:ext cx="50800" cy="1143000"/>
          </a:xfrm>
          <a:prstGeom prst="roundRect">
            <a:avLst>
              <a:gd name="adj" fmla="val 0"/>
            </a:avLst>
          </a:prstGeom>
          <a:solidFill>
            <a:srgbClr val="10B981">
              <a:alpha val="100000"/>
            </a:srgbClr>
          </a:solidFill>
          <a:ln cap="flat" cmpd="sng">
            <a:solidFill>
              <a:srgbClr val="00A06B">
                <a:alpha val="10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6985000" y="2794000"/>
            <a:ext cx="457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600" b="1" i="0" u="none" strike="noStrike">
                <a:solidFill>
                  <a:srgbClr val="10B981"/>
                </a:solidFill>
                <a:latin typeface="Noto Sans SC"/>
                <a:ea typeface="Noto Sans SC"/>
                <a:cs typeface="Noto Sans SC"/>
                <a:sym typeface="Noto Sans SC"/>
              </a:rPr>
              <a:t>业务价值</a:t>
            </a:r>
            <a:endParaRPr lang="en-US" sz="1100"/>
          </a:p>
        </p:txBody>
      </p:sp>
      <p:sp>
        <p:nvSpPr>
          <p:cNvPr id="22" name="AutoShape 22"/>
          <p:cNvSpPr/>
          <p:nvPr/>
        </p:nvSpPr>
        <p:spPr>
          <a:xfrm>
            <a:off x="6985000" y="3149600"/>
            <a:ext cx="4572000" cy="6604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400" b="0" i="0" u="none" strike="noStrike">
                <a:solidFill>
                  <a:srgbClr val="334155"/>
                </a:solidFill>
                <a:latin typeface="Noto Sans SC"/>
                <a:ea typeface="Noto Sans SC"/>
                <a:cs typeface="Noto Sans SC"/>
                <a:sym typeface="Noto Sans SC"/>
              </a:rPr>
              <a:t>及时发现作物水分胁迫,为精准灌溉提供依据。</a:t>
            </a:r>
            <a:endParaRPr lang="en-US" sz="1100"/>
          </a:p>
        </p:txBody>
      </p:sp>
      <p:sp>
        <p:nvSpPr>
          <p:cNvPr id="23" name="AutoShape 23"/>
          <p:cNvSpPr/>
          <p:nvPr/>
        </p:nvSpPr>
        <p:spPr>
          <a:xfrm>
            <a:off x="6731000" y="4038600"/>
            <a:ext cx="4953000" cy="1143000"/>
          </a:xfrm>
          <a:prstGeom prst="roundRect">
            <a:avLst>
              <a:gd name="adj" fmla="val 0"/>
            </a:avLst>
          </a:prstGeom>
          <a:solidFill>
            <a:srgbClr val="FFFFFF">
              <a:alpha val="70000"/>
            </a:srgbClr>
          </a:solidFill>
          <a:ln cap="flat" cmpd="sng">
            <a:solidFill>
              <a:srgbClr val="E6CFCF">
                <a:alpha val="70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6731000" y="4038600"/>
            <a:ext cx="50800" cy="1143000"/>
          </a:xfrm>
          <a:prstGeom prst="roundRect">
            <a:avLst>
              <a:gd name="adj" fmla="val 0"/>
            </a:avLst>
          </a:prstGeom>
          <a:solidFill>
            <a:srgbClr val="F59E0B">
              <a:alpha val="100000"/>
            </a:srgbClr>
          </a:solidFill>
          <a:ln cap="flat" cmpd="sng">
            <a:solidFill>
              <a:srgbClr val="DC8A00">
                <a:alpha val="100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6985000" y="4038600"/>
            <a:ext cx="457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600" b="1" i="0" u="none" strike="noStrike">
                <a:solidFill>
                  <a:srgbClr val="F59E0B"/>
                </a:solidFill>
                <a:latin typeface="Noto Sans SC"/>
                <a:ea typeface="Noto Sans SC"/>
                <a:cs typeface="Noto Sans SC"/>
                <a:sym typeface="Noto Sans SC"/>
              </a:rPr>
              <a:t>缺失影响</a:t>
            </a:r>
            <a:endParaRPr lang="en-US" sz="1100"/>
          </a:p>
        </p:txBody>
      </p:sp>
      <p:sp>
        <p:nvSpPr>
          <p:cNvPr id="26" name="AutoShape 26"/>
          <p:cNvSpPr/>
          <p:nvPr/>
        </p:nvSpPr>
        <p:spPr>
          <a:xfrm>
            <a:off x="6985000" y="4394200"/>
            <a:ext cx="4572000" cy="6604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400" b="0" i="0" u="none" strike="noStrike">
                <a:solidFill>
                  <a:srgbClr val="334155"/>
                </a:solidFill>
                <a:latin typeface="Noto Sans SC"/>
                <a:ea typeface="Noto Sans SC"/>
                <a:cs typeface="Noto Sans SC"/>
                <a:sym typeface="Noto Sans SC"/>
              </a:rPr>
              <a:t>无法快速评估作物水分状况或识别水体。</a:t>
            </a:r>
            <a:endParaRPr lang="en-US" sz="1100"/>
          </a:p>
        </p:txBody>
      </p:sp>
      <p:sp>
        <p:nvSpPr>
          <p:cNvPr id="27" name="AutoShape 27"/>
          <p:cNvSpPr/>
          <p:nvPr/>
        </p:nvSpPr>
        <p:spPr>
          <a:xfrm>
            <a:off x="508000" y="5334000"/>
            <a:ext cx="11176000" cy="1041400"/>
          </a:xfrm>
          <a:prstGeom prst="roundRect">
            <a:avLst>
              <a:gd name="adj" fmla="val 0"/>
            </a:avLst>
          </a:prstGeom>
          <a:gradFill rotWithShape="1">
            <a:gsLst>
              <a:gs pos="0">
                <a:srgbClr val="1E3A8A">
                  <a:alpha val="100000"/>
                </a:srgbClr>
              </a:gs>
              <a:gs pos="100000">
                <a:srgbClr val="3359AF">
                  <a:alpha val="100000"/>
                </a:srgbClr>
              </a:gs>
            </a:gsLst>
            <a:lin ang="0"/>
          </a:gradFill>
          <a:ln cap="flat" cmpd="sng">
            <a:gradFill rotWithShape="1">
              <a:gsLst>
                <a:gs pos="0">
                  <a:srgbClr val="0D2771">
                    <a:alpha val="100000"/>
                  </a:srgbClr>
                </a:gs>
                <a:gs pos="100000">
                  <a:srgbClr val="1D4296">
                    <a:alpha val="100000"/>
                  </a:srgbClr>
                </a:gs>
              </a:gsLst>
              <a:lin ang="0"/>
            </a:gradFill>
            <a:prstDash val="solid"/>
            <a:round/>
          </a:ln>
        </p:spPr>
        <p:txBody>
          <a:bodyPr vert="horz" wrap="square" lIns="63500" tIns="63500" rIns="63500" bIns="63500" rtlCol="0" anchor="ctr"/>
          <a:lstStyle/>
          <a:p>
            <a:pPr algn="ctr">
              <a:defRPr/>
            </a:pPr>
          </a:p>
        </p:txBody>
      </p:sp>
      <p:sp>
        <p:nvSpPr>
          <p:cNvPr id="28" name="AutoShape 28"/>
          <p:cNvSpPr/>
          <p:nvPr/>
        </p:nvSpPr>
        <p:spPr>
          <a:xfrm>
            <a:off x="762000" y="5397500"/>
            <a:ext cx="54610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200" b="1" i="0" u="none" strike="noStrike" spc="200">
                <a:solidFill>
                  <a:srgbClr val="FFFFFF">
                    <a:alpha val="60000"/>
                  </a:srgbClr>
                </a:solidFill>
                <a:latin typeface="Noto Sans SC"/>
                <a:ea typeface="Noto Sans SC"/>
                <a:cs typeface="Noto Sans SC"/>
                <a:sym typeface="Noto Sans SC"/>
              </a:rPr>
              <a:t>流程位置与关联</a:t>
            </a:r>
            <a:endParaRPr lang="en-US" sz="1100"/>
          </a:p>
        </p:txBody>
      </p:sp>
      <p:sp>
        <p:nvSpPr>
          <p:cNvPr id="29" name="AutoShape 29"/>
          <p:cNvSpPr/>
          <p:nvPr/>
        </p:nvSpPr>
        <p:spPr>
          <a:xfrm>
            <a:off x="762000" y="5740400"/>
            <a:ext cx="5461000" cy="533400"/>
          </a:xfrm>
          <a:prstGeom prst="rect">
            <a:avLst/>
          </a:prstGeom>
          <a:noFill/>
          <a:ln w="12700" cap="flat" cmpd="sng">
            <a:noFill/>
            <a:prstDash val="solid"/>
            <a:round/>
          </a:ln>
        </p:spPr>
        <p:txBody>
          <a:bodyPr vert="horz" wrap="square" lIns="0" tIns="0" rIns="0" bIns="0" rtlCol="0" anchor="t" anchorCtr="0"/>
          <a:lstStyle/>
          <a:p>
            <a:pPr marL="0" indent="0" algn="l">
              <a:lnSpc>
                <a:spcPct val="113000"/>
              </a:lnSpc>
              <a:defRPr/>
            </a:pPr>
            <a:r>
              <a:rPr lang="en-US" sz="1300" b="0" i="0" u="none" strike="noStrike">
                <a:solidFill>
                  <a:srgbClr val="FFFFFF">
                    <a:alpha val="87843"/>
                  </a:srgbClr>
                </a:solidFill>
                <a:latin typeface="Noto Sans SC"/>
                <a:ea typeface="Noto Sans SC"/>
                <a:cs typeface="Noto Sans SC"/>
                <a:sym typeface="Noto Sans SC"/>
              </a:rPr>
              <a:t>环节:L3指数与反演 ｜ 关联:</a:t>
            </a:r>
            <a:r>
              <a:rPr lang="en-US" sz="1300" b="1" i="0" u="none" strike="noStrike">
                <a:solidFill>
                  <a:srgbClr val="FFFFFF"/>
                </a:solidFill>
                <a:latin typeface="Noto Sans SC"/>
                <a:ea typeface="Noto Sans SC"/>
                <a:cs typeface="Noto Sans SC"/>
                <a:sym typeface="Noto Sans SC"/>
              </a:rPr>
              <a:t>#45告警</a:t>
            </a:r>
            <a:endParaRPr lang="en-US" sz="1100"/>
          </a:p>
        </p:txBody>
      </p:sp>
      <p:cxnSp>
        <p:nvCxnSpPr>
          <p:cNvPr id="30" name="Connector 30"/>
          <p:cNvCxnSpPr/>
          <p:nvPr/>
        </p:nvCxnSpPr>
        <p:spPr>
          <a:xfrm rot="5343648">
            <a:off x="5962650" y="5867452"/>
            <a:ext cx="774700" cy="12700"/>
          </a:xfrm>
          <a:prstGeom prst="straightConnector1">
            <a:avLst/>
          </a:prstGeom>
          <a:solidFill>
            <a:srgbClr val="DEE0E3">
              <a:alpha val="100000"/>
            </a:srgbClr>
          </a:solidFill>
          <a:ln w="12700" cap="flat" cmpd="sng">
            <a:solidFill>
              <a:srgbClr val="FFFFFF">
                <a:alpha val="22000"/>
              </a:srgbClr>
            </a:solidFill>
            <a:prstDash val="solid"/>
            <a:round/>
            <a:headEnd type="none" w="med" len="med"/>
            <a:tailEnd type="none" w="med" len="med"/>
          </a:ln>
        </p:spPr>
      </p:cxnSp>
      <p:sp>
        <p:nvSpPr>
          <p:cNvPr id="31" name="AutoShape 31"/>
          <p:cNvSpPr/>
          <p:nvPr/>
        </p:nvSpPr>
        <p:spPr>
          <a:xfrm>
            <a:off x="6604000" y="5397500"/>
            <a:ext cx="48260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200" b="1" i="0" u="none" strike="noStrike" spc="200">
                <a:solidFill>
                  <a:srgbClr val="FFFFFF">
                    <a:alpha val="60000"/>
                  </a:srgbClr>
                </a:solidFill>
                <a:latin typeface="Noto Sans SC"/>
                <a:ea typeface="Noto Sans SC"/>
                <a:cs typeface="Noto Sans SC"/>
                <a:sym typeface="Noto Sans SC"/>
              </a:rPr>
              <a:t>API接口</a:t>
            </a:r>
            <a:endParaRPr lang="en-US" sz="1100"/>
          </a:p>
        </p:txBody>
      </p:sp>
      <p:sp>
        <p:nvSpPr>
          <p:cNvPr id="32" name="AutoShape 32"/>
          <p:cNvSpPr/>
          <p:nvPr/>
        </p:nvSpPr>
        <p:spPr>
          <a:xfrm>
            <a:off x="6604000" y="5740400"/>
            <a:ext cx="4826000" cy="533400"/>
          </a:xfrm>
          <a:prstGeom prst="rect">
            <a:avLst/>
          </a:prstGeom>
          <a:noFill/>
          <a:ln w="12700" cap="flat" cmpd="sng">
            <a:noFill/>
            <a:prstDash val="solid"/>
            <a:round/>
          </a:ln>
        </p:spPr>
        <p:txBody>
          <a:bodyPr vert="horz" wrap="square" lIns="0" tIns="0" rIns="0" bIns="0" rtlCol="0" anchor="t" anchorCtr="0"/>
          <a:lstStyle/>
          <a:p>
            <a:pPr marL="0" indent="0" algn="l">
              <a:lnSpc>
                <a:spcPct val="113000"/>
              </a:lnSpc>
              <a:defRPr/>
            </a:pPr>
            <a:r>
              <a:rPr lang="en-US" sz="1500" b="1" i="0" u="none" strike="noStrike">
                <a:solidFill>
                  <a:srgbClr val="FFFFFF"/>
                </a:solidFill>
                <a:latin typeface="Noto Sans SC"/>
                <a:ea typeface="Noto Sans SC"/>
                <a:cs typeface="Noto Sans SC"/>
                <a:sym typeface="Noto Sans SC"/>
              </a:rPr>
              <a:t>/api/v1/30_ndmi_ndwi/run</a:t>
            </a:r>
            <a:endParaRPr lang="en-US" sz="11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0160000" cy="5842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spc="100">
                <a:solidFill>
                  <a:srgbClr val="1E3A8A"/>
                </a:solidFill>
                <a:latin typeface="Noto Sans SC"/>
                <a:ea typeface="Noto Sans SC"/>
                <a:cs typeface="Noto Sans SC"/>
                <a:sym typeface="Noto Sans SC"/>
              </a:rPr>
              <a:t>红边位置与光谱特征参数</a:t>
            </a:r>
            <a:endParaRPr lang="en-US" sz="1100"/>
          </a:p>
        </p:txBody>
      </p:sp>
      <p:sp>
        <p:nvSpPr>
          <p:cNvPr id="3" name="AutoShape 3"/>
          <p:cNvSpPr/>
          <p:nvPr/>
        </p:nvSpPr>
        <p:spPr>
          <a:xfrm>
            <a:off x="508000" y="1016000"/>
            <a:ext cx="10160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0" i="0" u="none" strike="noStrike">
                <a:solidFill>
                  <a:srgbClr val="64748B"/>
                </a:solidFill>
                <a:latin typeface="Noto Sans SC"/>
                <a:ea typeface="Noto Sans SC"/>
                <a:cs typeface="Noto Sans SC"/>
                <a:sym typeface="Noto Sans SC"/>
              </a:rPr>
              <a:t>所属层级:L3 ｜ 编号#31 ｜ 辅导材料:算法清单与API</a:t>
            </a:r>
            <a:endParaRPr lang="en-US" sz="1100"/>
          </a:p>
        </p:txBody>
      </p:sp>
      <p:cxnSp>
        <p:nvCxnSpPr>
          <p:cNvPr id="4" name="Connector 4"/>
          <p:cNvCxnSpPr/>
          <p:nvPr/>
        </p:nvCxnSpPr>
        <p:spPr>
          <a:xfrm rot="-3906">
            <a:off x="508004" y="1454150"/>
            <a:ext cx="11176000" cy="12700"/>
          </a:xfrm>
          <a:prstGeom prst="straightConnector1">
            <a:avLst/>
          </a:prstGeom>
          <a:solidFill>
            <a:srgbClr val="DEE0E3">
              <a:alpha val="100000"/>
            </a:srgbClr>
          </a:solidFill>
          <a:ln w="12700" cap="flat" cmpd="sng">
            <a:solidFill>
              <a:srgbClr val="CBD5E1">
                <a:alpha val="70000"/>
              </a:srgbClr>
            </a:solidFill>
            <a:prstDash val="solid"/>
            <a:round/>
            <a:headEnd type="none" w="med" len="med"/>
            <a:tailEnd type="none" w="med" len="med"/>
          </a:ln>
        </p:spPr>
      </p:cxnSp>
      <p:sp>
        <p:nvSpPr>
          <p:cNvPr id="5" name="AutoShape 5"/>
          <p:cNvSpPr/>
          <p:nvPr/>
        </p:nvSpPr>
        <p:spPr>
          <a:xfrm>
            <a:off x="508000" y="1625600"/>
            <a:ext cx="5588000" cy="381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000" b="1" i="0" u="none" strike="noStrike" spc="200">
                <a:solidFill>
                  <a:srgbClr val="1E3A8A"/>
                </a:solidFill>
                <a:latin typeface="Noto Sans SC"/>
                <a:ea typeface="Noto Sans SC"/>
                <a:cs typeface="Noto Sans SC"/>
                <a:sym typeface="Noto Sans SC"/>
              </a:rPr>
              <a:t>功能定义</a:t>
            </a:r>
            <a:endParaRPr lang="en-US" sz="1100"/>
          </a:p>
        </p:txBody>
      </p:sp>
      <p:sp>
        <p:nvSpPr>
          <p:cNvPr id="6" name="AutoShape 6"/>
          <p:cNvSpPr/>
          <p:nvPr/>
        </p:nvSpPr>
        <p:spPr>
          <a:xfrm>
            <a:off x="508000" y="2070100"/>
            <a:ext cx="5588000" cy="762000"/>
          </a:xfrm>
          <a:prstGeom prst="rect">
            <a:avLst/>
          </a:prstGeom>
          <a:noFill/>
          <a:ln w="12700" cap="flat" cmpd="sng">
            <a:noFill/>
            <a:prstDash val="solid"/>
            <a:round/>
          </a:ln>
        </p:spPr>
        <p:txBody>
          <a:bodyPr vert="horz" wrap="square" lIns="0" tIns="0" rIns="0" bIns="0" rtlCol="0" anchor="t" anchorCtr="0"/>
          <a:lstStyle/>
          <a:p>
            <a:pPr marL="0" indent="0" algn="l">
              <a:lnSpc>
                <a:spcPct val="133000"/>
              </a:lnSpc>
              <a:defRPr/>
            </a:pPr>
            <a:r>
              <a:rPr lang="en-US" sz="1500" b="0" i="0" u="none" strike="noStrike">
                <a:solidFill>
                  <a:srgbClr val="334155"/>
                </a:solidFill>
                <a:latin typeface="Noto Sans SC"/>
                <a:ea typeface="Noto Sans SC"/>
                <a:cs typeface="Noto Sans SC"/>
                <a:sym typeface="Noto Sans SC"/>
              </a:rPr>
              <a:t>提取光谱曲线的特征点和参数。</a:t>
            </a:r>
            <a:endParaRPr lang="en-US" sz="1100"/>
          </a:p>
        </p:txBody>
      </p:sp>
      <p:cxnSp>
        <p:nvCxnSpPr>
          <p:cNvPr id="7" name="Connector 7"/>
          <p:cNvCxnSpPr/>
          <p:nvPr/>
        </p:nvCxnSpPr>
        <p:spPr>
          <a:xfrm rot="-7813">
            <a:off x="508007" y="2914650"/>
            <a:ext cx="5588000" cy="12700"/>
          </a:xfrm>
          <a:prstGeom prst="straightConnector1">
            <a:avLst/>
          </a:prstGeom>
          <a:solidFill>
            <a:srgbClr val="DEE0E3">
              <a:alpha val="100000"/>
            </a:srgbClr>
          </a:solidFill>
          <a:ln w="12700" cap="flat" cmpd="sng">
            <a:solidFill>
              <a:srgbClr val="CBD5E1">
                <a:alpha val="60000"/>
              </a:srgbClr>
            </a:solidFill>
            <a:prstDash val="solid"/>
            <a:round/>
            <a:headEnd type="none" w="med" len="med"/>
            <a:tailEnd type="none" w="med" len="med"/>
          </a:ln>
        </p:spPr>
      </p:cxnSp>
      <p:sp>
        <p:nvSpPr>
          <p:cNvPr id="8" name="AutoShape 8"/>
          <p:cNvSpPr/>
          <p:nvPr/>
        </p:nvSpPr>
        <p:spPr>
          <a:xfrm>
            <a:off x="508000" y="3073400"/>
            <a:ext cx="5588000" cy="381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000" b="1" i="0" u="none" strike="noStrike" spc="200">
                <a:solidFill>
                  <a:srgbClr val="1E3A8A"/>
                </a:solidFill>
                <a:latin typeface="Noto Sans SC"/>
                <a:ea typeface="Noto Sans SC"/>
                <a:cs typeface="Noto Sans SC"/>
                <a:sym typeface="Noto Sans SC"/>
              </a:rPr>
              <a:t>方法要点</a:t>
            </a:r>
            <a:endParaRPr lang="en-US" sz="1100"/>
          </a:p>
        </p:txBody>
      </p:sp>
      <p:sp>
        <p:nvSpPr>
          <p:cNvPr id="9" name="AutoShape 9"/>
          <p:cNvSpPr/>
          <p:nvPr/>
        </p:nvSpPr>
        <p:spPr>
          <a:xfrm>
            <a:off x="508000" y="3517900"/>
            <a:ext cx="5588000" cy="1016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红边位置:光谱反射率在红边区域快速上升的拐点位置。</a:t>
            </a:r>
            <a:endParaRPr lang="en-US" sz="1100"/>
          </a:p>
          <a:p>
            <a:pPr marL="0" indent="0" algn="l">
              <a:lnSpc>
                <a:spcPct val="129000"/>
              </a:lnSpc>
            </a:pPr>
            <a:r>
              <a:rPr lang="en-US" sz="1400" b="0" i="0" u="none" strike="noStrike">
                <a:solidFill>
                  <a:srgbClr val="475569"/>
                </a:solidFill>
                <a:latin typeface="Noto Sans SC"/>
                <a:ea typeface="Noto Sans SC"/>
                <a:cs typeface="Noto Sans SC"/>
                <a:sym typeface="Noto Sans SC"/>
              </a:rPr>
              <a:t>其他参数还包括吸收深度、吸收宽度等。</a:t>
            </a:r>
            <a:endParaRPr lang="en-US" sz="1400" b="0" i="0" u="none" strike="noStrike">
              <a:solidFill>
                <a:srgbClr val="475569"/>
              </a:solidFill>
              <a:latin typeface="Noto Sans SC"/>
              <a:ea typeface="Noto Sans SC"/>
              <a:cs typeface="Noto Sans SC"/>
              <a:sym typeface="Noto Sans SC"/>
            </a:endParaRPr>
          </a:p>
        </p:txBody>
      </p:sp>
      <p:sp>
        <p:nvSpPr>
          <p:cNvPr id="10" name="AutoShape 10"/>
          <p:cNvSpPr/>
          <p:nvPr/>
        </p:nvSpPr>
        <p:spPr>
          <a:xfrm>
            <a:off x="6604000" y="1625600"/>
            <a:ext cx="5080000" cy="12954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6604000" y="1625600"/>
            <a:ext cx="50800" cy="1295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6858000" y="1676400"/>
            <a:ext cx="4572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600" b="1" i="0" u="none" strike="noStrike" spc="100">
                <a:solidFill>
                  <a:srgbClr val="1E3A8A"/>
                </a:solidFill>
                <a:latin typeface="Noto Sans SC"/>
                <a:ea typeface="Noto Sans SC"/>
                <a:cs typeface="Noto Sans SC"/>
                <a:sym typeface="Noto Sans SC"/>
              </a:rPr>
              <a:t>适用场景</a:t>
            </a:r>
            <a:endParaRPr lang="en-US" sz="1100"/>
          </a:p>
        </p:txBody>
      </p:sp>
      <p:sp>
        <p:nvSpPr>
          <p:cNvPr id="13" name="AutoShape 13"/>
          <p:cNvSpPr/>
          <p:nvPr/>
        </p:nvSpPr>
        <p:spPr>
          <a:xfrm>
            <a:off x="6858000" y="2057400"/>
            <a:ext cx="4635500" cy="762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植被生化参数反演、作物品种识别。</a:t>
            </a:r>
            <a:endParaRPr lang="en-US" sz="1100"/>
          </a:p>
        </p:txBody>
      </p:sp>
      <p:sp>
        <p:nvSpPr>
          <p:cNvPr id="14" name="AutoShape 14"/>
          <p:cNvSpPr/>
          <p:nvPr/>
        </p:nvSpPr>
        <p:spPr>
          <a:xfrm>
            <a:off x="6604000" y="3048000"/>
            <a:ext cx="5080000" cy="12954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6604000" y="3048000"/>
            <a:ext cx="50800" cy="1295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6858000" y="3098800"/>
            <a:ext cx="4572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600" b="1" i="0" u="none" strike="noStrike" spc="100">
                <a:solidFill>
                  <a:srgbClr val="1E3A8A"/>
                </a:solidFill>
                <a:latin typeface="Noto Sans SC"/>
                <a:ea typeface="Noto Sans SC"/>
                <a:cs typeface="Noto Sans SC"/>
                <a:sym typeface="Noto Sans SC"/>
              </a:rPr>
              <a:t>业务价值</a:t>
            </a:r>
            <a:endParaRPr lang="en-US" sz="1100"/>
          </a:p>
        </p:txBody>
      </p:sp>
      <p:sp>
        <p:nvSpPr>
          <p:cNvPr id="17" name="AutoShape 17"/>
          <p:cNvSpPr/>
          <p:nvPr/>
        </p:nvSpPr>
        <p:spPr>
          <a:xfrm>
            <a:off x="6858000" y="3479800"/>
            <a:ext cx="4635500" cy="762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提供比植被指数更丰富的光谱信息。</a:t>
            </a:r>
            <a:endParaRPr lang="en-US" sz="1100"/>
          </a:p>
        </p:txBody>
      </p:sp>
      <p:sp>
        <p:nvSpPr>
          <p:cNvPr id="18" name="AutoShape 18"/>
          <p:cNvSpPr/>
          <p:nvPr/>
        </p:nvSpPr>
        <p:spPr>
          <a:xfrm>
            <a:off x="6604000" y="4470400"/>
            <a:ext cx="5080000" cy="1295400"/>
          </a:xfrm>
          <a:prstGeom prst="roundRect">
            <a:avLst>
              <a:gd name="adj" fmla="val 0"/>
            </a:avLst>
          </a:prstGeom>
          <a:solidFill>
            <a:srgbClr val="F59E0B">
              <a:alpha val="7000"/>
            </a:srgbClr>
          </a:solidFill>
          <a:ln cap="flat" cmpd="sng">
            <a:solidFill>
              <a:srgbClr val="DC8A00">
                <a:alpha val="7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6604000" y="4470400"/>
            <a:ext cx="50800" cy="1295400"/>
          </a:xfrm>
          <a:prstGeom prst="roundRect">
            <a:avLst>
              <a:gd name="adj" fmla="val 0"/>
            </a:avLst>
          </a:prstGeom>
          <a:solidFill>
            <a:srgbClr val="F59E0B">
              <a:alpha val="100000"/>
            </a:srgbClr>
          </a:solidFill>
          <a:ln cap="flat" cmpd="sng">
            <a:solidFill>
              <a:srgbClr val="DC8A00">
                <a:alpha val="10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6858000" y="4521200"/>
            <a:ext cx="4572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600" b="1" i="0" u="none" strike="noStrike" spc="100">
                <a:solidFill>
                  <a:srgbClr val="F59E0B"/>
                </a:solidFill>
                <a:latin typeface="Noto Sans SC"/>
                <a:ea typeface="Noto Sans SC"/>
                <a:cs typeface="Noto Sans SC"/>
                <a:sym typeface="Noto Sans SC"/>
              </a:rPr>
              <a:t>缺失影响</a:t>
            </a:r>
            <a:endParaRPr lang="en-US" sz="1100"/>
          </a:p>
        </p:txBody>
      </p:sp>
      <p:sp>
        <p:nvSpPr>
          <p:cNvPr id="21" name="AutoShape 21"/>
          <p:cNvSpPr/>
          <p:nvPr/>
        </p:nvSpPr>
        <p:spPr>
          <a:xfrm>
            <a:off x="6858000" y="4902200"/>
            <a:ext cx="4635500" cy="762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475569"/>
                </a:solidFill>
                <a:latin typeface="Noto Sans SC"/>
                <a:ea typeface="Noto Sans SC"/>
                <a:cs typeface="Noto Sans SC"/>
                <a:sym typeface="Noto Sans SC"/>
              </a:rPr>
              <a:t>无法利用光谱曲线的精细特征进行更深入的分析。</a:t>
            </a:r>
            <a:endParaRPr lang="en-US" sz="1100"/>
          </a:p>
        </p:txBody>
      </p:sp>
      <p:sp>
        <p:nvSpPr>
          <p:cNvPr id="22" name="AutoShape 22"/>
          <p:cNvSpPr/>
          <p:nvPr/>
        </p:nvSpPr>
        <p:spPr>
          <a:xfrm>
            <a:off x="508000" y="5880100"/>
            <a:ext cx="11176000" cy="787400"/>
          </a:xfrm>
          <a:prstGeom prst="roundRect">
            <a:avLst>
              <a:gd name="adj" fmla="val 0"/>
            </a:avLst>
          </a:prstGeom>
          <a:gradFill rotWithShape="1">
            <a:gsLst>
              <a:gs pos="0">
                <a:srgbClr val="1E3A8A">
                  <a:alpha val="9000"/>
                </a:srgbClr>
              </a:gs>
              <a:gs pos="100000">
                <a:srgbClr val="1E3A8A">
                  <a:alpha val="3000"/>
                </a:srgbClr>
              </a:gs>
            </a:gsLst>
            <a:lin ang="0"/>
          </a:gradFill>
          <a:ln cap="flat" cmpd="sng">
            <a:gradFill rotWithShape="1">
              <a:gsLst>
                <a:gs pos="0">
                  <a:srgbClr val="0D2771">
                    <a:alpha val="9000"/>
                  </a:srgbClr>
                </a:gs>
                <a:gs pos="100000">
                  <a:srgbClr val="0D2771">
                    <a:alpha val="3000"/>
                  </a:srgbClr>
                </a:gs>
              </a:gsLst>
              <a:lin ang="0"/>
            </a:gradFill>
            <a:prstDash val="solid"/>
            <a:round/>
          </a:ln>
        </p:spPr>
        <p:txBody>
          <a:bodyPr vert="horz" wrap="square" lIns="63500" tIns="63500" rIns="63500" bIns="63500" rtlCol="0" anchor="ctr"/>
          <a:lstStyle/>
          <a:p>
            <a:pPr algn="ctr">
              <a:defRPr/>
            </a:pPr>
          </a:p>
        </p:txBody>
      </p:sp>
      <p:sp>
        <p:nvSpPr>
          <p:cNvPr id="23" name="AutoShape 23"/>
          <p:cNvSpPr/>
          <p:nvPr/>
        </p:nvSpPr>
        <p:spPr>
          <a:xfrm>
            <a:off x="508000" y="5880100"/>
            <a:ext cx="50800" cy="787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762000" y="5930900"/>
            <a:ext cx="5334000" cy="2286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100" b="1" i="0" u="none" strike="noStrike" spc="100">
                <a:solidFill>
                  <a:srgbClr val="64748B"/>
                </a:solidFill>
                <a:latin typeface="Noto Sans SC"/>
                <a:ea typeface="Noto Sans SC"/>
                <a:cs typeface="Noto Sans SC"/>
                <a:sym typeface="Noto Sans SC"/>
              </a:rPr>
              <a:t>流程位置与关联</a:t>
            </a:r>
            <a:endParaRPr lang="en-US" sz="1100"/>
          </a:p>
        </p:txBody>
      </p:sp>
      <p:sp>
        <p:nvSpPr>
          <p:cNvPr id="25" name="AutoShape 25"/>
          <p:cNvSpPr/>
          <p:nvPr/>
        </p:nvSpPr>
        <p:spPr>
          <a:xfrm>
            <a:off x="762000" y="6223000"/>
            <a:ext cx="5334000" cy="381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300" b="0" i="0" u="none" strike="noStrike">
                <a:solidFill>
                  <a:srgbClr val="334155"/>
                </a:solidFill>
                <a:latin typeface="Noto Sans SC"/>
                <a:ea typeface="Noto Sans SC"/>
                <a:cs typeface="Noto Sans SC"/>
                <a:sym typeface="Noto Sans SC"/>
              </a:rPr>
              <a:t>环节:L3指数与反演 ｜ 关联:</a:t>
            </a:r>
            <a:r>
              <a:rPr lang="en-US" sz="1300" b="1" i="0" u="none" strike="noStrike">
                <a:solidFill>
                  <a:srgbClr val="1E3A8A"/>
                </a:solidFill>
                <a:latin typeface="Noto Sans SC"/>
                <a:ea typeface="Noto Sans SC"/>
                <a:cs typeface="Noto Sans SC"/>
                <a:sym typeface="Noto Sans SC"/>
              </a:rPr>
              <a:t>#32 反演</a:t>
            </a:r>
            <a:endParaRPr lang="en-US" sz="1100"/>
          </a:p>
        </p:txBody>
      </p:sp>
      <p:cxnSp>
        <p:nvCxnSpPr>
          <p:cNvPr id="26" name="Connector 26"/>
          <p:cNvCxnSpPr/>
          <p:nvPr/>
        </p:nvCxnSpPr>
        <p:spPr>
          <a:xfrm rot="5328390">
            <a:off x="6045200" y="6267516"/>
            <a:ext cx="609600" cy="12700"/>
          </a:xfrm>
          <a:prstGeom prst="straightConnector1">
            <a:avLst/>
          </a:prstGeom>
          <a:solidFill>
            <a:srgbClr val="DEE0E3">
              <a:alpha val="100000"/>
            </a:srgbClr>
          </a:solidFill>
          <a:ln w="12700" cap="flat" cmpd="sng">
            <a:solidFill>
              <a:srgbClr val="CBD5E1">
                <a:alpha val="90000"/>
              </a:srgbClr>
            </a:solidFill>
            <a:prstDash val="solid"/>
            <a:round/>
            <a:headEnd type="none" w="med" len="med"/>
            <a:tailEnd type="none" w="med" len="med"/>
          </a:ln>
        </p:spPr>
      </p:cxnSp>
      <p:sp>
        <p:nvSpPr>
          <p:cNvPr id="27" name="AutoShape 27"/>
          <p:cNvSpPr/>
          <p:nvPr/>
        </p:nvSpPr>
        <p:spPr>
          <a:xfrm>
            <a:off x="6604000" y="5930900"/>
            <a:ext cx="4826000" cy="2286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100" b="1" i="0" u="none" strike="noStrike" spc="100">
                <a:solidFill>
                  <a:srgbClr val="64748B"/>
                </a:solidFill>
                <a:latin typeface="Noto Sans SC"/>
                <a:ea typeface="Noto Sans SC"/>
                <a:cs typeface="Noto Sans SC"/>
                <a:sym typeface="Noto Sans SC"/>
              </a:rPr>
              <a:t>API接口</a:t>
            </a:r>
            <a:endParaRPr lang="en-US" sz="1100"/>
          </a:p>
        </p:txBody>
      </p:sp>
      <p:sp>
        <p:nvSpPr>
          <p:cNvPr id="28" name="AutoShape 28"/>
          <p:cNvSpPr/>
          <p:nvPr/>
        </p:nvSpPr>
        <p:spPr>
          <a:xfrm>
            <a:off x="6604000" y="6223000"/>
            <a:ext cx="4826000" cy="381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300" b="1" i="0" u="none" strike="noStrike">
                <a:solidFill>
                  <a:srgbClr val="1E3A8A"/>
                </a:solidFill>
                <a:latin typeface="Noto Sans SC"/>
                <a:ea typeface="Noto Sans SC"/>
                <a:cs typeface="Noto Sans SC"/>
                <a:sym typeface="Noto Sans SC"/>
              </a:rPr>
              <a:t>/api/v1/31_spectral_features/run</a:t>
            </a:r>
            <a:endParaRPr lang="en-US" sz="11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8890000" cy="6096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2800" b="1" i="0" u="none" strike="noStrike" spc="100">
                <a:solidFill>
                  <a:srgbClr val="0F172A"/>
                </a:solidFill>
                <a:latin typeface="Noto Sans SC"/>
                <a:ea typeface="Noto Sans SC"/>
                <a:cs typeface="Noto Sans SC"/>
                <a:sym typeface="Noto Sans SC"/>
              </a:rPr>
              <a:t>经验回归反演</a:t>
            </a:r>
            <a:endParaRPr lang="en-US" sz="1100"/>
          </a:p>
        </p:txBody>
      </p:sp>
      <p:sp>
        <p:nvSpPr>
          <p:cNvPr id="3" name="AutoShape 3"/>
          <p:cNvSpPr/>
          <p:nvPr/>
        </p:nvSpPr>
        <p:spPr>
          <a:xfrm>
            <a:off x="508000" y="1016000"/>
            <a:ext cx="1117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200" b="0" i="0" u="none" strike="noStrike">
                <a:solidFill>
                  <a:srgbClr val="64748B"/>
                </a:solidFill>
                <a:latin typeface="Noto Sans SC"/>
                <a:ea typeface="Noto Sans SC"/>
                <a:cs typeface="Noto Sans SC"/>
                <a:sym typeface="Noto Sans SC"/>
              </a:rPr>
              <a:t>所属层级:L3 ｜ 编号:#32 ｜ 辅导材料:算法清单与API</a:t>
            </a:r>
            <a:endParaRPr lang="en-US" sz="1100"/>
          </a:p>
        </p:txBody>
      </p:sp>
      <p:cxnSp>
        <p:nvCxnSpPr>
          <p:cNvPr id="4" name="Connector 4"/>
          <p:cNvCxnSpPr/>
          <p:nvPr/>
        </p:nvCxnSpPr>
        <p:spPr>
          <a:xfrm rot="-3906">
            <a:off x="508004" y="1416050"/>
            <a:ext cx="11176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5" name="AutoShape 5"/>
          <p:cNvSpPr/>
          <p:nvPr/>
        </p:nvSpPr>
        <p:spPr>
          <a:xfrm>
            <a:off x="508000" y="1524000"/>
            <a:ext cx="5969000" cy="1117600"/>
          </a:xfrm>
          <a:prstGeom prst="roundRect">
            <a:avLst>
              <a:gd name="adj" fmla="val 0"/>
            </a:avLst>
          </a:prstGeom>
          <a:solidFill>
            <a:srgbClr val="0F766E">
              <a:alpha val="6000"/>
            </a:srgbClr>
          </a:solidFill>
          <a:ln cap="flat" cmpd="sng">
            <a:solidFill>
              <a:srgbClr val="035D56">
                <a:alpha val="6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508000" y="1524000"/>
            <a:ext cx="38100" cy="1117600"/>
          </a:xfrm>
          <a:prstGeom prst="roundRect">
            <a:avLst>
              <a:gd name="adj" fmla="val 0"/>
            </a:avLst>
          </a:prstGeom>
          <a:solidFill>
            <a:srgbClr val="0F766E">
              <a:alpha val="100000"/>
            </a:srgbClr>
          </a:solidFill>
          <a:ln cap="flat" cmpd="sng">
            <a:solidFill>
              <a:srgbClr val="035D56">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762000" y="1524000"/>
            <a:ext cx="558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600" b="1" i="0" u="none" strike="noStrike" spc="100">
                <a:solidFill>
                  <a:srgbClr val="0F766E"/>
                </a:solidFill>
                <a:latin typeface="Noto Sans SC"/>
                <a:ea typeface="Noto Sans SC"/>
                <a:cs typeface="Noto Sans SC"/>
                <a:sym typeface="Noto Sans SC"/>
              </a:rPr>
              <a:t>功能定义</a:t>
            </a:r>
            <a:endParaRPr lang="en-US" sz="1100"/>
          </a:p>
        </p:txBody>
      </p:sp>
      <p:sp>
        <p:nvSpPr>
          <p:cNvPr id="8" name="AutoShape 8"/>
          <p:cNvSpPr/>
          <p:nvPr/>
        </p:nvSpPr>
        <p:spPr>
          <a:xfrm>
            <a:off x="762000" y="1879600"/>
            <a:ext cx="5588000" cy="660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300" b="0" i="0" u="none" strike="noStrike">
                <a:solidFill>
                  <a:srgbClr val="334155"/>
                </a:solidFill>
                <a:latin typeface="Noto Sans SC"/>
                <a:ea typeface="Noto Sans SC"/>
                <a:cs typeface="Noto Sans SC"/>
                <a:sym typeface="Noto Sans SC"/>
              </a:rPr>
              <a:t>建立光谱与作物生化参数(如叶绿素、氮含量)之间的统计关系,实现定量估算。</a:t>
            </a:r>
            <a:endParaRPr lang="en-US" sz="1100"/>
          </a:p>
        </p:txBody>
      </p:sp>
      <p:sp>
        <p:nvSpPr>
          <p:cNvPr id="9" name="AutoShape 9"/>
          <p:cNvSpPr/>
          <p:nvPr/>
        </p:nvSpPr>
        <p:spPr>
          <a:xfrm>
            <a:off x="508000" y="2717800"/>
            <a:ext cx="5969000" cy="1117600"/>
          </a:xfrm>
          <a:prstGeom prst="roundRect">
            <a:avLst>
              <a:gd name="adj" fmla="val 0"/>
            </a:avLst>
          </a:prstGeom>
          <a:solidFill>
            <a:srgbClr val="0F766E">
              <a:alpha val="6000"/>
            </a:srgbClr>
          </a:solidFill>
          <a:ln cap="flat" cmpd="sng">
            <a:solidFill>
              <a:srgbClr val="035D56">
                <a:alpha val="6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508000" y="2717800"/>
            <a:ext cx="38100" cy="1117600"/>
          </a:xfrm>
          <a:prstGeom prst="roundRect">
            <a:avLst>
              <a:gd name="adj" fmla="val 0"/>
            </a:avLst>
          </a:prstGeom>
          <a:solidFill>
            <a:srgbClr val="0F766E">
              <a:alpha val="100000"/>
            </a:srgbClr>
          </a:solidFill>
          <a:ln cap="flat" cmpd="sng">
            <a:solidFill>
              <a:srgbClr val="035D56">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762000" y="2717800"/>
            <a:ext cx="558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600" b="1" i="0" u="none" strike="noStrike" spc="100">
                <a:solidFill>
                  <a:srgbClr val="0F766E"/>
                </a:solidFill>
                <a:latin typeface="Noto Sans SC"/>
                <a:ea typeface="Noto Sans SC"/>
                <a:cs typeface="Noto Sans SC"/>
                <a:sym typeface="Noto Sans SC"/>
              </a:rPr>
              <a:t>方法要点</a:t>
            </a:r>
            <a:endParaRPr lang="en-US" sz="1100"/>
          </a:p>
        </p:txBody>
      </p:sp>
      <p:sp>
        <p:nvSpPr>
          <p:cNvPr id="12" name="AutoShape 12"/>
          <p:cNvSpPr/>
          <p:nvPr/>
        </p:nvSpPr>
        <p:spPr>
          <a:xfrm>
            <a:off x="762000" y="3073400"/>
            <a:ext cx="5588000" cy="660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300" b="0" i="0" u="none" strike="noStrike">
                <a:solidFill>
                  <a:srgbClr val="334155"/>
                </a:solidFill>
                <a:latin typeface="Noto Sans SC"/>
                <a:ea typeface="Noto Sans SC"/>
                <a:cs typeface="Noto Sans SC"/>
                <a:sym typeface="Noto Sans SC"/>
              </a:rPr>
              <a:t>利用实测的生化参数数据和对应的光谱数据,建立回归模型(如多元线性回归、偏最小二乘回归PLS)。</a:t>
            </a:r>
            <a:endParaRPr lang="en-US" sz="1100"/>
          </a:p>
        </p:txBody>
      </p:sp>
      <p:sp>
        <p:nvSpPr>
          <p:cNvPr id="13" name="AutoShape 13"/>
          <p:cNvSpPr/>
          <p:nvPr/>
        </p:nvSpPr>
        <p:spPr>
          <a:xfrm>
            <a:off x="508000" y="3937000"/>
            <a:ext cx="596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600" b="1" i="0" u="none" strike="noStrike" spc="100">
                <a:solidFill>
                  <a:srgbClr val="0F766E"/>
                </a:solidFill>
                <a:latin typeface="Noto Sans SC"/>
                <a:ea typeface="Noto Sans SC"/>
                <a:cs typeface="Noto Sans SC"/>
                <a:sym typeface="Noto Sans SC"/>
              </a:rPr>
              <a:t>适用场景</a:t>
            </a:r>
            <a:endParaRPr lang="en-US" sz="1100"/>
          </a:p>
        </p:txBody>
      </p:sp>
      <p:sp>
        <p:nvSpPr>
          <p:cNvPr id="14" name="AutoShape 14"/>
          <p:cNvSpPr/>
          <p:nvPr/>
        </p:nvSpPr>
        <p:spPr>
          <a:xfrm>
            <a:off x="508000" y="4318000"/>
            <a:ext cx="1841500" cy="584200"/>
          </a:xfrm>
          <a:prstGeom prst="roundRect">
            <a:avLst>
              <a:gd name="adj" fmla="val 0"/>
            </a:avLst>
          </a:prstGeom>
          <a:solidFill>
            <a:srgbClr val="0F766E">
              <a:alpha val="10000"/>
            </a:srgbClr>
          </a:solidFill>
          <a:ln cap="flat" cmpd="sng">
            <a:solidFill>
              <a:srgbClr val="035D56">
                <a:alpha val="1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508000" y="4318000"/>
            <a:ext cx="1841500" cy="5842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400" b="1" i="0" u="none" strike="noStrike">
                <a:solidFill>
                  <a:srgbClr val="0F766E"/>
                </a:solidFill>
                <a:latin typeface="Noto Sans SC"/>
                <a:ea typeface="Noto Sans SC"/>
                <a:cs typeface="Noto Sans SC"/>
                <a:sym typeface="Noto Sans SC"/>
              </a:rPr>
              <a:t>精准施肥</a:t>
            </a:r>
            <a:endParaRPr lang="en-US" sz="1100"/>
          </a:p>
        </p:txBody>
      </p:sp>
      <p:sp>
        <p:nvSpPr>
          <p:cNvPr id="16" name="AutoShape 16"/>
          <p:cNvSpPr/>
          <p:nvPr/>
        </p:nvSpPr>
        <p:spPr>
          <a:xfrm>
            <a:off x="2438400" y="4318000"/>
            <a:ext cx="1841500" cy="584200"/>
          </a:xfrm>
          <a:prstGeom prst="roundRect">
            <a:avLst>
              <a:gd name="adj" fmla="val 0"/>
            </a:avLst>
          </a:prstGeom>
          <a:solidFill>
            <a:srgbClr val="0F766E">
              <a:alpha val="10000"/>
            </a:srgbClr>
          </a:solidFill>
          <a:ln cap="flat" cmpd="sng">
            <a:solidFill>
              <a:srgbClr val="035D56">
                <a:alpha val="1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2438400" y="4318000"/>
            <a:ext cx="1841500" cy="5842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400" b="1" i="0" u="none" strike="noStrike">
                <a:solidFill>
                  <a:srgbClr val="0F766E"/>
                </a:solidFill>
                <a:latin typeface="Noto Sans SC"/>
                <a:ea typeface="Noto Sans SC"/>
                <a:cs typeface="Noto Sans SC"/>
                <a:sym typeface="Noto Sans SC"/>
              </a:rPr>
              <a:t>作物营养诊断</a:t>
            </a:r>
            <a:endParaRPr lang="en-US" sz="1100"/>
          </a:p>
        </p:txBody>
      </p:sp>
      <p:sp>
        <p:nvSpPr>
          <p:cNvPr id="18" name="AutoShape 18"/>
          <p:cNvSpPr/>
          <p:nvPr/>
        </p:nvSpPr>
        <p:spPr>
          <a:xfrm>
            <a:off x="4381500" y="4318000"/>
            <a:ext cx="1841500" cy="584200"/>
          </a:xfrm>
          <a:prstGeom prst="roundRect">
            <a:avLst>
              <a:gd name="adj" fmla="val 0"/>
            </a:avLst>
          </a:prstGeom>
          <a:solidFill>
            <a:srgbClr val="0F766E">
              <a:alpha val="10000"/>
            </a:srgbClr>
          </a:solidFill>
          <a:ln cap="flat" cmpd="sng">
            <a:solidFill>
              <a:srgbClr val="035D56">
                <a:alpha val="1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4381500" y="4318000"/>
            <a:ext cx="1841500" cy="5842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400" b="1" i="0" u="none" strike="noStrike">
                <a:solidFill>
                  <a:srgbClr val="0F766E"/>
                </a:solidFill>
                <a:latin typeface="Noto Sans SC"/>
                <a:ea typeface="Noto Sans SC"/>
                <a:cs typeface="Noto Sans SC"/>
                <a:sym typeface="Noto Sans SC"/>
              </a:rPr>
              <a:t>品质评估</a:t>
            </a:r>
            <a:endParaRPr lang="en-US" sz="1100"/>
          </a:p>
        </p:txBody>
      </p:sp>
      <p:sp>
        <p:nvSpPr>
          <p:cNvPr id="20" name="AutoShape 20"/>
          <p:cNvSpPr/>
          <p:nvPr/>
        </p:nvSpPr>
        <p:spPr>
          <a:xfrm>
            <a:off x="508000" y="5080000"/>
            <a:ext cx="5969000" cy="889000"/>
          </a:xfrm>
          <a:prstGeom prst="roundRect">
            <a:avLst>
              <a:gd name="adj" fmla="val 0"/>
            </a:avLst>
          </a:prstGeom>
          <a:solidFill>
            <a:srgbClr val="0F766E">
              <a:alpha val="8000"/>
            </a:srgbClr>
          </a:solidFill>
          <a:ln cap="flat" cmpd="sng">
            <a:solidFill>
              <a:srgbClr val="035D56">
                <a:alpha val="8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508000" y="5080000"/>
            <a:ext cx="38100" cy="889000"/>
          </a:xfrm>
          <a:prstGeom prst="roundRect">
            <a:avLst>
              <a:gd name="adj" fmla="val 0"/>
            </a:avLst>
          </a:prstGeom>
          <a:solidFill>
            <a:srgbClr val="0F766E">
              <a:alpha val="100000"/>
            </a:srgbClr>
          </a:solidFill>
          <a:ln cap="flat" cmpd="sng">
            <a:solidFill>
              <a:srgbClr val="035D56">
                <a:alpha val="10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762000" y="5080000"/>
            <a:ext cx="55880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600" b="1" i="0" u="none" strike="noStrike" spc="100">
                <a:solidFill>
                  <a:srgbClr val="0F766E"/>
                </a:solidFill>
                <a:latin typeface="Noto Sans SC"/>
                <a:ea typeface="Noto Sans SC"/>
                <a:cs typeface="Noto Sans SC"/>
                <a:sym typeface="Noto Sans SC"/>
              </a:rPr>
              <a:t>业务价值</a:t>
            </a:r>
            <a:endParaRPr lang="en-US" sz="1100"/>
          </a:p>
        </p:txBody>
      </p:sp>
      <p:sp>
        <p:nvSpPr>
          <p:cNvPr id="23" name="AutoShape 23"/>
          <p:cNvSpPr/>
          <p:nvPr/>
        </p:nvSpPr>
        <p:spPr>
          <a:xfrm>
            <a:off x="762000" y="5397500"/>
            <a:ext cx="5588000" cy="5080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300" b="0" i="0" u="none" strike="noStrike">
                <a:solidFill>
                  <a:srgbClr val="334155"/>
                </a:solidFill>
                <a:latin typeface="Noto Sans SC"/>
                <a:ea typeface="Noto Sans SC"/>
                <a:cs typeface="Noto Sans SC"/>
                <a:sym typeface="Noto Sans SC"/>
              </a:rPr>
              <a:t>将光谱数据转化为具体的生化指标,指导田间管理措施。</a:t>
            </a:r>
            <a:endParaRPr lang="en-US" sz="1100"/>
          </a:p>
        </p:txBody>
      </p:sp>
      <p:sp>
        <p:nvSpPr>
          <p:cNvPr id="24" name="AutoShape 24"/>
          <p:cNvSpPr/>
          <p:nvPr/>
        </p:nvSpPr>
        <p:spPr>
          <a:xfrm>
            <a:off x="6731000" y="1524000"/>
            <a:ext cx="4953000" cy="1244600"/>
          </a:xfrm>
          <a:prstGeom prst="roundRect">
            <a:avLst>
              <a:gd name="adj" fmla="val 0"/>
            </a:avLst>
          </a:prstGeom>
          <a:solidFill>
            <a:srgbClr val="F59E0B">
              <a:alpha val="9000"/>
            </a:srgbClr>
          </a:solidFill>
          <a:ln cap="flat" cmpd="sng">
            <a:solidFill>
              <a:srgbClr val="DC8A00">
                <a:alpha val="9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6731000" y="1524000"/>
            <a:ext cx="38100" cy="1244600"/>
          </a:xfrm>
          <a:prstGeom prst="roundRect">
            <a:avLst>
              <a:gd name="adj" fmla="val 0"/>
            </a:avLst>
          </a:prstGeom>
          <a:solidFill>
            <a:srgbClr val="F59E0B">
              <a:alpha val="100000"/>
            </a:srgbClr>
          </a:solidFill>
          <a:ln cap="flat" cmpd="sng">
            <a:solidFill>
              <a:srgbClr val="DC8A00">
                <a:alpha val="100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6985000" y="1524000"/>
            <a:ext cx="457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600" b="1" i="0" u="none" strike="noStrike" spc="100">
                <a:solidFill>
                  <a:srgbClr val="F59E0B"/>
                </a:solidFill>
                <a:latin typeface="Noto Sans SC"/>
                <a:ea typeface="Noto Sans SC"/>
                <a:cs typeface="Noto Sans SC"/>
                <a:sym typeface="Noto Sans SC"/>
              </a:rPr>
              <a:t>缺失影响</a:t>
            </a:r>
            <a:endParaRPr lang="en-US" sz="1100"/>
          </a:p>
        </p:txBody>
      </p:sp>
      <p:sp>
        <p:nvSpPr>
          <p:cNvPr id="27" name="AutoShape 27"/>
          <p:cNvSpPr/>
          <p:nvPr/>
        </p:nvSpPr>
        <p:spPr>
          <a:xfrm>
            <a:off x="6985000" y="1905000"/>
            <a:ext cx="4572000" cy="762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300" b="0" i="0" u="none" strike="noStrike">
                <a:solidFill>
                  <a:srgbClr val="475569"/>
                </a:solidFill>
                <a:latin typeface="Noto Sans SC"/>
                <a:ea typeface="Noto Sans SC"/>
                <a:cs typeface="Noto Sans SC"/>
                <a:sym typeface="Noto Sans SC"/>
              </a:rPr>
              <a:t>无法将光谱数据转化为具体的生化指标,只能停留在定性描述。</a:t>
            </a:r>
            <a:endParaRPr lang="en-US" sz="1100"/>
          </a:p>
        </p:txBody>
      </p:sp>
      <p:cxnSp>
        <p:nvCxnSpPr>
          <p:cNvPr id="28" name="Connector 28"/>
          <p:cNvCxnSpPr/>
          <p:nvPr/>
        </p:nvCxnSpPr>
        <p:spPr>
          <a:xfrm rot="-8814">
            <a:off x="6731008" y="2914650"/>
            <a:ext cx="4953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29" name="AutoShape 29"/>
          <p:cNvSpPr/>
          <p:nvPr/>
        </p:nvSpPr>
        <p:spPr>
          <a:xfrm>
            <a:off x="6731000" y="3048000"/>
            <a:ext cx="4953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600" b="1" i="0" u="none" strike="noStrike" spc="100">
                <a:solidFill>
                  <a:srgbClr val="1E293B"/>
                </a:solidFill>
                <a:latin typeface="Noto Sans SC"/>
                <a:ea typeface="Noto Sans SC"/>
                <a:cs typeface="Noto Sans SC"/>
                <a:sym typeface="Noto Sans SC"/>
              </a:rPr>
              <a:t>流程位置与关联</a:t>
            </a:r>
            <a:endParaRPr lang="en-US" sz="1100"/>
          </a:p>
        </p:txBody>
      </p:sp>
      <p:sp>
        <p:nvSpPr>
          <p:cNvPr id="30" name="AutoShape 30"/>
          <p:cNvSpPr/>
          <p:nvPr/>
        </p:nvSpPr>
        <p:spPr>
          <a:xfrm>
            <a:off x="6731000" y="3479800"/>
            <a:ext cx="13970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200" b="0" i="0" u="none" strike="noStrike">
                <a:solidFill>
                  <a:srgbClr val="64748B"/>
                </a:solidFill>
                <a:latin typeface="Noto Sans SC"/>
                <a:ea typeface="Noto Sans SC"/>
                <a:cs typeface="Noto Sans SC"/>
                <a:sym typeface="Noto Sans SC"/>
              </a:rPr>
              <a:t>在哪个环节:</a:t>
            </a:r>
            <a:endParaRPr lang="en-US" sz="1100"/>
          </a:p>
        </p:txBody>
      </p:sp>
      <p:sp>
        <p:nvSpPr>
          <p:cNvPr id="31" name="AutoShape 31"/>
          <p:cNvSpPr/>
          <p:nvPr/>
        </p:nvSpPr>
        <p:spPr>
          <a:xfrm>
            <a:off x="8128000" y="3479800"/>
            <a:ext cx="35560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1" i="0" u="none" strike="noStrike">
                <a:solidFill>
                  <a:srgbClr val="1E293B"/>
                </a:solidFill>
                <a:latin typeface="Noto Sans SC"/>
                <a:ea typeface="Noto Sans SC"/>
                <a:cs typeface="Noto Sans SC"/>
                <a:sym typeface="Noto Sans SC"/>
              </a:rPr>
              <a:t>L3指数与反演</a:t>
            </a:r>
            <a:endParaRPr lang="en-US" sz="1100"/>
          </a:p>
        </p:txBody>
      </p:sp>
      <p:sp>
        <p:nvSpPr>
          <p:cNvPr id="32" name="AutoShape 32"/>
          <p:cNvSpPr/>
          <p:nvPr/>
        </p:nvSpPr>
        <p:spPr>
          <a:xfrm>
            <a:off x="6731000" y="3937000"/>
            <a:ext cx="13970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200" b="0" i="0" u="none" strike="noStrike">
                <a:solidFill>
                  <a:srgbClr val="64748B"/>
                </a:solidFill>
                <a:latin typeface="Noto Sans SC"/>
                <a:ea typeface="Noto Sans SC"/>
                <a:cs typeface="Noto Sans SC"/>
                <a:sym typeface="Noto Sans SC"/>
              </a:rPr>
              <a:t>关联算法:</a:t>
            </a:r>
            <a:endParaRPr lang="en-US" sz="1100"/>
          </a:p>
        </p:txBody>
      </p:sp>
      <p:sp>
        <p:nvSpPr>
          <p:cNvPr id="33" name="AutoShape 33"/>
          <p:cNvSpPr/>
          <p:nvPr/>
        </p:nvSpPr>
        <p:spPr>
          <a:xfrm>
            <a:off x="8128000" y="3937000"/>
            <a:ext cx="35560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0" i="0" u="none" strike="noStrike">
                <a:solidFill>
                  <a:srgbClr val="1E293B"/>
                </a:solidFill>
                <a:latin typeface="Noto Sans SC"/>
                <a:ea typeface="Noto Sans SC"/>
                <a:cs typeface="Noto Sans SC"/>
                <a:sym typeface="Noto Sans SC"/>
              </a:rPr>
              <a:t>#21光谱特征 · #33物理模型反演</a:t>
            </a:r>
            <a:endParaRPr lang="en-US" sz="1100"/>
          </a:p>
        </p:txBody>
      </p:sp>
      <p:cxnSp>
        <p:nvCxnSpPr>
          <p:cNvPr id="34" name="Connector 34"/>
          <p:cNvCxnSpPr/>
          <p:nvPr/>
        </p:nvCxnSpPr>
        <p:spPr>
          <a:xfrm rot="-8814">
            <a:off x="6731008" y="4565650"/>
            <a:ext cx="4953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35" name="AutoShape 35"/>
          <p:cNvSpPr/>
          <p:nvPr/>
        </p:nvSpPr>
        <p:spPr>
          <a:xfrm>
            <a:off x="6731000" y="4749800"/>
            <a:ext cx="4953000" cy="762000"/>
          </a:xfrm>
          <a:prstGeom prst="roundRect">
            <a:avLst>
              <a:gd name="adj" fmla="val 0"/>
            </a:avLst>
          </a:prstGeom>
          <a:gradFill rotWithShape="1">
            <a:gsLst>
              <a:gs pos="0">
                <a:srgbClr val="0F766E">
                  <a:alpha val="14000"/>
                </a:srgbClr>
              </a:gs>
              <a:gs pos="100000">
                <a:srgbClr val="0F766E">
                  <a:alpha val="4000"/>
                </a:srgbClr>
              </a:gs>
            </a:gsLst>
            <a:lin ang="0"/>
          </a:gradFill>
          <a:ln cap="flat" cmpd="sng">
            <a:gradFill rotWithShape="1">
              <a:gsLst>
                <a:gs pos="0">
                  <a:srgbClr val="035D56">
                    <a:alpha val="14000"/>
                  </a:srgbClr>
                </a:gs>
                <a:gs pos="100000">
                  <a:srgbClr val="035D56">
                    <a:alpha val="4000"/>
                  </a:srgbClr>
                </a:gs>
              </a:gsLst>
              <a:lin ang="0"/>
            </a:gradFill>
            <a:prstDash val="solid"/>
            <a:round/>
          </a:ln>
        </p:spPr>
        <p:txBody>
          <a:bodyPr vert="horz" wrap="square" lIns="63500" tIns="63500" rIns="63500" bIns="63500" rtlCol="0" anchor="ctr"/>
          <a:lstStyle/>
          <a:p>
            <a:pPr algn="ctr">
              <a:defRPr/>
            </a:pPr>
          </a:p>
        </p:txBody>
      </p:sp>
      <p:sp>
        <p:nvSpPr>
          <p:cNvPr id="36" name="AutoShape 36"/>
          <p:cNvSpPr/>
          <p:nvPr/>
        </p:nvSpPr>
        <p:spPr>
          <a:xfrm>
            <a:off x="6921500" y="4749800"/>
            <a:ext cx="1143000" cy="762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1" i="0" u="none" strike="noStrike" spc="200">
                <a:solidFill>
                  <a:srgbClr val="0F766E"/>
                </a:solidFill>
                <a:latin typeface="Noto Sans SC"/>
                <a:ea typeface="Noto Sans SC"/>
                <a:cs typeface="Noto Sans SC"/>
                <a:sym typeface="Noto Sans SC"/>
              </a:rPr>
              <a:t>[API]</a:t>
            </a:r>
            <a:endParaRPr lang="en-US" sz="1100"/>
          </a:p>
        </p:txBody>
      </p:sp>
      <p:cxnSp>
        <p:nvCxnSpPr>
          <p:cNvPr id="37" name="Connector 37"/>
          <p:cNvCxnSpPr/>
          <p:nvPr/>
        </p:nvCxnSpPr>
        <p:spPr>
          <a:xfrm rot="5314074">
            <a:off x="7810500" y="5124529"/>
            <a:ext cx="508000" cy="12700"/>
          </a:xfrm>
          <a:prstGeom prst="straightConnector1">
            <a:avLst/>
          </a:prstGeom>
          <a:solidFill>
            <a:srgbClr val="DEE0E3">
              <a:alpha val="100000"/>
            </a:srgbClr>
          </a:solidFill>
          <a:ln w="12700" cap="flat" cmpd="sng">
            <a:solidFill>
              <a:srgbClr val="0F766E">
                <a:alpha val="28000"/>
              </a:srgbClr>
            </a:solidFill>
            <a:prstDash val="solid"/>
            <a:round/>
            <a:headEnd type="none" w="med" len="med"/>
            <a:tailEnd type="none" w="med" len="med"/>
          </a:ln>
        </p:spPr>
      </p:cxnSp>
      <p:sp>
        <p:nvSpPr>
          <p:cNvPr id="38" name="AutoShape 38"/>
          <p:cNvSpPr/>
          <p:nvPr/>
        </p:nvSpPr>
        <p:spPr>
          <a:xfrm>
            <a:off x="8191500" y="4749800"/>
            <a:ext cx="342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0" i="0" u="none" strike="noStrike">
                <a:solidFill>
                  <a:srgbClr val="334155"/>
                </a:solidFill>
                <a:latin typeface="Inter"/>
                <a:ea typeface="Inter"/>
                <a:cs typeface="Inter"/>
                <a:sym typeface="Inter"/>
              </a:rPr>
              <a:t>/api/v1/32_empirical_inversion/run</a:t>
            </a:r>
            <a:endParaRPr lang="en-US" sz="1100"/>
          </a:p>
        </p:txBody>
      </p:sp>
      <p:sp>
        <p:nvSpPr>
          <p:cNvPr id="39" name="AutoShape 39"/>
          <p:cNvSpPr/>
          <p:nvPr/>
        </p:nvSpPr>
        <p:spPr>
          <a:xfrm>
            <a:off x="6731000" y="5715000"/>
            <a:ext cx="4953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64748B"/>
                </a:solidFill>
                <a:latin typeface="Noto Sans SC"/>
                <a:ea typeface="Noto Sans SC"/>
                <a:cs typeface="Noto Sans SC"/>
                <a:sym typeface="Noto Sans SC"/>
              </a:rPr>
              <a:t>从"定性描述"到"定量分析"的关键跨越,支撑精准田间管理。</a:t>
            </a:r>
            <a:endParaRPr lang="en-US" sz="11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092200"/>
          </a:xfrm>
          <a:prstGeom prst="roundRect">
            <a:avLst>
              <a:gd name="adj" fmla="val 0"/>
            </a:avLst>
          </a:prstGeom>
          <a:gradFill rotWithShape="1">
            <a:gsLst>
              <a:gs pos="0">
                <a:srgbClr val="1E3A8A">
                  <a:alpha val="100000"/>
                </a:srgbClr>
              </a:gs>
              <a:gs pos="100000">
                <a:srgbClr val="3358B2">
                  <a:alpha val="100000"/>
                </a:srgbClr>
              </a:gs>
            </a:gsLst>
            <a:lin ang="0"/>
          </a:gradFill>
          <a:ln cap="flat" cmpd="sng">
            <a:gradFill rotWithShape="1">
              <a:gsLst>
                <a:gs pos="0">
                  <a:srgbClr val="0D2771">
                    <a:alpha val="100000"/>
                  </a:srgbClr>
                </a:gs>
                <a:gs pos="100000">
                  <a:srgbClr val="1C4199">
                    <a:alpha val="100000"/>
                  </a:srgbClr>
                </a:gs>
              </a:gsLst>
              <a:lin ang="0"/>
            </a:gradFill>
            <a:prstDash val="solid"/>
            <a:round/>
          </a:ln>
        </p:spPr>
        <p:txBody>
          <a:bodyPr vert="horz" wrap="square" lIns="63500" tIns="63500" rIns="63500" bIns="63500" rtlCol="0" anchor="ctr"/>
          <a:lstStyle/>
          <a:p>
            <a:pPr algn="ctr">
              <a:defRPr/>
            </a:pPr>
          </a:p>
        </p:txBody>
      </p:sp>
      <p:sp>
        <p:nvSpPr>
          <p:cNvPr id="3" name="AutoShape 3"/>
          <p:cNvSpPr/>
          <p:nvPr/>
        </p:nvSpPr>
        <p:spPr>
          <a:xfrm>
            <a:off x="381000" y="177800"/>
            <a:ext cx="7874000" cy="5588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spc="100">
                <a:solidFill>
                  <a:srgbClr val="FFFFFF"/>
                </a:solidFill>
                <a:latin typeface="Noto Sans SC"/>
                <a:ea typeface="Noto Sans SC"/>
                <a:cs typeface="Noto Sans SC"/>
                <a:sym typeface="Noto Sans SC"/>
              </a:rPr>
              <a:t>辐射传输物理模型反演</a:t>
            </a:r>
            <a:endParaRPr lang="en-US" sz="1100"/>
          </a:p>
        </p:txBody>
      </p:sp>
      <p:sp>
        <p:nvSpPr>
          <p:cNvPr id="4" name="AutoShape 4"/>
          <p:cNvSpPr/>
          <p:nvPr/>
        </p:nvSpPr>
        <p:spPr>
          <a:xfrm>
            <a:off x="381000" y="698500"/>
            <a:ext cx="7874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300" b="0" i="0" u="none" strike="noStrike" spc="200">
                <a:solidFill>
                  <a:srgbClr val="FFFFFF">
                    <a:alpha val="78039"/>
                  </a:srgbClr>
                </a:solidFill>
                <a:latin typeface="Noto Sans SC"/>
                <a:ea typeface="Noto Sans SC"/>
                <a:cs typeface="Noto Sans SC"/>
                <a:sym typeface="Noto Sans SC"/>
              </a:rPr>
              <a:t>辅导材料:算法清单与API</a:t>
            </a:r>
            <a:endParaRPr lang="en-US" sz="1100"/>
          </a:p>
        </p:txBody>
      </p:sp>
      <p:sp>
        <p:nvSpPr>
          <p:cNvPr id="5" name="AutoShape 5"/>
          <p:cNvSpPr/>
          <p:nvPr/>
        </p:nvSpPr>
        <p:spPr>
          <a:xfrm>
            <a:off x="8509000" y="127000"/>
            <a:ext cx="3302000" cy="762000"/>
          </a:xfrm>
          <a:prstGeom prst="rect">
            <a:avLst/>
          </a:prstGeom>
          <a:noFill/>
          <a:ln w="12700" cap="flat" cmpd="sng">
            <a:noFill/>
            <a:prstDash val="solid"/>
            <a:round/>
          </a:ln>
        </p:spPr>
        <p:txBody>
          <a:bodyPr vert="horz" wrap="square" lIns="0" tIns="0" rIns="0" bIns="0" rtlCol="0" anchor="ctr" anchorCtr="0"/>
          <a:lstStyle/>
          <a:p>
            <a:pPr marL="0" indent="0" algn="r">
              <a:lnSpc>
                <a:spcPct val="83000"/>
              </a:lnSpc>
              <a:defRPr/>
            </a:pPr>
            <a:r>
              <a:rPr lang="en-US" sz="5600" b="1" i="0" u="none" strike="noStrike">
                <a:solidFill>
                  <a:srgbClr val="FFFFFF">
                    <a:alpha val="18039"/>
                  </a:srgbClr>
                </a:solidFill>
                <a:latin typeface="Noto Sans SC"/>
                <a:ea typeface="Noto Sans SC"/>
                <a:cs typeface="Noto Sans SC"/>
                <a:sym typeface="Noto Sans SC"/>
              </a:rPr>
              <a:t>33</a:t>
            </a:r>
            <a:r>
              <a:rPr lang="en-US" sz="1400" b="0" i="0" u="none" strike="noStrike">
                <a:solidFill>
                  <a:srgbClr val="FFFFFF">
                    <a:alpha val="70196"/>
                  </a:srgbClr>
                </a:solidFill>
                <a:latin typeface="Noto Sans SC"/>
                <a:ea typeface="Noto Sans SC"/>
                <a:cs typeface="Noto Sans SC"/>
                <a:sym typeface="Noto Sans SC"/>
              </a:rPr>
              <a:t>· L3</a:t>
            </a:r>
            <a:endParaRPr lang="en-US" sz="1100"/>
          </a:p>
        </p:txBody>
      </p:sp>
      <p:sp>
        <p:nvSpPr>
          <p:cNvPr id="6" name="AutoShape 6"/>
          <p:cNvSpPr/>
          <p:nvPr/>
        </p:nvSpPr>
        <p:spPr>
          <a:xfrm>
            <a:off x="381000" y="1244600"/>
            <a:ext cx="7747000" cy="10414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381000" y="1244600"/>
            <a:ext cx="50800" cy="1041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635000" y="1295400"/>
            <a:ext cx="73660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700" b="1" i="0" u="none" strike="noStrike" spc="200">
                <a:solidFill>
                  <a:srgbClr val="1E3A8A"/>
                </a:solidFill>
                <a:latin typeface="Noto Sans SC"/>
                <a:ea typeface="Noto Sans SC"/>
                <a:cs typeface="Noto Sans SC"/>
                <a:sym typeface="Noto Sans SC"/>
              </a:rPr>
              <a:t>功能定义</a:t>
            </a:r>
            <a:endParaRPr lang="en-US" sz="1100"/>
          </a:p>
        </p:txBody>
      </p:sp>
      <p:sp>
        <p:nvSpPr>
          <p:cNvPr id="9" name="AutoShape 9"/>
          <p:cNvSpPr/>
          <p:nvPr/>
        </p:nvSpPr>
        <p:spPr>
          <a:xfrm>
            <a:off x="635000" y="1651000"/>
            <a:ext cx="7366000" cy="5842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500" b="0" i="0" u="none" strike="noStrike">
                <a:solidFill>
                  <a:srgbClr val="334155"/>
                </a:solidFill>
                <a:latin typeface="Noto Sans SC"/>
                <a:ea typeface="Noto Sans SC"/>
                <a:cs typeface="Noto Sans SC"/>
                <a:sym typeface="Noto Sans SC"/>
              </a:rPr>
              <a:t>基于物理模型,反演作物生化参数和结构参数。</a:t>
            </a:r>
            <a:endParaRPr lang="en-US" sz="1100"/>
          </a:p>
        </p:txBody>
      </p:sp>
      <p:sp>
        <p:nvSpPr>
          <p:cNvPr id="10" name="AutoShape 10"/>
          <p:cNvSpPr/>
          <p:nvPr/>
        </p:nvSpPr>
        <p:spPr>
          <a:xfrm>
            <a:off x="381000" y="2387600"/>
            <a:ext cx="7747000" cy="12446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381000" y="2387600"/>
            <a:ext cx="50800" cy="12446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635000" y="2438400"/>
            <a:ext cx="73660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700" b="1" i="0" u="none" strike="noStrike" spc="200">
                <a:solidFill>
                  <a:srgbClr val="1E3A8A"/>
                </a:solidFill>
                <a:latin typeface="Noto Sans SC"/>
                <a:ea typeface="Noto Sans SC"/>
                <a:cs typeface="Noto Sans SC"/>
                <a:sym typeface="Noto Sans SC"/>
              </a:rPr>
              <a:t>方法要点</a:t>
            </a:r>
            <a:endParaRPr lang="en-US" sz="1100"/>
          </a:p>
        </p:txBody>
      </p:sp>
      <p:sp>
        <p:nvSpPr>
          <p:cNvPr id="13" name="AutoShape 13"/>
          <p:cNvSpPr/>
          <p:nvPr/>
        </p:nvSpPr>
        <p:spPr>
          <a:xfrm>
            <a:off x="635000" y="2794000"/>
            <a:ext cx="7366000" cy="762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500" b="0" i="0" u="none" strike="noStrike">
                <a:solidFill>
                  <a:srgbClr val="334155"/>
                </a:solidFill>
                <a:latin typeface="Noto Sans SC"/>
                <a:ea typeface="Noto Sans SC"/>
                <a:cs typeface="Noto Sans SC"/>
                <a:sym typeface="Noto Sans SC"/>
              </a:rPr>
              <a:t>利用辐射传输模型(如</a:t>
            </a:r>
            <a:r>
              <a:rPr lang="en-US" sz="1500" b="1" i="0" u="none" strike="noStrike">
                <a:solidFill>
                  <a:srgbClr val="1E3A8A"/>
                </a:solidFill>
                <a:latin typeface="Noto Sans SC"/>
                <a:ea typeface="Noto Sans SC"/>
                <a:cs typeface="Noto Sans SC"/>
                <a:sym typeface="Noto Sans SC"/>
              </a:rPr>
              <a:t>PROSAIL</a:t>
            </a:r>
            <a:r>
              <a:rPr lang="en-US" sz="1500" b="0" i="0" u="none" strike="noStrike">
                <a:solidFill>
                  <a:srgbClr val="334155"/>
                </a:solidFill>
                <a:latin typeface="Noto Sans SC"/>
                <a:ea typeface="Noto Sans SC"/>
                <a:cs typeface="Noto Sans SC"/>
                <a:sym typeface="Noto Sans SC"/>
              </a:rPr>
              <a:t>),通过模拟光谱反射率,反推出模型中的参数(如叶面积指数LAI、叶绿素含量Cab等)。</a:t>
            </a:r>
            <a:endParaRPr lang="en-US" sz="1100"/>
          </a:p>
        </p:txBody>
      </p:sp>
      <p:sp>
        <p:nvSpPr>
          <p:cNvPr id="14" name="AutoShape 14"/>
          <p:cNvSpPr/>
          <p:nvPr/>
        </p:nvSpPr>
        <p:spPr>
          <a:xfrm>
            <a:off x="381000" y="3708400"/>
            <a:ext cx="7747000" cy="10414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381000" y="3708400"/>
            <a:ext cx="50800" cy="1041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635000" y="3759200"/>
            <a:ext cx="73660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700" b="1" i="0" u="none" strike="noStrike" spc="200">
                <a:solidFill>
                  <a:srgbClr val="1E3A8A"/>
                </a:solidFill>
                <a:latin typeface="Noto Sans SC"/>
                <a:ea typeface="Noto Sans SC"/>
                <a:cs typeface="Noto Sans SC"/>
                <a:sym typeface="Noto Sans SC"/>
              </a:rPr>
              <a:t>适用场景</a:t>
            </a:r>
            <a:endParaRPr lang="en-US" sz="1100"/>
          </a:p>
        </p:txBody>
      </p:sp>
      <p:sp>
        <p:nvSpPr>
          <p:cNvPr id="17" name="AutoShape 17"/>
          <p:cNvSpPr/>
          <p:nvPr/>
        </p:nvSpPr>
        <p:spPr>
          <a:xfrm>
            <a:off x="635000" y="4089400"/>
            <a:ext cx="7366000" cy="5842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500" b="0" i="0" u="none" strike="noStrike">
                <a:solidFill>
                  <a:srgbClr val="334155"/>
                </a:solidFill>
                <a:latin typeface="Noto Sans SC"/>
                <a:ea typeface="Noto Sans SC"/>
                <a:cs typeface="Noto Sans SC"/>
                <a:sym typeface="Noto Sans SC"/>
              </a:rPr>
              <a:t>高精度作物参数反演、全球生态系统监测。</a:t>
            </a:r>
            <a:endParaRPr lang="en-US" sz="1100"/>
          </a:p>
        </p:txBody>
      </p:sp>
      <p:sp>
        <p:nvSpPr>
          <p:cNvPr id="18" name="AutoShape 18"/>
          <p:cNvSpPr/>
          <p:nvPr/>
        </p:nvSpPr>
        <p:spPr>
          <a:xfrm>
            <a:off x="381000" y="4826000"/>
            <a:ext cx="3784600" cy="1143000"/>
          </a:xfrm>
          <a:prstGeom prst="roundRect">
            <a:avLst>
              <a:gd name="adj" fmla="val 0"/>
            </a:avLst>
          </a:prstGeom>
          <a:solidFill>
            <a:srgbClr val="10B981">
              <a:alpha val="10000"/>
            </a:srgbClr>
          </a:solidFill>
          <a:ln cap="flat" cmpd="sng">
            <a:solidFill>
              <a:srgbClr val="00A06B">
                <a:alpha val="1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381000" y="4826000"/>
            <a:ext cx="50800" cy="1143000"/>
          </a:xfrm>
          <a:prstGeom prst="roundRect">
            <a:avLst>
              <a:gd name="adj" fmla="val 0"/>
            </a:avLst>
          </a:prstGeom>
          <a:solidFill>
            <a:srgbClr val="10B981">
              <a:alpha val="100000"/>
            </a:srgbClr>
          </a:solidFill>
          <a:ln cap="flat" cmpd="sng">
            <a:solidFill>
              <a:srgbClr val="00A06B">
                <a:alpha val="10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635000" y="4876800"/>
            <a:ext cx="34290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700" b="1" i="0" u="none" strike="noStrike" spc="200">
                <a:solidFill>
                  <a:srgbClr val="10B981"/>
                </a:solidFill>
                <a:latin typeface="Noto Sans SC"/>
                <a:ea typeface="Noto Sans SC"/>
                <a:cs typeface="Noto Sans SC"/>
                <a:sym typeface="Noto Sans SC"/>
              </a:rPr>
              <a:t>业务价值</a:t>
            </a:r>
            <a:endParaRPr lang="en-US" sz="1100"/>
          </a:p>
        </p:txBody>
      </p:sp>
      <p:sp>
        <p:nvSpPr>
          <p:cNvPr id="21" name="AutoShape 21"/>
          <p:cNvSpPr/>
          <p:nvPr/>
        </p:nvSpPr>
        <p:spPr>
          <a:xfrm>
            <a:off x="635000" y="5207000"/>
            <a:ext cx="3429000" cy="6350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400" b="0" i="0" u="none" strike="noStrike">
                <a:solidFill>
                  <a:srgbClr val="334155"/>
                </a:solidFill>
                <a:latin typeface="Noto Sans SC"/>
                <a:ea typeface="Noto Sans SC"/>
                <a:cs typeface="Noto Sans SC"/>
                <a:sym typeface="Noto Sans SC"/>
              </a:rPr>
              <a:t>反演结果更具物理意义,通用性更强。</a:t>
            </a:r>
            <a:endParaRPr lang="en-US" sz="1100"/>
          </a:p>
        </p:txBody>
      </p:sp>
      <p:sp>
        <p:nvSpPr>
          <p:cNvPr id="22" name="AutoShape 22"/>
          <p:cNvSpPr/>
          <p:nvPr/>
        </p:nvSpPr>
        <p:spPr>
          <a:xfrm>
            <a:off x="4343400" y="4826000"/>
            <a:ext cx="3784600" cy="1143000"/>
          </a:xfrm>
          <a:prstGeom prst="roundRect">
            <a:avLst>
              <a:gd name="adj" fmla="val 0"/>
            </a:avLst>
          </a:prstGeom>
          <a:solidFill>
            <a:srgbClr val="F59E0B">
              <a:alpha val="10000"/>
            </a:srgbClr>
          </a:solidFill>
          <a:ln cap="flat" cmpd="sng">
            <a:solidFill>
              <a:srgbClr val="DC8A00">
                <a:alpha val="1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4343400" y="4826000"/>
            <a:ext cx="50800" cy="1143000"/>
          </a:xfrm>
          <a:prstGeom prst="roundRect">
            <a:avLst>
              <a:gd name="adj" fmla="val 0"/>
            </a:avLst>
          </a:prstGeom>
          <a:solidFill>
            <a:srgbClr val="F59E0B">
              <a:alpha val="100000"/>
            </a:srgbClr>
          </a:solidFill>
          <a:ln cap="flat" cmpd="sng">
            <a:solidFill>
              <a:srgbClr val="DC8A00">
                <a:alpha val="100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4597400" y="4876800"/>
            <a:ext cx="34290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700" b="1" i="0" u="none" strike="noStrike" spc="200">
                <a:solidFill>
                  <a:srgbClr val="F59E0B"/>
                </a:solidFill>
                <a:latin typeface="Noto Sans SC"/>
                <a:ea typeface="Noto Sans SC"/>
                <a:cs typeface="Noto Sans SC"/>
                <a:sym typeface="Noto Sans SC"/>
              </a:rPr>
              <a:t>缺失影响</a:t>
            </a:r>
            <a:endParaRPr lang="en-US" sz="1100"/>
          </a:p>
        </p:txBody>
      </p:sp>
      <p:sp>
        <p:nvSpPr>
          <p:cNvPr id="25" name="AutoShape 25"/>
          <p:cNvSpPr/>
          <p:nvPr/>
        </p:nvSpPr>
        <p:spPr>
          <a:xfrm>
            <a:off x="4597400" y="5207000"/>
            <a:ext cx="3429000" cy="6350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400" b="0" i="0" u="none" strike="noStrike">
                <a:solidFill>
                  <a:srgbClr val="334155"/>
                </a:solidFill>
                <a:latin typeface="Noto Sans SC"/>
                <a:ea typeface="Noto Sans SC"/>
                <a:cs typeface="Noto Sans SC"/>
                <a:sym typeface="Noto Sans SC"/>
              </a:rPr>
              <a:t>模型复杂,计算量大,需要较多的先验知识。</a:t>
            </a:r>
            <a:endParaRPr lang="en-US" sz="1100"/>
          </a:p>
        </p:txBody>
      </p:sp>
      <p:sp>
        <p:nvSpPr>
          <p:cNvPr id="26" name="AutoShape 26"/>
          <p:cNvSpPr/>
          <p:nvPr/>
        </p:nvSpPr>
        <p:spPr>
          <a:xfrm>
            <a:off x="8318500" y="1244600"/>
            <a:ext cx="3619500" cy="5016500"/>
          </a:xfrm>
          <a:prstGeom prst="roundRect">
            <a:avLst>
              <a:gd name="adj" fmla="val 0"/>
            </a:avLst>
          </a:prstGeom>
          <a:gradFill rotWithShape="1">
            <a:gsLst>
              <a:gs pos="0">
                <a:srgbClr val="F1F5F9">
                  <a:alpha val="100000"/>
                </a:srgbClr>
              </a:gs>
              <a:gs pos="100000">
                <a:srgbClr val="E2E8F0">
                  <a:alpha val="100000"/>
                </a:srgbClr>
              </a:gs>
            </a:gsLst>
            <a:lin ang="5400000"/>
          </a:gradFill>
          <a:ln cap="flat" cmpd="sng">
            <a:gradFill rotWithShape="1">
              <a:gsLst>
                <a:gs pos="0">
                  <a:srgbClr val="C2D1E0">
                    <a:alpha val="100000"/>
                  </a:srgbClr>
                </a:gs>
                <a:gs pos="100000">
                  <a:srgbClr val="B5C3D6">
                    <a:alpha val="100000"/>
                  </a:srgbClr>
                </a:gs>
              </a:gsLst>
              <a:lin ang="5400000"/>
            </a:gradFill>
            <a:prstDash val="solid"/>
            <a:round/>
          </a:ln>
        </p:spPr>
        <p:txBody>
          <a:bodyPr vert="horz" wrap="square" lIns="63500" tIns="63500" rIns="63500" bIns="63500" rtlCol="0" anchor="ctr"/>
          <a:lstStyle/>
          <a:p>
            <a:pPr algn="ctr">
              <a:defRPr/>
            </a:pPr>
          </a:p>
        </p:txBody>
      </p:sp>
      <p:sp>
        <p:nvSpPr>
          <p:cNvPr id="27" name="AutoShape 27"/>
          <p:cNvSpPr/>
          <p:nvPr/>
        </p:nvSpPr>
        <p:spPr>
          <a:xfrm>
            <a:off x="8509000" y="1371600"/>
            <a:ext cx="32385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400" b="1" i="0" u="none" strike="noStrike" spc="300">
                <a:solidFill>
                  <a:srgbClr val="1E3A8A"/>
                </a:solidFill>
                <a:latin typeface="Noto Sans SC"/>
                <a:ea typeface="Noto Sans SC"/>
                <a:cs typeface="Noto Sans SC"/>
                <a:sym typeface="Noto Sans SC"/>
              </a:rPr>
              <a:t>流程位置</a:t>
            </a:r>
            <a:endParaRPr lang="en-US" sz="1100"/>
          </a:p>
        </p:txBody>
      </p:sp>
      <p:sp>
        <p:nvSpPr>
          <p:cNvPr id="28" name="AutoShape 28"/>
          <p:cNvSpPr/>
          <p:nvPr/>
        </p:nvSpPr>
        <p:spPr>
          <a:xfrm>
            <a:off x="8509000" y="1701800"/>
            <a:ext cx="3238500" cy="584200"/>
          </a:xfrm>
          <a:prstGeom prst="roundRect">
            <a:avLst>
              <a:gd name="adj" fmla="val 0"/>
            </a:avLst>
          </a:prstGeom>
          <a:solidFill>
            <a:srgbClr val="1E3A8A">
              <a:alpha val="9000"/>
            </a:srgbClr>
          </a:solidFill>
          <a:ln cap="flat" cmpd="sng">
            <a:solidFill>
              <a:srgbClr val="0D2771">
                <a:alpha val="9000"/>
              </a:srgbClr>
            </a:solidFill>
            <a:prstDash val="solid"/>
            <a:round/>
          </a:ln>
        </p:spPr>
        <p:txBody>
          <a:bodyPr vert="horz" wrap="square" lIns="63500" tIns="63500" rIns="63500" bIns="63500" rtlCol="0" anchor="ctr"/>
          <a:lstStyle/>
          <a:p>
            <a:pPr algn="ctr">
              <a:defRPr/>
            </a:pPr>
          </a:p>
        </p:txBody>
      </p:sp>
      <p:sp>
        <p:nvSpPr>
          <p:cNvPr id="29" name="AutoShape 29"/>
          <p:cNvSpPr/>
          <p:nvPr/>
        </p:nvSpPr>
        <p:spPr>
          <a:xfrm>
            <a:off x="8509000" y="1701800"/>
            <a:ext cx="3238500" cy="5842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500" b="1" i="0" u="none" strike="noStrike">
                <a:solidFill>
                  <a:srgbClr val="1E3A8A"/>
                </a:solidFill>
                <a:latin typeface="Noto Sans SC"/>
                <a:ea typeface="Noto Sans SC"/>
                <a:cs typeface="Noto Sans SC"/>
                <a:sym typeface="Noto Sans SC"/>
              </a:rPr>
              <a:t>L3指数与反演</a:t>
            </a:r>
            <a:endParaRPr lang="en-US" sz="1100"/>
          </a:p>
        </p:txBody>
      </p:sp>
      <p:sp>
        <p:nvSpPr>
          <p:cNvPr id="30" name="AutoShape 30"/>
          <p:cNvSpPr/>
          <p:nvPr/>
        </p:nvSpPr>
        <p:spPr>
          <a:xfrm>
            <a:off x="8509000" y="2387600"/>
            <a:ext cx="32385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400" b="1" i="0" u="none" strike="noStrike" spc="300">
                <a:solidFill>
                  <a:srgbClr val="1E3A8A"/>
                </a:solidFill>
                <a:latin typeface="Noto Sans SC"/>
                <a:ea typeface="Noto Sans SC"/>
                <a:cs typeface="Noto Sans SC"/>
                <a:sym typeface="Noto Sans SC"/>
              </a:rPr>
              <a:t>关联算法</a:t>
            </a:r>
            <a:endParaRPr lang="en-US" sz="1100"/>
          </a:p>
        </p:txBody>
      </p:sp>
      <p:sp>
        <p:nvSpPr>
          <p:cNvPr id="31" name="AutoShape 31"/>
          <p:cNvSpPr/>
          <p:nvPr/>
        </p:nvSpPr>
        <p:spPr>
          <a:xfrm>
            <a:off x="8509000" y="2717800"/>
            <a:ext cx="3238500" cy="584200"/>
          </a:xfrm>
          <a:prstGeom prst="roundRect">
            <a:avLst>
              <a:gd name="adj" fmla="val 0"/>
            </a:avLst>
          </a:prstGeom>
          <a:solidFill>
            <a:srgbClr val="1E3A8A">
              <a:alpha val="9000"/>
            </a:srgbClr>
          </a:solidFill>
          <a:ln cap="flat" cmpd="sng">
            <a:solidFill>
              <a:srgbClr val="0D2771">
                <a:alpha val="9000"/>
              </a:srgbClr>
            </a:solidFill>
            <a:prstDash val="solid"/>
            <a:round/>
          </a:ln>
        </p:spPr>
        <p:txBody>
          <a:bodyPr vert="horz" wrap="square" lIns="63500" tIns="63500" rIns="63500" bIns="63500" rtlCol="0" anchor="ctr"/>
          <a:lstStyle/>
          <a:p>
            <a:pPr algn="ctr">
              <a:defRPr/>
            </a:pPr>
          </a:p>
        </p:txBody>
      </p:sp>
      <p:sp>
        <p:nvSpPr>
          <p:cNvPr id="32" name="AutoShape 32"/>
          <p:cNvSpPr/>
          <p:nvPr/>
        </p:nvSpPr>
        <p:spPr>
          <a:xfrm>
            <a:off x="8509000" y="2717800"/>
            <a:ext cx="3238500" cy="5842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500" b="0" i="0" u="none" strike="noStrike">
                <a:solidFill>
                  <a:srgbClr val="334155"/>
                </a:solidFill>
                <a:latin typeface="Noto Sans SC"/>
                <a:ea typeface="Noto Sans SC"/>
                <a:cs typeface="Noto Sans SC"/>
                <a:sym typeface="Noto Sans SC"/>
              </a:rPr>
              <a:t>#32</a:t>
            </a:r>
            <a:r>
              <a:rPr lang="en-US" sz="1500" b="1" i="0" u="none" strike="noStrike">
                <a:solidFill>
                  <a:srgbClr val="1E3A8A"/>
                </a:solidFill>
                <a:latin typeface="Noto Sans SC"/>
                <a:ea typeface="Noto Sans SC"/>
                <a:cs typeface="Noto Sans SC"/>
                <a:sym typeface="Noto Sans SC"/>
              </a:rPr>
              <a:t>经验回归反演</a:t>
            </a:r>
            <a:endParaRPr lang="en-US" sz="1100"/>
          </a:p>
        </p:txBody>
      </p:sp>
      <p:cxnSp>
        <p:nvCxnSpPr>
          <p:cNvPr id="33" name="Connector 33"/>
          <p:cNvCxnSpPr/>
          <p:nvPr/>
        </p:nvCxnSpPr>
        <p:spPr>
          <a:xfrm rot="-13750">
            <a:off x="8509013" y="3422650"/>
            <a:ext cx="31750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34" name="AutoShape 34"/>
          <p:cNvSpPr/>
          <p:nvPr/>
        </p:nvSpPr>
        <p:spPr>
          <a:xfrm>
            <a:off x="8509000" y="3556000"/>
            <a:ext cx="32385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400" b="1" i="0" u="none" strike="noStrike" spc="300">
                <a:solidFill>
                  <a:srgbClr val="1E3A8A"/>
                </a:solidFill>
                <a:latin typeface="Noto Sans SC"/>
                <a:ea typeface="Noto Sans SC"/>
                <a:cs typeface="Noto Sans SC"/>
                <a:sym typeface="Noto Sans SC"/>
              </a:rPr>
              <a:t>调用API</a:t>
            </a:r>
            <a:endParaRPr lang="en-US" sz="1100"/>
          </a:p>
        </p:txBody>
      </p:sp>
      <p:sp>
        <p:nvSpPr>
          <p:cNvPr id="35" name="AutoShape 35"/>
          <p:cNvSpPr/>
          <p:nvPr/>
        </p:nvSpPr>
        <p:spPr>
          <a:xfrm>
            <a:off x="8509000" y="3937000"/>
            <a:ext cx="3238500" cy="889000"/>
          </a:xfrm>
          <a:prstGeom prst="roundRect">
            <a:avLst>
              <a:gd name="adj" fmla="val 0"/>
            </a:avLst>
          </a:prstGeom>
          <a:gradFill rotWithShape="1">
            <a:gsLst>
              <a:gs pos="0">
                <a:srgbClr val="1E3A8A">
                  <a:alpha val="100000"/>
                </a:srgbClr>
              </a:gs>
              <a:gs pos="100000">
                <a:srgbClr val="3358B2">
                  <a:alpha val="100000"/>
                </a:srgbClr>
              </a:gs>
            </a:gsLst>
            <a:lin ang="2700000"/>
          </a:gradFill>
          <a:ln cap="flat" cmpd="sng">
            <a:gradFill rotWithShape="1">
              <a:gsLst>
                <a:gs pos="0">
                  <a:srgbClr val="0D2771">
                    <a:alpha val="100000"/>
                  </a:srgbClr>
                </a:gs>
                <a:gs pos="100000">
                  <a:srgbClr val="1C4199">
                    <a:alpha val="100000"/>
                  </a:srgbClr>
                </a:gs>
              </a:gsLst>
              <a:lin ang="2700000"/>
            </a:gradFill>
            <a:prstDash val="solid"/>
            <a:round/>
          </a:ln>
        </p:spPr>
        <p:txBody>
          <a:bodyPr vert="horz" wrap="square" lIns="63500" tIns="63500" rIns="63500" bIns="63500" rtlCol="0" anchor="ctr"/>
          <a:lstStyle/>
          <a:p>
            <a:pPr algn="ctr">
              <a:defRPr/>
            </a:pPr>
          </a:p>
        </p:txBody>
      </p:sp>
      <p:sp>
        <p:nvSpPr>
          <p:cNvPr id="36" name="AutoShape 36"/>
          <p:cNvSpPr/>
          <p:nvPr/>
        </p:nvSpPr>
        <p:spPr>
          <a:xfrm>
            <a:off x="8509000" y="3937000"/>
            <a:ext cx="32385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200" b="0" i="0" u="none" strike="noStrike" spc="100">
                <a:solidFill>
                  <a:srgbClr val="FFFFFF">
                    <a:alpha val="72157"/>
                  </a:srgbClr>
                </a:solidFill>
                <a:latin typeface="Noto Sans SC"/>
                <a:ea typeface="Noto Sans SC"/>
                <a:cs typeface="Noto Sans SC"/>
                <a:sym typeface="Noto Sans SC"/>
              </a:rPr>
              <a:t>POST</a:t>
            </a:r>
            <a:endParaRPr lang="en-US" sz="1100"/>
          </a:p>
          <a:p>
            <a:pPr marL="0" indent="0" algn="ctr">
              <a:lnSpc>
                <a:spcPct val="108000"/>
              </a:lnSpc>
            </a:pPr>
            <a:r>
              <a:rPr lang="en-US" sz="1300" b="1" i="0" u="none" strike="noStrike">
                <a:solidFill>
                  <a:srgbClr val="FFFFFF"/>
                </a:solidFill>
                <a:latin typeface="Noto Sans SC"/>
                <a:ea typeface="Noto Sans SC"/>
                <a:cs typeface="Noto Sans SC"/>
                <a:sym typeface="Noto Sans SC"/>
              </a:rPr>
              <a:t>/api/v1/33_physical_inversion/run</a:t>
            </a:r>
            <a:endParaRPr lang="en-US" sz="1300" b="1" i="0" u="none" strike="noStrike">
              <a:solidFill>
                <a:srgbClr val="FFFFFF"/>
              </a:solidFill>
              <a:latin typeface="Noto Sans SC"/>
              <a:ea typeface="Noto Sans SC"/>
              <a:cs typeface="Noto Sans SC"/>
              <a:sym typeface="Noto Sans SC"/>
            </a:endParaRPr>
          </a:p>
        </p:txBody>
      </p:sp>
      <p:sp>
        <p:nvSpPr>
          <p:cNvPr id="37" name="AutoShape 37"/>
          <p:cNvSpPr/>
          <p:nvPr/>
        </p:nvSpPr>
        <p:spPr>
          <a:xfrm>
            <a:off x="8509000" y="5080000"/>
            <a:ext cx="3238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9000"/>
              </a:lnSpc>
              <a:defRPr/>
            </a:pPr>
            <a:r>
              <a:rPr lang="en-US" sz="1200" b="0" i="0" u="none" strike="noStrike">
                <a:solidFill>
                  <a:srgbClr val="334155">
                    <a:alpha val="70196"/>
                  </a:srgbClr>
                </a:solidFill>
                <a:latin typeface="Noto Sans SC"/>
                <a:ea typeface="Noto Sans SC"/>
                <a:cs typeface="Noto Sans SC"/>
                <a:sym typeface="Noto Sans SC"/>
              </a:rPr>
              <a:t>与经验模型不同,它基于物理原理,通过模拟光线在植被冠层中的传播过程反演参数。</a:t>
            </a:r>
            <a:endParaRPr lang="en-US" sz="11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254000"/>
            <a:ext cx="10414000" cy="6604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2800" b="1" i="0" u="none" strike="noStrike" spc="100">
                <a:solidFill>
                  <a:srgbClr val="1E3A8A"/>
                </a:solidFill>
                <a:latin typeface="Noto Sans SC"/>
                <a:ea typeface="Noto Sans SC"/>
                <a:cs typeface="Noto Sans SC"/>
                <a:sym typeface="Noto Sans SC"/>
              </a:rPr>
              <a:t>传统机器学习分类(SVM/随机森林)</a:t>
            </a:r>
            <a:endParaRPr lang="en-US" sz="1100"/>
          </a:p>
        </p:txBody>
      </p:sp>
      <p:sp>
        <p:nvSpPr>
          <p:cNvPr id="3" name="AutoShape 3"/>
          <p:cNvSpPr/>
          <p:nvPr/>
        </p:nvSpPr>
        <p:spPr>
          <a:xfrm>
            <a:off x="381000" y="965200"/>
            <a:ext cx="10414000" cy="2794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200" b="0" i="0" u="none" strike="noStrike" spc="200">
                <a:solidFill>
                  <a:srgbClr val="64748B"/>
                </a:solidFill>
                <a:latin typeface="Noto Sans SC"/>
                <a:ea typeface="Noto Sans SC"/>
                <a:cs typeface="Noto Sans SC"/>
                <a:sym typeface="Noto Sans SC"/>
              </a:rPr>
              <a:t>所属层级:L3 ｜ 编号#34 ｜ 辅导材料:算法清单与API</a:t>
            </a:r>
            <a:endParaRPr lang="en-US" sz="1100"/>
          </a:p>
        </p:txBody>
      </p:sp>
      <p:cxnSp>
        <p:nvCxnSpPr>
          <p:cNvPr id="4" name="Connector 4"/>
          <p:cNvCxnSpPr/>
          <p:nvPr/>
        </p:nvCxnSpPr>
        <p:spPr>
          <a:xfrm rot="-3819">
            <a:off x="381004" y="1390650"/>
            <a:ext cx="11430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5" name="AutoShape 5"/>
          <p:cNvSpPr/>
          <p:nvPr/>
        </p:nvSpPr>
        <p:spPr>
          <a:xfrm>
            <a:off x="381000" y="1524000"/>
            <a:ext cx="3683000" cy="1841500"/>
          </a:xfrm>
          <a:prstGeom prst="roundRect">
            <a:avLst>
              <a:gd name="adj" fmla="val 0"/>
            </a:avLst>
          </a:prstGeom>
          <a:solidFill>
            <a:srgbClr val="EFF6FF">
              <a:alpha val="100000"/>
            </a:srgbClr>
          </a:solidFill>
          <a:ln cap="flat" cmpd="sng">
            <a:solidFill>
              <a:srgbClr val="C0D0E6">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381000" y="1524000"/>
            <a:ext cx="50800" cy="18415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635000" y="1600200"/>
            <a:ext cx="3238500" cy="381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900" b="1" i="0" u="none" strike="noStrike" spc="100">
                <a:solidFill>
                  <a:srgbClr val="1E3A8A"/>
                </a:solidFill>
                <a:latin typeface="Noto Sans SC"/>
                <a:ea typeface="Noto Sans SC"/>
                <a:cs typeface="Noto Sans SC"/>
                <a:sym typeface="Noto Sans SC"/>
              </a:rPr>
              <a:t>功能定义</a:t>
            </a:r>
            <a:endParaRPr lang="en-US" sz="1100"/>
          </a:p>
        </p:txBody>
      </p:sp>
      <p:cxnSp>
        <p:nvCxnSpPr>
          <p:cNvPr id="8" name="Connector 8"/>
          <p:cNvCxnSpPr/>
          <p:nvPr/>
        </p:nvCxnSpPr>
        <p:spPr>
          <a:xfrm rot="-13750">
            <a:off x="635013" y="2025650"/>
            <a:ext cx="31750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9" name="AutoShape 9"/>
          <p:cNvSpPr/>
          <p:nvPr/>
        </p:nvSpPr>
        <p:spPr>
          <a:xfrm>
            <a:off x="635000" y="2108200"/>
            <a:ext cx="3238500" cy="1041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基于光谱特征,将影像中的每个像素分类到不同的地物类别。</a:t>
            </a:r>
            <a:endParaRPr lang="en-US" sz="1100"/>
          </a:p>
        </p:txBody>
      </p:sp>
      <p:sp>
        <p:nvSpPr>
          <p:cNvPr id="10" name="AutoShape 10"/>
          <p:cNvSpPr/>
          <p:nvPr/>
        </p:nvSpPr>
        <p:spPr>
          <a:xfrm>
            <a:off x="4254500" y="1524000"/>
            <a:ext cx="3683000" cy="1841500"/>
          </a:xfrm>
          <a:prstGeom prst="roundRect">
            <a:avLst>
              <a:gd name="adj" fmla="val 0"/>
            </a:avLst>
          </a:prstGeom>
          <a:solidFill>
            <a:srgbClr val="EFF6FF">
              <a:alpha val="100000"/>
            </a:srgbClr>
          </a:solidFill>
          <a:ln cap="flat" cmpd="sng">
            <a:solidFill>
              <a:srgbClr val="C0D0E6">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4254500" y="1524000"/>
            <a:ext cx="50800" cy="18415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4508500" y="1600200"/>
            <a:ext cx="3238500" cy="381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900" b="1" i="0" u="none" strike="noStrike" spc="100">
                <a:solidFill>
                  <a:srgbClr val="1E3A8A"/>
                </a:solidFill>
                <a:latin typeface="Noto Sans SC"/>
                <a:ea typeface="Noto Sans SC"/>
                <a:cs typeface="Noto Sans SC"/>
                <a:sym typeface="Noto Sans SC"/>
              </a:rPr>
              <a:t>方法要点</a:t>
            </a:r>
            <a:endParaRPr lang="en-US" sz="1100"/>
          </a:p>
        </p:txBody>
      </p:sp>
      <p:cxnSp>
        <p:nvCxnSpPr>
          <p:cNvPr id="13" name="Connector 13"/>
          <p:cNvCxnSpPr/>
          <p:nvPr/>
        </p:nvCxnSpPr>
        <p:spPr>
          <a:xfrm rot="-13750">
            <a:off x="4508513" y="2025650"/>
            <a:ext cx="31750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14" name="AutoShape 14"/>
          <p:cNvSpPr/>
          <p:nvPr/>
        </p:nvSpPr>
        <p:spPr>
          <a:xfrm>
            <a:off x="4508500" y="2108200"/>
            <a:ext cx="3238500" cy="1041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利用训练样本,训练SVM、随机森林等分类模型,对全图进行分类。</a:t>
            </a:r>
            <a:endParaRPr lang="en-US" sz="1100"/>
          </a:p>
        </p:txBody>
      </p:sp>
      <p:sp>
        <p:nvSpPr>
          <p:cNvPr id="15" name="AutoShape 15"/>
          <p:cNvSpPr/>
          <p:nvPr/>
        </p:nvSpPr>
        <p:spPr>
          <a:xfrm>
            <a:off x="8128000" y="1524000"/>
            <a:ext cx="3683000" cy="1841500"/>
          </a:xfrm>
          <a:prstGeom prst="roundRect">
            <a:avLst>
              <a:gd name="adj" fmla="val 0"/>
            </a:avLst>
          </a:prstGeom>
          <a:solidFill>
            <a:srgbClr val="EFF6FF">
              <a:alpha val="100000"/>
            </a:srgbClr>
          </a:solidFill>
          <a:ln cap="flat" cmpd="sng">
            <a:solidFill>
              <a:srgbClr val="C0D0E6">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8128000" y="1524000"/>
            <a:ext cx="50800" cy="18415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8382000" y="1600200"/>
            <a:ext cx="3238500" cy="381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900" b="1" i="0" u="none" strike="noStrike" spc="100">
                <a:solidFill>
                  <a:srgbClr val="1E3A8A"/>
                </a:solidFill>
                <a:latin typeface="Noto Sans SC"/>
                <a:ea typeface="Noto Sans SC"/>
                <a:cs typeface="Noto Sans SC"/>
                <a:sym typeface="Noto Sans SC"/>
              </a:rPr>
              <a:t>适用场景</a:t>
            </a:r>
            <a:endParaRPr lang="en-US" sz="1100"/>
          </a:p>
        </p:txBody>
      </p:sp>
      <p:cxnSp>
        <p:nvCxnSpPr>
          <p:cNvPr id="18" name="Connector 18"/>
          <p:cNvCxnSpPr/>
          <p:nvPr/>
        </p:nvCxnSpPr>
        <p:spPr>
          <a:xfrm rot="-13750">
            <a:off x="8382013" y="2025650"/>
            <a:ext cx="31750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19" name="AutoShape 19"/>
          <p:cNvSpPr/>
          <p:nvPr/>
        </p:nvSpPr>
        <p:spPr>
          <a:xfrm>
            <a:off x="8382000" y="2108200"/>
            <a:ext cx="3238500" cy="1041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土地利用分类、作物类型识别、小样本快速上线。</a:t>
            </a:r>
            <a:endParaRPr lang="en-US" sz="1100"/>
          </a:p>
        </p:txBody>
      </p:sp>
      <p:sp>
        <p:nvSpPr>
          <p:cNvPr id="20" name="AutoShape 20"/>
          <p:cNvSpPr/>
          <p:nvPr/>
        </p:nvSpPr>
        <p:spPr>
          <a:xfrm>
            <a:off x="381000" y="3530600"/>
            <a:ext cx="5651500" cy="1625600"/>
          </a:xfrm>
          <a:prstGeom prst="roundRect">
            <a:avLst>
              <a:gd name="adj" fmla="val 0"/>
            </a:avLst>
          </a:prstGeom>
          <a:solidFill>
            <a:srgbClr val="10B981">
              <a:alpha val="9000"/>
            </a:srgbClr>
          </a:solidFill>
          <a:ln cap="flat" cmpd="sng">
            <a:solidFill>
              <a:srgbClr val="00A06B">
                <a:alpha val="9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381000" y="3530600"/>
            <a:ext cx="50800" cy="1625600"/>
          </a:xfrm>
          <a:prstGeom prst="roundRect">
            <a:avLst>
              <a:gd name="adj" fmla="val 0"/>
            </a:avLst>
          </a:prstGeom>
          <a:solidFill>
            <a:srgbClr val="10B981">
              <a:alpha val="100000"/>
            </a:srgbClr>
          </a:solidFill>
          <a:ln cap="flat" cmpd="sng">
            <a:solidFill>
              <a:srgbClr val="00A06B">
                <a:alpha val="10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635000" y="3594100"/>
            <a:ext cx="5207000" cy="381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900" b="1" i="0" u="none" strike="noStrike" spc="100">
                <a:solidFill>
                  <a:srgbClr val="10B981"/>
                </a:solidFill>
                <a:latin typeface="Noto Sans SC"/>
                <a:ea typeface="Noto Sans SC"/>
                <a:cs typeface="Noto Sans SC"/>
                <a:sym typeface="Noto Sans SC"/>
              </a:rPr>
              <a:t>业务价值</a:t>
            </a:r>
            <a:endParaRPr lang="en-US" sz="1100"/>
          </a:p>
        </p:txBody>
      </p:sp>
      <p:cxnSp>
        <p:nvCxnSpPr>
          <p:cNvPr id="23" name="Connector 23"/>
          <p:cNvCxnSpPr/>
          <p:nvPr/>
        </p:nvCxnSpPr>
        <p:spPr>
          <a:xfrm rot="-8384">
            <a:off x="635008" y="4019550"/>
            <a:ext cx="5207000" cy="12700"/>
          </a:xfrm>
          <a:prstGeom prst="straightConnector1">
            <a:avLst/>
          </a:prstGeom>
          <a:solidFill>
            <a:srgbClr val="DEE0E3">
              <a:alpha val="100000"/>
            </a:srgbClr>
          </a:solidFill>
          <a:ln w="12700" cap="flat" cmpd="sng">
            <a:solidFill>
              <a:srgbClr val="10B981">
                <a:alpha val="22000"/>
              </a:srgbClr>
            </a:solidFill>
            <a:prstDash val="solid"/>
            <a:round/>
            <a:headEnd type="none" w="med" len="med"/>
            <a:tailEnd type="none" w="med" len="med"/>
          </a:ln>
        </p:spPr>
      </p:cxnSp>
      <p:sp>
        <p:nvSpPr>
          <p:cNvPr id="24" name="AutoShape 24"/>
          <p:cNvSpPr/>
          <p:nvPr/>
        </p:nvSpPr>
        <p:spPr>
          <a:xfrm>
            <a:off x="635000" y="4102100"/>
            <a:ext cx="5270500" cy="8255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500" b="0" i="0" u="none" strike="noStrike">
                <a:solidFill>
                  <a:srgbClr val="334155"/>
                </a:solidFill>
                <a:latin typeface="Noto Sans SC"/>
                <a:ea typeface="Noto Sans SC"/>
                <a:cs typeface="Noto Sans SC"/>
                <a:sym typeface="Noto Sans SC"/>
              </a:rPr>
              <a:t>实现地物的自动化识别和制图,效率远高于人工解译。</a:t>
            </a:r>
            <a:endParaRPr lang="en-US" sz="1100"/>
          </a:p>
        </p:txBody>
      </p:sp>
      <p:sp>
        <p:nvSpPr>
          <p:cNvPr id="25" name="AutoShape 25"/>
          <p:cNvSpPr/>
          <p:nvPr/>
        </p:nvSpPr>
        <p:spPr>
          <a:xfrm>
            <a:off x="6159500" y="3530600"/>
            <a:ext cx="5651500" cy="1625600"/>
          </a:xfrm>
          <a:prstGeom prst="roundRect">
            <a:avLst>
              <a:gd name="adj" fmla="val 0"/>
            </a:avLst>
          </a:prstGeom>
          <a:solidFill>
            <a:srgbClr val="EF4444">
              <a:alpha val="9000"/>
            </a:srgbClr>
          </a:solidFill>
          <a:ln cap="flat" cmpd="sng">
            <a:solidFill>
              <a:srgbClr val="D52727">
                <a:alpha val="9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6159500" y="3530600"/>
            <a:ext cx="50800" cy="1625600"/>
          </a:xfrm>
          <a:prstGeom prst="roundRect">
            <a:avLst>
              <a:gd name="adj" fmla="val 0"/>
            </a:avLst>
          </a:prstGeom>
          <a:solidFill>
            <a:srgbClr val="EF4444">
              <a:alpha val="100000"/>
            </a:srgbClr>
          </a:solidFill>
          <a:ln cap="flat" cmpd="sng">
            <a:solidFill>
              <a:srgbClr val="D52727">
                <a:alpha val="100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6413500" y="3594100"/>
            <a:ext cx="5207000" cy="381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900" b="1" i="0" u="none" strike="noStrike" spc="100">
                <a:solidFill>
                  <a:srgbClr val="EF4444"/>
                </a:solidFill>
                <a:latin typeface="Noto Sans SC"/>
                <a:ea typeface="Noto Sans SC"/>
                <a:cs typeface="Noto Sans SC"/>
                <a:sym typeface="Noto Sans SC"/>
              </a:rPr>
              <a:t>缺失影响</a:t>
            </a:r>
            <a:endParaRPr lang="en-US" sz="1100"/>
          </a:p>
        </p:txBody>
      </p:sp>
      <p:cxnSp>
        <p:nvCxnSpPr>
          <p:cNvPr id="28" name="Connector 28"/>
          <p:cNvCxnSpPr/>
          <p:nvPr/>
        </p:nvCxnSpPr>
        <p:spPr>
          <a:xfrm rot="-8384">
            <a:off x="6413508" y="4019550"/>
            <a:ext cx="5207000" cy="12700"/>
          </a:xfrm>
          <a:prstGeom prst="straightConnector1">
            <a:avLst/>
          </a:prstGeom>
          <a:solidFill>
            <a:srgbClr val="DEE0E3">
              <a:alpha val="100000"/>
            </a:srgbClr>
          </a:solidFill>
          <a:ln w="12700" cap="flat" cmpd="sng">
            <a:solidFill>
              <a:srgbClr val="EF4444">
                <a:alpha val="22000"/>
              </a:srgbClr>
            </a:solidFill>
            <a:prstDash val="solid"/>
            <a:round/>
            <a:headEnd type="none" w="med" len="med"/>
            <a:tailEnd type="none" w="med" len="med"/>
          </a:ln>
        </p:spPr>
      </p:cxnSp>
      <p:sp>
        <p:nvSpPr>
          <p:cNvPr id="29" name="AutoShape 29"/>
          <p:cNvSpPr/>
          <p:nvPr/>
        </p:nvSpPr>
        <p:spPr>
          <a:xfrm>
            <a:off x="6413500" y="4102100"/>
            <a:ext cx="5270500" cy="8255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500" b="0" i="0" u="none" strike="noStrike">
                <a:solidFill>
                  <a:srgbClr val="334155"/>
                </a:solidFill>
                <a:latin typeface="Noto Sans SC"/>
                <a:ea typeface="Noto Sans SC"/>
                <a:cs typeface="Noto Sans SC"/>
                <a:sym typeface="Noto Sans SC"/>
              </a:rPr>
              <a:t>无法实现地物的自动化分类,依赖人工解译,效率低下。</a:t>
            </a:r>
            <a:endParaRPr lang="en-US" sz="1100"/>
          </a:p>
        </p:txBody>
      </p:sp>
      <p:sp>
        <p:nvSpPr>
          <p:cNvPr id="30" name="AutoShape 30"/>
          <p:cNvSpPr/>
          <p:nvPr/>
        </p:nvSpPr>
        <p:spPr>
          <a:xfrm>
            <a:off x="381000" y="5334000"/>
            <a:ext cx="11430000" cy="10414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31" name="AutoShape 31"/>
          <p:cNvSpPr/>
          <p:nvPr/>
        </p:nvSpPr>
        <p:spPr>
          <a:xfrm>
            <a:off x="635000" y="5397500"/>
            <a:ext cx="3302000" cy="2794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200" b="1" i="0" u="none" strike="noStrike" spc="100">
                <a:solidFill>
                  <a:srgbClr val="1E3A8A"/>
                </a:solidFill>
                <a:latin typeface="Noto Sans SC"/>
                <a:ea typeface="Noto Sans SC"/>
                <a:cs typeface="Noto Sans SC"/>
                <a:sym typeface="Noto Sans SC"/>
              </a:rPr>
              <a:t>流程位置</a:t>
            </a:r>
            <a:endParaRPr lang="en-US" sz="1100"/>
          </a:p>
        </p:txBody>
      </p:sp>
      <p:sp>
        <p:nvSpPr>
          <p:cNvPr id="32" name="AutoShape 32"/>
          <p:cNvSpPr/>
          <p:nvPr/>
        </p:nvSpPr>
        <p:spPr>
          <a:xfrm>
            <a:off x="635000" y="5715000"/>
            <a:ext cx="3429000" cy="533400"/>
          </a:xfrm>
          <a:prstGeom prst="rect">
            <a:avLst/>
          </a:prstGeom>
          <a:noFill/>
          <a:ln w="12700" cap="flat" cmpd="sng">
            <a:noFill/>
            <a:prstDash val="solid"/>
            <a:round/>
          </a:ln>
        </p:spPr>
        <p:txBody>
          <a:bodyPr vert="horz" wrap="square" lIns="0" tIns="0" rIns="0" bIns="0" rtlCol="0" anchor="t" anchorCtr="0"/>
          <a:lstStyle/>
          <a:p>
            <a:pPr marL="0" indent="0" algn="l">
              <a:lnSpc>
                <a:spcPct val="113000"/>
              </a:lnSpc>
              <a:defRPr/>
            </a:pPr>
            <a:r>
              <a:rPr lang="en-US" sz="1500" b="0" i="0" u="none" strike="noStrike">
                <a:solidFill>
                  <a:srgbClr val="334155"/>
                </a:solidFill>
                <a:latin typeface="Noto Sans SC"/>
                <a:ea typeface="Noto Sans SC"/>
                <a:cs typeface="Noto Sans SC"/>
                <a:sym typeface="Noto Sans SC"/>
              </a:rPr>
              <a:t>L3分类与检测</a:t>
            </a:r>
            <a:endParaRPr lang="en-US" sz="1100"/>
          </a:p>
        </p:txBody>
      </p:sp>
      <p:cxnSp>
        <p:nvCxnSpPr>
          <p:cNvPr id="33" name="Connector 33"/>
          <p:cNvCxnSpPr/>
          <p:nvPr/>
        </p:nvCxnSpPr>
        <p:spPr>
          <a:xfrm rot="5344557">
            <a:off x="3924300" y="5848401"/>
            <a:ext cx="7874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34" name="AutoShape 34"/>
          <p:cNvSpPr/>
          <p:nvPr/>
        </p:nvSpPr>
        <p:spPr>
          <a:xfrm>
            <a:off x="4572000" y="5397500"/>
            <a:ext cx="3937000" cy="2794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200" b="1" i="0" u="none" strike="noStrike" spc="100">
                <a:solidFill>
                  <a:srgbClr val="1E3A8A"/>
                </a:solidFill>
                <a:latin typeface="Noto Sans SC"/>
                <a:ea typeface="Noto Sans SC"/>
                <a:cs typeface="Noto Sans SC"/>
                <a:sym typeface="Noto Sans SC"/>
              </a:rPr>
              <a:t>关联</a:t>
            </a:r>
            <a:endParaRPr lang="en-US" sz="1100"/>
          </a:p>
        </p:txBody>
      </p:sp>
      <p:sp>
        <p:nvSpPr>
          <p:cNvPr id="35" name="AutoShape 35"/>
          <p:cNvSpPr/>
          <p:nvPr/>
        </p:nvSpPr>
        <p:spPr>
          <a:xfrm>
            <a:off x="4572000" y="5715000"/>
            <a:ext cx="3937000" cy="533400"/>
          </a:xfrm>
          <a:prstGeom prst="rect">
            <a:avLst/>
          </a:prstGeom>
          <a:noFill/>
          <a:ln w="12700" cap="flat" cmpd="sng">
            <a:noFill/>
            <a:prstDash val="solid"/>
            <a:round/>
          </a:ln>
        </p:spPr>
        <p:txBody>
          <a:bodyPr vert="horz" wrap="square" lIns="0" tIns="0" rIns="0" bIns="0" rtlCol="0" anchor="t" anchorCtr="0"/>
          <a:lstStyle/>
          <a:p>
            <a:pPr marL="0" indent="0" algn="l">
              <a:lnSpc>
                <a:spcPct val="113000"/>
              </a:lnSpc>
              <a:defRPr/>
            </a:pPr>
            <a:r>
              <a:rPr lang="en-US" sz="1300" b="0" i="0" u="none" strike="noStrike">
                <a:solidFill>
                  <a:srgbClr val="475569"/>
                </a:solidFill>
                <a:latin typeface="Noto Sans SC"/>
                <a:ea typeface="Noto Sans SC"/>
                <a:cs typeface="Noto Sans SC"/>
                <a:sym typeface="Noto Sans SC"/>
              </a:rPr>
              <a:t>#20-26 特征处理 · #44 后处理 · #45 面积统计</a:t>
            </a:r>
            <a:endParaRPr lang="en-US" sz="1100"/>
          </a:p>
        </p:txBody>
      </p:sp>
      <p:cxnSp>
        <p:nvCxnSpPr>
          <p:cNvPr id="36" name="Connector 36"/>
          <p:cNvCxnSpPr/>
          <p:nvPr/>
        </p:nvCxnSpPr>
        <p:spPr>
          <a:xfrm rot="5344557">
            <a:off x="8242300" y="5848401"/>
            <a:ext cx="7874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37" name="AutoShape 37"/>
          <p:cNvSpPr/>
          <p:nvPr/>
        </p:nvSpPr>
        <p:spPr>
          <a:xfrm>
            <a:off x="8890000" y="5397500"/>
            <a:ext cx="2921000" cy="2794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200" b="1" i="0" u="none" strike="noStrike" spc="100">
                <a:solidFill>
                  <a:srgbClr val="1E3A8A"/>
                </a:solidFill>
                <a:latin typeface="Noto Sans SC"/>
                <a:ea typeface="Noto Sans SC"/>
                <a:cs typeface="Noto Sans SC"/>
                <a:sym typeface="Noto Sans SC"/>
              </a:rPr>
              <a:t>[API]</a:t>
            </a:r>
            <a:endParaRPr lang="en-US" sz="1100"/>
          </a:p>
        </p:txBody>
      </p:sp>
      <p:sp>
        <p:nvSpPr>
          <p:cNvPr id="38" name="AutoShape 38"/>
          <p:cNvSpPr/>
          <p:nvPr/>
        </p:nvSpPr>
        <p:spPr>
          <a:xfrm>
            <a:off x="8890000" y="5715000"/>
            <a:ext cx="2921000" cy="533400"/>
          </a:xfrm>
          <a:prstGeom prst="rect">
            <a:avLst/>
          </a:prstGeom>
          <a:noFill/>
          <a:ln w="12700" cap="flat" cmpd="sng">
            <a:noFill/>
            <a:prstDash val="solid"/>
            <a:round/>
          </a:ln>
        </p:spPr>
        <p:txBody>
          <a:bodyPr vert="horz" wrap="square" lIns="0" tIns="0" rIns="0" bIns="0" rtlCol="0" anchor="t" anchorCtr="0"/>
          <a:lstStyle/>
          <a:p>
            <a:pPr marL="0" indent="0" algn="l">
              <a:lnSpc>
                <a:spcPct val="113000"/>
              </a:lnSpc>
              <a:defRPr/>
            </a:pPr>
            <a:r>
              <a:rPr lang="en-US" sz="1200" b="0" i="0" u="none" strike="noStrike">
                <a:solidFill>
                  <a:srgbClr val="475569"/>
                </a:solidFill>
                <a:latin typeface="Noto Sans SC"/>
                <a:ea typeface="Noto Sans SC"/>
                <a:cs typeface="Noto Sans SC"/>
                <a:sym typeface="Noto Sans SC"/>
              </a:rPr>
              <a:t>/api/v1/34_traditional_classification/run</a:t>
            </a:r>
            <a:endParaRPr lang="en-US" sz="11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8890000" cy="6604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spc="100">
                <a:solidFill>
                  <a:srgbClr val="1E3A8A"/>
                </a:solidFill>
                <a:latin typeface="Noto Sans SC"/>
                <a:ea typeface="Noto Sans SC"/>
                <a:cs typeface="Noto Sans SC"/>
                <a:sym typeface="Noto Sans SC"/>
              </a:rPr>
              <a:t>光谱端元分类</a:t>
            </a:r>
            <a:endParaRPr lang="en-US" sz="1100"/>
          </a:p>
        </p:txBody>
      </p:sp>
      <p:sp>
        <p:nvSpPr>
          <p:cNvPr id="3" name="AutoShape 3"/>
          <p:cNvSpPr/>
          <p:nvPr/>
        </p:nvSpPr>
        <p:spPr>
          <a:xfrm>
            <a:off x="9144000" y="381000"/>
            <a:ext cx="2540000" cy="660400"/>
          </a:xfrm>
          <a:prstGeom prst="rect">
            <a:avLst/>
          </a:prstGeom>
          <a:noFill/>
          <a:ln w="12700" cap="flat" cmpd="sng">
            <a:noFill/>
            <a:prstDash val="solid"/>
            <a:round/>
          </a:ln>
        </p:spPr>
        <p:txBody>
          <a:bodyPr vert="horz" wrap="square" lIns="0" tIns="0" rIns="0" bIns="0" rtlCol="0" anchor="ctr" anchorCtr="0"/>
          <a:lstStyle/>
          <a:p>
            <a:pPr marL="0" indent="0" algn="r">
              <a:lnSpc>
                <a:spcPct val="83000"/>
              </a:lnSpc>
              <a:defRPr/>
            </a:pPr>
            <a:r>
              <a:rPr lang="en-US" sz="4400" b="1" i="0" u="none" strike="noStrike" spc="200">
                <a:solidFill>
                  <a:srgbClr val="1E3A8A">
                    <a:alpha val="18039"/>
                  </a:srgbClr>
                </a:solidFill>
                <a:latin typeface="Noto Sans SC"/>
                <a:ea typeface="Noto Sans SC"/>
                <a:cs typeface="Noto Sans SC"/>
                <a:sym typeface="Noto Sans SC"/>
              </a:rPr>
              <a:t>#35</a:t>
            </a:r>
            <a:endParaRPr lang="en-US" sz="1100"/>
          </a:p>
        </p:txBody>
      </p:sp>
      <p:sp>
        <p:nvSpPr>
          <p:cNvPr id="4" name="AutoShape 4"/>
          <p:cNvSpPr/>
          <p:nvPr/>
        </p:nvSpPr>
        <p:spPr>
          <a:xfrm>
            <a:off x="508000" y="1092200"/>
            <a:ext cx="7620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0" i="0" u="none" strike="noStrike" spc="100">
                <a:solidFill>
                  <a:srgbClr val="64748B"/>
                </a:solidFill>
                <a:latin typeface="Noto Sans SC"/>
                <a:ea typeface="Noto Sans SC"/>
                <a:cs typeface="Noto Sans SC"/>
                <a:sym typeface="Noto Sans SC"/>
              </a:rPr>
              <a:t>所属层级:L3 ｜ 编号#35 ｜ 辅导材料:算法清单与API</a:t>
            </a:r>
            <a:endParaRPr lang="en-US" sz="1100"/>
          </a:p>
        </p:txBody>
      </p:sp>
      <p:cxnSp>
        <p:nvCxnSpPr>
          <p:cNvPr id="5" name="Connector 5"/>
          <p:cNvCxnSpPr/>
          <p:nvPr/>
        </p:nvCxnSpPr>
        <p:spPr>
          <a:xfrm rot="-3906">
            <a:off x="508004" y="1517650"/>
            <a:ext cx="11176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6" name="AutoShape 6"/>
          <p:cNvSpPr/>
          <p:nvPr/>
        </p:nvSpPr>
        <p:spPr>
          <a:xfrm>
            <a:off x="508000" y="1651000"/>
            <a:ext cx="7874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700" b="1" i="0" u="none" strike="noStrike">
                <a:solidFill>
                  <a:srgbClr val="1E3A8A"/>
                </a:solidFill>
                <a:latin typeface="Noto Sans SC"/>
                <a:ea typeface="Noto Sans SC"/>
                <a:cs typeface="Noto Sans SC"/>
                <a:sym typeface="Noto Sans SC"/>
              </a:rPr>
              <a:t>功能定义</a:t>
            </a:r>
            <a:endParaRPr lang="en-US" sz="1100"/>
          </a:p>
        </p:txBody>
      </p:sp>
      <p:sp>
        <p:nvSpPr>
          <p:cNvPr id="7" name="AutoShape 7"/>
          <p:cNvSpPr/>
          <p:nvPr/>
        </p:nvSpPr>
        <p:spPr>
          <a:xfrm>
            <a:off x="508000" y="2032000"/>
            <a:ext cx="7874000" cy="787400"/>
          </a:xfrm>
          <a:prstGeom prst="roundRect">
            <a:avLst>
              <a:gd name="adj" fmla="val 0"/>
            </a:avLst>
          </a:prstGeom>
          <a:solidFill>
            <a:srgbClr val="EFF6FF">
              <a:alpha val="100000"/>
            </a:srgbClr>
          </a:solidFill>
          <a:ln cap="flat" cmpd="sng">
            <a:solidFill>
              <a:srgbClr val="C0D0E6">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508000" y="2032000"/>
            <a:ext cx="50800" cy="787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762000" y="2032000"/>
            <a:ext cx="7493000" cy="787400"/>
          </a:xfrm>
          <a:prstGeom prst="rect">
            <a:avLst/>
          </a:prstGeom>
          <a:noFill/>
          <a:ln w="12700" cap="flat" cmpd="sng">
            <a:noFill/>
            <a:prstDash val="solid"/>
            <a:round/>
          </a:ln>
        </p:spPr>
        <p:txBody>
          <a:bodyPr vert="horz" wrap="square" lIns="0" tIns="0" rIns="0" bIns="0" rtlCol="0" anchor="ctr"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基于光谱端元(纯净地物的光谱)进行分类。</a:t>
            </a:r>
            <a:endParaRPr lang="en-US" sz="1100"/>
          </a:p>
        </p:txBody>
      </p:sp>
      <p:sp>
        <p:nvSpPr>
          <p:cNvPr id="10" name="AutoShape 10"/>
          <p:cNvSpPr/>
          <p:nvPr/>
        </p:nvSpPr>
        <p:spPr>
          <a:xfrm>
            <a:off x="508000" y="2921000"/>
            <a:ext cx="7874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700" b="1" i="0" u="none" strike="noStrike">
                <a:solidFill>
                  <a:srgbClr val="1E3A8A"/>
                </a:solidFill>
                <a:latin typeface="Noto Sans SC"/>
                <a:ea typeface="Noto Sans SC"/>
                <a:cs typeface="Noto Sans SC"/>
                <a:sym typeface="Noto Sans SC"/>
              </a:rPr>
              <a:t>方法要点</a:t>
            </a:r>
            <a:endParaRPr lang="en-US" sz="1100"/>
          </a:p>
        </p:txBody>
      </p:sp>
      <p:sp>
        <p:nvSpPr>
          <p:cNvPr id="11" name="AutoShape 11"/>
          <p:cNvSpPr/>
          <p:nvPr/>
        </p:nvSpPr>
        <p:spPr>
          <a:xfrm>
            <a:off x="508000" y="3302000"/>
            <a:ext cx="7874000" cy="914400"/>
          </a:xfrm>
          <a:prstGeom prst="roundRect">
            <a:avLst>
              <a:gd name="adj" fmla="val 0"/>
            </a:avLst>
          </a:prstGeom>
          <a:solidFill>
            <a:srgbClr val="EFF6FF">
              <a:alpha val="100000"/>
            </a:srgbClr>
          </a:solidFill>
          <a:ln cap="flat" cmpd="sng">
            <a:solidFill>
              <a:srgbClr val="C0D0E6">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508000" y="3302000"/>
            <a:ext cx="50800" cy="914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762000" y="3302000"/>
            <a:ext cx="7493000" cy="914400"/>
          </a:xfrm>
          <a:prstGeom prst="rect">
            <a:avLst/>
          </a:prstGeom>
          <a:noFill/>
          <a:ln w="12700" cap="flat" cmpd="sng">
            <a:noFill/>
            <a:prstDash val="solid"/>
            <a:round/>
          </a:ln>
        </p:spPr>
        <p:txBody>
          <a:bodyPr vert="horz" wrap="square" lIns="0" tIns="0" rIns="0" bIns="0" rtlCol="0" anchor="ctr"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首先通过端元提取算法(如N-FINDR)找到影像中的光谱端元,然后利用线性光谱混合模型(LSMM)分解每个像素的端元丰度。</a:t>
            </a:r>
            <a:endParaRPr lang="en-US" sz="1100"/>
          </a:p>
        </p:txBody>
      </p:sp>
      <p:sp>
        <p:nvSpPr>
          <p:cNvPr id="14" name="AutoShape 14"/>
          <p:cNvSpPr/>
          <p:nvPr/>
        </p:nvSpPr>
        <p:spPr>
          <a:xfrm>
            <a:off x="508000" y="4343400"/>
            <a:ext cx="2540000" cy="14986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508000" y="4343400"/>
            <a:ext cx="2540000" cy="406400"/>
          </a:xfrm>
          <a:prstGeom prst="roundRect">
            <a:avLst>
              <a:gd name="adj" fmla="val 0"/>
            </a:avLst>
          </a:prstGeom>
          <a:solidFill>
            <a:srgbClr val="1E3A8A">
              <a:alpha val="9000"/>
            </a:srgbClr>
          </a:solidFill>
          <a:ln cap="flat" cmpd="sng">
            <a:solidFill>
              <a:srgbClr val="0D2771">
                <a:alpha val="9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508000" y="4343400"/>
            <a:ext cx="2540000" cy="4064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500" b="1" i="0" u="none" strike="noStrike" spc="100">
                <a:solidFill>
                  <a:srgbClr val="1E3A8A"/>
                </a:solidFill>
                <a:latin typeface="Noto Sans SC"/>
                <a:ea typeface="Noto Sans SC"/>
                <a:cs typeface="Noto Sans SC"/>
                <a:sym typeface="Noto Sans SC"/>
              </a:rPr>
              <a:t>适用场景</a:t>
            </a:r>
            <a:endParaRPr lang="en-US" sz="1100"/>
          </a:p>
        </p:txBody>
      </p:sp>
      <p:sp>
        <p:nvSpPr>
          <p:cNvPr id="17" name="AutoShape 17"/>
          <p:cNvSpPr/>
          <p:nvPr/>
        </p:nvSpPr>
        <p:spPr>
          <a:xfrm>
            <a:off x="609600" y="4826000"/>
            <a:ext cx="2336800" cy="762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300" b="0" i="0" u="none" strike="noStrike">
                <a:solidFill>
                  <a:srgbClr val="475569"/>
                </a:solidFill>
                <a:latin typeface="Noto Sans SC"/>
                <a:ea typeface="Noto Sans SC"/>
                <a:cs typeface="Noto Sans SC"/>
                <a:sym typeface="Noto Sans SC"/>
              </a:rPr>
              <a:t>混合像元分解、</a:t>
            </a:r>
            <a:endParaRPr lang="en-US" sz="1100"/>
          </a:p>
          <a:p>
            <a:pPr marL="0" indent="0" algn="l">
              <a:lnSpc>
                <a:spcPct val="125000"/>
              </a:lnSpc>
            </a:pPr>
            <a:r>
              <a:rPr lang="en-US" sz="1300" b="0" i="0" u="none" strike="noStrike">
                <a:solidFill>
                  <a:srgbClr val="475569"/>
                </a:solidFill>
                <a:latin typeface="Noto Sans SC"/>
                <a:ea typeface="Noto Sans SC"/>
                <a:cs typeface="Noto Sans SC"/>
                <a:sym typeface="Noto Sans SC"/>
              </a:rPr>
              <a:t>土地覆盖分类。</a:t>
            </a:r>
            <a:endParaRPr lang="en-US" sz="1300" b="0" i="0" u="none" strike="noStrike">
              <a:solidFill>
                <a:srgbClr val="475569"/>
              </a:solidFill>
              <a:latin typeface="Noto Sans SC"/>
              <a:ea typeface="Noto Sans SC"/>
              <a:cs typeface="Noto Sans SC"/>
              <a:sym typeface="Noto Sans SC"/>
            </a:endParaRPr>
          </a:p>
        </p:txBody>
      </p:sp>
      <p:sp>
        <p:nvSpPr>
          <p:cNvPr id="18" name="AutoShape 18"/>
          <p:cNvSpPr/>
          <p:nvPr/>
        </p:nvSpPr>
        <p:spPr>
          <a:xfrm>
            <a:off x="3200400" y="4343400"/>
            <a:ext cx="2540000" cy="14986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3200400" y="4343400"/>
            <a:ext cx="2540000" cy="406400"/>
          </a:xfrm>
          <a:prstGeom prst="roundRect">
            <a:avLst>
              <a:gd name="adj" fmla="val 0"/>
            </a:avLst>
          </a:prstGeom>
          <a:solidFill>
            <a:srgbClr val="1E3A8A">
              <a:alpha val="9000"/>
            </a:srgbClr>
          </a:solidFill>
          <a:ln cap="flat" cmpd="sng">
            <a:solidFill>
              <a:srgbClr val="0D2771">
                <a:alpha val="9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3200400" y="4343400"/>
            <a:ext cx="2540000" cy="4064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500" b="1" i="0" u="none" strike="noStrike" spc="100">
                <a:solidFill>
                  <a:srgbClr val="1E3A8A"/>
                </a:solidFill>
                <a:latin typeface="Noto Sans SC"/>
                <a:ea typeface="Noto Sans SC"/>
                <a:cs typeface="Noto Sans SC"/>
                <a:sym typeface="Noto Sans SC"/>
              </a:rPr>
              <a:t>业务价值</a:t>
            </a:r>
            <a:endParaRPr lang="en-US" sz="1100"/>
          </a:p>
        </p:txBody>
      </p:sp>
      <p:sp>
        <p:nvSpPr>
          <p:cNvPr id="21" name="AutoShape 21"/>
          <p:cNvSpPr/>
          <p:nvPr/>
        </p:nvSpPr>
        <p:spPr>
          <a:xfrm>
            <a:off x="3302000" y="4826000"/>
            <a:ext cx="2336800" cy="762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300" b="0" i="0" u="none" strike="noStrike">
                <a:solidFill>
                  <a:srgbClr val="475569"/>
                </a:solidFill>
                <a:latin typeface="Noto Sans SC"/>
                <a:ea typeface="Noto Sans SC"/>
                <a:cs typeface="Noto Sans SC"/>
                <a:sym typeface="Noto Sans SC"/>
              </a:rPr>
              <a:t>能够处理混合像元,给出每个像素中不同地物的比例。</a:t>
            </a:r>
            <a:endParaRPr lang="en-US" sz="1100"/>
          </a:p>
        </p:txBody>
      </p:sp>
      <p:sp>
        <p:nvSpPr>
          <p:cNvPr id="22" name="AutoShape 22"/>
          <p:cNvSpPr/>
          <p:nvPr/>
        </p:nvSpPr>
        <p:spPr>
          <a:xfrm>
            <a:off x="5892800" y="4343400"/>
            <a:ext cx="2540000" cy="1498600"/>
          </a:xfrm>
          <a:prstGeom prst="roundRect">
            <a:avLst>
              <a:gd name="adj" fmla="val 0"/>
            </a:avLst>
          </a:prstGeom>
          <a:solidFill>
            <a:srgbClr val="FFFBEB">
              <a:alpha val="100000"/>
            </a:srgbClr>
          </a:solidFill>
          <a:ln w="12700" cap="flat" cmpd="sng">
            <a:solidFill>
              <a:srgbClr val="FDE68A">
                <a:alpha val="10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5892800" y="4343400"/>
            <a:ext cx="2540000" cy="406400"/>
          </a:xfrm>
          <a:prstGeom prst="roundRect">
            <a:avLst>
              <a:gd name="adj" fmla="val 0"/>
            </a:avLst>
          </a:prstGeom>
          <a:solidFill>
            <a:srgbClr val="F59E0B">
              <a:alpha val="14000"/>
            </a:srgbClr>
          </a:solidFill>
          <a:ln cap="flat" cmpd="sng">
            <a:solidFill>
              <a:srgbClr val="DC8A00">
                <a:alpha val="14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5892800" y="4343400"/>
            <a:ext cx="2540000" cy="4064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500" b="1" i="0" u="none" strike="noStrike" spc="100">
                <a:solidFill>
                  <a:srgbClr val="B45309"/>
                </a:solidFill>
                <a:latin typeface="Noto Sans SC"/>
                <a:ea typeface="Noto Sans SC"/>
                <a:cs typeface="Noto Sans SC"/>
                <a:sym typeface="Noto Sans SC"/>
              </a:rPr>
              <a:t>缺失影响</a:t>
            </a:r>
            <a:endParaRPr lang="en-US" sz="1100"/>
          </a:p>
        </p:txBody>
      </p:sp>
      <p:sp>
        <p:nvSpPr>
          <p:cNvPr id="25" name="AutoShape 25"/>
          <p:cNvSpPr/>
          <p:nvPr/>
        </p:nvSpPr>
        <p:spPr>
          <a:xfrm>
            <a:off x="5994400" y="4826000"/>
            <a:ext cx="2336800" cy="762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300" b="0" i="0" u="none" strike="noStrike">
                <a:solidFill>
                  <a:srgbClr val="78350F"/>
                </a:solidFill>
                <a:latin typeface="Noto Sans SC"/>
                <a:ea typeface="Noto Sans SC"/>
                <a:cs typeface="Noto Sans SC"/>
                <a:sym typeface="Noto Sans SC"/>
              </a:rPr>
              <a:t>无法处理混合像元,只能得到单一的分类结果。</a:t>
            </a:r>
            <a:endParaRPr lang="en-US" sz="1100"/>
          </a:p>
        </p:txBody>
      </p:sp>
      <p:cxnSp>
        <p:nvCxnSpPr>
          <p:cNvPr id="26" name="Connector 26"/>
          <p:cNvCxnSpPr/>
          <p:nvPr/>
        </p:nvCxnSpPr>
        <p:spPr>
          <a:xfrm rot="5390450">
            <a:off x="6350000" y="3930659"/>
            <a:ext cx="4572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27" name="AutoShape 27"/>
          <p:cNvSpPr/>
          <p:nvPr/>
        </p:nvSpPr>
        <p:spPr>
          <a:xfrm>
            <a:off x="8890000" y="1651000"/>
            <a:ext cx="2794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700" b="1" i="0" u="none" strike="noStrike" spc="100">
                <a:solidFill>
                  <a:srgbClr val="1E3A8A"/>
                </a:solidFill>
                <a:latin typeface="Noto Sans SC"/>
                <a:ea typeface="Noto Sans SC"/>
                <a:cs typeface="Noto Sans SC"/>
                <a:sym typeface="Noto Sans SC"/>
              </a:rPr>
              <a:t>流程位置</a:t>
            </a:r>
            <a:endParaRPr lang="en-US" sz="1100"/>
          </a:p>
        </p:txBody>
      </p:sp>
      <p:sp>
        <p:nvSpPr>
          <p:cNvPr id="28" name="AutoShape 28"/>
          <p:cNvSpPr/>
          <p:nvPr/>
        </p:nvSpPr>
        <p:spPr>
          <a:xfrm>
            <a:off x="8890000" y="2032000"/>
            <a:ext cx="2794000" cy="7366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29" name="AutoShape 29"/>
          <p:cNvSpPr/>
          <p:nvPr/>
        </p:nvSpPr>
        <p:spPr>
          <a:xfrm>
            <a:off x="9017000" y="2032000"/>
            <a:ext cx="2540000" cy="2286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100" b="0" i="0" u="none" strike="noStrike" spc="100">
                <a:solidFill>
                  <a:srgbClr val="64748B"/>
                </a:solidFill>
                <a:latin typeface="Noto Sans SC"/>
                <a:ea typeface="Noto Sans SC"/>
                <a:cs typeface="Noto Sans SC"/>
                <a:sym typeface="Noto Sans SC"/>
              </a:rPr>
              <a:t>在哪个环节</a:t>
            </a:r>
            <a:endParaRPr lang="en-US" sz="1100"/>
          </a:p>
        </p:txBody>
      </p:sp>
      <p:sp>
        <p:nvSpPr>
          <p:cNvPr id="30" name="AutoShape 30"/>
          <p:cNvSpPr/>
          <p:nvPr/>
        </p:nvSpPr>
        <p:spPr>
          <a:xfrm>
            <a:off x="9017000" y="2286000"/>
            <a:ext cx="2540000" cy="431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500" b="1" i="0" u="none" strike="noStrike">
                <a:solidFill>
                  <a:srgbClr val="1E3A8A"/>
                </a:solidFill>
                <a:latin typeface="Noto Sans SC"/>
                <a:ea typeface="Noto Sans SC"/>
                <a:cs typeface="Noto Sans SC"/>
                <a:sym typeface="Noto Sans SC"/>
              </a:rPr>
              <a:t>L3分类与检测</a:t>
            </a:r>
            <a:endParaRPr lang="en-US" sz="1100"/>
          </a:p>
        </p:txBody>
      </p:sp>
      <p:sp>
        <p:nvSpPr>
          <p:cNvPr id="31" name="AutoShape 31"/>
          <p:cNvSpPr/>
          <p:nvPr/>
        </p:nvSpPr>
        <p:spPr>
          <a:xfrm>
            <a:off x="8890000" y="2921000"/>
            <a:ext cx="2794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700" b="1" i="0" u="none" strike="noStrike" spc="100">
                <a:solidFill>
                  <a:srgbClr val="1E3A8A"/>
                </a:solidFill>
                <a:latin typeface="Noto Sans SC"/>
                <a:ea typeface="Noto Sans SC"/>
                <a:cs typeface="Noto Sans SC"/>
                <a:sym typeface="Noto Sans SC"/>
              </a:rPr>
              <a:t>关联算法</a:t>
            </a:r>
            <a:endParaRPr lang="en-US" sz="1100"/>
          </a:p>
        </p:txBody>
      </p:sp>
      <p:sp>
        <p:nvSpPr>
          <p:cNvPr id="32" name="AutoShape 32"/>
          <p:cNvSpPr/>
          <p:nvPr/>
        </p:nvSpPr>
        <p:spPr>
          <a:xfrm>
            <a:off x="8890000" y="3302000"/>
            <a:ext cx="2794000" cy="7874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33" name="AutoShape 33"/>
          <p:cNvSpPr/>
          <p:nvPr/>
        </p:nvSpPr>
        <p:spPr>
          <a:xfrm>
            <a:off x="9017000" y="3302000"/>
            <a:ext cx="2540000" cy="2286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100" b="0" i="0" u="none" strike="noStrike" spc="100">
                <a:solidFill>
                  <a:srgbClr val="64748B"/>
                </a:solidFill>
                <a:latin typeface="Noto Sans SC"/>
                <a:ea typeface="Noto Sans SC"/>
                <a:cs typeface="Noto Sans SC"/>
                <a:sym typeface="Noto Sans SC"/>
              </a:rPr>
              <a:t>关联项</a:t>
            </a:r>
            <a:endParaRPr lang="en-US" sz="1100"/>
          </a:p>
        </p:txBody>
      </p:sp>
      <p:sp>
        <p:nvSpPr>
          <p:cNvPr id="34" name="AutoShape 34"/>
          <p:cNvSpPr/>
          <p:nvPr/>
        </p:nvSpPr>
        <p:spPr>
          <a:xfrm>
            <a:off x="9017000" y="3556000"/>
            <a:ext cx="2540000" cy="4572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1300" b="1" i="0" u="none" strike="noStrike">
                <a:solidFill>
                  <a:srgbClr val="334155"/>
                </a:solidFill>
                <a:latin typeface="Noto Sans SC"/>
                <a:ea typeface="Noto Sans SC"/>
                <a:cs typeface="Noto Sans SC"/>
                <a:sym typeface="Noto Sans SC"/>
              </a:rPr>
              <a:t>#44 后处理</a:t>
            </a:r>
            <a:r>
              <a:rPr lang="en-US" sz="1300" b="0" i="0" u="none" strike="noStrike">
                <a:solidFill>
                  <a:srgbClr val="94A3B8"/>
                </a:solidFill>
                <a:latin typeface="Noto Sans SC"/>
                <a:ea typeface="Noto Sans SC"/>
                <a:cs typeface="Noto Sans SC"/>
                <a:sym typeface="Noto Sans SC"/>
              </a:rPr>
              <a:t>,</a:t>
            </a:r>
            <a:r>
              <a:rPr lang="en-US" sz="1300" b="1" i="0" u="none" strike="noStrike">
                <a:solidFill>
                  <a:srgbClr val="334155"/>
                </a:solidFill>
                <a:latin typeface="Noto Sans SC"/>
                <a:ea typeface="Noto Sans SC"/>
                <a:cs typeface="Noto Sans SC"/>
                <a:sym typeface="Noto Sans SC"/>
              </a:rPr>
              <a:t>#45 面积统计</a:t>
            </a:r>
            <a:endParaRPr lang="en-US" sz="1100"/>
          </a:p>
        </p:txBody>
      </p:sp>
      <p:sp>
        <p:nvSpPr>
          <p:cNvPr id="35" name="AutoShape 35"/>
          <p:cNvSpPr/>
          <p:nvPr/>
        </p:nvSpPr>
        <p:spPr>
          <a:xfrm>
            <a:off x="8890000" y="4343400"/>
            <a:ext cx="2794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700" b="1" i="0" u="none" strike="noStrike" spc="100">
                <a:solidFill>
                  <a:srgbClr val="1E3A8A"/>
                </a:solidFill>
                <a:latin typeface="Noto Sans SC"/>
                <a:ea typeface="Noto Sans SC"/>
                <a:cs typeface="Noto Sans SC"/>
                <a:sym typeface="Noto Sans SC"/>
              </a:rPr>
              <a:t>API 调用</a:t>
            </a:r>
            <a:endParaRPr lang="en-US" sz="1100"/>
          </a:p>
        </p:txBody>
      </p:sp>
      <p:sp>
        <p:nvSpPr>
          <p:cNvPr id="36" name="AutoShape 36"/>
          <p:cNvSpPr/>
          <p:nvPr/>
        </p:nvSpPr>
        <p:spPr>
          <a:xfrm>
            <a:off x="8890000" y="4724400"/>
            <a:ext cx="2794000" cy="965200"/>
          </a:xfrm>
          <a:prstGeom prst="roundRect">
            <a:avLst>
              <a:gd name="adj" fmla="val 0"/>
            </a:avLst>
          </a:prstGeom>
          <a:gradFill rotWithShape="1">
            <a:gsLst>
              <a:gs pos="0">
                <a:srgbClr val="1E3A8A">
                  <a:alpha val="10000"/>
                </a:srgbClr>
              </a:gs>
              <a:gs pos="100000">
                <a:srgbClr val="1E3A8A">
                  <a:alpha val="3000"/>
                </a:srgbClr>
              </a:gs>
            </a:gsLst>
            <a:lin ang="0"/>
          </a:gradFill>
          <a:ln cap="flat" cmpd="sng">
            <a:gradFill rotWithShape="1">
              <a:gsLst>
                <a:gs pos="0">
                  <a:srgbClr val="0D2771">
                    <a:alpha val="10000"/>
                  </a:srgbClr>
                </a:gs>
                <a:gs pos="100000">
                  <a:srgbClr val="0D2771">
                    <a:alpha val="3000"/>
                  </a:srgbClr>
                </a:gs>
              </a:gsLst>
              <a:lin ang="0"/>
            </a:gradFill>
            <a:prstDash val="solid"/>
            <a:round/>
          </a:ln>
        </p:spPr>
        <p:txBody>
          <a:bodyPr vert="horz" wrap="square" lIns="63500" tIns="63500" rIns="63500" bIns="63500" rtlCol="0" anchor="ctr"/>
          <a:lstStyle/>
          <a:p>
            <a:pPr algn="ctr">
              <a:defRPr/>
            </a:pPr>
          </a:p>
        </p:txBody>
      </p:sp>
      <p:sp>
        <p:nvSpPr>
          <p:cNvPr id="37" name="AutoShape 37"/>
          <p:cNvSpPr/>
          <p:nvPr/>
        </p:nvSpPr>
        <p:spPr>
          <a:xfrm>
            <a:off x="8890000" y="4724400"/>
            <a:ext cx="38100" cy="9652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38" name="AutoShape 38"/>
          <p:cNvSpPr/>
          <p:nvPr/>
        </p:nvSpPr>
        <p:spPr>
          <a:xfrm>
            <a:off x="9042400" y="4724400"/>
            <a:ext cx="25400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100" b="0" i="0" u="none" strike="noStrike" spc="100">
                <a:solidFill>
                  <a:srgbClr val="64748B"/>
                </a:solidFill>
                <a:latin typeface="Noto Sans SC"/>
                <a:ea typeface="Noto Sans SC"/>
                <a:cs typeface="Noto Sans SC"/>
                <a:sym typeface="Noto Sans SC"/>
              </a:rPr>
              <a:t>接口地址</a:t>
            </a:r>
            <a:endParaRPr lang="en-US" sz="1100"/>
          </a:p>
        </p:txBody>
      </p:sp>
      <p:sp>
        <p:nvSpPr>
          <p:cNvPr id="39" name="AutoShape 39"/>
          <p:cNvSpPr/>
          <p:nvPr/>
        </p:nvSpPr>
        <p:spPr>
          <a:xfrm>
            <a:off x="9042400" y="5003800"/>
            <a:ext cx="2603500" cy="584200"/>
          </a:xfrm>
          <a:prstGeom prst="rect">
            <a:avLst/>
          </a:prstGeom>
          <a:noFill/>
          <a:ln w="12700" cap="flat" cmpd="sng">
            <a:noFill/>
            <a:prstDash val="solid"/>
            <a:round/>
          </a:ln>
        </p:spPr>
        <p:txBody>
          <a:bodyPr vert="horz" wrap="square" lIns="0" tIns="0" rIns="0" bIns="0" rtlCol="0" anchor="t" anchorCtr="0"/>
          <a:lstStyle/>
          <a:p>
            <a:pPr marL="0" indent="0" algn="l">
              <a:lnSpc>
                <a:spcPct val="104000"/>
              </a:lnSpc>
              <a:defRPr/>
            </a:pPr>
            <a:r>
              <a:rPr lang="en-US" sz="1200" b="1" i="0" u="none" strike="noStrike">
                <a:solidFill>
                  <a:srgbClr val="1E3A8A"/>
                </a:solidFill>
                <a:latin typeface="Inter"/>
                <a:ea typeface="Inter"/>
                <a:cs typeface="Inter"/>
                <a:sym typeface="Inter"/>
              </a:rPr>
              <a:t>/api/v1/35_</a:t>
            </a:r>
            <a:endParaRPr lang="en-US" sz="1100"/>
          </a:p>
          <a:p>
            <a:pPr marL="0" indent="0" algn="l">
              <a:lnSpc>
                <a:spcPct val="104000"/>
              </a:lnSpc>
            </a:pPr>
            <a:r>
              <a:rPr lang="en-US" sz="1200" b="1" i="0" u="none" strike="noStrike">
                <a:solidFill>
                  <a:srgbClr val="1E3A8A"/>
                </a:solidFill>
                <a:latin typeface="Inter"/>
                <a:ea typeface="Inter"/>
                <a:cs typeface="Inter"/>
                <a:sym typeface="Inter"/>
              </a:rPr>
              <a:t>spectral_unmixing/run</a:t>
            </a:r>
            <a:endParaRPr lang="en-US" sz="1200" b="1" i="0" u="none" strike="noStrike">
              <a:solidFill>
                <a:srgbClr val="1E3A8A"/>
              </a:solidFill>
              <a:latin typeface="Inter"/>
              <a:ea typeface="Inter"/>
              <a:cs typeface="Inter"/>
              <a:sym typeface="Inter"/>
            </a:endParaRPr>
          </a:p>
        </p:txBody>
      </p:sp>
      <p:sp>
        <p:nvSpPr>
          <p:cNvPr id="40" name="AutoShape 40"/>
          <p:cNvSpPr/>
          <p:nvPr/>
        </p:nvSpPr>
        <p:spPr>
          <a:xfrm>
            <a:off x="508000" y="6223000"/>
            <a:ext cx="1117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100" b="0" i="0" u="none" strike="noStrike" spc="50">
                <a:solidFill>
                  <a:srgbClr val="94A3B8"/>
                </a:solidFill>
                <a:latin typeface="Noto Sans SC"/>
                <a:ea typeface="Noto Sans SC"/>
                <a:cs typeface="Noto Sans SC"/>
                <a:sym typeface="Noto Sans SC"/>
              </a:rPr>
              <a:t>说明:光谱端元分类是一种基于"纯净地物光谱"的混合像元分解算法,是L3层级中处理复杂地表覆盖的核心方法。</a:t>
            </a:r>
            <a:endParaRPr lang="en-US" sz="11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8890000" cy="635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spc="100">
                <a:solidFill>
                  <a:srgbClr val="1E3A8A"/>
                </a:solidFill>
                <a:latin typeface="Noto Sans SC"/>
                <a:ea typeface="Noto Sans SC"/>
                <a:cs typeface="Noto Sans SC"/>
                <a:sym typeface="Noto Sans SC"/>
              </a:rPr>
              <a:t>光谱深度学习分类</a:t>
            </a:r>
            <a:endParaRPr lang="en-US" sz="1100"/>
          </a:p>
        </p:txBody>
      </p:sp>
      <p:sp>
        <p:nvSpPr>
          <p:cNvPr id="3" name="AutoShape 3"/>
          <p:cNvSpPr/>
          <p:nvPr/>
        </p:nvSpPr>
        <p:spPr>
          <a:xfrm>
            <a:off x="508000" y="1016000"/>
            <a:ext cx="10160000" cy="3302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200" b="0" i="0" u="none" strike="noStrike" spc="50">
                <a:solidFill>
                  <a:srgbClr val="64748B"/>
                </a:solidFill>
                <a:latin typeface="Noto Sans SC"/>
                <a:ea typeface="Noto Sans SC"/>
                <a:cs typeface="Noto Sans SC"/>
                <a:sym typeface="Noto Sans SC"/>
              </a:rPr>
              <a:t>所属层级:L3 ｜ 编号#36 ｜ 辅导材料:算法清单与API</a:t>
            </a:r>
            <a:endParaRPr lang="en-US" sz="1100"/>
          </a:p>
        </p:txBody>
      </p:sp>
      <p:cxnSp>
        <p:nvCxnSpPr>
          <p:cNvPr id="4" name="Connector 4"/>
          <p:cNvCxnSpPr/>
          <p:nvPr/>
        </p:nvCxnSpPr>
        <p:spPr>
          <a:xfrm rot="-3906">
            <a:off x="508004" y="1416050"/>
            <a:ext cx="111760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5" name="AutoShape 5"/>
          <p:cNvSpPr/>
          <p:nvPr/>
        </p:nvSpPr>
        <p:spPr>
          <a:xfrm>
            <a:off x="508000" y="1549400"/>
            <a:ext cx="3683000" cy="19050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508000" y="1549400"/>
            <a:ext cx="50800" cy="1905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762000" y="1625600"/>
            <a:ext cx="323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900" b="1" i="0" u="none" strike="noStrike">
                <a:solidFill>
                  <a:srgbClr val="1E3A8A"/>
                </a:solidFill>
                <a:latin typeface="Noto Sans SC"/>
                <a:ea typeface="Noto Sans SC"/>
                <a:cs typeface="Noto Sans SC"/>
                <a:sym typeface="Noto Sans SC"/>
              </a:rPr>
              <a:t>功能定义</a:t>
            </a:r>
            <a:endParaRPr lang="en-US" sz="1100"/>
          </a:p>
        </p:txBody>
      </p:sp>
      <p:cxnSp>
        <p:nvCxnSpPr>
          <p:cNvPr id="8" name="Connector 8"/>
          <p:cNvCxnSpPr/>
          <p:nvPr/>
        </p:nvCxnSpPr>
        <p:spPr>
          <a:xfrm rot="-13481">
            <a:off x="762012" y="2051050"/>
            <a:ext cx="32385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9" name="AutoShape 9"/>
          <p:cNvSpPr/>
          <p:nvPr/>
        </p:nvSpPr>
        <p:spPr>
          <a:xfrm>
            <a:off x="762000" y="2159000"/>
            <a:ext cx="3238500" cy="9652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利用深度学习模型(如MLP,CNN)直接处理光谱数据进行分类。</a:t>
            </a:r>
            <a:endParaRPr lang="en-US" sz="1100"/>
          </a:p>
        </p:txBody>
      </p:sp>
      <p:sp>
        <p:nvSpPr>
          <p:cNvPr id="10" name="AutoShape 10"/>
          <p:cNvSpPr/>
          <p:nvPr/>
        </p:nvSpPr>
        <p:spPr>
          <a:xfrm>
            <a:off x="4318000" y="1549400"/>
            <a:ext cx="3683000" cy="19050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4318000" y="1549400"/>
            <a:ext cx="50800" cy="1905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4572000" y="1625600"/>
            <a:ext cx="323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900" b="1" i="0" u="none" strike="noStrike">
                <a:solidFill>
                  <a:srgbClr val="1E3A8A"/>
                </a:solidFill>
                <a:latin typeface="Noto Sans SC"/>
                <a:ea typeface="Noto Sans SC"/>
                <a:cs typeface="Noto Sans SC"/>
                <a:sym typeface="Noto Sans SC"/>
              </a:rPr>
              <a:t>方法要点</a:t>
            </a:r>
            <a:endParaRPr lang="en-US" sz="1100"/>
          </a:p>
        </p:txBody>
      </p:sp>
      <p:cxnSp>
        <p:nvCxnSpPr>
          <p:cNvPr id="13" name="Connector 13"/>
          <p:cNvCxnSpPr/>
          <p:nvPr/>
        </p:nvCxnSpPr>
        <p:spPr>
          <a:xfrm rot="-13481">
            <a:off x="4572012" y="2051050"/>
            <a:ext cx="32385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14" name="AutoShape 14"/>
          <p:cNvSpPr/>
          <p:nvPr/>
        </p:nvSpPr>
        <p:spPr>
          <a:xfrm>
            <a:off x="4572000" y="2159000"/>
            <a:ext cx="3238500" cy="9652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将每个像素的光谱曲线作为输入,送入深度学习模型进行训练和分类。</a:t>
            </a:r>
            <a:endParaRPr lang="en-US" sz="1100"/>
          </a:p>
        </p:txBody>
      </p:sp>
      <p:sp>
        <p:nvSpPr>
          <p:cNvPr id="15" name="AutoShape 15"/>
          <p:cNvSpPr/>
          <p:nvPr/>
        </p:nvSpPr>
        <p:spPr>
          <a:xfrm>
            <a:off x="8128000" y="1549400"/>
            <a:ext cx="3683000" cy="19050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8128000" y="1549400"/>
            <a:ext cx="50800" cy="1905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8382000" y="1625600"/>
            <a:ext cx="323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900" b="1" i="0" u="none" strike="noStrike">
                <a:solidFill>
                  <a:srgbClr val="1E3A8A"/>
                </a:solidFill>
                <a:latin typeface="Noto Sans SC"/>
                <a:ea typeface="Noto Sans SC"/>
                <a:cs typeface="Noto Sans SC"/>
                <a:sym typeface="Noto Sans SC"/>
              </a:rPr>
              <a:t>适用场景</a:t>
            </a:r>
            <a:endParaRPr lang="en-US" sz="1100"/>
          </a:p>
        </p:txBody>
      </p:sp>
      <p:cxnSp>
        <p:nvCxnSpPr>
          <p:cNvPr id="18" name="Connector 18"/>
          <p:cNvCxnSpPr/>
          <p:nvPr/>
        </p:nvCxnSpPr>
        <p:spPr>
          <a:xfrm rot="-13481">
            <a:off x="8382012" y="2051050"/>
            <a:ext cx="32385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19" name="AutoShape 19"/>
          <p:cNvSpPr/>
          <p:nvPr/>
        </p:nvSpPr>
        <p:spPr>
          <a:xfrm>
            <a:off x="8382000" y="2159000"/>
            <a:ext cx="3238500" cy="9652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复杂地物分类、高光谱数据精细分类。</a:t>
            </a:r>
            <a:endParaRPr lang="en-US" sz="1100"/>
          </a:p>
        </p:txBody>
      </p:sp>
      <p:sp>
        <p:nvSpPr>
          <p:cNvPr id="20" name="AutoShape 20"/>
          <p:cNvSpPr/>
          <p:nvPr/>
        </p:nvSpPr>
        <p:spPr>
          <a:xfrm>
            <a:off x="508000" y="3581400"/>
            <a:ext cx="5715000" cy="1651000"/>
          </a:xfrm>
          <a:prstGeom prst="roundRect">
            <a:avLst>
              <a:gd name="adj" fmla="val 0"/>
            </a:avLst>
          </a:prstGeom>
          <a:solidFill>
            <a:srgbClr val="10B981">
              <a:alpha val="7000"/>
            </a:srgbClr>
          </a:solidFill>
          <a:ln cap="flat" cmpd="sng">
            <a:solidFill>
              <a:srgbClr val="00A06B">
                <a:alpha val="7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508000" y="3581400"/>
            <a:ext cx="50800" cy="1651000"/>
          </a:xfrm>
          <a:prstGeom prst="roundRect">
            <a:avLst>
              <a:gd name="adj" fmla="val 0"/>
            </a:avLst>
          </a:prstGeom>
          <a:solidFill>
            <a:srgbClr val="10B981">
              <a:alpha val="100000"/>
            </a:srgbClr>
          </a:solidFill>
          <a:ln cap="flat" cmpd="sng">
            <a:solidFill>
              <a:srgbClr val="00A06B">
                <a:alpha val="10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762000" y="3657600"/>
            <a:ext cx="527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900" b="1" i="0" u="none" strike="noStrike">
                <a:solidFill>
                  <a:srgbClr val="10B981"/>
                </a:solidFill>
                <a:latin typeface="Noto Sans SC"/>
                <a:ea typeface="Noto Sans SC"/>
                <a:cs typeface="Noto Sans SC"/>
                <a:sym typeface="Noto Sans SC"/>
              </a:rPr>
              <a:t>业务价值</a:t>
            </a:r>
            <a:endParaRPr lang="en-US" sz="1100"/>
          </a:p>
        </p:txBody>
      </p:sp>
      <p:cxnSp>
        <p:nvCxnSpPr>
          <p:cNvPr id="23" name="Connector 23"/>
          <p:cNvCxnSpPr/>
          <p:nvPr/>
        </p:nvCxnSpPr>
        <p:spPr>
          <a:xfrm rot="-8283">
            <a:off x="762008" y="4057650"/>
            <a:ext cx="5270500" cy="12700"/>
          </a:xfrm>
          <a:prstGeom prst="straightConnector1">
            <a:avLst/>
          </a:prstGeom>
          <a:solidFill>
            <a:srgbClr val="DEE0E3">
              <a:alpha val="100000"/>
            </a:srgbClr>
          </a:solidFill>
          <a:ln w="12700" cap="flat" cmpd="sng">
            <a:solidFill>
              <a:srgbClr val="10B981">
                <a:alpha val="22000"/>
              </a:srgbClr>
            </a:solidFill>
            <a:prstDash val="solid"/>
            <a:round/>
            <a:headEnd type="none" w="med" len="med"/>
            <a:tailEnd type="none" w="med" len="med"/>
          </a:ln>
        </p:spPr>
      </p:cxnSp>
      <p:sp>
        <p:nvSpPr>
          <p:cNvPr id="24" name="AutoShape 24"/>
          <p:cNvSpPr/>
          <p:nvPr/>
        </p:nvSpPr>
        <p:spPr>
          <a:xfrm>
            <a:off x="762000" y="4140200"/>
            <a:ext cx="5270500" cy="914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500" b="0" i="0" u="none" strike="noStrike">
                <a:solidFill>
                  <a:srgbClr val="334155"/>
                </a:solidFill>
                <a:latin typeface="Noto Sans SC"/>
                <a:ea typeface="Noto Sans SC"/>
                <a:cs typeface="Noto Sans SC"/>
                <a:sym typeface="Noto Sans SC"/>
              </a:rPr>
              <a:t>能够自动提取深层光谱特征,分类精度更高。</a:t>
            </a:r>
            <a:endParaRPr lang="en-US" sz="1100"/>
          </a:p>
        </p:txBody>
      </p:sp>
      <p:sp>
        <p:nvSpPr>
          <p:cNvPr id="25" name="AutoShape 25"/>
          <p:cNvSpPr/>
          <p:nvPr/>
        </p:nvSpPr>
        <p:spPr>
          <a:xfrm>
            <a:off x="6477000" y="3581400"/>
            <a:ext cx="5715000" cy="1651000"/>
          </a:xfrm>
          <a:prstGeom prst="roundRect">
            <a:avLst>
              <a:gd name="adj" fmla="val 0"/>
            </a:avLst>
          </a:prstGeom>
          <a:solidFill>
            <a:srgbClr val="F59E0B">
              <a:alpha val="7000"/>
            </a:srgbClr>
          </a:solidFill>
          <a:ln cap="flat" cmpd="sng">
            <a:solidFill>
              <a:srgbClr val="DC8A00">
                <a:alpha val="7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6477000" y="3581400"/>
            <a:ext cx="50800" cy="1651000"/>
          </a:xfrm>
          <a:prstGeom prst="roundRect">
            <a:avLst>
              <a:gd name="adj" fmla="val 0"/>
            </a:avLst>
          </a:prstGeom>
          <a:solidFill>
            <a:srgbClr val="F59E0B">
              <a:alpha val="100000"/>
            </a:srgbClr>
          </a:solidFill>
          <a:ln cap="flat" cmpd="sng">
            <a:solidFill>
              <a:srgbClr val="DC8A00">
                <a:alpha val="100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6731000" y="3657600"/>
            <a:ext cx="527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900" b="1" i="0" u="none" strike="noStrike">
                <a:solidFill>
                  <a:srgbClr val="F59E0B"/>
                </a:solidFill>
                <a:latin typeface="Noto Sans SC"/>
                <a:ea typeface="Noto Sans SC"/>
                <a:cs typeface="Noto Sans SC"/>
                <a:sym typeface="Noto Sans SC"/>
              </a:rPr>
              <a:t>缺失影响</a:t>
            </a:r>
            <a:endParaRPr lang="en-US" sz="1100"/>
          </a:p>
        </p:txBody>
      </p:sp>
      <p:cxnSp>
        <p:nvCxnSpPr>
          <p:cNvPr id="28" name="Connector 28"/>
          <p:cNvCxnSpPr/>
          <p:nvPr/>
        </p:nvCxnSpPr>
        <p:spPr>
          <a:xfrm rot="-8594">
            <a:off x="6731008" y="4057650"/>
            <a:ext cx="5080000" cy="12700"/>
          </a:xfrm>
          <a:prstGeom prst="straightConnector1">
            <a:avLst/>
          </a:prstGeom>
          <a:solidFill>
            <a:srgbClr val="DEE0E3">
              <a:alpha val="100000"/>
            </a:srgbClr>
          </a:solidFill>
          <a:ln w="12700" cap="flat" cmpd="sng">
            <a:solidFill>
              <a:srgbClr val="F59E0B">
                <a:alpha val="22000"/>
              </a:srgbClr>
            </a:solidFill>
            <a:prstDash val="solid"/>
            <a:round/>
            <a:headEnd type="none" w="med" len="med"/>
            <a:tailEnd type="none" w="med" len="med"/>
          </a:ln>
        </p:spPr>
      </p:cxnSp>
      <p:sp>
        <p:nvSpPr>
          <p:cNvPr id="29" name="AutoShape 29"/>
          <p:cNvSpPr/>
          <p:nvPr/>
        </p:nvSpPr>
        <p:spPr>
          <a:xfrm>
            <a:off x="6731000" y="4140200"/>
            <a:ext cx="5270500" cy="914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500" b="0" i="0" u="none" strike="noStrike">
                <a:solidFill>
                  <a:srgbClr val="334155"/>
                </a:solidFill>
                <a:latin typeface="Noto Sans SC"/>
                <a:ea typeface="Noto Sans SC"/>
                <a:cs typeface="Noto Sans SC"/>
                <a:sym typeface="Noto Sans SC"/>
              </a:rPr>
              <a:t>相比传统方法,需要更多的训练样本和更强的算力。</a:t>
            </a:r>
            <a:endParaRPr lang="en-US" sz="1100"/>
          </a:p>
        </p:txBody>
      </p:sp>
      <p:sp>
        <p:nvSpPr>
          <p:cNvPr id="30" name="AutoShape 30"/>
          <p:cNvSpPr/>
          <p:nvPr/>
        </p:nvSpPr>
        <p:spPr>
          <a:xfrm>
            <a:off x="508000" y="5397500"/>
            <a:ext cx="11303000" cy="1117600"/>
          </a:xfrm>
          <a:prstGeom prst="roundRect">
            <a:avLst>
              <a:gd name="adj" fmla="val 0"/>
            </a:avLst>
          </a:prstGeom>
          <a:gradFill rotWithShape="1">
            <a:gsLst>
              <a:gs pos="0">
                <a:srgbClr val="1E3A8A">
                  <a:alpha val="8000"/>
                </a:srgbClr>
              </a:gs>
              <a:gs pos="100000">
                <a:srgbClr val="1E3A8A">
                  <a:alpha val="2000"/>
                </a:srgbClr>
              </a:gs>
            </a:gsLst>
            <a:lin ang="0"/>
          </a:gradFill>
          <a:ln cap="flat" cmpd="sng">
            <a:gradFill rotWithShape="1">
              <a:gsLst>
                <a:gs pos="0">
                  <a:srgbClr val="0D2771">
                    <a:alpha val="8000"/>
                  </a:srgbClr>
                </a:gs>
                <a:gs pos="100000">
                  <a:srgbClr val="0D2771">
                    <a:alpha val="2000"/>
                  </a:srgbClr>
                </a:gs>
              </a:gsLst>
              <a:lin ang="0"/>
            </a:gradFill>
            <a:prstDash val="solid"/>
            <a:round/>
          </a:ln>
        </p:spPr>
        <p:txBody>
          <a:bodyPr vert="horz" wrap="square" lIns="63500" tIns="63500" rIns="63500" bIns="63500" rtlCol="0" anchor="ctr"/>
          <a:lstStyle/>
          <a:p>
            <a:pPr algn="ctr">
              <a:defRPr/>
            </a:pPr>
          </a:p>
        </p:txBody>
      </p:sp>
      <p:sp>
        <p:nvSpPr>
          <p:cNvPr id="31" name="AutoShape 31"/>
          <p:cNvSpPr/>
          <p:nvPr/>
        </p:nvSpPr>
        <p:spPr>
          <a:xfrm>
            <a:off x="508000" y="5397500"/>
            <a:ext cx="50800" cy="11176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32" name="AutoShape 32"/>
          <p:cNvSpPr/>
          <p:nvPr/>
        </p:nvSpPr>
        <p:spPr>
          <a:xfrm>
            <a:off x="762000" y="5461000"/>
            <a:ext cx="59690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1" i="0" u="none" strike="noStrike" spc="100">
                <a:solidFill>
                  <a:srgbClr val="1E3A8A"/>
                </a:solidFill>
                <a:latin typeface="Noto Sans SC"/>
                <a:ea typeface="Noto Sans SC"/>
                <a:cs typeface="Noto Sans SC"/>
                <a:sym typeface="Noto Sans SC"/>
              </a:rPr>
              <a:t>流程位置与关联</a:t>
            </a:r>
            <a:endParaRPr lang="en-US" sz="1100"/>
          </a:p>
        </p:txBody>
      </p:sp>
      <p:sp>
        <p:nvSpPr>
          <p:cNvPr id="33" name="AutoShape 33"/>
          <p:cNvSpPr/>
          <p:nvPr/>
        </p:nvSpPr>
        <p:spPr>
          <a:xfrm>
            <a:off x="762000" y="5765800"/>
            <a:ext cx="59690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0" i="0" u="none" strike="noStrike">
                <a:solidFill>
                  <a:srgbClr val="475569"/>
                </a:solidFill>
                <a:latin typeface="Noto Sans SC"/>
                <a:ea typeface="Noto Sans SC"/>
                <a:cs typeface="Noto Sans SC"/>
                <a:sym typeface="Noto Sans SC"/>
              </a:rPr>
              <a:t>环节:L3分类与检测 ｜ 关联:</a:t>
            </a:r>
            <a:r>
              <a:rPr lang="en-US" sz="1300" b="1" i="0" u="none" strike="noStrike">
                <a:solidFill>
                  <a:srgbClr val="1E3A8A"/>
                </a:solidFill>
                <a:latin typeface="Noto Sans SC"/>
                <a:ea typeface="Noto Sans SC"/>
                <a:cs typeface="Noto Sans SC"/>
                <a:sym typeface="Noto Sans SC"/>
              </a:rPr>
              <a:t>#26样本构建</a:t>
            </a:r>
            <a:r>
              <a:rPr lang="en-US" sz="1300" b="0" i="0" u="none" strike="noStrike">
                <a:solidFill>
                  <a:srgbClr val="475569"/>
                </a:solidFill>
                <a:latin typeface="Noto Sans SC"/>
                <a:ea typeface="Noto Sans SC"/>
                <a:cs typeface="Noto Sans SC"/>
                <a:sym typeface="Noto Sans SC"/>
              </a:rPr>
              <a:t>,</a:t>
            </a:r>
            <a:r>
              <a:rPr lang="en-US" sz="1300" b="1" i="0" u="none" strike="noStrike">
                <a:solidFill>
                  <a:srgbClr val="1E3A8A"/>
                </a:solidFill>
                <a:latin typeface="Noto Sans SC"/>
                <a:ea typeface="Noto Sans SC"/>
                <a:cs typeface="Noto Sans SC"/>
                <a:sym typeface="Noto Sans SC"/>
              </a:rPr>
              <a:t>#44后处理</a:t>
            </a:r>
            <a:r>
              <a:rPr lang="en-US" sz="1300" b="0" i="0" u="none" strike="noStrike">
                <a:solidFill>
                  <a:srgbClr val="475569"/>
                </a:solidFill>
                <a:latin typeface="Noto Sans SC"/>
                <a:ea typeface="Noto Sans SC"/>
                <a:cs typeface="Noto Sans SC"/>
                <a:sym typeface="Noto Sans SC"/>
              </a:rPr>
              <a:t>,</a:t>
            </a:r>
            <a:r>
              <a:rPr lang="en-US" sz="1300" b="1" i="0" u="none" strike="noStrike">
                <a:solidFill>
                  <a:srgbClr val="1E3A8A"/>
                </a:solidFill>
                <a:latin typeface="Noto Sans SC"/>
                <a:ea typeface="Noto Sans SC"/>
                <a:cs typeface="Noto Sans SC"/>
                <a:sym typeface="Noto Sans SC"/>
              </a:rPr>
              <a:t>#45面积统计</a:t>
            </a:r>
            <a:endParaRPr lang="en-US" sz="1100"/>
          </a:p>
        </p:txBody>
      </p:sp>
      <p:cxnSp>
        <p:nvCxnSpPr>
          <p:cNvPr id="34" name="Connector 34"/>
          <p:cNvCxnSpPr/>
          <p:nvPr/>
        </p:nvCxnSpPr>
        <p:spPr>
          <a:xfrm rot="5347115">
            <a:off x="6572250" y="5930949"/>
            <a:ext cx="825500" cy="12700"/>
          </a:xfrm>
          <a:prstGeom prst="straightConnector1">
            <a:avLst/>
          </a:prstGeom>
          <a:solidFill>
            <a:srgbClr val="DEE0E3">
              <a:alpha val="100000"/>
            </a:srgbClr>
          </a:solidFill>
          <a:ln w="12700" cap="flat" cmpd="sng">
            <a:solidFill>
              <a:srgbClr val="1E3A8A">
                <a:alpha val="20000"/>
              </a:srgbClr>
            </a:solidFill>
            <a:prstDash val="solid"/>
            <a:round/>
            <a:headEnd type="none" w="med" len="med"/>
            <a:tailEnd type="none" w="med" len="med"/>
          </a:ln>
        </p:spPr>
      </p:cxnSp>
      <p:sp>
        <p:nvSpPr>
          <p:cNvPr id="35" name="AutoShape 35"/>
          <p:cNvSpPr/>
          <p:nvPr/>
        </p:nvSpPr>
        <p:spPr>
          <a:xfrm>
            <a:off x="7239000" y="5461000"/>
            <a:ext cx="43815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1" i="0" u="none" strike="noStrike" spc="100">
                <a:solidFill>
                  <a:srgbClr val="1E3A8A"/>
                </a:solidFill>
                <a:latin typeface="Noto Sans SC"/>
                <a:ea typeface="Noto Sans SC"/>
                <a:cs typeface="Noto Sans SC"/>
                <a:sym typeface="Noto Sans SC"/>
              </a:rPr>
              <a:t>调用API</a:t>
            </a:r>
            <a:endParaRPr lang="en-US" sz="1100"/>
          </a:p>
        </p:txBody>
      </p:sp>
      <p:sp>
        <p:nvSpPr>
          <p:cNvPr id="36" name="AutoShape 36"/>
          <p:cNvSpPr/>
          <p:nvPr/>
        </p:nvSpPr>
        <p:spPr>
          <a:xfrm>
            <a:off x="7239000" y="5765800"/>
            <a:ext cx="4381500" cy="5334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spc="30">
                <a:solidFill>
                  <a:srgbClr val="475569"/>
                </a:solidFill>
                <a:latin typeface="Noto Sans SC"/>
                <a:ea typeface="Noto Sans SC"/>
                <a:cs typeface="Noto Sans SC"/>
                <a:sym typeface="Noto Sans SC"/>
              </a:rPr>
              <a:t>/api/v1/</a:t>
            </a:r>
            <a:r>
              <a:rPr lang="en-US" sz="1400" b="1" i="0" u="none" strike="noStrike" spc="30">
                <a:solidFill>
                  <a:srgbClr val="1E3A8A"/>
                </a:solidFill>
                <a:latin typeface="Noto Sans SC"/>
                <a:ea typeface="Noto Sans SC"/>
                <a:cs typeface="Noto Sans SC"/>
                <a:sym typeface="Noto Sans SC"/>
              </a:rPr>
              <a:t>36_spectral_deep_learning</a:t>
            </a:r>
            <a:r>
              <a:rPr lang="en-US" sz="1400" b="0" i="0" u="none" strike="noStrike" spc="30">
                <a:solidFill>
                  <a:srgbClr val="475569"/>
                </a:solidFill>
                <a:latin typeface="Noto Sans SC"/>
                <a:ea typeface="Noto Sans SC"/>
                <a:cs typeface="Noto Sans SC"/>
                <a:sym typeface="Noto Sans SC"/>
              </a:rPr>
              <a:t>/run</a:t>
            </a:r>
            <a:endParaRPr lang="en-US" sz="11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604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2800" b="1" i="0" u="none" strike="noStrike" spc="100">
                <a:solidFill>
                  <a:srgbClr val="1E3A8A"/>
                </a:solidFill>
                <a:latin typeface="Noto Sans SC"/>
                <a:ea typeface="Noto Sans SC"/>
                <a:cs typeface="Noto Sans SC"/>
                <a:sym typeface="Noto Sans SC"/>
              </a:rPr>
              <a:t>空-谱CNN分类(2D/3D-CNN)</a:t>
            </a:r>
            <a:endParaRPr lang="en-US" sz="1100"/>
          </a:p>
        </p:txBody>
      </p:sp>
      <p:sp>
        <p:nvSpPr>
          <p:cNvPr id="3" name="AutoShape 3"/>
          <p:cNvSpPr/>
          <p:nvPr/>
        </p:nvSpPr>
        <p:spPr>
          <a:xfrm>
            <a:off x="508000" y="1041400"/>
            <a:ext cx="1117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200" b="0" i="0" u="none" strike="noStrike">
                <a:solidFill>
                  <a:srgbClr val="64748B"/>
                </a:solidFill>
                <a:latin typeface="Noto Sans SC"/>
                <a:ea typeface="Noto Sans SC"/>
                <a:cs typeface="Noto Sans SC"/>
                <a:sym typeface="Noto Sans SC"/>
              </a:rPr>
              <a:t>所属层级:L3</a:t>
            </a:r>
            <a:r>
              <a:rPr lang="en-US" sz="1200" b="0" i="0" u="none" strike="noStrike">
                <a:solidFill>
                  <a:srgbClr val="CBD5E1"/>
                </a:solidFill>
                <a:latin typeface="Noto Sans SC"/>
                <a:ea typeface="Noto Sans SC"/>
                <a:cs typeface="Noto Sans SC"/>
                <a:sym typeface="Noto Sans SC"/>
              </a:rPr>
              <a:t>｜</a:t>
            </a:r>
            <a:r>
              <a:rPr lang="en-US" sz="1200" b="0" i="0" u="none" strike="noStrike">
                <a:solidFill>
                  <a:srgbClr val="64748B"/>
                </a:solidFill>
                <a:latin typeface="Noto Sans SC"/>
                <a:ea typeface="Noto Sans SC"/>
                <a:cs typeface="Noto Sans SC"/>
                <a:sym typeface="Noto Sans SC"/>
              </a:rPr>
              <a:t>编号#37</a:t>
            </a:r>
            <a:r>
              <a:rPr lang="en-US" sz="1200" b="0" i="0" u="none" strike="noStrike">
                <a:solidFill>
                  <a:srgbClr val="CBD5E1"/>
                </a:solidFill>
                <a:latin typeface="Noto Sans SC"/>
                <a:ea typeface="Noto Sans SC"/>
                <a:cs typeface="Noto Sans SC"/>
                <a:sym typeface="Noto Sans SC"/>
              </a:rPr>
              <a:t>｜</a:t>
            </a:r>
            <a:r>
              <a:rPr lang="en-US" sz="1200" b="0" i="0" u="none" strike="noStrike">
                <a:solidFill>
                  <a:srgbClr val="64748B"/>
                </a:solidFill>
                <a:latin typeface="Noto Sans SC"/>
                <a:ea typeface="Noto Sans SC"/>
                <a:cs typeface="Noto Sans SC"/>
                <a:sym typeface="Noto Sans SC"/>
              </a:rPr>
              <a:t>辅导材料:算法清单与API</a:t>
            </a:r>
            <a:endParaRPr lang="en-US" sz="1100"/>
          </a:p>
        </p:txBody>
      </p:sp>
      <p:cxnSp>
        <p:nvCxnSpPr>
          <p:cNvPr id="4" name="Connector 4"/>
          <p:cNvCxnSpPr/>
          <p:nvPr/>
        </p:nvCxnSpPr>
        <p:spPr>
          <a:xfrm rot="-3906">
            <a:off x="508004" y="1492250"/>
            <a:ext cx="11176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5" name="AutoShape 5"/>
          <p:cNvSpPr/>
          <p:nvPr/>
        </p:nvSpPr>
        <p:spPr>
          <a:xfrm>
            <a:off x="508000" y="1625600"/>
            <a:ext cx="6731000" cy="13335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508000" y="1625600"/>
            <a:ext cx="50800" cy="13335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762000" y="1625600"/>
            <a:ext cx="635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spc="200">
                <a:solidFill>
                  <a:srgbClr val="1E3A8A"/>
                </a:solidFill>
                <a:latin typeface="Noto Sans SC"/>
                <a:ea typeface="Noto Sans SC"/>
                <a:cs typeface="Noto Sans SC"/>
                <a:sym typeface="Noto Sans SC"/>
              </a:rPr>
              <a:t>功能定义</a:t>
            </a:r>
            <a:endParaRPr lang="en-US" sz="1100"/>
          </a:p>
        </p:txBody>
      </p:sp>
      <p:sp>
        <p:nvSpPr>
          <p:cNvPr id="8" name="AutoShape 8"/>
          <p:cNvSpPr/>
          <p:nvPr/>
        </p:nvSpPr>
        <p:spPr>
          <a:xfrm>
            <a:off x="762000" y="2032000"/>
            <a:ext cx="6350000" cy="787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500" b="0" i="0" u="none" strike="noStrike">
                <a:solidFill>
                  <a:srgbClr val="334155"/>
                </a:solidFill>
                <a:latin typeface="Noto Sans SC"/>
                <a:ea typeface="Noto Sans SC"/>
                <a:cs typeface="Noto Sans SC"/>
                <a:sym typeface="Noto Sans SC"/>
              </a:rPr>
              <a:t>同时利用光谱信息和空间邻域信息进行分类。</a:t>
            </a:r>
            <a:endParaRPr lang="en-US" sz="1100"/>
          </a:p>
        </p:txBody>
      </p:sp>
      <p:sp>
        <p:nvSpPr>
          <p:cNvPr id="9" name="AutoShape 9"/>
          <p:cNvSpPr/>
          <p:nvPr/>
        </p:nvSpPr>
        <p:spPr>
          <a:xfrm>
            <a:off x="508000" y="3048000"/>
            <a:ext cx="6731000" cy="17780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508000" y="3048000"/>
            <a:ext cx="50800" cy="1778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762000" y="3048000"/>
            <a:ext cx="635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spc="200">
                <a:solidFill>
                  <a:srgbClr val="1E3A8A"/>
                </a:solidFill>
                <a:latin typeface="Noto Sans SC"/>
                <a:ea typeface="Noto Sans SC"/>
                <a:cs typeface="Noto Sans SC"/>
                <a:sym typeface="Noto Sans SC"/>
              </a:rPr>
              <a:t>方法要点</a:t>
            </a:r>
            <a:endParaRPr lang="en-US" sz="1100"/>
          </a:p>
        </p:txBody>
      </p:sp>
      <p:sp>
        <p:nvSpPr>
          <p:cNvPr id="12" name="AutoShape 12"/>
          <p:cNvSpPr/>
          <p:nvPr/>
        </p:nvSpPr>
        <p:spPr>
          <a:xfrm>
            <a:off x="762000" y="3454400"/>
            <a:ext cx="6350000" cy="1168400"/>
          </a:xfrm>
          <a:prstGeom prst="rect">
            <a:avLst/>
          </a:prstGeom>
          <a:noFill/>
          <a:ln w="12700" cap="flat" cmpd="sng">
            <a:noFill/>
            <a:prstDash val="solid"/>
            <a:round/>
          </a:ln>
        </p:spPr>
        <p:txBody>
          <a:bodyPr vert="horz" wrap="square" lIns="0" tIns="0" rIns="0" bIns="0" rtlCol="0" anchor="t" anchorCtr="0"/>
          <a:lstStyle/>
          <a:p>
            <a:pPr marL="0" indent="0" algn="l">
              <a:lnSpc>
                <a:spcPct val="133000"/>
              </a:lnSpc>
              <a:defRPr/>
            </a:pPr>
            <a:r>
              <a:rPr lang="en-US" sz="1500" b="0" i="0" u="none" strike="noStrike">
                <a:solidFill>
                  <a:srgbClr val="334155"/>
                </a:solidFill>
                <a:latin typeface="Noto Sans SC"/>
                <a:ea typeface="Noto Sans SC"/>
                <a:cs typeface="Noto Sans SC"/>
                <a:sym typeface="Noto Sans SC"/>
              </a:rPr>
              <a:t>将像素及其邻域的光谱数据构造成一个三维数据块(高度为波段数,宽度和高度为邻域大小),然后送入3D-CNN模型进行训练。</a:t>
            </a:r>
            <a:endParaRPr lang="en-US" sz="1100"/>
          </a:p>
        </p:txBody>
      </p:sp>
      <p:sp>
        <p:nvSpPr>
          <p:cNvPr id="13" name="AutoShape 13"/>
          <p:cNvSpPr/>
          <p:nvPr/>
        </p:nvSpPr>
        <p:spPr>
          <a:xfrm>
            <a:off x="7493000" y="1625600"/>
            <a:ext cx="4191000" cy="1244600"/>
          </a:xfrm>
          <a:prstGeom prst="roundRect">
            <a:avLst>
              <a:gd name="adj" fmla="val 0"/>
            </a:avLst>
          </a:prstGeom>
          <a:solidFill>
            <a:srgbClr val="3B82F6">
              <a:alpha val="6000"/>
            </a:srgbClr>
          </a:solidFill>
          <a:ln cap="flat" cmpd="sng">
            <a:solidFill>
              <a:srgbClr val="1F67DD">
                <a:alpha val="6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7493000" y="1625600"/>
            <a:ext cx="50800" cy="1244600"/>
          </a:xfrm>
          <a:prstGeom prst="roundRect">
            <a:avLst>
              <a:gd name="adj" fmla="val 0"/>
            </a:avLst>
          </a:prstGeom>
          <a:solidFill>
            <a:srgbClr val="3B82F6">
              <a:alpha val="100000"/>
            </a:srgbClr>
          </a:solidFill>
          <a:ln cap="flat" cmpd="sng">
            <a:solidFill>
              <a:srgbClr val="1F67DD">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7721600" y="1625600"/>
            <a:ext cx="38735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700" b="1" i="0" u="none" strike="noStrike" spc="200">
                <a:solidFill>
                  <a:srgbClr val="1E3A8A"/>
                </a:solidFill>
                <a:latin typeface="Noto Sans SC"/>
                <a:ea typeface="Noto Sans SC"/>
                <a:cs typeface="Noto Sans SC"/>
                <a:sym typeface="Noto Sans SC"/>
              </a:rPr>
              <a:t>适用场景</a:t>
            </a:r>
            <a:endParaRPr lang="en-US" sz="1100"/>
          </a:p>
        </p:txBody>
      </p:sp>
      <p:sp>
        <p:nvSpPr>
          <p:cNvPr id="16" name="AutoShape 16"/>
          <p:cNvSpPr/>
          <p:nvPr/>
        </p:nvSpPr>
        <p:spPr>
          <a:xfrm>
            <a:off x="7721600" y="1981200"/>
            <a:ext cx="3873500" cy="787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475569"/>
                </a:solidFill>
                <a:latin typeface="Noto Sans SC"/>
                <a:ea typeface="Noto Sans SC"/>
                <a:cs typeface="Noto Sans SC"/>
                <a:sym typeface="Noto Sans SC"/>
              </a:rPr>
              <a:t>农田作物精细分类、城市地物识别、复杂场景下的高精度分类。</a:t>
            </a:r>
            <a:endParaRPr lang="en-US" sz="1100"/>
          </a:p>
        </p:txBody>
      </p:sp>
      <p:sp>
        <p:nvSpPr>
          <p:cNvPr id="17" name="AutoShape 17"/>
          <p:cNvSpPr/>
          <p:nvPr/>
        </p:nvSpPr>
        <p:spPr>
          <a:xfrm>
            <a:off x="7493000" y="2946400"/>
            <a:ext cx="4191000" cy="1244600"/>
          </a:xfrm>
          <a:prstGeom prst="roundRect">
            <a:avLst>
              <a:gd name="adj" fmla="val 0"/>
            </a:avLst>
          </a:prstGeom>
          <a:solidFill>
            <a:srgbClr val="F59E0B">
              <a:alpha val="7000"/>
            </a:srgbClr>
          </a:solidFill>
          <a:ln cap="flat" cmpd="sng">
            <a:solidFill>
              <a:srgbClr val="DC8A00">
                <a:alpha val="7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7493000" y="2946400"/>
            <a:ext cx="50800" cy="1244600"/>
          </a:xfrm>
          <a:prstGeom prst="roundRect">
            <a:avLst>
              <a:gd name="adj" fmla="val 0"/>
            </a:avLst>
          </a:prstGeom>
          <a:solidFill>
            <a:srgbClr val="F59E0B">
              <a:alpha val="100000"/>
            </a:srgbClr>
          </a:solidFill>
          <a:ln cap="flat" cmpd="sng">
            <a:solidFill>
              <a:srgbClr val="DC8A00">
                <a:alpha val="10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7721600" y="2946400"/>
            <a:ext cx="38735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700" b="1" i="0" u="none" strike="noStrike" spc="200">
                <a:solidFill>
                  <a:srgbClr val="B45309"/>
                </a:solidFill>
                <a:latin typeface="Noto Sans SC"/>
                <a:ea typeface="Noto Sans SC"/>
                <a:cs typeface="Noto Sans SC"/>
                <a:sym typeface="Noto Sans SC"/>
              </a:rPr>
              <a:t>业务价值</a:t>
            </a:r>
            <a:endParaRPr lang="en-US" sz="1100"/>
          </a:p>
        </p:txBody>
      </p:sp>
      <p:sp>
        <p:nvSpPr>
          <p:cNvPr id="20" name="AutoShape 20"/>
          <p:cNvSpPr/>
          <p:nvPr/>
        </p:nvSpPr>
        <p:spPr>
          <a:xfrm>
            <a:off x="7721600" y="3302000"/>
            <a:ext cx="3873500" cy="787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475569"/>
                </a:solidFill>
                <a:latin typeface="Noto Sans SC"/>
                <a:ea typeface="Noto Sans SC"/>
                <a:cs typeface="Noto Sans SC"/>
                <a:sym typeface="Noto Sans SC"/>
              </a:rPr>
              <a:t>结合了光谱的</a:t>
            </a:r>
            <a:r>
              <a:rPr lang="en-US" sz="1400" b="1" i="0" u="none" strike="noStrike">
                <a:solidFill>
                  <a:srgbClr val="F59E0B"/>
                </a:solidFill>
                <a:latin typeface="Noto Sans SC"/>
                <a:ea typeface="Noto Sans SC"/>
                <a:cs typeface="Noto Sans SC"/>
                <a:sym typeface="Noto Sans SC"/>
              </a:rPr>
              <a:t>"指纹"</a:t>
            </a:r>
            <a:r>
              <a:rPr lang="en-US" sz="1400" b="0" i="0" u="none" strike="noStrike">
                <a:solidFill>
                  <a:srgbClr val="475569"/>
                </a:solidFill>
                <a:latin typeface="Noto Sans SC"/>
                <a:ea typeface="Noto Sans SC"/>
                <a:cs typeface="Noto Sans SC"/>
                <a:sym typeface="Noto Sans SC"/>
              </a:rPr>
              <a:t>特性和空间的</a:t>
            </a:r>
            <a:r>
              <a:rPr lang="en-US" sz="1400" b="1" i="0" u="none" strike="noStrike">
                <a:solidFill>
                  <a:srgbClr val="F59E0B"/>
                </a:solidFill>
                <a:latin typeface="Noto Sans SC"/>
                <a:ea typeface="Noto Sans SC"/>
                <a:cs typeface="Noto Sans SC"/>
                <a:sym typeface="Noto Sans SC"/>
              </a:rPr>
              <a:t>"纹理"</a:t>
            </a:r>
            <a:r>
              <a:rPr lang="en-US" sz="1400" b="0" i="0" u="none" strike="noStrike">
                <a:solidFill>
                  <a:srgbClr val="475569"/>
                </a:solidFill>
                <a:latin typeface="Noto Sans SC"/>
                <a:ea typeface="Noto Sans SC"/>
                <a:cs typeface="Noto Sans SC"/>
                <a:sym typeface="Noto Sans SC"/>
              </a:rPr>
              <a:t>特性,显著提升分类准确率。</a:t>
            </a:r>
            <a:endParaRPr lang="en-US" sz="1100"/>
          </a:p>
        </p:txBody>
      </p:sp>
      <p:sp>
        <p:nvSpPr>
          <p:cNvPr id="21" name="AutoShape 21"/>
          <p:cNvSpPr/>
          <p:nvPr/>
        </p:nvSpPr>
        <p:spPr>
          <a:xfrm>
            <a:off x="7493000" y="4267200"/>
            <a:ext cx="4191000" cy="1244600"/>
          </a:xfrm>
          <a:prstGeom prst="roundRect">
            <a:avLst>
              <a:gd name="adj" fmla="val 0"/>
            </a:avLst>
          </a:prstGeom>
          <a:solidFill>
            <a:srgbClr val="EF4444">
              <a:alpha val="6000"/>
            </a:srgbClr>
          </a:solidFill>
          <a:ln cap="flat" cmpd="sng">
            <a:solidFill>
              <a:srgbClr val="D52727">
                <a:alpha val="6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7493000" y="4267200"/>
            <a:ext cx="50800" cy="1244600"/>
          </a:xfrm>
          <a:prstGeom prst="roundRect">
            <a:avLst>
              <a:gd name="adj" fmla="val 0"/>
            </a:avLst>
          </a:prstGeom>
          <a:solidFill>
            <a:srgbClr val="EF4444">
              <a:alpha val="100000"/>
            </a:srgbClr>
          </a:solidFill>
          <a:ln cap="flat" cmpd="sng">
            <a:solidFill>
              <a:srgbClr val="D52727">
                <a:alpha val="10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7721600" y="4267200"/>
            <a:ext cx="38735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700" b="1" i="0" u="none" strike="noStrike" spc="200">
                <a:solidFill>
                  <a:srgbClr val="B91C1C"/>
                </a:solidFill>
                <a:latin typeface="Noto Sans SC"/>
                <a:ea typeface="Noto Sans SC"/>
                <a:cs typeface="Noto Sans SC"/>
                <a:sym typeface="Noto Sans SC"/>
              </a:rPr>
              <a:t>缺失影响</a:t>
            </a:r>
            <a:endParaRPr lang="en-US" sz="1100"/>
          </a:p>
        </p:txBody>
      </p:sp>
      <p:sp>
        <p:nvSpPr>
          <p:cNvPr id="24" name="AutoShape 24"/>
          <p:cNvSpPr/>
          <p:nvPr/>
        </p:nvSpPr>
        <p:spPr>
          <a:xfrm>
            <a:off x="7721600" y="4622800"/>
            <a:ext cx="3873500" cy="787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475569"/>
                </a:solidFill>
                <a:latin typeface="Noto Sans SC"/>
                <a:ea typeface="Noto Sans SC"/>
                <a:cs typeface="Noto Sans SC"/>
                <a:sym typeface="Noto Sans SC"/>
              </a:rPr>
              <a:t>仅使用光谱信息,忽略了空间上下文,分类精度可能受限。</a:t>
            </a:r>
            <a:endParaRPr lang="en-US" sz="1100"/>
          </a:p>
        </p:txBody>
      </p:sp>
      <p:cxnSp>
        <p:nvCxnSpPr>
          <p:cNvPr id="25" name="Connector 25"/>
          <p:cNvCxnSpPr/>
          <p:nvPr/>
        </p:nvCxnSpPr>
        <p:spPr>
          <a:xfrm rot="-3906">
            <a:off x="508004" y="5581650"/>
            <a:ext cx="11176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26" name="AutoShape 26"/>
          <p:cNvSpPr/>
          <p:nvPr/>
        </p:nvSpPr>
        <p:spPr>
          <a:xfrm>
            <a:off x="508000" y="5689600"/>
            <a:ext cx="11176000" cy="914400"/>
          </a:xfrm>
          <a:prstGeom prst="roundRect">
            <a:avLst>
              <a:gd name="adj" fmla="val 0"/>
            </a:avLst>
          </a:prstGeom>
          <a:gradFill rotWithShape="1">
            <a:gsLst>
              <a:gs pos="0">
                <a:srgbClr val="1E3A8A">
                  <a:alpha val="6000"/>
                </a:srgbClr>
              </a:gs>
              <a:gs pos="100000">
                <a:srgbClr val="1E3A8A">
                  <a:alpha val="2000"/>
                </a:srgbClr>
              </a:gs>
            </a:gsLst>
            <a:lin ang="0"/>
          </a:gradFill>
          <a:ln cap="flat" cmpd="sng">
            <a:gradFill rotWithShape="1">
              <a:gsLst>
                <a:gs pos="0">
                  <a:srgbClr val="0D2771">
                    <a:alpha val="6000"/>
                  </a:srgbClr>
                </a:gs>
                <a:gs pos="100000">
                  <a:srgbClr val="0D2771">
                    <a:alpha val="2000"/>
                  </a:srgbClr>
                </a:gs>
              </a:gsLst>
              <a:lin ang="0"/>
            </a:gradFill>
            <a:prstDash val="solid"/>
            <a:round/>
          </a:ln>
        </p:spPr>
        <p:txBody>
          <a:bodyPr vert="horz" wrap="square" lIns="63500" tIns="63500" rIns="63500" bIns="63500" rtlCol="0" anchor="ctr"/>
          <a:lstStyle/>
          <a:p>
            <a:pPr algn="ctr">
              <a:defRPr/>
            </a:pPr>
          </a:p>
        </p:txBody>
      </p:sp>
      <p:sp>
        <p:nvSpPr>
          <p:cNvPr id="27" name="AutoShape 27"/>
          <p:cNvSpPr/>
          <p:nvPr/>
        </p:nvSpPr>
        <p:spPr>
          <a:xfrm>
            <a:off x="508000" y="5689600"/>
            <a:ext cx="50800" cy="914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28" name="AutoShape 28"/>
          <p:cNvSpPr/>
          <p:nvPr/>
        </p:nvSpPr>
        <p:spPr>
          <a:xfrm>
            <a:off x="762000" y="5689600"/>
            <a:ext cx="29210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100" b="1" i="0" u="none" strike="noStrike" spc="200">
                <a:solidFill>
                  <a:srgbClr val="64748B"/>
                </a:solidFill>
                <a:latin typeface="Noto Sans SC"/>
                <a:ea typeface="Noto Sans SC"/>
                <a:cs typeface="Noto Sans SC"/>
                <a:sym typeface="Noto Sans SC"/>
              </a:rPr>
              <a:t>流程位置</a:t>
            </a:r>
            <a:endParaRPr lang="en-US" sz="1100"/>
          </a:p>
        </p:txBody>
      </p:sp>
      <p:sp>
        <p:nvSpPr>
          <p:cNvPr id="29" name="AutoShape 29"/>
          <p:cNvSpPr/>
          <p:nvPr/>
        </p:nvSpPr>
        <p:spPr>
          <a:xfrm>
            <a:off x="762000" y="5994400"/>
            <a:ext cx="292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400" b="1" i="0" u="none" strike="noStrike">
                <a:solidFill>
                  <a:srgbClr val="1E3A8A"/>
                </a:solidFill>
                <a:latin typeface="Noto Sans SC"/>
                <a:ea typeface="Noto Sans SC"/>
                <a:cs typeface="Noto Sans SC"/>
                <a:sym typeface="Noto Sans SC"/>
              </a:rPr>
              <a:t>L3分类与检测</a:t>
            </a:r>
            <a:endParaRPr lang="en-US" sz="1100"/>
          </a:p>
        </p:txBody>
      </p:sp>
      <p:cxnSp>
        <p:nvCxnSpPr>
          <p:cNvPr id="30" name="Connector 30"/>
          <p:cNvCxnSpPr/>
          <p:nvPr/>
        </p:nvCxnSpPr>
        <p:spPr>
          <a:xfrm rot="5336345">
            <a:off x="3467100" y="6153209"/>
            <a:ext cx="685800" cy="12700"/>
          </a:xfrm>
          <a:prstGeom prst="straightConnector1">
            <a:avLst/>
          </a:prstGeom>
          <a:solidFill>
            <a:srgbClr val="DEE0E3">
              <a:alpha val="100000"/>
            </a:srgbClr>
          </a:solidFill>
          <a:ln w="12700" cap="flat" cmpd="sng">
            <a:solidFill>
              <a:srgbClr val="CBD5E1">
                <a:alpha val="100000"/>
              </a:srgbClr>
            </a:solidFill>
            <a:prstDash val="solid"/>
            <a:round/>
            <a:headEnd type="none" w="med" len="med"/>
            <a:tailEnd type="none" w="med" len="med"/>
          </a:ln>
        </p:spPr>
      </p:cxnSp>
      <p:sp>
        <p:nvSpPr>
          <p:cNvPr id="31" name="AutoShape 31"/>
          <p:cNvSpPr/>
          <p:nvPr/>
        </p:nvSpPr>
        <p:spPr>
          <a:xfrm>
            <a:off x="4013200" y="5689600"/>
            <a:ext cx="36830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100" b="1" i="0" u="none" strike="noStrike" spc="200">
                <a:solidFill>
                  <a:srgbClr val="64748B"/>
                </a:solidFill>
                <a:latin typeface="Noto Sans SC"/>
                <a:ea typeface="Noto Sans SC"/>
                <a:cs typeface="Noto Sans SC"/>
                <a:sym typeface="Noto Sans SC"/>
              </a:rPr>
              <a:t>关联算法</a:t>
            </a:r>
            <a:endParaRPr lang="en-US" sz="1100"/>
          </a:p>
        </p:txBody>
      </p:sp>
      <p:sp>
        <p:nvSpPr>
          <p:cNvPr id="32" name="AutoShape 32"/>
          <p:cNvSpPr/>
          <p:nvPr/>
        </p:nvSpPr>
        <p:spPr>
          <a:xfrm>
            <a:off x="4013200" y="5994400"/>
            <a:ext cx="368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0" i="0" u="none" strike="noStrike">
                <a:solidFill>
                  <a:srgbClr val="334155"/>
                </a:solidFill>
                <a:latin typeface="Noto Sans SC"/>
                <a:ea typeface="Noto Sans SC"/>
                <a:cs typeface="Noto Sans SC"/>
                <a:sym typeface="Noto Sans SC"/>
              </a:rPr>
              <a:t>#26样本构建 · #44后处理 · #45面积统计</a:t>
            </a:r>
            <a:endParaRPr lang="en-US" sz="1100"/>
          </a:p>
        </p:txBody>
      </p:sp>
      <p:cxnSp>
        <p:nvCxnSpPr>
          <p:cNvPr id="33" name="Connector 33"/>
          <p:cNvCxnSpPr/>
          <p:nvPr/>
        </p:nvCxnSpPr>
        <p:spPr>
          <a:xfrm rot="5336345">
            <a:off x="7531100" y="6153209"/>
            <a:ext cx="685800" cy="12700"/>
          </a:xfrm>
          <a:prstGeom prst="straightConnector1">
            <a:avLst/>
          </a:prstGeom>
          <a:solidFill>
            <a:srgbClr val="DEE0E3">
              <a:alpha val="100000"/>
            </a:srgbClr>
          </a:solidFill>
          <a:ln w="12700" cap="flat" cmpd="sng">
            <a:solidFill>
              <a:srgbClr val="CBD5E1">
                <a:alpha val="100000"/>
              </a:srgbClr>
            </a:solidFill>
            <a:prstDash val="solid"/>
            <a:round/>
            <a:headEnd type="none" w="med" len="med"/>
            <a:tailEnd type="none" w="med" len="med"/>
          </a:ln>
        </p:spPr>
      </p:cxnSp>
      <p:sp>
        <p:nvSpPr>
          <p:cNvPr id="34" name="AutoShape 34"/>
          <p:cNvSpPr/>
          <p:nvPr/>
        </p:nvSpPr>
        <p:spPr>
          <a:xfrm>
            <a:off x="8077200" y="5689600"/>
            <a:ext cx="36830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100" b="1" i="0" u="none" strike="noStrike" spc="200">
                <a:solidFill>
                  <a:srgbClr val="64748B"/>
                </a:solidFill>
                <a:latin typeface="Noto Sans SC"/>
                <a:ea typeface="Noto Sans SC"/>
                <a:cs typeface="Noto Sans SC"/>
                <a:sym typeface="Noto Sans SC"/>
              </a:rPr>
              <a:t>API调用</a:t>
            </a:r>
            <a:endParaRPr lang="en-US" sz="1100"/>
          </a:p>
        </p:txBody>
      </p:sp>
      <p:sp>
        <p:nvSpPr>
          <p:cNvPr id="35" name="AutoShape 35"/>
          <p:cNvSpPr/>
          <p:nvPr/>
        </p:nvSpPr>
        <p:spPr>
          <a:xfrm>
            <a:off x="8077200" y="5994400"/>
            <a:ext cx="37465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0" i="0" u="none" strike="noStrike">
                <a:solidFill>
                  <a:srgbClr val="1E3A8A"/>
                </a:solidFill>
                <a:latin typeface="Noto Sans SC"/>
                <a:ea typeface="Noto Sans SC"/>
                <a:cs typeface="Noto Sans SC"/>
                <a:sym typeface="Noto Sans SC"/>
              </a:rPr>
              <a:t>/api/v1/37_spatio_spectral_cnn/run</a:t>
            </a:r>
            <a:endParaRPr lang="en-US" sz="11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7620000" cy="6096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spc="100">
                <a:solidFill>
                  <a:srgbClr val="1E3A8A"/>
                </a:solidFill>
                <a:latin typeface="Noto Sans SC"/>
                <a:ea typeface="Noto Sans SC"/>
                <a:cs typeface="Noto Sans SC"/>
                <a:sym typeface="Noto Sans SC"/>
              </a:rPr>
              <a:t>Transformer分类</a:t>
            </a:r>
            <a:endParaRPr lang="en-US" sz="1100"/>
          </a:p>
        </p:txBody>
      </p:sp>
      <p:sp>
        <p:nvSpPr>
          <p:cNvPr id="3" name="AutoShape 3"/>
          <p:cNvSpPr/>
          <p:nvPr/>
        </p:nvSpPr>
        <p:spPr>
          <a:xfrm>
            <a:off x="508000" y="1016000"/>
            <a:ext cx="88900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0" i="0" u="none" strike="noStrike">
                <a:solidFill>
                  <a:srgbClr val="64748B"/>
                </a:solidFill>
                <a:latin typeface="Noto Sans SC"/>
                <a:ea typeface="Noto Sans SC"/>
                <a:cs typeface="Noto Sans SC"/>
                <a:sym typeface="Noto Sans SC"/>
              </a:rPr>
              <a:t>所属层级:L3</a:t>
            </a:r>
            <a:r>
              <a:rPr lang="en-US" sz="1200" b="0" i="0" u="none" strike="noStrike">
                <a:solidFill>
                  <a:srgbClr val="CBD5E1"/>
                </a:solidFill>
                <a:latin typeface="Noto Sans SC"/>
                <a:ea typeface="Noto Sans SC"/>
                <a:cs typeface="Noto Sans SC"/>
                <a:sym typeface="Noto Sans SC"/>
              </a:rPr>
              <a:t>｜</a:t>
            </a:r>
            <a:r>
              <a:rPr lang="en-US" sz="1200" b="0" i="0" u="none" strike="noStrike">
                <a:solidFill>
                  <a:srgbClr val="64748B"/>
                </a:solidFill>
                <a:latin typeface="Noto Sans SC"/>
                <a:ea typeface="Noto Sans SC"/>
                <a:cs typeface="Noto Sans SC"/>
                <a:sym typeface="Noto Sans SC"/>
              </a:rPr>
              <a:t>编号#38</a:t>
            </a:r>
            <a:r>
              <a:rPr lang="en-US" sz="1200" b="0" i="0" u="none" strike="noStrike">
                <a:solidFill>
                  <a:srgbClr val="CBD5E1"/>
                </a:solidFill>
                <a:latin typeface="Noto Sans SC"/>
                <a:ea typeface="Noto Sans SC"/>
                <a:cs typeface="Noto Sans SC"/>
                <a:sym typeface="Noto Sans SC"/>
              </a:rPr>
              <a:t>｜</a:t>
            </a:r>
            <a:r>
              <a:rPr lang="en-US" sz="1200" b="0" i="0" u="none" strike="noStrike">
                <a:solidFill>
                  <a:srgbClr val="64748B"/>
                </a:solidFill>
                <a:latin typeface="Noto Sans SC"/>
                <a:ea typeface="Noto Sans SC"/>
                <a:cs typeface="Noto Sans SC"/>
                <a:sym typeface="Noto Sans SC"/>
              </a:rPr>
              <a:t>辅导材料:算法清单与API</a:t>
            </a:r>
            <a:endParaRPr lang="en-US" sz="1100"/>
          </a:p>
        </p:txBody>
      </p:sp>
      <p:cxnSp>
        <p:nvCxnSpPr>
          <p:cNvPr id="4" name="Connector 4"/>
          <p:cNvCxnSpPr/>
          <p:nvPr/>
        </p:nvCxnSpPr>
        <p:spPr>
          <a:xfrm rot="-3906">
            <a:off x="508004" y="1416050"/>
            <a:ext cx="11176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5" name="AutoShape 5"/>
          <p:cNvSpPr/>
          <p:nvPr/>
        </p:nvSpPr>
        <p:spPr>
          <a:xfrm>
            <a:off x="508000" y="1549400"/>
            <a:ext cx="7493000" cy="8636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508000" y="1549400"/>
            <a:ext cx="50800" cy="863600"/>
          </a:xfrm>
          <a:prstGeom prst="roundRect">
            <a:avLst>
              <a:gd name="adj" fmla="val 0"/>
            </a:avLst>
          </a:prstGeom>
          <a:solidFill>
            <a:srgbClr val="3B82F6">
              <a:alpha val="100000"/>
            </a:srgbClr>
          </a:solidFill>
          <a:ln cap="flat" cmpd="sng">
            <a:solidFill>
              <a:srgbClr val="1F67DD">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762000" y="1549400"/>
            <a:ext cx="6350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600" b="1" i="0" u="none" strike="noStrike">
                <a:solidFill>
                  <a:srgbClr val="1E3A8A"/>
                </a:solidFill>
                <a:latin typeface="Noto Sans SC"/>
                <a:ea typeface="Noto Sans SC"/>
                <a:cs typeface="Noto Sans SC"/>
                <a:sym typeface="Noto Sans SC"/>
              </a:rPr>
              <a:t>功能定义</a:t>
            </a:r>
            <a:endParaRPr lang="en-US" sz="1100"/>
          </a:p>
        </p:txBody>
      </p:sp>
      <p:sp>
        <p:nvSpPr>
          <p:cNvPr id="8" name="AutoShape 8"/>
          <p:cNvSpPr/>
          <p:nvPr/>
        </p:nvSpPr>
        <p:spPr>
          <a:xfrm>
            <a:off x="762000" y="1905000"/>
            <a:ext cx="7048500" cy="457200"/>
          </a:xfrm>
          <a:prstGeom prst="rect">
            <a:avLst/>
          </a:prstGeom>
          <a:noFill/>
          <a:ln w="12700" cap="flat" cmpd="sng">
            <a:noFill/>
            <a:prstDash val="solid"/>
            <a:round/>
          </a:ln>
        </p:spPr>
        <p:txBody>
          <a:bodyPr vert="horz" wrap="square" lIns="0" tIns="0" rIns="0" bIns="0" rtlCol="0" anchor="t" anchorCtr="0"/>
          <a:lstStyle/>
          <a:p>
            <a:pPr marL="0" indent="0" algn="l">
              <a:lnSpc>
                <a:spcPct val="113000"/>
              </a:lnSpc>
              <a:defRPr/>
            </a:pPr>
            <a:r>
              <a:rPr lang="en-US" sz="1400" b="0" i="0" u="none" strike="noStrike">
                <a:solidFill>
                  <a:srgbClr val="475569"/>
                </a:solidFill>
                <a:latin typeface="Noto Sans SC"/>
                <a:ea typeface="Noto Sans SC"/>
                <a:cs typeface="Noto Sans SC"/>
                <a:sym typeface="Noto Sans SC"/>
              </a:rPr>
              <a:t>利用Transformer模型进行高光谱图像分类。</a:t>
            </a:r>
            <a:endParaRPr lang="en-US" sz="1100"/>
          </a:p>
        </p:txBody>
      </p:sp>
      <p:sp>
        <p:nvSpPr>
          <p:cNvPr id="9" name="AutoShape 9"/>
          <p:cNvSpPr/>
          <p:nvPr/>
        </p:nvSpPr>
        <p:spPr>
          <a:xfrm>
            <a:off x="508000" y="2540000"/>
            <a:ext cx="7493000" cy="8636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508000" y="2540000"/>
            <a:ext cx="50800" cy="863600"/>
          </a:xfrm>
          <a:prstGeom prst="roundRect">
            <a:avLst>
              <a:gd name="adj" fmla="val 0"/>
            </a:avLst>
          </a:prstGeom>
          <a:solidFill>
            <a:srgbClr val="3B82F6">
              <a:alpha val="100000"/>
            </a:srgbClr>
          </a:solidFill>
          <a:ln cap="flat" cmpd="sng">
            <a:solidFill>
              <a:srgbClr val="1F67DD">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762000" y="2540000"/>
            <a:ext cx="6350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600" b="1" i="0" u="none" strike="noStrike">
                <a:solidFill>
                  <a:srgbClr val="1E3A8A"/>
                </a:solidFill>
                <a:latin typeface="Noto Sans SC"/>
                <a:ea typeface="Noto Sans SC"/>
                <a:cs typeface="Noto Sans SC"/>
                <a:sym typeface="Noto Sans SC"/>
              </a:rPr>
              <a:t>方法要点</a:t>
            </a:r>
            <a:endParaRPr lang="en-US" sz="1100"/>
          </a:p>
        </p:txBody>
      </p:sp>
      <p:sp>
        <p:nvSpPr>
          <p:cNvPr id="12" name="AutoShape 12"/>
          <p:cNvSpPr/>
          <p:nvPr/>
        </p:nvSpPr>
        <p:spPr>
          <a:xfrm>
            <a:off x="762000" y="2895600"/>
            <a:ext cx="7048500" cy="457200"/>
          </a:xfrm>
          <a:prstGeom prst="rect">
            <a:avLst/>
          </a:prstGeom>
          <a:noFill/>
          <a:ln w="12700" cap="flat" cmpd="sng">
            <a:noFill/>
            <a:prstDash val="solid"/>
            <a:round/>
          </a:ln>
        </p:spPr>
        <p:txBody>
          <a:bodyPr vert="horz" wrap="square" lIns="0" tIns="0" rIns="0" bIns="0" rtlCol="0" anchor="t" anchorCtr="0"/>
          <a:lstStyle/>
          <a:p>
            <a:pPr marL="0" indent="0" algn="l">
              <a:lnSpc>
                <a:spcPct val="113000"/>
              </a:lnSpc>
              <a:defRPr/>
            </a:pPr>
            <a:r>
              <a:rPr lang="en-US" sz="1400" b="0" i="0" u="none" strike="noStrike">
                <a:solidFill>
                  <a:srgbClr val="475569"/>
                </a:solidFill>
                <a:latin typeface="Noto Sans SC"/>
                <a:ea typeface="Noto Sans SC"/>
                <a:cs typeface="Noto Sans SC"/>
                <a:sym typeface="Noto Sans SC"/>
              </a:rPr>
              <a:t>将高光谱图像视为序列数据,利用自注意力机制捕捉全局依赖关系。</a:t>
            </a:r>
            <a:endParaRPr lang="en-US" sz="1100"/>
          </a:p>
        </p:txBody>
      </p:sp>
      <p:sp>
        <p:nvSpPr>
          <p:cNvPr id="13" name="AutoShape 13"/>
          <p:cNvSpPr/>
          <p:nvPr/>
        </p:nvSpPr>
        <p:spPr>
          <a:xfrm>
            <a:off x="508000" y="3530600"/>
            <a:ext cx="7493000" cy="8636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508000" y="3530600"/>
            <a:ext cx="50800" cy="863600"/>
          </a:xfrm>
          <a:prstGeom prst="roundRect">
            <a:avLst>
              <a:gd name="adj" fmla="val 0"/>
            </a:avLst>
          </a:prstGeom>
          <a:solidFill>
            <a:srgbClr val="3B82F6">
              <a:alpha val="100000"/>
            </a:srgbClr>
          </a:solidFill>
          <a:ln cap="flat" cmpd="sng">
            <a:solidFill>
              <a:srgbClr val="1F67DD">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762000" y="3530600"/>
            <a:ext cx="6350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600" b="1" i="0" u="none" strike="noStrike">
                <a:solidFill>
                  <a:srgbClr val="1E3A8A"/>
                </a:solidFill>
                <a:latin typeface="Noto Sans SC"/>
                <a:ea typeface="Noto Sans SC"/>
                <a:cs typeface="Noto Sans SC"/>
                <a:sym typeface="Noto Sans SC"/>
              </a:rPr>
              <a:t>适用场景</a:t>
            </a:r>
            <a:endParaRPr lang="en-US" sz="1100"/>
          </a:p>
        </p:txBody>
      </p:sp>
      <p:sp>
        <p:nvSpPr>
          <p:cNvPr id="16" name="AutoShape 16"/>
          <p:cNvSpPr/>
          <p:nvPr/>
        </p:nvSpPr>
        <p:spPr>
          <a:xfrm>
            <a:off x="762000" y="3886200"/>
            <a:ext cx="7048500" cy="457200"/>
          </a:xfrm>
          <a:prstGeom prst="rect">
            <a:avLst/>
          </a:prstGeom>
          <a:noFill/>
          <a:ln w="12700" cap="flat" cmpd="sng">
            <a:noFill/>
            <a:prstDash val="solid"/>
            <a:round/>
          </a:ln>
        </p:spPr>
        <p:txBody>
          <a:bodyPr vert="horz" wrap="square" lIns="0" tIns="0" rIns="0" bIns="0" rtlCol="0" anchor="t" anchorCtr="0"/>
          <a:lstStyle/>
          <a:p>
            <a:pPr marL="0" indent="0" algn="l">
              <a:lnSpc>
                <a:spcPct val="113000"/>
              </a:lnSpc>
              <a:defRPr/>
            </a:pPr>
            <a:r>
              <a:rPr lang="en-US" sz="1400" b="0" i="0" u="none" strike="noStrike">
                <a:solidFill>
                  <a:srgbClr val="475569"/>
                </a:solidFill>
                <a:latin typeface="Noto Sans SC"/>
                <a:ea typeface="Noto Sans SC"/>
                <a:cs typeface="Noto Sans SC"/>
                <a:sym typeface="Noto Sans SC"/>
              </a:rPr>
              <a:t>高光谱图像分类,特别是需要捕捉长距离依赖关系的场景。</a:t>
            </a:r>
            <a:endParaRPr lang="en-US" sz="1100"/>
          </a:p>
        </p:txBody>
      </p:sp>
      <p:sp>
        <p:nvSpPr>
          <p:cNvPr id="17" name="AutoShape 17"/>
          <p:cNvSpPr/>
          <p:nvPr/>
        </p:nvSpPr>
        <p:spPr>
          <a:xfrm>
            <a:off x="508000" y="4521200"/>
            <a:ext cx="7493000" cy="8636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508000" y="4521200"/>
            <a:ext cx="50800" cy="863600"/>
          </a:xfrm>
          <a:prstGeom prst="roundRect">
            <a:avLst>
              <a:gd name="adj" fmla="val 0"/>
            </a:avLst>
          </a:prstGeom>
          <a:solidFill>
            <a:srgbClr val="3B82F6">
              <a:alpha val="100000"/>
            </a:srgbClr>
          </a:solidFill>
          <a:ln cap="flat" cmpd="sng">
            <a:solidFill>
              <a:srgbClr val="1F67DD">
                <a:alpha val="10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762000" y="4521200"/>
            <a:ext cx="6350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600" b="1" i="0" u="none" strike="noStrike">
                <a:solidFill>
                  <a:srgbClr val="1E3A8A"/>
                </a:solidFill>
                <a:latin typeface="Noto Sans SC"/>
                <a:ea typeface="Noto Sans SC"/>
                <a:cs typeface="Noto Sans SC"/>
                <a:sym typeface="Noto Sans SC"/>
              </a:rPr>
              <a:t>业务价值</a:t>
            </a:r>
            <a:endParaRPr lang="en-US" sz="1100"/>
          </a:p>
        </p:txBody>
      </p:sp>
      <p:sp>
        <p:nvSpPr>
          <p:cNvPr id="20" name="AutoShape 20"/>
          <p:cNvSpPr/>
          <p:nvPr/>
        </p:nvSpPr>
        <p:spPr>
          <a:xfrm>
            <a:off x="762000" y="4876800"/>
            <a:ext cx="7048500" cy="457200"/>
          </a:xfrm>
          <a:prstGeom prst="rect">
            <a:avLst/>
          </a:prstGeom>
          <a:noFill/>
          <a:ln w="12700" cap="flat" cmpd="sng">
            <a:noFill/>
            <a:prstDash val="solid"/>
            <a:round/>
          </a:ln>
        </p:spPr>
        <p:txBody>
          <a:bodyPr vert="horz" wrap="square" lIns="0" tIns="0" rIns="0" bIns="0" rtlCol="0" anchor="t" anchorCtr="0"/>
          <a:lstStyle/>
          <a:p>
            <a:pPr marL="0" indent="0" algn="l">
              <a:lnSpc>
                <a:spcPct val="113000"/>
              </a:lnSpc>
              <a:defRPr/>
            </a:pPr>
            <a:r>
              <a:rPr lang="en-US" sz="1400" b="0" i="0" u="none" strike="noStrike">
                <a:solidFill>
                  <a:srgbClr val="475569"/>
                </a:solidFill>
                <a:latin typeface="Noto Sans SC"/>
                <a:ea typeface="Noto Sans SC"/>
                <a:cs typeface="Noto Sans SC"/>
                <a:sym typeface="Noto Sans SC"/>
              </a:rPr>
              <a:t>能够捕捉全局上下文信息,进一步提升分类精度。</a:t>
            </a:r>
            <a:endParaRPr lang="en-US" sz="1100"/>
          </a:p>
        </p:txBody>
      </p:sp>
      <p:sp>
        <p:nvSpPr>
          <p:cNvPr id="21" name="AutoShape 21"/>
          <p:cNvSpPr/>
          <p:nvPr/>
        </p:nvSpPr>
        <p:spPr>
          <a:xfrm>
            <a:off x="508000" y="5511800"/>
            <a:ext cx="7493000" cy="863600"/>
          </a:xfrm>
          <a:prstGeom prst="roundRect">
            <a:avLst>
              <a:gd name="adj" fmla="val 0"/>
            </a:avLst>
          </a:prstGeom>
          <a:solidFill>
            <a:srgbClr val="F59E0B">
              <a:alpha val="8000"/>
            </a:srgbClr>
          </a:solidFill>
          <a:ln cap="flat" cmpd="sng">
            <a:solidFill>
              <a:srgbClr val="DC8A00">
                <a:alpha val="8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508000" y="5511800"/>
            <a:ext cx="50800" cy="863600"/>
          </a:xfrm>
          <a:prstGeom prst="roundRect">
            <a:avLst>
              <a:gd name="adj" fmla="val 0"/>
            </a:avLst>
          </a:prstGeom>
          <a:solidFill>
            <a:srgbClr val="F59E0B">
              <a:alpha val="100000"/>
            </a:srgbClr>
          </a:solidFill>
          <a:ln cap="flat" cmpd="sng">
            <a:solidFill>
              <a:srgbClr val="DC8A00">
                <a:alpha val="10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762000" y="5511800"/>
            <a:ext cx="6350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600" b="1" i="0" u="none" strike="noStrike">
                <a:solidFill>
                  <a:srgbClr val="B45309"/>
                </a:solidFill>
                <a:latin typeface="Noto Sans SC"/>
                <a:ea typeface="Noto Sans SC"/>
                <a:cs typeface="Noto Sans SC"/>
                <a:sym typeface="Noto Sans SC"/>
              </a:rPr>
              <a:t>缺失影响</a:t>
            </a:r>
            <a:endParaRPr lang="en-US" sz="1100"/>
          </a:p>
        </p:txBody>
      </p:sp>
      <p:sp>
        <p:nvSpPr>
          <p:cNvPr id="24" name="AutoShape 24"/>
          <p:cNvSpPr/>
          <p:nvPr/>
        </p:nvSpPr>
        <p:spPr>
          <a:xfrm>
            <a:off x="762000" y="5867400"/>
            <a:ext cx="7048500" cy="457200"/>
          </a:xfrm>
          <a:prstGeom prst="rect">
            <a:avLst/>
          </a:prstGeom>
          <a:noFill/>
          <a:ln w="12700" cap="flat" cmpd="sng">
            <a:noFill/>
            <a:prstDash val="solid"/>
            <a:round/>
          </a:ln>
        </p:spPr>
        <p:txBody>
          <a:bodyPr vert="horz" wrap="square" lIns="0" tIns="0" rIns="0" bIns="0" rtlCol="0" anchor="t" anchorCtr="0"/>
          <a:lstStyle/>
          <a:p>
            <a:pPr marL="0" indent="0" algn="l">
              <a:lnSpc>
                <a:spcPct val="113000"/>
              </a:lnSpc>
              <a:defRPr/>
            </a:pPr>
            <a:r>
              <a:rPr lang="en-US" sz="1400" b="0" i="0" u="none" strike="noStrike">
                <a:solidFill>
                  <a:srgbClr val="475569"/>
                </a:solidFill>
                <a:latin typeface="Noto Sans SC"/>
                <a:ea typeface="Noto Sans SC"/>
                <a:cs typeface="Noto Sans SC"/>
                <a:sym typeface="Noto Sans SC"/>
              </a:rPr>
              <a:t>模型复杂,计算量大,需要大量的训练数据。</a:t>
            </a:r>
            <a:endParaRPr lang="en-US" sz="1100"/>
          </a:p>
        </p:txBody>
      </p:sp>
      <p:sp>
        <p:nvSpPr>
          <p:cNvPr id="25" name="AutoShape 25"/>
          <p:cNvSpPr/>
          <p:nvPr/>
        </p:nvSpPr>
        <p:spPr>
          <a:xfrm>
            <a:off x="8255000" y="1549400"/>
            <a:ext cx="3429000" cy="48260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8458200" y="1549400"/>
            <a:ext cx="3048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流程位置与关联</a:t>
            </a:r>
            <a:endParaRPr lang="en-US" sz="1100"/>
          </a:p>
        </p:txBody>
      </p:sp>
      <p:cxnSp>
        <p:nvCxnSpPr>
          <p:cNvPr id="27" name="Connector 27"/>
          <p:cNvCxnSpPr/>
          <p:nvPr/>
        </p:nvCxnSpPr>
        <p:spPr>
          <a:xfrm rot="-14383">
            <a:off x="8458213" y="1949450"/>
            <a:ext cx="30353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28" name="AutoShape 28"/>
          <p:cNvSpPr/>
          <p:nvPr/>
        </p:nvSpPr>
        <p:spPr>
          <a:xfrm>
            <a:off x="8458200" y="2057400"/>
            <a:ext cx="30480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1" i="0" u="none" strike="noStrike">
                <a:solidFill>
                  <a:srgbClr val="64748B"/>
                </a:solidFill>
                <a:latin typeface="Noto Sans SC"/>
                <a:ea typeface="Noto Sans SC"/>
                <a:cs typeface="Noto Sans SC"/>
                <a:sym typeface="Noto Sans SC"/>
              </a:rPr>
              <a:t>在哪个环节</a:t>
            </a:r>
            <a:endParaRPr lang="en-US" sz="1100"/>
          </a:p>
        </p:txBody>
      </p:sp>
      <p:sp>
        <p:nvSpPr>
          <p:cNvPr id="29" name="AutoShape 29"/>
          <p:cNvSpPr/>
          <p:nvPr/>
        </p:nvSpPr>
        <p:spPr>
          <a:xfrm>
            <a:off x="8458200" y="2336800"/>
            <a:ext cx="3048000" cy="4318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500" b="1" i="0" u="none" strike="noStrike">
                <a:solidFill>
                  <a:srgbClr val="1E3A8A"/>
                </a:solidFill>
                <a:latin typeface="Noto Sans SC"/>
                <a:ea typeface="Noto Sans SC"/>
                <a:cs typeface="Noto Sans SC"/>
                <a:sym typeface="Noto Sans SC"/>
              </a:rPr>
              <a:t>L3分类与检测</a:t>
            </a:r>
            <a:endParaRPr lang="en-US" sz="1100"/>
          </a:p>
        </p:txBody>
      </p:sp>
      <p:sp>
        <p:nvSpPr>
          <p:cNvPr id="30" name="AutoShape 30"/>
          <p:cNvSpPr/>
          <p:nvPr/>
        </p:nvSpPr>
        <p:spPr>
          <a:xfrm>
            <a:off x="8458200" y="2921000"/>
            <a:ext cx="30480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1" i="0" u="none" strike="noStrike">
                <a:solidFill>
                  <a:srgbClr val="64748B"/>
                </a:solidFill>
                <a:latin typeface="Noto Sans SC"/>
                <a:ea typeface="Noto Sans SC"/>
                <a:cs typeface="Noto Sans SC"/>
                <a:sym typeface="Noto Sans SC"/>
              </a:rPr>
              <a:t>关联</a:t>
            </a:r>
            <a:endParaRPr lang="en-US" sz="1100"/>
          </a:p>
        </p:txBody>
      </p:sp>
      <p:sp>
        <p:nvSpPr>
          <p:cNvPr id="31" name="AutoShape 31"/>
          <p:cNvSpPr/>
          <p:nvPr/>
        </p:nvSpPr>
        <p:spPr>
          <a:xfrm>
            <a:off x="8458200" y="3251200"/>
            <a:ext cx="38100" cy="330200"/>
          </a:xfrm>
          <a:prstGeom prst="roundRect">
            <a:avLst>
              <a:gd name="adj" fmla="val 0"/>
            </a:avLst>
          </a:prstGeom>
          <a:solidFill>
            <a:srgbClr val="3B82F6">
              <a:alpha val="100000"/>
            </a:srgbClr>
          </a:solidFill>
          <a:ln cap="flat" cmpd="sng">
            <a:solidFill>
              <a:srgbClr val="1F67DD">
                <a:alpha val="100000"/>
              </a:srgbClr>
            </a:solidFill>
            <a:prstDash val="solid"/>
            <a:round/>
          </a:ln>
        </p:spPr>
        <p:txBody>
          <a:bodyPr vert="horz" wrap="square" lIns="63500" tIns="63500" rIns="63500" bIns="63500" rtlCol="0" anchor="ctr"/>
          <a:lstStyle/>
          <a:p>
            <a:pPr algn="ctr">
              <a:defRPr/>
            </a:pPr>
          </a:p>
        </p:txBody>
      </p:sp>
      <p:sp>
        <p:nvSpPr>
          <p:cNvPr id="32" name="AutoShape 32"/>
          <p:cNvSpPr/>
          <p:nvPr/>
        </p:nvSpPr>
        <p:spPr>
          <a:xfrm>
            <a:off x="8585200" y="3225800"/>
            <a:ext cx="762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1" i="0" u="none" strike="noStrike">
                <a:solidFill>
                  <a:srgbClr val="1E3A8A"/>
                </a:solidFill>
                <a:latin typeface="Noto Sans SC"/>
                <a:ea typeface="Noto Sans SC"/>
                <a:cs typeface="Noto Sans SC"/>
                <a:sym typeface="Noto Sans SC"/>
              </a:rPr>
              <a:t>#26</a:t>
            </a:r>
            <a:endParaRPr lang="en-US" sz="1100"/>
          </a:p>
        </p:txBody>
      </p:sp>
      <p:sp>
        <p:nvSpPr>
          <p:cNvPr id="33" name="AutoShape 33"/>
          <p:cNvSpPr/>
          <p:nvPr/>
        </p:nvSpPr>
        <p:spPr>
          <a:xfrm>
            <a:off x="9296400" y="3225800"/>
            <a:ext cx="2159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0" i="0" u="none" strike="noStrike">
                <a:solidFill>
                  <a:srgbClr val="475569"/>
                </a:solidFill>
                <a:latin typeface="Noto Sans SC"/>
                <a:ea typeface="Noto Sans SC"/>
                <a:cs typeface="Noto Sans SC"/>
                <a:sym typeface="Noto Sans SC"/>
              </a:rPr>
              <a:t>样本构建</a:t>
            </a:r>
            <a:endParaRPr lang="en-US" sz="1100"/>
          </a:p>
        </p:txBody>
      </p:sp>
      <p:sp>
        <p:nvSpPr>
          <p:cNvPr id="34" name="AutoShape 34"/>
          <p:cNvSpPr/>
          <p:nvPr/>
        </p:nvSpPr>
        <p:spPr>
          <a:xfrm>
            <a:off x="8458200" y="3708400"/>
            <a:ext cx="38100" cy="330200"/>
          </a:xfrm>
          <a:prstGeom prst="roundRect">
            <a:avLst>
              <a:gd name="adj" fmla="val 0"/>
            </a:avLst>
          </a:prstGeom>
          <a:solidFill>
            <a:srgbClr val="3B82F6">
              <a:alpha val="100000"/>
            </a:srgbClr>
          </a:solidFill>
          <a:ln cap="flat" cmpd="sng">
            <a:solidFill>
              <a:srgbClr val="1F67DD">
                <a:alpha val="100000"/>
              </a:srgbClr>
            </a:solidFill>
            <a:prstDash val="solid"/>
            <a:round/>
          </a:ln>
        </p:spPr>
        <p:txBody>
          <a:bodyPr vert="horz" wrap="square" lIns="63500" tIns="63500" rIns="63500" bIns="63500" rtlCol="0" anchor="ctr"/>
          <a:lstStyle/>
          <a:p>
            <a:pPr algn="ctr">
              <a:defRPr/>
            </a:pPr>
          </a:p>
        </p:txBody>
      </p:sp>
      <p:sp>
        <p:nvSpPr>
          <p:cNvPr id="35" name="AutoShape 35"/>
          <p:cNvSpPr/>
          <p:nvPr/>
        </p:nvSpPr>
        <p:spPr>
          <a:xfrm>
            <a:off x="8585200" y="3683000"/>
            <a:ext cx="762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1" i="0" u="none" strike="noStrike">
                <a:solidFill>
                  <a:srgbClr val="1E3A8A"/>
                </a:solidFill>
                <a:latin typeface="Noto Sans SC"/>
                <a:ea typeface="Noto Sans SC"/>
                <a:cs typeface="Noto Sans SC"/>
                <a:sym typeface="Noto Sans SC"/>
              </a:rPr>
              <a:t>#44</a:t>
            </a:r>
            <a:endParaRPr lang="en-US" sz="1100"/>
          </a:p>
        </p:txBody>
      </p:sp>
      <p:sp>
        <p:nvSpPr>
          <p:cNvPr id="36" name="AutoShape 36"/>
          <p:cNvSpPr/>
          <p:nvPr/>
        </p:nvSpPr>
        <p:spPr>
          <a:xfrm>
            <a:off x="9296400" y="3683000"/>
            <a:ext cx="2159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0" i="0" u="none" strike="noStrike">
                <a:solidFill>
                  <a:srgbClr val="475569"/>
                </a:solidFill>
                <a:latin typeface="Noto Sans SC"/>
                <a:ea typeface="Noto Sans SC"/>
                <a:cs typeface="Noto Sans SC"/>
                <a:sym typeface="Noto Sans SC"/>
              </a:rPr>
              <a:t>后处理</a:t>
            </a:r>
            <a:endParaRPr lang="en-US" sz="1100"/>
          </a:p>
        </p:txBody>
      </p:sp>
      <p:sp>
        <p:nvSpPr>
          <p:cNvPr id="37" name="AutoShape 37"/>
          <p:cNvSpPr/>
          <p:nvPr/>
        </p:nvSpPr>
        <p:spPr>
          <a:xfrm>
            <a:off x="8458200" y="4165600"/>
            <a:ext cx="38100" cy="330200"/>
          </a:xfrm>
          <a:prstGeom prst="roundRect">
            <a:avLst>
              <a:gd name="adj" fmla="val 0"/>
            </a:avLst>
          </a:prstGeom>
          <a:solidFill>
            <a:srgbClr val="3B82F6">
              <a:alpha val="100000"/>
            </a:srgbClr>
          </a:solidFill>
          <a:ln cap="flat" cmpd="sng">
            <a:solidFill>
              <a:srgbClr val="1F67DD">
                <a:alpha val="100000"/>
              </a:srgbClr>
            </a:solidFill>
            <a:prstDash val="solid"/>
            <a:round/>
          </a:ln>
        </p:spPr>
        <p:txBody>
          <a:bodyPr vert="horz" wrap="square" lIns="63500" tIns="63500" rIns="63500" bIns="63500" rtlCol="0" anchor="ctr"/>
          <a:lstStyle/>
          <a:p>
            <a:pPr algn="ctr">
              <a:defRPr/>
            </a:pPr>
          </a:p>
        </p:txBody>
      </p:sp>
      <p:sp>
        <p:nvSpPr>
          <p:cNvPr id="38" name="AutoShape 38"/>
          <p:cNvSpPr/>
          <p:nvPr/>
        </p:nvSpPr>
        <p:spPr>
          <a:xfrm>
            <a:off x="8585200" y="4140200"/>
            <a:ext cx="762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1" i="0" u="none" strike="noStrike">
                <a:solidFill>
                  <a:srgbClr val="1E3A8A"/>
                </a:solidFill>
                <a:latin typeface="Noto Sans SC"/>
                <a:ea typeface="Noto Sans SC"/>
                <a:cs typeface="Noto Sans SC"/>
                <a:sym typeface="Noto Sans SC"/>
              </a:rPr>
              <a:t>#45</a:t>
            </a:r>
            <a:endParaRPr lang="en-US" sz="1100"/>
          </a:p>
        </p:txBody>
      </p:sp>
      <p:sp>
        <p:nvSpPr>
          <p:cNvPr id="39" name="AutoShape 39"/>
          <p:cNvSpPr/>
          <p:nvPr/>
        </p:nvSpPr>
        <p:spPr>
          <a:xfrm>
            <a:off x="9296400" y="4140200"/>
            <a:ext cx="2159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0" i="0" u="none" strike="noStrike">
                <a:solidFill>
                  <a:srgbClr val="475569"/>
                </a:solidFill>
                <a:latin typeface="Noto Sans SC"/>
                <a:ea typeface="Noto Sans SC"/>
                <a:cs typeface="Noto Sans SC"/>
                <a:sym typeface="Noto Sans SC"/>
              </a:rPr>
              <a:t>面积统计</a:t>
            </a:r>
            <a:endParaRPr lang="en-US" sz="1100"/>
          </a:p>
        </p:txBody>
      </p:sp>
      <p:cxnSp>
        <p:nvCxnSpPr>
          <p:cNvPr id="40" name="Connector 40"/>
          <p:cNvCxnSpPr/>
          <p:nvPr/>
        </p:nvCxnSpPr>
        <p:spPr>
          <a:xfrm rot="-14383">
            <a:off x="8458213" y="4692650"/>
            <a:ext cx="30353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41" name="AutoShape 41"/>
          <p:cNvSpPr/>
          <p:nvPr/>
        </p:nvSpPr>
        <p:spPr>
          <a:xfrm>
            <a:off x="8458200" y="4800600"/>
            <a:ext cx="30480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1" i="0" u="none" strike="noStrike">
                <a:solidFill>
                  <a:srgbClr val="64748B"/>
                </a:solidFill>
                <a:latin typeface="Noto Sans SC"/>
                <a:ea typeface="Noto Sans SC"/>
                <a:cs typeface="Noto Sans SC"/>
                <a:sym typeface="Noto Sans SC"/>
              </a:rPr>
              <a:t>API接口</a:t>
            </a:r>
            <a:endParaRPr lang="en-US" sz="1100"/>
          </a:p>
        </p:txBody>
      </p:sp>
      <p:sp>
        <p:nvSpPr>
          <p:cNvPr id="42" name="AutoShape 42"/>
          <p:cNvSpPr/>
          <p:nvPr/>
        </p:nvSpPr>
        <p:spPr>
          <a:xfrm>
            <a:off x="8458200" y="5130800"/>
            <a:ext cx="3022600" cy="711200"/>
          </a:xfrm>
          <a:prstGeom prst="roundRect">
            <a:avLst>
              <a:gd name="adj" fmla="val 0"/>
            </a:avLst>
          </a:prstGeom>
          <a:solidFill>
            <a:srgbClr val="1E3A8A">
              <a:alpha val="10000"/>
            </a:srgbClr>
          </a:solidFill>
          <a:ln cap="flat" cmpd="sng">
            <a:solidFill>
              <a:srgbClr val="0D2771">
                <a:alpha val="10000"/>
              </a:srgbClr>
            </a:solidFill>
            <a:prstDash val="solid"/>
            <a:round/>
          </a:ln>
        </p:spPr>
        <p:txBody>
          <a:bodyPr vert="horz" wrap="square" lIns="63500" tIns="63500" rIns="63500" bIns="63500" rtlCol="0" anchor="ctr"/>
          <a:lstStyle/>
          <a:p>
            <a:pPr algn="ctr">
              <a:defRPr/>
            </a:pPr>
          </a:p>
        </p:txBody>
      </p:sp>
      <p:sp>
        <p:nvSpPr>
          <p:cNvPr id="43" name="AutoShape 43"/>
          <p:cNvSpPr/>
          <p:nvPr/>
        </p:nvSpPr>
        <p:spPr>
          <a:xfrm>
            <a:off x="8559800" y="5130800"/>
            <a:ext cx="2819400" cy="711200"/>
          </a:xfrm>
          <a:prstGeom prst="rect">
            <a:avLst/>
          </a:prstGeom>
          <a:noFill/>
          <a:ln w="12700" cap="flat" cmpd="sng">
            <a:noFill/>
            <a:prstDash val="solid"/>
            <a:round/>
          </a:ln>
        </p:spPr>
        <p:txBody>
          <a:bodyPr vert="horz" wrap="square" lIns="0" tIns="0" rIns="0" bIns="0" rtlCol="0" anchor="ctr" anchorCtr="0"/>
          <a:lstStyle/>
          <a:p>
            <a:pPr marL="0" indent="0" algn="l">
              <a:lnSpc>
                <a:spcPct val="113000"/>
              </a:lnSpc>
              <a:defRPr/>
            </a:pPr>
            <a:r>
              <a:rPr lang="en-US" sz="1100" b="0" i="0" u="none" strike="noStrike">
                <a:solidFill>
                  <a:srgbClr val="1E3A8A"/>
                </a:solidFill>
                <a:latin typeface="Inter"/>
                <a:ea typeface="Inter"/>
                <a:cs typeface="Inter"/>
                <a:sym typeface="Inter"/>
              </a:rPr>
              <a:t>/api/v1/38_transformer_classification/run</a:t>
            </a:r>
            <a:endParaRPr lang="en-US" sz="11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508000"/>
            <a:ext cx="2794000" cy="1397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8800" b="1" i="0" u="none" strike="noStrike">
                <a:solidFill>
                  <a:srgbClr val="1E3A8A"/>
                </a:solidFill>
                <a:latin typeface="Noto Sans SC"/>
                <a:ea typeface="Noto Sans SC"/>
                <a:cs typeface="Noto Sans SC"/>
                <a:sym typeface="Noto Sans SC"/>
              </a:rPr>
              <a:t>39</a:t>
            </a:r>
            <a:endParaRPr lang="en-US" sz="1100"/>
          </a:p>
        </p:txBody>
      </p:sp>
      <p:sp>
        <p:nvSpPr>
          <p:cNvPr id="3" name="AutoShape 3"/>
          <p:cNvSpPr/>
          <p:nvPr/>
        </p:nvSpPr>
        <p:spPr>
          <a:xfrm>
            <a:off x="508000" y="1930400"/>
            <a:ext cx="4318000" cy="6604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600" b="1" i="0" u="none" strike="noStrike">
                <a:solidFill>
                  <a:srgbClr val="111827"/>
                </a:solidFill>
                <a:latin typeface="Noto Sans SC"/>
                <a:ea typeface="Noto Sans SC"/>
                <a:cs typeface="Noto Sans SC"/>
                <a:sym typeface="Noto Sans SC"/>
              </a:rPr>
              <a:t>少样本/迁移学习分类</a:t>
            </a:r>
            <a:endParaRPr lang="en-US" sz="1100"/>
          </a:p>
        </p:txBody>
      </p:sp>
      <p:sp>
        <p:nvSpPr>
          <p:cNvPr id="4" name="AutoShape 4"/>
          <p:cNvSpPr/>
          <p:nvPr/>
        </p:nvSpPr>
        <p:spPr>
          <a:xfrm>
            <a:off x="508000" y="2692400"/>
            <a:ext cx="2540000" cy="381000"/>
          </a:xfrm>
          <a:prstGeom prst="roundRect">
            <a:avLst>
              <a:gd name="adj" fmla="val 0"/>
            </a:avLst>
          </a:prstGeom>
          <a:solidFill>
            <a:srgbClr val="1E3A8A">
              <a:alpha val="10000"/>
            </a:srgbClr>
          </a:solidFill>
          <a:ln cap="flat" cmpd="sng">
            <a:solidFill>
              <a:srgbClr val="0D2771">
                <a:alpha val="1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508000" y="2692400"/>
            <a:ext cx="2540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200" b="1" i="0" u="none" strike="noStrike">
                <a:solidFill>
                  <a:srgbClr val="1E3A8A"/>
                </a:solidFill>
                <a:latin typeface="Noto Sans SC"/>
                <a:ea typeface="Noto Sans SC"/>
                <a:cs typeface="Noto Sans SC"/>
                <a:sym typeface="Noto Sans SC"/>
              </a:rPr>
              <a:t>L3 | 编号#39 | 算法清单与API</a:t>
            </a:r>
            <a:endParaRPr lang="en-US" sz="1100"/>
          </a:p>
        </p:txBody>
      </p:sp>
      <p:sp>
        <p:nvSpPr>
          <p:cNvPr id="6" name="AutoShape 6"/>
          <p:cNvSpPr/>
          <p:nvPr/>
        </p:nvSpPr>
        <p:spPr>
          <a:xfrm>
            <a:off x="508000" y="3251200"/>
            <a:ext cx="4191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功能定义</a:t>
            </a:r>
            <a:endParaRPr lang="en-US" sz="1100"/>
          </a:p>
        </p:txBody>
      </p:sp>
      <p:sp>
        <p:nvSpPr>
          <p:cNvPr id="7" name="AutoShape 7"/>
          <p:cNvSpPr/>
          <p:nvPr/>
        </p:nvSpPr>
        <p:spPr>
          <a:xfrm>
            <a:off x="508000" y="3683000"/>
            <a:ext cx="4191000" cy="889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600" b="0" i="0" u="none" strike="noStrike">
                <a:solidFill>
                  <a:srgbClr val="374151"/>
                </a:solidFill>
                <a:latin typeface="Noto Sans SC"/>
                <a:ea typeface="Noto Sans SC"/>
                <a:cs typeface="Noto Sans SC"/>
                <a:sym typeface="Noto Sans SC"/>
              </a:rPr>
              <a:t>在只有少量标注样本的情况下进行分类。</a:t>
            </a:r>
            <a:endParaRPr lang="en-US" sz="1100"/>
          </a:p>
        </p:txBody>
      </p:sp>
      <p:sp>
        <p:nvSpPr>
          <p:cNvPr id="8" name="AutoShape 8"/>
          <p:cNvSpPr/>
          <p:nvPr/>
        </p:nvSpPr>
        <p:spPr>
          <a:xfrm>
            <a:off x="4953000" y="508000"/>
            <a:ext cx="6985000" cy="14224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4953000" y="508000"/>
            <a:ext cx="50800" cy="1422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5207000" y="508000"/>
            <a:ext cx="647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方法要点</a:t>
            </a:r>
            <a:endParaRPr lang="en-US" sz="1100"/>
          </a:p>
        </p:txBody>
      </p:sp>
      <p:sp>
        <p:nvSpPr>
          <p:cNvPr id="11" name="AutoShape 11"/>
          <p:cNvSpPr/>
          <p:nvPr/>
        </p:nvSpPr>
        <p:spPr>
          <a:xfrm>
            <a:off x="5207000" y="889000"/>
            <a:ext cx="6604000" cy="965200"/>
          </a:xfrm>
          <a:prstGeom prst="rect">
            <a:avLst/>
          </a:prstGeom>
          <a:noFill/>
          <a:ln w="12700" cap="flat" cmpd="sng">
            <a:noFill/>
            <a:prstDash val="solid"/>
            <a:round/>
          </a:ln>
        </p:spPr>
        <p:txBody>
          <a:bodyPr vert="horz" wrap="square" lIns="0" tIns="0" rIns="0" bIns="0" rtlCol="0" anchor="t" anchorCtr="0"/>
          <a:lstStyle/>
          <a:p>
            <a:pPr marL="0" indent="0" algn="l">
              <a:lnSpc>
                <a:spcPct val="121000"/>
              </a:lnSpc>
              <a:defRPr/>
            </a:pPr>
            <a:r>
              <a:rPr lang="en-US" sz="1400" b="1" i="0" u="none" strike="noStrike">
                <a:solidFill>
                  <a:srgbClr val="1F2937"/>
                </a:solidFill>
                <a:latin typeface="Noto Sans SC"/>
                <a:ea typeface="Noto Sans SC"/>
                <a:cs typeface="Noto Sans SC"/>
                <a:sym typeface="Noto Sans SC"/>
              </a:rPr>
              <a:t>少样本学习:</a:t>
            </a:r>
            <a:r>
              <a:rPr lang="en-US" sz="1400" b="0" i="0" u="none" strike="noStrike">
                <a:solidFill>
                  <a:srgbClr val="4B5563"/>
                </a:solidFill>
                <a:latin typeface="Noto Sans SC"/>
                <a:ea typeface="Noto Sans SC"/>
                <a:cs typeface="Noto Sans SC"/>
                <a:sym typeface="Noto Sans SC"/>
              </a:rPr>
              <a:t>通过元学习等方法,让模型学会如何学习。</a:t>
            </a:r>
            <a:endParaRPr lang="en-US" sz="1100"/>
          </a:p>
          <a:p>
            <a:pPr marL="0" indent="0" algn="l">
              <a:lnSpc>
                <a:spcPct val="121000"/>
              </a:lnSpc>
            </a:pPr>
            <a:r>
              <a:rPr lang="en-US" sz="1400" b="1" i="0" u="none" strike="noStrike">
                <a:solidFill>
                  <a:srgbClr val="1F2937"/>
                </a:solidFill>
                <a:latin typeface="Noto Sans SC"/>
                <a:ea typeface="Noto Sans SC"/>
                <a:cs typeface="Noto Sans SC"/>
                <a:sym typeface="Noto Sans SC"/>
              </a:rPr>
              <a:t>迁移学习:</a:t>
            </a:r>
            <a:r>
              <a:rPr lang="en-US" sz="1400" b="0" i="0" u="none" strike="noStrike">
                <a:solidFill>
                  <a:srgbClr val="4B5563"/>
                </a:solidFill>
                <a:latin typeface="Noto Sans SC"/>
                <a:ea typeface="Noto Sans SC"/>
                <a:cs typeface="Noto Sans SC"/>
                <a:sym typeface="Noto Sans SC"/>
              </a:rPr>
              <a:t>利用在大数据集上预训练好的模型,在小样本数据集上进行微调。</a:t>
            </a:r>
            <a:endParaRPr lang="en-US" sz="1400" b="0" i="0" u="none" strike="noStrike">
              <a:solidFill>
                <a:srgbClr val="4B5563"/>
              </a:solidFill>
              <a:latin typeface="Noto Sans SC"/>
              <a:ea typeface="Noto Sans SC"/>
              <a:cs typeface="Noto Sans SC"/>
              <a:sym typeface="Noto Sans SC"/>
            </a:endParaRPr>
          </a:p>
        </p:txBody>
      </p:sp>
      <p:sp>
        <p:nvSpPr>
          <p:cNvPr id="12" name="AutoShape 12"/>
          <p:cNvSpPr/>
          <p:nvPr/>
        </p:nvSpPr>
        <p:spPr>
          <a:xfrm>
            <a:off x="4953000" y="2057400"/>
            <a:ext cx="6985000" cy="1016000"/>
          </a:xfrm>
          <a:prstGeom prst="roundRect">
            <a:avLst>
              <a:gd name="adj" fmla="val 0"/>
            </a:avLst>
          </a:prstGeom>
          <a:solidFill>
            <a:srgbClr val="3B82F6">
              <a:alpha val="7000"/>
            </a:srgbClr>
          </a:solidFill>
          <a:ln cap="flat" cmpd="sng">
            <a:solidFill>
              <a:srgbClr val="1F67DD">
                <a:alpha val="7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4953000" y="2057400"/>
            <a:ext cx="50800" cy="1016000"/>
          </a:xfrm>
          <a:prstGeom prst="roundRect">
            <a:avLst>
              <a:gd name="adj" fmla="val 0"/>
            </a:avLst>
          </a:prstGeom>
          <a:solidFill>
            <a:srgbClr val="3B82F6">
              <a:alpha val="100000"/>
            </a:srgbClr>
          </a:solidFill>
          <a:ln cap="flat" cmpd="sng">
            <a:solidFill>
              <a:srgbClr val="1F67DD">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5207000" y="2057400"/>
            <a:ext cx="6477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适用场景</a:t>
            </a:r>
            <a:endParaRPr lang="en-US" sz="1100"/>
          </a:p>
        </p:txBody>
      </p:sp>
      <p:sp>
        <p:nvSpPr>
          <p:cNvPr id="15" name="AutoShape 15"/>
          <p:cNvSpPr/>
          <p:nvPr/>
        </p:nvSpPr>
        <p:spPr>
          <a:xfrm>
            <a:off x="5207000" y="2438400"/>
            <a:ext cx="6604000" cy="5588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500" b="0" i="0" u="none" strike="noStrike">
                <a:solidFill>
                  <a:srgbClr val="374151"/>
                </a:solidFill>
                <a:latin typeface="Noto Sans SC"/>
                <a:ea typeface="Noto Sans SC"/>
                <a:cs typeface="Noto Sans SC"/>
                <a:sym typeface="Noto Sans SC"/>
              </a:rPr>
              <a:t>样本标注成本高的场景。</a:t>
            </a:r>
            <a:endParaRPr lang="en-US" sz="1100"/>
          </a:p>
        </p:txBody>
      </p:sp>
      <p:sp>
        <p:nvSpPr>
          <p:cNvPr id="16" name="AutoShape 16"/>
          <p:cNvSpPr/>
          <p:nvPr/>
        </p:nvSpPr>
        <p:spPr>
          <a:xfrm>
            <a:off x="4953000" y="3200400"/>
            <a:ext cx="6985000" cy="1016000"/>
          </a:xfrm>
          <a:prstGeom prst="roundRect">
            <a:avLst>
              <a:gd name="adj" fmla="val 0"/>
            </a:avLst>
          </a:prstGeom>
          <a:solidFill>
            <a:srgbClr val="F59E0B">
              <a:alpha val="8000"/>
            </a:srgbClr>
          </a:solidFill>
          <a:ln cap="flat" cmpd="sng">
            <a:solidFill>
              <a:srgbClr val="DC8A00">
                <a:alpha val="8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4953000" y="3200400"/>
            <a:ext cx="50800" cy="1016000"/>
          </a:xfrm>
          <a:prstGeom prst="roundRect">
            <a:avLst>
              <a:gd name="adj" fmla="val 0"/>
            </a:avLst>
          </a:prstGeom>
          <a:solidFill>
            <a:srgbClr val="F59E0B">
              <a:alpha val="100000"/>
            </a:srgbClr>
          </a:solidFill>
          <a:ln cap="flat" cmpd="sng">
            <a:solidFill>
              <a:srgbClr val="DC8A00">
                <a:alpha val="10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5207000" y="3200400"/>
            <a:ext cx="6477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业务价值</a:t>
            </a:r>
            <a:endParaRPr lang="en-US" sz="1100"/>
          </a:p>
        </p:txBody>
      </p:sp>
      <p:sp>
        <p:nvSpPr>
          <p:cNvPr id="19" name="AutoShape 19"/>
          <p:cNvSpPr/>
          <p:nvPr/>
        </p:nvSpPr>
        <p:spPr>
          <a:xfrm>
            <a:off x="5207000" y="3581400"/>
            <a:ext cx="6604000" cy="5588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500" b="0" i="0" u="none" strike="noStrike">
                <a:solidFill>
                  <a:srgbClr val="374151"/>
                </a:solidFill>
                <a:latin typeface="Noto Sans SC"/>
                <a:ea typeface="Noto Sans SC"/>
                <a:cs typeface="Noto Sans SC"/>
                <a:sym typeface="Noto Sans SC"/>
              </a:rPr>
              <a:t>大大</a:t>
            </a:r>
            <a:r>
              <a:rPr lang="en-US" sz="1500" b="1" i="0" u="none" strike="noStrike">
                <a:solidFill>
                  <a:srgbClr val="F59E0B"/>
                </a:solidFill>
                <a:latin typeface="Noto Sans SC"/>
                <a:ea typeface="Noto Sans SC"/>
                <a:cs typeface="Noto Sans SC"/>
                <a:sym typeface="Noto Sans SC"/>
              </a:rPr>
              <a:t>减少对标注样本的依赖</a:t>
            </a:r>
            <a:r>
              <a:rPr lang="en-US" sz="1500" b="0" i="0" u="none" strike="noStrike">
                <a:solidFill>
                  <a:srgbClr val="374151"/>
                </a:solidFill>
                <a:latin typeface="Noto Sans SC"/>
                <a:ea typeface="Noto Sans SC"/>
                <a:cs typeface="Noto Sans SC"/>
                <a:sym typeface="Noto Sans SC"/>
              </a:rPr>
              <a:t>。</a:t>
            </a:r>
            <a:endParaRPr lang="en-US" sz="1100"/>
          </a:p>
        </p:txBody>
      </p:sp>
      <p:sp>
        <p:nvSpPr>
          <p:cNvPr id="20" name="AutoShape 20"/>
          <p:cNvSpPr/>
          <p:nvPr/>
        </p:nvSpPr>
        <p:spPr>
          <a:xfrm>
            <a:off x="4953000" y="4343400"/>
            <a:ext cx="6985000" cy="1016000"/>
          </a:xfrm>
          <a:prstGeom prst="roundRect">
            <a:avLst>
              <a:gd name="adj" fmla="val 0"/>
            </a:avLst>
          </a:prstGeom>
          <a:solidFill>
            <a:srgbClr val="EF4444">
              <a:alpha val="8000"/>
            </a:srgbClr>
          </a:solidFill>
          <a:ln cap="flat" cmpd="sng">
            <a:solidFill>
              <a:srgbClr val="D52727">
                <a:alpha val="8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4953000" y="4343400"/>
            <a:ext cx="50800" cy="1016000"/>
          </a:xfrm>
          <a:prstGeom prst="roundRect">
            <a:avLst>
              <a:gd name="adj" fmla="val 0"/>
            </a:avLst>
          </a:prstGeom>
          <a:solidFill>
            <a:srgbClr val="EF4444">
              <a:alpha val="100000"/>
            </a:srgbClr>
          </a:solidFill>
          <a:ln cap="flat" cmpd="sng">
            <a:solidFill>
              <a:srgbClr val="D52727">
                <a:alpha val="10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5207000" y="4343400"/>
            <a:ext cx="6477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缺失影响</a:t>
            </a:r>
            <a:endParaRPr lang="en-US" sz="1100"/>
          </a:p>
        </p:txBody>
      </p:sp>
      <p:sp>
        <p:nvSpPr>
          <p:cNvPr id="23" name="AutoShape 23"/>
          <p:cNvSpPr/>
          <p:nvPr/>
        </p:nvSpPr>
        <p:spPr>
          <a:xfrm>
            <a:off x="5207000" y="4724400"/>
            <a:ext cx="6604000" cy="5588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500" b="0" i="0" u="none" strike="noStrike">
                <a:solidFill>
                  <a:srgbClr val="374151"/>
                </a:solidFill>
                <a:latin typeface="Noto Sans SC"/>
                <a:ea typeface="Noto Sans SC"/>
                <a:cs typeface="Noto Sans SC"/>
                <a:sym typeface="Noto Sans SC"/>
              </a:rPr>
              <a:t>在样本量很少的情况下,传统方法的精度会急剧下降。</a:t>
            </a:r>
            <a:endParaRPr lang="en-US" sz="1100"/>
          </a:p>
        </p:txBody>
      </p:sp>
      <p:sp>
        <p:nvSpPr>
          <p:cNvPr id="24" name="AutoShape 24"/>
          <p:cNvSpPr/>
          <p:nvPr/>
        </p:nvSpPr>
        <p:spPr>
          <a:xfrm>
            <a:off x="508000" y="5588000"/>
            <a:ext cx="11430000" cy="9652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508000" y="5588000"/>
            <a:ext cx="38100" cy="9652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762000" y="5588000"/>
            <a:ext cx="33020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200" b="1" i="0" u="none" strike="noStrike">
                <a:solidFill>
                  <a:srgbClr val="1E3A8A"/>
                </a:solidFill>
                <a:latin typeface="Noto Sans SC"/>
                <a:ea typeface="Noto Sans SC"/>
                <a:cs typeface="Noto Sans SC"/>
                <a:sym typeface="Noto Sans SC"/>
              </a:rPr>
              <a:t>流程位置</a:t>
            </a:r>
            <a:endParaRPr lang="en-US" sz="1100"/>
          </a:p>
        </p:txBody>
      </p:sp>
      <p:sp>
        <p:nvSpPr>
          <p:cNvPr id="27" name="AutoShape 27"/>
          <p:cNvSpPr/>
          <p:nvPr/>
        </p:nvSpPr>
        <p:spPr>
          <a:xfrm>
            <a:off x="762000" y="5905500"/>
            <a:ext cx="3302000" cy="431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300" b="0" i="0" u="none" strike="noStrike">
                <a:solidFill>
                  <a:srgbClr val="374151"/>
                </a:solidFill>
                <a:latin typeface="Noto Sans SC"/>
                <a:ea typeface="Noto Sans SC"/>
                <a:cs typeface="Noto Sans SC"/>
                <a:sym typeface="Noto Sans SC"/>
              </a:rPr>
              <a:t>L3分类与检测环节</a:t>
            </a:r>
            <a:endParaRPr lang="en-US" sz="1100"/>
          </a:p>
        </p:txBody>
      </p:sp>
      <p:cxnSp>
        <p:nvCxnSpPr>
          <p:cNvPr id="28" name="Connector 28"/>
          <p:cNvCxnSpPr/>
          <p:nvPr/>
        </p:nvCxnSpPr>
        <p:spPr>
          <a:xfrm rot="5338618">
            <a:off x="3962400" y="6064307"/>
            <a:ext cx="7112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29" name="AutoShape 29"/>
          <p:cNvSpPr/>
          <p:nvPr/>
        </p:nvSpPr>
        <p:spPr>
          <a:xfrm>
            <a:off x="4572000" y="5588000"/>
            <a:ext cx="36830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200" b="1" i="0" u="none" strike="noStrike">
                <a:solidFill>
                  <a:srgbClr val="1E3A8A"/>
                </a:solidFill>
                <a:latin typeface="Noto Sans SC"/>
                <a:ea typeface="Noto Sans SC"/>
                <a:cs typeface="Noto Sans SC"/>
                <a:sym typeface="Noto Sans SC"/>
              </a:rPr>
              <a:t>关联算法</a:t>
            </a:r>
            <a:endParaRPr lang="en-US" sz="1100"/>
          </a:p>
        </p:txBody>
      </p:sp>
      <p:sp>
        <p:nvSpPr>
          <p:cNvPr id="30" name="AutoShape 30"/>
          <p:cNvSpPr/>
          <p:nvPr/>
        </p:nvSpPr>
        <p:spPr>
          <a:xfrm>
            <a:off x="4572000" y="5905500"/>
            <a:ext cx="3683000" cy="431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300" b="0" i="0" u="none" strike="noStrike">
                <a:solidFill>
                  <a:srgbClr val="374151"/>
                </a:solidFill>
                <a:latin typeface="Noto Sans SC"/>
                <a:ea typeface="Noto Sans SC"/>
                <a:cs typeface="Noto Sans SC"/>
                <a:sym typeface="Noto Sans SC"/>
              </a:rPr>
              <a:t>#26样本构建 · #44后处理 · #45面积统计</a:t>
            </a:r>
            <a:endParaRPr lang="en-US" sz="1100"/>
          </a:p>
        </p:txBody>
      </p:sp>
      <p:cxnSp>
        <p:nvCxnSpPr>
          <p:cNvPr id="31" name="Connector 31"/>
          <p:cNvCxnSpPr/>
          <p:nvPr/>
        </p:nvCxnSpPr>
        <p:spPr>
          <a:xfrm rot="5338618">
            <a:off x="7962900" y="6064307"/>
            <a:ext cx="7112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32" name="AutoShape 32"/>
          <p:cNvSpPr/>
          <p:nvPr/>
        </p:nvSpPr>
        <p:spPr>
          <a:xfrm>
            <a:off x="8572500" y="5588000"/>
            <a:ext cx="34290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200" b="1" i="0" u="none" strike="noStrike">
                <a:solidFill>
                  <a:srgbClr val="1E3A8A"/>
                </a:solidFill>
                <a:latin typeface="Noto Sans SC"/>
                <a:ea typeface="Noto Sans SC"/>
                <a:cs typeface="Noto Sans SC"/>
                <a:sym typeface="Noto Sans SC"/>
              </a:rPr>
              <a:t>调用API</a:t>
            </a:r>
            <a:endParaRPr lang="en-US" sz="1100"/>
          </a:p>
        </p:txBody>
      </p:sp>
      <p:sp>
        <p:nvSpPr>
          <p:cNvPr id="33" name="AutoShape 33"/>
          <p:cNvSpPr/>
          <p:nvPr/>
        </p:nvSpPr>
        <p:spPr>
          <a:xfrm>
            <a:off x="8572500" y="5905500"/>
            <a:ext cx="3619500" cy="431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1" i="0" u="none" strike="noStrike">
                <a:solidFill>
                  <a:srgbClr val="1E3A8A"/>
                </a:solidFill>
                <a:latin typeface="Noto Sans SC"/>
                <a:ea typeface="Noto Sans SC"/>
                <a:cs typeface="Noto Sans SC"/>
                <a:sym typeface="Noto Sans SC"/>
              </a:rPr>
              <a:t>/api/v1/39_few_shot_learning/run</a:t>
            </a:r>
            <a:endParaRPr lang="en-US" sz="11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8890000" cy="635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spc="100">
                <a:solidFill>
                  <a:srgbClr val="1E3A8A"/>
                </a:solidFill>
                <a:latin typeface="Noto Sans SC"/>
                <a:ea typeface="Noto Sans SC"/>
                <a:cs typeface="Noto Sans SC"/>
                <a:sym typeface="Noto Sans SC"/>
              </a:rPr>
              <a:t>语义分割 / 目标检测</a:t>
            </a:r>
            <a:endParaRPr lang="en-US" sz="1100"/>
          </a:p>
        </p:txBody>
      </p:sp>
      <p:sp>
        <p:nvSpPr>
          <p:cNvPr id="3" name="AutoShape 3"/>
          <p:cNvSpPr/>
          <p:nvPr/>
        </p:nvSpPr>
        <p:spPr>
          <a:xfrm>
            <a:off x="508000" y="1041400"/>
            <a:ext cx="11176000" cy="5334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698500" y="1041400"/>
            <a:ext cx="2794000" cy="533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0" i="0" u="none" strike="noStrike">
                <a:solidFill>
                  <a:srgbClr val="475569"/>
                </a:solidFill>
                <a:latin typeface="Noto Sans SC"/>
                <a:ea typeface="Noto Sans SC"/>
                <a:cs typeface="Noto Sans SC"/>
                <a:sym typeface="Noto Sans SC"/>
              </a:rPr>
              <a:t>所属层级:</a:t>
            </a:r>
            <a:r>
              <a:rPr lang="en-US" sz="1300" b="1" i="0" u="none" strike="noStrike">
                <a:solidFill>
                  <a:srgbClr val="1E3A8A"/>
                </a:solidFill>
                <a:latin typeface="Noto Sans SC"/>
                <a:ea typeface="Noto Sans SC"/>
                <a:cs typeface="Noto Sans SC"/>
                <a:sym typeface="Noto Sans SC"/>
              </a:rPr>
              <a:t>L3</a:t>
            </a:r>
            <a:endParaRPr lang="en-US" sz="1100"/>
          </a:p>
        </p:txBody>
      </p:sp>
      <p:cxnSp>
        <p:nvCxnSpPr>
          <p:cNvPr id="5" name="Connector 5"/>
          <p:cNvCxnSpPr/>
          <p:nvPr/>
        </p:nvCxnSpPr>
        <p:spPr>
          <a:xfrm rot="5285450">
            <a:off x="3340100" y="1301856"/>
            <a:ext cx="3810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6" name="AutoShape 6"/>
          <p:cNvSpPr/>
          <p:nvPr/>
        </p:nvSpPr>
        <p:spPr>
          <a:xfrm>
            <a:off x="3683000" y="1041400"/>
            <a:ext cx="2794000" cy="533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0" i="0" u="none" strike="noStrike">
                <a:solidFill>
                  <a:srgbClr val="475569"/>
                </a:solidFill>
                <a:latin typeface="Noto Sans SC"/>
                <a:ea typeface="Noto Sans SC"/>
                <a:cs typeface="Noto Sans SC"/>
                <a:sym typeface="Noto Sans SC"/>
              </a:rPr>
              <a:t>编号:</a:t>
            </a:r>
            <a:r>
              <a:rPr lang="en-US" sz="1300" b="1" i="0" u="none" strike="noStrike">
                <a:solidFill>
                  <a:srgbClr val="1E3A8A"/>
                </a:solidFill>
                <a:latin typeface="Noto Sans SC"/>
                <a:ea typeface="Noto Sans SC"/>
                <a:cs typeface="Noto Sans SC"/>
                <a:sym typeface="Noto Sans SC"/>
              </a:rPr>
              <a:t>#40</a:t>
            </a:r>
            <a:endParaRPr lang="en-US" sz="1100"/>
          </a:p>
        </p:txBody>
      </p:sp>
      <p:cxnSp>
        <p:nvCxnSpPr>
          <p:cNvPr id="7" name="Connector 7"/>
          <p:cNvCxnSpPr/>
          <p:nvPr/>
        </p:nvCxnSpPr>
        <p:spPr>
          <a:xfrm rot="5285450">
            <a:off x="6286500" y="1301856"/>
            <a:ext cx="3810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8" name="AutoShape 8"/>
          <p:cNvSpPr/>
          <p:nvPr/>
        </p:nvSpPr>
        <p:spPr>
          <a:xfrm>
            <a:off x="6629400" y="1041400"/>
            <a:ext cx="4953000" cy="533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0" i="0" u="none" strike="noStrike">
                <a:solidFill>
                  <a:srgbClr val="475569"/>
                </a:solidFill>
                <a:latin typeface="Noto Sans SC"/>
                <a:ea typeface="Noto Sans SC"/>
                <a:cs typeface="Noto Sans SC"/>
                <a:sym typeface="Noto Sans SC"/>
              </a:rPr>
              <a:t>辅导材料:</a:t>
            </a:r>
            <a:r>
              <a:rPr lang="en-US" sz="1300" b="1" i="0" u="none" strike="noStrike">
                <a:solidFill>
                  <a:srgbClr val="334155"/>
                </a:solidFill>
                <a:latin typeface="Noto Sans SC"/>
                <a:ea typeface="Noto Sans SC"/>
                <a:cs typeface="Noto Sans SC"/>
                <a:sym typeface="Noto Sans SC"/>
              </a:rPr>
              <a:t>算法清单与API</a:t>
            </a:r>
            <a:endParaRPr lang="en-US" sz="1100"/>
          </a:p>
        </p:txBody>
      </p:sp>
      <p:sp>
        <p:nvSpPr>
          <p:cNvPr id="9" name="AutoShape 9"/>
          <p:cNvSpPr/>
          <p:nvPr/>
        </p:nvSpPr>
        <p:spPr>
          <a:xfrm>
            <a:off x="508000" y="1752600"/>
            <a:ext cx="6731000" cy="11176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508000" y="1752600"/>
            <a:ext cx="50800" cy="11176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762000" y="1752600"/>
            <a:ext cx="6223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spc="50">
                <a:solidFill>
                  <a:srgbClr val="1E3A8A"/>
                </a:solidFill>
                <a:latin typeface="Noto Sans SC"/>
                <a:ea typeface="Noto Sans SC"/>
                <a:cs typeface="Noto Sans SC"/>
                <a:sym typeface="Noto Sans SC"/>
              </a:rPr>
              <a:t>功能定义</a:t>
            </a:r>
            <a:endParaRPr lang="en-US" sz="1100"/>
          </a:p>
        </p:txBody>
      </p:sp>
      <p:sp>
        <p:nvSpPr>
          <p:cNvPr id="12" name="AutoShape 12"/>
          <p:cNvSpPr/>
          <p:nvPr/>
        </p:nvSpPr>
        <p:spPr>
          <a:xfrm>
            <a:off x="762000" y="2108200"/>
            <a:ext cx="6286500" cy="660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识别并定位图像中的特定目标,如病斑、杂草、设施等。</a:t>
            </a:r>
            <a:endParaRPr lang="en-US" sz="1100"/>
          </a:p>
        </p:txBody>
      </p:sp>
      <p:sp>
        <p:nvSpPr>
          <p:cNvPr id="13" name="AutoShape 13"/>
          <p:cNvSpPr/>
          <p:nvPr/>
        </p:nvSpPr>
        <p:spPr>
          <a:xfrm>
            <a:off x="508000" y="2946400"/>
            <a:ext cx="6731000" cy="11176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508000" y="2946400"/>
            <a:ext cx="50800" cy="11176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762000" y="2946400"/>
            <a:ext cx="6223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spc="50">
                <a:solidFill>
                  <a:srgbClr val="1E3A8A"/>
                </a:solidFill>
                <a:latin typeface="Noto Sans SC"/>
                <a:ea typeface="Noto Sans SC"/>
                <a:cs typeface="Noto Sans SC"/>
                <a:sym typeface="Noto Sans SC"/>
              </a:rPr>
              <a:t>方法要点</a:t>
            </a:r>
            <a:endParaRPr lang="en-US" sz="1100"/>
          </a:p>
        </p:txBody>
      </p:sp>
      <p:sp>
        <p:nvSpPr>
          <p:cNvPr id="16" name="AutoShape 16"/>
          <p:cNvSpPr/>
          <p:nvPr/>
        </p:nvSpPr>
        <p:spPr>
          <a:xfrm>
            <a:off x="762000" y="3302000"/>
            <a:ext cx="6286500" cy="660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使用深度学习模型(如</a:t>
            </a:r>
            <a:r>
              <a:rPr lang="en-US" sz="1400" b="1" i="0" u="none" strike="noStrike">
                <a:solidFill>
                  <a:srgbClr val="1E3A8A"/>
                </a:solidFill>
                <a:latin typeface="Noto Sans SC"/>
                <a:ea typeface="Noto Sans SC"/>
                <a:cs typeface="Noto Sans SC"/>
                <a:sym typeface="Noto Sans SC"/>
              </a:rPr>
              <a:t>U-Net,YOLO</a:t>
            </a:r>
            <a:r>
              <a:rPr lang="en-US" sz="1400" b="0" i="0" u="none" strike="noStrike">
                <a:solidFill>
                  <a:srgbClr val="334155"/>
                </a:solidFill>
                <a:latin typeface="Noto Sans SC"/>
                <a:ea typeface="Noto Sans SC"/>
                <a:cs typeface="Noto Sans SC"/>
                <a:sym typeface="Noto Sans SC"/>
              </a:rPr>
              <a:t>)进行像素级分割或目标框定。</a:t>
            </a:r>
            <a:endParaRPr lang="en-US" sz="1100"/>
          </a:p>
        </p:txBody>
      </p:sp>
      <p:sp>
        <p:nvSpPr>
          <p:cNvPr id="17" name="AutoShape 17"/>
          <p:cNvSpPr/>
          <p:nvPr/>
        </p:nvSpPr>
        <p:spPr>
          <a:xfrm>
            <a:off x="508000" y="4140200"/>
            <a:ext cx="6731000" cy="11176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508000" y="4140200"/>
            <a:ext cx="50800" cy="11176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762000" y="4140200"/>
            <a:ext cx="6223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spc="50">
                <a:solidFill>
                  <a:srgbClr val="1E3A8A"/>
                </a:solidFill>
                <a:latin typeface="Noto Sans SC"/>
                <a:ea typeface="Noto Sans SC"/>
                <a:cs typeface="Noto Sans SC"/>
                <a:sym typeface="Noto Sans SC"/>
              </a:rPr>
              <a:t>适用场景</a:t>
            </a:r>
            <a:endParaRPr lang="en-US" sz="1100"/>
          </a:p>
        </p:txBody>
      </p:sp>
      <p:sp>
        <p:nvSpPr>
          <p:cNvPr id="20" name="AutoShape 20"/>
          <p:cNvSpPr/>
          <p:nvPr/>
        </p:nvSpPr>
        <p:spPr>
          <a:xfrm>
            <a:off x="762000" y="4495800"/>
            <a:ext cx="6286500" cy="660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病虫害监测、杂草识别、农业设施盘点。</a:t>
            </a:r>
            <a:endParaRPr lang="en-US" sz="1100"/>
          </a:p>
        </p:txBody>
      </p:sp>
      <p:sp>
        <p:nvSpPr>
          <p:cNvPr id="21" name="AutoShape 21"/>
          <p:cNvSpPr/>
          <p:nvPr/>
        </p:nvSpPr>
        <p:spPr>
          <a:xfrm>
            <a:off x="7493000" y="1752600"/>
            <a:ext cx="4191000" cy="1676400"/>
          </a:xfrm>
          <a:prstGeom prst="roundRect">
            <a:avLst>
              <a:gd name="adj" fmla="val 0"/>
            </a:avLst>
          </a:prstGeom>
          <a:gradFill rotWithShape="1">
            <a:gsLst>
              <a:gs pos="0">
                <a:srgbClr val="10B981">
                  <a:alpha val="10000"/>
                </a:srgbClr>
              </a:gs>
              <a:gs pos="100000">
                <a:srgbClr val="10B981">
                  <a:alpha val="2000"/>
                </a:srgbClr>
              </a:gs>
            </a:gsLst>
            <a:lin ang="5400000"/>
          </a:gradFill>
          <a:ln cap="flat" cmpd="sng">
            <a:gradFill rotWithShape="1">
              <a:gsLst>
                <a:gs pos="0">
                  <a:srgbClr val="00A06B">
                    <a:alpha val="10000"/>
                  </a:srgbClr>
                </a:gs>
                <a:gs pos="100000">
                  <a:srgbClr val="00A06B">
                    <a:alpha val="2000"/>
                  </a:srgbClr>
                </a:gs>
              </a:gsLst>
              <a:lin ang="5400000"/>
            </a:gradFill>
            <a:prstDash val="solid"/>
            <a:round/>
          </a:ln>
        </p:spPr>
        <p:txBody>
          <a:bodyPr vert="horz" wrap="square" lIns="63500" tIns="63500" rIns="63500" bIns="63500" rtlCol="0" anchor="ctr"/>
          <a:lstStyle/>
          <a:p>
            <a:pPr algn="ctr">
              <a:defRPr/>
            </a:pPr>
          </a:p>
        </p:txBody>
      </p:sp>
      <p:sp>
        <p:nvSpPr>
          <p:cNvPr id="22" name="AutoShape 22"/>
          <p:cNvSpPr/>
          <p:nvPr/>
        </p:nvSpPr>
        <p:spPr>
          <a:xfrm>
            <a:off x="7493000" y="1752600"/>
            <a:ext cx="50800" cy="1676400"/>
          </a:xfrm>
          <a:prstGeom prst="roundRect">
            <a:avLst>
              <a:gd name="adj" fmla="val 0"/>
            </a:avLst>
          </a:prstGeom>
          <a:solidFill>
            <a:srgbClr val="10B981">
              <a:alpha val="100000"/>
            </a:srgbClr>
          </a:solidFill>
          <a:ln cap="flat" cmpd="sng">
            <a:solidFill>
              <a:srgbClr val="00A06B">
                <a:alpha val="10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7747000" y="1752600"/>
            <a:ext cx="37465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spc="50">
                <a:solidFill>
                  <a:srgbClr val="10B981"/>
                </a:solidFill>
                <a:latin typeface="Noto Sans SC"/>
                <a:ea typeface="Noto Sans SC"/>
                <a:cs typeface="Noto Sans SC"/>
                <a:sym typeface="Noto Sans SC"/>
              </a:rPr>
              <a:t>业务价值</a:t>
            </a:r>
            <a:endParaRPr lang="en-US" sz="1100"/>
          </a:p>
        </p:txBody>
      </p:sp>
      <p:sp>
        <p:nvSpPr>
          <p:cNvPr id="24" name="AutoShape 24"/>
          <p:cNvSpPr/>
          <p:nvPr/>
        </p:nvSpPr>
        <p:spPr>
          <a:xfrm>
            <a:off x="7747000" y="2159000"/>
            <a:ext cx="3810000" cy="762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34155"/>
                </a:solidFill>
                <a:latin typeface="Noto Sans SC"/>
                <a:ea typeface="Noto Sans SC"/>
                <a:cs typeface="Noto Sans SC"/>
                <a:sym typeface="Noto Sans SC"/>
              </a:rPr>
              <a:t>从"是什么"(分类)升级到"在哪里"(定位),为精准施药、除草提供直接指导。</a:t>
            </a:r>
            <a:endParaRPr lang="en-US" sz="1100"/>
          </a:p>
        </p:txBody>
      </p:sp>
      <p:sp>
        <p:nvSpPr>
          <p:cNvPr id="25" name="AutoShape 25"/>
          <p:cNvSpPr/>
          <p:nvPr/>
        </p:nvSpPr>
        <p:spPr>
          <a:xfrm>
            <a:off x="7493000" y="3530600"/>
            <a:ext cx="4191000" cy="1676400"/>
          </a:xfrm>
          <a:prstGeom prst="roundRect">
            <a:avLst>
              <a:gd name="adj" fmla="val 0"/>
            </a:avLst>
          </a:prstGeom>
          <a:gradFill rotWithShape="1">
            <a:gsLst>
              <a:gs pos="0">
                <a:srgbClr val="F97316">
                  <a:alpha val="10000"/>
                </a:srgbClr>
              </a:gs>
              <a:gs pos="100000">
                <a:srgbClr val="F97316">
                  <a:alpha val="2000"/>
                </a:srgbClr>
              </a:gs>
            </a:gsLst>
            <a:lin ang="5400000"/>
          </a:gradFill>
          <a:ln cap="flat" cmpd="sng">
            <a:gradFill rotWithShape="1">
              <a:gsLst>
                <a:gs pos="0">
                  <a:srgbClr val="E05C00">
                    <a:alpha val="10000"/>
                  </a:srgbClr>
                </a:gs>
                <a:gs pos="100000">
                  <a:srgbClr val="E05C00">
                    <a:alpha val="2000"/>
                  </a:srgbClr>
                </a:gs>
              </a:gsLst>
              <a:lin ang="5400000"/>
            </a:gradFill>
            <a:prstDash val="solid"/>
            <a:round/>
          </a:ln>
        </p:spPr>
        <p:txBody>
          <a:bodyPr vert="horz" wrap="square" lIns="63500" tIns="63500" rIns="63500" bIns="63500" rtlCol="0" anchor="ctr"/>
          <a:lstStyle/>
          <a:p>
            <a:pPr algn="ctr">
              <a:defRPr/>
            </a:pPr>
          </a:p>
        </p:txBody>
      </p:sp>
      <p:sp>
        <p:nvSpPr>
          <p:cNvPr id="26" name="AutoShape 26"/>
          <p:cNvSpPr/>
          <p:nvPr/>
        </p:nvSpPr>
        <p:spPr>
          <a:xfrm>
            <a:off x="7493000" y="3530600"/>
            <a:ext cx="50800" cy="1676400"/>
          </a:xfrm>
          <a:prstGeom prst="roundRect">
            <a:avLst>
              <a:gd name="adj" fmla="val 0"/>
            </a:avLst>
          </a:prstGeom>
          <a:solidFill>
            <a:srgbClr val="F97316">
              <a:alpha val="100000"/>
            </a:srgbClr>
          </a:solidFill>
          <a:ln cap="flat" cmpd="sng">
            <a:solidFill>
              <a:srgbClr val="E05C00">
                <a:alpha val="100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7747000" y="3530600"/>
            <a:ext cx="37465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spc="50">
                <a:solidFill>
                  <a:srgbClr val="F97316"/>
                </a:solidFill>
                <a:latin typeface="Noto Sans SC"/>
                <a:ea typeface="Noto Sans SC"/>
                <a:cs typeface="Noto Sans SC"/>
                <a:sym typeface="Noto Sans SC"/>
              </a:rPr>
              <a:t>缺失影响</a:t>
            </a:r>
            <a:endParaRPr lang="en-US" sz="1100"/>
          </a:p>
        </p:txBody>
      </p:sp>
      <p:sp>
        <p:nvSpPr>
          <p:cNvPr id="28" name="AutoShape 28"/>
          <p:cNvSpPr/>
          <p:nvPr/>
        </p:nvSpPr>
        <p:spPr>
          <a:xfrm>
            <a:off x="7747000" y="3937000"/>
            <a:ext cx="3810000" cy="762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34155"/>
                </a:solidFill>
                <a:latin typeface="Noto Sans SC"/>
                <a:ea typeface="Noto Sans SC"/>
                <a:cs typeface="Noto Sans SC"/>
                <a:sym typeface="Noto Sans SC"/>
              </a:rPr>
              <a:t>无法精确定位问题区域,只能进行宏观分类,无法支持精细化管理。</a:t>
            </a:r>
            <a:endParaRPr lang="en-US" sz="1100"/>
          </a:p>
        </p:txBody>
      </p:sp>
      <p:sp>
        <p:nvSpPr>
          <p:cNvPr id="29" name="AutoShape 29"/>
          <p:cNvSpPr/>
          <p:nvPr/>
        </p:nvSpPr>
        <p:spPr>
          <a:xfrm>
            <a:off x="508000" y="5435600"/>
            <a:ext cx="11176000" cy="10414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30" name="AutoShape 30"/>
          <p:cNvSpPr/>
          <p:nvPr/>
        </p:nvSpPr>
        <p:spPr>
          <a:xfrm>
            <a:off x="698500" y="5435600"/>
            <a:ext cx="55880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1" i="0" u="none" strike="noStrike" spc="100">
                <a:solidFill>
                  <a:srgbClr val="1E3A8A"/>
                </a:solidFill>
                <a:latin typeface="Noto Sans SC"/>
                <a:ea typeface="Noto Sans SC"/>
                <a:cs typeface="Noto Sans SC"/>
                <a:sym typeface="Noto Sans SC"/>
              </a:rPr>
              <a:t>流程位置与关联</a:t>
            </a:r>
            <a:endParaRPr lang="en-US" sz="1100"/>
          </a:p>
        </p:txBody>
      </p:sp>
      <p:sp>
        <p:nvSpPr>
          <p:cNvPr id="31" name="AutoShape 31"/>
          <p:cNvSpPr/>
          <p:nvPr/>
        </p:nvSpPr>
        <p:spPr>
          <a:xfrm>
            <a:off x="698500" y="5740400"/>
            <a:ext cx="5715000" cy="5842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300" b="0" i="0" u="none" strike="noStrike">
                <a:solidFill>
                  <a:srgbClr val="475569"/>
                </a:solidFill>
                <a:latin typeface="Noto Sans SC"/>
                <a:ea typeface="Noto Sans SC"/>
                <a:cs typeface="Noto Sans SC"/>
                <a:sym typeface="Noto Sans SC"/>
              </a:rPr>
              <a:t>在哪个环节:</a:t>
            </a:r>
            <a:r>
              <a:rPr lang="en-US" sz="1300" b="1" i="0" u="none" strike="noStrike">
                <a:solidFill>
                  <a:srgbClr val="334155"/>
                </a:solidFill>
                <a:latin typeface="Noto Sans SC"/>
                <a:ea typeface="Noto Sans SC"/>
                <a:cs typeface="Noto Sans SC"/>
                <a:sym typeface="Noto Sans SC"/>
              </a:rPr>
              <a:t>L3分类与检测</a:t>
            </a:r>
            <a:r>
              <a:rPr lang="en-US" sz="1300" b="0" i="0" u="none" strike="noStrike">
                <a:solidFill>
                  <a:srgbClr val="94A3B8"/>
                </a:solidFill>
                <a:latin typeface="Noto Sans SC"/>
                <a:ea typeface="Noto Sans SC"/>
                <a:cs typeface="Noto Sans SC"/>
                <a:sym typeface="Noto Sans SC"/>
              </a:rPr>
              <a:t>｜</a:t>
            </a:r>
            <a:r>
              <a:rPr lang="en-US" sz="1300" b="0" i="0" u="none" strike="noStrike">
                <a:solidFill>
                  <a:srgbClr val="475569"/>
                </a:solidFill>
                <a:latin typeface="Noto Sans SC"/>
                <a:ea typeface="Noto Sans SC"/>
                <a:cs typeface="Noto Sans SC"/>
                <a:sym typeface="Noto Sans SC"/>
              </a:rPr>
              <a:t>关联:</a:t>
            </a:r>
            <a:r>
              <a:rPr lang="en-US" sz="1300" b="1" i="0" u="none" strike="noStrike">
                <a:solidFill>
                  <a:srgbClr val="334155"/>
                </a:solidFill>
                <a:latin typeface="Noto Sans SC"/>
                <a:ea typeface="Noto Sans SC"/>
                <a:cs typeface="Noto Sans SC"/>
                <a:sym typeface="Noto Sans SC"/>
              </a:rPr>
              <a:t>#45告警</a:t>
            </a:r>
            <a:endParaRPr lang="en-US" sz="1100"/>
          </a:p>
        </p:txBody>
      </p:sp>
      <p:cxnSp>
        <p:nvCxnSpPr>
          <p:cNvPr id="32" name="Connector 32"/>
          <p:cNvCxnSpPr/>
          <p:nvPr/>
        </p:nvCxnSpPr>
        <p:spPr>
          <a:xfrm rot="5347916">
            <a:off x="6057900" y="5949998"/>
            <a:ext cx="8382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33" name="AutoShape 33"/>
          <p:cNvSpPr/>
          <p:nvPr/>
        </p:nvSpPr>
        <p:spPr>
          <a:xfrm>
            <a:off x="6731000" y="5435600"/>
            <a:ext cx="48260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1" i="0" u="none" strike="noStrike" spc="100">
                <a:solidFill>
                  <a:srgbClr val="1E3A8A"/>
                </a:solidFill>
                <a:latin typeface="Noto Sans SC"/>
                <a:ea typeface="Noto Sans SC"/>
                <a:cs typeface="Noto Sans SC"/>
                <a:sym typeface="Noto Sans SC"/>
              </a:rPr>
              <a:t>API接口</a:t>
            </a:r>
            <a:endParaRPr lang="en-US" sz="1100"/>
          </a:p>
        </p:txBody>
      </p:sp>
      <p:sp>
        <p:nvSpPr>
          <p:cNvPr id="34" name="AutoShape 34"/>
          <p:cNvSpPr/>
          <p:nvPr/>
        </p:nvSpPr>
        <p:spPr>
          <a:xfrm>
            <a:off x="6731000" y="5740400"/>
            <a:ext cx="4889500" cy="5842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1" i="0" u="none" strike="noStrike">
                <a:solidFill>
                  <a:srgbClr val="1E3A8A"/>
                </a:solidFill>
                <a:latin typeface="Noto Sans SC"/>
                <a:ea typeface="Noto Sans SC"/>
                <a:cs typeface="Noto Sans SC"/>
                <a:sym typeface="Noto Sans SC"/>
              </a:rPr>
              <a:t>/api/v1/40_object_detection/run</a:t>
            </a:r>
            <a:endParaRPr lang="en-US" sz="11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8890000" cy="5842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spc="100">
                <a:solidFill>
                  <a:srgbClr val="1E3A8A"/>
                </a:solidFill>
                <a:latin typeface="Noto Sans SC"/>
                <a:ea typeface="Noto Sans SC"/>
                <a:cs typeface="Noto Sans SC"/>
                <a:sym typeface="Noto Sans SC"/>
              </a:rPr>
              <a:t>适合像元分解</a:t>
            </a:r>
            <a:endParaRPr lang="en-US" sz="1100"/>
          </a:p>
        </p:txBody>
      </p:sp>
      <p:sp>
        <p:nvSpPr>
          <p:cNvPr id="3" name="AutoShape 3"/>
          <p:cNvSpPr/>
          <p:nvPr/>
        </p:nvSpPr>
        <p:spPr>
          <a:xfrm>
            <a:off x="508000" y="1016000"/>
            <a:ext cx="111760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0" i="0" u="none" strike="noStrike">
                <a:solidFill>
                  <a:srgbClr val="64748B"/>
                </a:solidFill>
                <a:latin typeface="Noto Sans SC"/>
                <a:ea typeface="Noto Sans SC"/>
                <a:cs typeface="Noto Sans SC"/>
                <a:sym typeface="Noto Sans SC"/>
              </a:rPr>
              <a:t>所属层级:L3 ｜ 编号:#41 ｜ 辅导材料:算法清单与API</a:t>
            </a:r>
            <a:endParaRPr lang="en-US" sz="1100"/>
          </a:p>
        </p:txBody>
      </p:sp>
      <p:cxnSp>
        <p:nvCxnSpPr>
          <p:cNvPr id="4" name="Connector 4"/>
          <p:cNvCxnSpPr/>
          <p:nvPr/>
        </p:nvCxnSpPr>
        <p:spPr>
          <a:xfrm rot="-3906">
            <a:off x="508004" y="1416050"/>
            <a:ext cx="111760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5" name="AutoShape 5"/>
          <p:cNvSpPr/>
          <p:nvPr/>
        </p:nvSpPr>
        <p:spPr>
          <a:xfrm>
            <a:off x="508000" y="1549400"/>
            <a:ext cx="3632200" cy="19050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508000" y="1549400"/>
            <a:ext cx="50800" cy="1905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736600" y="1549400"/>
            <a:ext cx="32512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功能定义</a:t>
            </a:r>
            <a:endParaRPr lang="en-US" sz="1100"/>
          </a:p>
        </p:txBody>
      </p:sp>
      <p:cxnSp>
        <p:nvCxnSpPr>
          <p:cNvPr id="8" name="Connector 8"/>
          <p:cNvCxnSpPr/>
          <p:nvPr/>
        </p:nvCxnSpPr>
        <p:spPr>
          <a:xfrm rot="-13324">
            <a:off x="736612" y="1974850"/>
            <a:ext cx="32766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9" name="AutoShape 9"/>
          <p:cNvSpPr/>
          <p:nvPr/>
        </p:nvSpPr>
        <p:spPr>
          <a:xfrm>
            <a:off x="736600" y="2032000"/>
            <a:ext cx="3251200" cy="1016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500" b="0" i="0" u="none" strike="noStrike">
                <a:solidFill>
                  <a:srgbClr val="334155"/>
                </a:solidFill>
                <a:latin typeface="Noto Sans SC"/>
                <a:ea typeface="Noto Sans SC"/>
                <a:cs typeface="Noto Sans SC"/>
                <a:sym typeface="Noto Sans SC"/>
              </a:rPr>
              <a:t>将混合像元分解为不同地物的比例。</a:t>
            </a:r>
            <a:endParaRPr lang="en-US" sz="1100"/>
          </a:p>
        </p:txBody>
      </p:sp>
      <p:sp>
        <p:nvSpPr>
          <p:cNvPr id="10" name="AutoShape 10"/>
          <p:cNvSpPr/>
          <p:nvPr/>
        </p:nvSpPr>
        <p:spPr>
          <a:xfrm>
            <a:off x="4356100" y="1549400"/>
            <a:ext cx="3632200" cy="19050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4356100" y="1549400"/>
            <a:ext cx="50800" cy="1905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4584700" y="1549400"/>
            <a:ext cx="32512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方法要点</a:t>
            </a:r>
            <a:endParaRPr lang="en-US" sz="1100"/>
          </a:p>
        </p:txBody>
      </p:sp>
      <p:cxnSp>
        <p:nvCxnSpPr>
          <p:cNvPr id="13" name="Connector 13"/>
          <p:cNvCxnSpPr/>
          <p:nvPr/>
        </p:nvCxnSpPr>
        <p:spPr>
          <a:xfrm rot="-13324">
            <a:off x="4584712" y="1974850"/>
            <a:ext cx="32766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14" name="AutoShape 14"/>
          <p:cNvSpPr/>
          <p:nvPr/>
        </p:nvSpPr>
        <p:spPr>
          <a:xfrm>
            <a:off x="4584700" y="2032000"/>
            <a:ext cx="3251200" cy="1016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500" b="0" i="0" u="none" strike="noStrike">
                <a:solidFill>
                  <a:srgbClr val="334155"/>
                </a:solidFill>
                <a:latin typeface="Noto Sans SC"/>
                <a:ea typeface="Noto Sans SC"/>
                <a:cs typeface="Noto Sans SC"/>
                <a:sym typeface="Noto Sans SC"/>
              </a:rPr>
              <a:t>与光谱端元分类类似,但通常假设像元是由几种端元线性混合而成的。</a:t>
            </a:r>
            <a:endParaRPr lang="en-US" sz="1100"/>
          </a:p>
        </p:txBody>
      </p:sp>
      <p:sp>
        <p:nvSpPr>
          <p:cNvPr id="15" name="AutoShape 15"/>
          <p:cNvSpPr/>
          <p:nvPr/>
        </p:nvSpPr>
        <p:spPr>
          <a:xfrm>
            <a:off x="8204200" y="1549400"/>
            <a:ext cx="3632200" cy="19050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8204200" y="1549400"/>
            <a:ext cx="50800" cy="1905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8432800" y="1549400"/>
            <a:ext cx="32512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适用场景</a:t>
            </a:r>
            <a:endParaRPr lang="en-US" sz="1100"/>
          </a:p>
        </p:txBody>
      </p:sp>
      <p:cxnSp>
        <p:nvCxnSpPr>
          <p:cNvPr id="18" name="Connector 18"/>
          <p:cNvCxnSpPr/>
          <p:nvPr/>
        </p:nvCxnSpPr>
        <p:spPr>
          <a:xfrm rot="-13428">
            <a:off x="8432812" y="1974850"/>
            <a:ext cx="32512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19" name="AutoShape 19"/>
          <p:cNvSpPr/>
          <p:nvPr/>
        </p:nvSpPr>
        <p:spPr>
          <a:xfrm>
            <a:off x="8432800" y="2032000"/>
            <a:ext cx="3251200" cy="1016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500" b="0" i="0" u="none" strike="noStrike">
                <a:solidFill>
                  <a:srgbClr val="334155"/>
                </a:solidFill>
                <a:latin typeface="Noto Sans SC"/>
                <a:ea typeface="Noto Sans SC"/>
                <a:cs typeface="Noto Sans SC"/>
                <a:sym typeface="Noto Sans SC"/>
              </a:rPr>
              <a:t>植被覆盖度估算、土地覆盖分类。</a:t>
            </a:r>
            <a:endParaRPr lang="en-US" sz="1100"/>
          </a:p>
        </p:txBody>
      </p:sp>
      <p:sp>
        <p:nvSpPr>
          <p:cNvPr id="20" name="AutoShape 20"/>
          <p:cNvSpPr/>
          <p:nvPr/>
        </p:nvSpPr>
        <p:spPr>
          <a:xfrm>
            <a:off x="508000" y="3619500"/>
            <a:ext cx="5664200" cy="1625600"/>
          </a:xfrm>
          <a:prstGeom prst="roundRect">
            <a:avLst>
              <a:gd name="adj" fmla="val 0"/>
            </a:avLst>
          </a:prstGeom>
          <a:gradFill rotWithShape="1">
            <a:gsLst>
              <a:gs pos="0">
                <a:srgbClr val="1E3A8A">
                  <a:alpha val="10000"/>
                </a:srgbClr>
              </a:gs>
              <a:gs pos="100000">
                <a:srgbClr val="1E3A8A">
                  <a:alpha val="2000"/>
                </a:srgbClr>
              </a:gs>
            </a:gsLst>
            <a:lin ang="0"/>
          </a:gradFill>
          <a:ln cap="flat" cmpd="sng">
            <a:gradFill rotWithShape="1">
              <a:gsLst>
                <a:gs pos="0">
                  <a:srgbClr val="0D2771">
                    <a:alpha val="10000"/>
                  </a:srgbClr>
                </a:gs>
                <a:gs pos="100000">
                  <a:srgbClr val="0D2771">
                    <a:alpha val="2000"/>
                  </a:srgbClr>
                </a:gs>
              </a:gsLst>
              <a:lin ang="0"/>
            </a:gradFill>
            <a:prstDash val="solid"/>
            <a:round/>
          </a:ln>
        </p:spPr>
        <p:txBody>
          <a:bodyPr vert="horz" wrap="square" lIns="63500" tIns="63500" rIns="63500" bIns="63500" rtlCol="0" anchor="ctr"/>
          <a:lstStyle/>
          <a:p>
            <a:pPr algn="ctr">
              <a:defRPr/>
            </a:pPr>
          </a:p>
        </p:txBody>
      </p:sp>
      <p:sp>
        <p:nvSpPr>
          <p:cNvPr id="21" name="AutoShape 21"/>
          <p:cNvSpPr/>
          <p:nvPr/>
        </p:nvSpPr>
        <p:spPr>
          <a:xfrm>
            <a:off x="508000" y="3619500"/>
            <a:ext cx="50800" cy="16256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762000" y="3619500"/>
            <a:ext cx="5207000" cy="406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2000" b="1" i="0" u="none" strike="noStrike">
                <a:solidFill>
                  <a:srgbClr val="1E3A8A"/>
                </a:solidFill>
                <a:latin typeface="Noto Sans SC"/>
                <a:ea typeface="Noto Sans SC"/>
                <a:cs typeface="Noto Sans SC"/>
                <a:sym typeface="Noto Sans SC"/>
              </a:rPr>
              <a:t>业务价值</a:t>
            </a:r>
            <a:endParaRPr lang="en-US" sz="1100"/>
          </a:p>
        </p:txBody>
      </p:sp>
      <p:cxnSp>
        <p:nvCxnSpPr>
          <p:cNvPr id="23" name="Connector 23"/>
          <p:cNvCxnSpPr/>
          <p:nvPr/>
        </p:nvCxnSpPr>
        <p:spPr>
          <a:xfrm rot="-8384">
            <a:off x="762008" y="4083050"/>
            <a:ext cx="52070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24" name="AutoShape 24"/>
          <p:cNvSpPr/>
          <p:nvPr/>
        </p:nvSpPr>
        <p:spPr>
          <a:xfrm>
            <a:off x="762000" y="4140200"/>
            <a:ext cx="5207000" cy="8382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500" b="0" i="0" u="none" strike="noStrike">
                <a:solidFill>
                  <a:srgbClr val="334155"/>
                </a:solidFill>
                <a:latin typeface="Noto Sans SC"/>
                <a:ea typeface="Noto Sans SC"/>
                <a:cs typeface="Noto Sans SC"/>
                <a:sym typeface="Noto Sans SC"/>
              </a:rPr>
              <a:t>能够处理混合像元,提供更精细的地物组成信息。</a:t>
            </a:r>
            <a:endParaRPr lang="en-US" sz="1100"/>
          </a:p>
        </p:txBody>
      </p:sp>
      <p:sp>
        <p:nvSpPr>
          <p:cNvPr id="25" name="AutoShape 25"/>
          <p:cNvSpPr/>
          <p:nvPr/>
        </p:nvSpPr>
        <p:spPr>
          <a:xfrm>
            <a:off x="6324600" y="3619500"/>
            <a:ext cx="5664200" cy="1625600"/>
          </a:xfrm>
          <a:prstGeom prst="roundRect">
            <a:avLst>
              <a:gd name="adj" fmla="val 0"/>
            </a:avLst>
          </a:prstGeom>
          <a:gradFill rotWithShape="1">
            <a:gsLst>
              <a:gs pos="0">
                <a:srgbClr val="F97316">
                  <a:alpha val="10000"/>
                </a:srgbClr>
              </a:gs>
              <a:gs pos="100000">
                <a:srgbClr val="F97316">
                  <a:alpha val="2000"/>
                </a:srgbClr>
              </a:gs>
            </a:gsLst>
            <a:lin ang="0"/>
          </a:gradFill>
          <a:ln cap="flat" cmpd="sng">
            <a:gradFill rotWithShape="1">
              <a:gsLst>
                <a:gs pos="0">
                  <a:srgbClr val="E05C00">
                    <a:alpha val="10000"/>
                  </a:srgbClr>
                </a:gs>
                <a:gs pos="100000">
                  <a:srgbClr val="E05C00">
                    <a:alpha val="2000"/>
                  </a:srgbClr>
                </a:gs>
              </a:gsLst>
              <a:lin ang="0"/>
            </a:gradFill>
            <a:prstDash val="solid"/>
            <a:round/>
          </a:ln>
        </p:spPr>
        <p:txBody>
          <a:bodyPr vert="horz" wrap="square" lIns="63500" tIns="63500" rIns="63500" bIns="63500" rtlCol="0" anchor="ctr"/>
          <a:lstStyle/>
          <a:p>
            <a:pPr algn="ctr">
              <a:defRPr/>
            </a:pPr>
          </a:p>
        </p:txBody>
      </p:sp>
      <p:sp>
        <p:nvSpPr>
          <p:cNvPr id="26" name="AutoShape 26"/>
          <p:cNvSpPr/>
          <p:nvPr/>
        </p:nvSpPr>
        <p:spPr>
          <a:xfrm>
            <a:off x="6324600" y="3619500"/>
            <a:ext cx="50800" cy="1625600"/>
          </a:xfrm>
          <a:prstGeom prst="roundRect">
            <a:avLst>
              <a:gd name="adj" fmla="val 0"/>
            </a:avLst>
          </a:prstGeom>
          <a:solidFill>
            <a:srgbClr val="F97316">
              <a:alpha val="100000"/>
            </a:srgbClr>
          </a:solidFill>
          <a:ln cap="flat" cmpd="sng">
            <a:solidFill>
              <a:srgbClr val="E05C00">
                <a:alpha val="100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6578600" y="3619500"/>
            <a:ext cx="5207000" cy="406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2000" b="1" i="0" u="none" strike="noStrike">
                <a:solidFill>
                  <a:srgbClr val="F97316"/>
                </a:solidFill>
                <a:latin typeface="Noto Sans SC"/>
                <a:ea typeface="Noto Sans SC"/>
                <a:cs typeface="Noto Sans SC"/>
                <a:sym typeface="Noto Sans SC"/>
              </a:rPr>
              <a:t>缺失影响</a:t>
            </a:r>
            <a:endParaRPr lang="en-US" sz="1100"/>
          </a:p>
        </p:txBody>
      </p:sp>
      <p:cxnSp>
        <p:nvCxnSpPr>
          <p:cNvPr id="28" name="Connector 28"/>
          <p:cNvCxnSpPr/>
          <p:nvPr/>
        </p:nvCxnSpPr>
        <p:spPr>
          <a:xfrm rot="-8551">
            <a:off x="6578608" y="4083050"/>
            <a:ext cx="5105400" cy="12700"/>
          </a:xfrm>
          <a:prstGeom prst="straightConnector1">
            <a:avLst/>
          </a:prstGeom>
          <a:solidFill>
            <a:srgbClr val="DEE0E3">
              <a:alpha val="100000"/>
            </a:srgbClr>
          </a:solidFill>
          <a:ln w="12700" cap="flat" cmpd="sng">
            <a:solidFill>
              <a:srgbClr val="F97316">
                <a:alpha val="20000"/>
              </a:srgbClr>
            </a:solidFill>
            <a:prstDash val="solid"/>
            <a:round/>
            <a:headEnd type="none" w="med" len="med"/>
            <a:tailEnd type="none" w="med" len="med"/>
          </a:ln>
        </p:spPr>
      </p:cxnSp>
      <p:sp>
        <p:nvSpPr>
          <p:cNvPr id="29" name="AutoShape 29"/>
          <p:cNvSpPr/>
          <p:nvPr/>
        </p:nvSpPr>
        <p:spPr>
          <a:xfrm>
            <a:off x="6578600" y="4140200"/>
            <a:ext cx="5207000" cy="8382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500" b="0" i="0" u="none" strike="noStrike">
                <a:solidFill>
                  <a:srgbClr val="334155"/>
                </a:solidFill>
                <a:latin typeface="Noto Sans SC"/>
                <a:ea typeface="Noto Sans SC"/>
                <a:cs typeface="Noto Sans SC"/>
                <a:sym typeface="Noto Sans SC"/>
              </a:rPr>
              <a:t>无法处理混合像元,只能得到单一的分类结果。</a:t>
            </a:r>
            <a:endParaRPr lang="en-US" sz="1100"/>
          </a:p>
        </p:txBody>
      </p:sp>
      <p:sp>
        <p:nvSpPr>
          <p:cNvPr id="30" name="AutoShape 30"/>
          <p:cNvSpPr/>
          <p:nvPr/>
        </p:nvSpPr>
        <p:spPr>
          <a:xfrm>
            <a:off x="508000" y="5435600"/>
            <a:ext cx="11226800" cy="1016000"/>
          </a:xfrm>
          <a:prstGeom prst="roundRect">
            <a:avLst>
              <a:gd name="adj" fmla="val 0"/>
            </a:avLst>
          </a:prstGeom>
          <a:solidFill>
            <a:srgbClr val="1E3A8A">
              <a:alpha val="8000"/>
            </a:srgbClr>
          </a:solidFill>
          <a:ln cap="flat" cmpd="sng">
            <a:solidFill>
              <a:srgbClr val="0D2771">
                <a:alpha val="8000"/>
              </a:srgbClr>
            </a:solidFill>
            <a:prstDash val="solid"/>
            <a:round/>
          </a:ln>
        </p:spPr>
        <p:txBody>
          <a:bodyPr vert="horz" wrap="square" lIns="63500" tIns="63500" rIns="63500" bIns="63500" rtlCol="0" anchor="ctr"/>
          <a:lstStyle/>
          <a:p>
            <a:pPr algn="ctr">
              <a:defRPr/>
            </a:pPr>
          </a:p>
        </p:txBody>
      </p:sp>
      <p:sp>
        <p:nvSpPr>
          <p:cNvPr id="31" name="AutoShape 31"/>
          <p:cNvSpPr/>
          <p:nvPr/>
        </p:nvSpPr>
        <p:spPr>
          <a:xfrm>
            <a:off x="762000" y="5435600"/>
            <a:ext cx="34290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200" b="1" i="0" u="none" strike="noStrike" spc="100">
                <a:solidFill>
                  <a:srgbClr val="1E3A8A">
                    <a:alpha val="60000"/>
                  </a:srgbClr>
                </a:solidFill>
                <a:latin typeface="Noto Sans SC"/>
                <a:ea typeface="Noto Sans SC"/>
                <a:cs typeface="Noto Sans SC"/>
                <a:sym typeface="Noto Sans SC"/>
              </a:rPr>
              <a:t>流程环节</a:t>
            </a:r>
            <a:endParaRPr lang="en-US" sz="1100"/>
          </a:p>
        </p:txBody>
      </p:sp>
      <p:sp>
        <p:nvSpPr>
          <p:cNvPr id="32" name="AutoShape 32"/>
          <p:cNvSpPr/>
          <p:nvPr/>
        </p:nvSpPr>
        <p:spPr>
          <a:xfrm>
            <a:off x="762000" y="5740400"/>
            <a:ext cx="3429000" cy="431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600" b="1" i="0" u="none" strike="noStrike">
                <a:solidFill>
                  <a:srgbClr val="1E3A8A"/>
                </a:solidFill>
                <a:latin typeface="Noto Sans SC"/>
                <a:ea typeface="Noto Sans SC"/>
                <a:cs typeface="Noto Sans SC"/>
                <a:sym typeface="Noto Sans SC"/>
              </a:rPr>
              <a:t>L3分类与检测</a:t>
            </a:r>
            <a:endParaRPr lang="en-US" sz="1100"/>
          </a:p>
        </p:txBody>
      </p:sp>
      <p:cxnSp>
        <p:nvCxnSpPr>
          <p:cNvPr id="33" name="Connector 33"/>
          <p:cNvCxnSpPr/>
          <p:nvPr/>
        </p:nvCxnSpPr>
        <p:spPr>
          <a:xfrm rot="5338618">
            <a:off x="3962400" y="5937307"/>
            <a:ext cx="711200" cy="12700"/>
          </a:xfrm>
          <a:prstGeom prst="straightConnector1">
            <a:avLst/>
          </a:prstGeom>
          <a:solidFill>
            <a:srgbClr val="DEE0E3">
              <a:alpha val="100000"/>
            </a:srgbClr>
          </a:solidFill>
          <a:ln w="12700" cap="flat" cmpd="sng">
            <a:solidFill>
              <a:srgbClr val="1E3A8A">
                <a:alpha val="20000"/>
              </a:srgbClr>
            </a:solidFill>
            <a:prstDash val="solid"/>
            <a:round/>
            <a:headEnd type="none" w="med" len="med"/>
            <a:tailEnd type="none" w="med" len="med"/>
          </a:ln>
        </p:spPr>
      </p:cxnSp>
      <p:sp>
        <p:nvSpPr>
          <p:cNvPr id="34" name="AutoShape 34"/>
          <p:cNvSpPr/>
          <p:nvPr/>
        </p:nvSpPr>
        <p:spPr>
          <a:xfrm>
            <a:off x="4572000" y="5435600"/>
            <a:ext cx="33020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200" b="1" i="0" u="none" strike="noStrike" spc="100">
                <a:solidFill>
                  <a:srgbClr val="1E3A8A">
                    <a:alpha val="60000"/>
                  </a:srgbClr>
                </a:solidFill>
                <a:latin typeface="Noto Sans SC"/>
                <a:ea typeface="Noto Sans SC"/>
                <a:cs typeface="Noto Sans SC"/>
                <a:sym typeface="Noto Sans SC"/>
              </a:rPr>
              <a:t>关联算法</a:t>
            </a:r>
            <a:endParaRPr lang="en-US" sz="1100"/>
          </a:p>
        </p:txBody>
      </p:sp>
      <p:sp>
        <p:nvSpPr>
          <p:cNvPr id="35" name="AutoShape 35"/>
          <p:cNvSpPr/>
          <p:nvPr/>
        </p:nvSpPr>
        <p:spPr>
          <a:xfrm>
            <a:off x="4572000" y="5740400"/>
            <a:ext cx="3302000" cy="431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600" b="1" i="0" u="none" strike="noStrike">
                <a:solidFill>
                  <a:srgbClr val="1E3A8A"/>
                </a:solidFill>
                <a:latin typeface="Noto Sans SC"/>
                <a:ea typeface="Noto Sans SC"/>
                <a:cs typeface="Noto Sans SC"/>
                <a:sym typeface="Noto Sans SC"/>
              </a:rPr>
              <a:t>#45 面积统计</a:t>
            </a:r>
            <a:endParaRPr lang="en-US" sz="1100"/>
          </a:p>
        </p:txBody>
      </p:sp>
      <p:cxnSp>
        <p:nvCxnSpPr>
          <p:cNvPr id="36" name="Connector 36"/>
          <p:cNvCxnSpPr/>
          <p:nvPr/>
        </p:nvCxnSpPr>
        <p:spPr>
          <a:xfrm rot="5338618">
            <a:off x="7620000" y="5937307"/>
            <a:ext cx="711200" cy="12700"/>
          </a:xfrm>
          <a:prstGeom prst="straightConnector1">
            <a:avLst/>
          </a:prstGeom>
          <a:solidFill>
            <a:srgbClr val="DEE0E3">
              <a:alpha val="100000"/>
            </a:srgbClr>
          </a:solidFill>
          <a:ln w="12700" cap="flat" cmpd="sng">
            <a:solidFill>
              <a:srgbClr val="1E3A8A">
                <a:alpha val="20000"/>
              </a:srgbClr>
            </a:solidFill>
            <a:prstDash val="solid"/>
            <a:round/>
            <a:headEnd type="none" w="med" len="med"/>
            <a:tailEnd type="none" w="med" len="med"/>
          </a:ln>
        </p:spPr>
      </p:cxnSp>
      <p:sp>
        <p:nvSpPr>
          <p:cNvPr id="37" name="AutoShape 37"/>
          <p:cNvSpPr/>
          <p:nvPr/>
        </p:nvSpPr>
        <p:spPr>
          <a:xfrm>
            <a:off x="8229600" y="5435600"/>
            <a:ext cx="34290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200" b="1" i="0" u="none" strike="noStrike" spc="100">
                <a:solidFill>
                  <a:srgbClr val="1E3A8A">
                    <a:alpha val="60000"/>
                  </a:srgbClr>
                </a:solidFill>
                <a:latin typeface="Noto Sans SC"/>
                <a:ea typeface="Noto Sans SC"/>
                <a:cs typeface="Noto Sans SC"/>
                <a:sym typeface="Noto Sans SC"/>
              </a:rPr>
              <a:t>API接口</a:t>
            </a:r>
            <a:endParaRPr lang="en-US" sz="1100"/>
          </a:p>
        </p:txBody>
      </p:sp>
      <p:sp>
        <p:nvSpPr>
          <p:cNvPr id="38" name="AutoShape 38"/>
          <p:cNvSpPr/>
          <p:nvPr/>
        </p:nvSpPr>
        <p:spPr>
          <a:xfrm>
            <a:off x="8229600" y="5740400"/>
            <a:ext cx="3454400" cy="431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100" b="1" i="0" u="none" strike="noStrike">
                <a:solidFill>
                  <a:srgbClr val="1E3A8A"/>
                </a:solidFill>
                <a:latin typeface="Noto Sans SC"/>
                <a:ea typeface="Noto Sans SC"/>
                <a:cs typeface="Noto Sans SC"/>
                <a:sym typeface="Noto Sans SC"/>
              </a:rPr>
              <a:t>/api/v1/41_spectral_unmixing/run</a:t>
            </a:r>
            <a:endParaRPr lang="en-US" sz="11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6350000" cy="6350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2800" b="1" i="0" u="none" strike="noStrike" spc="100">
                <a:solidFill>
                  <a:srgbClr val="1E3A8A"/>
                </a:solidFill>
                <a:latin typeface="Noto Sans SC"/>
                <a:ea typeface="Noto Sans SC"/>
                <a:cs typeface="Noto Sans SC"/>
                <a:sym typeface="Noto Sans SC"/>
              </a:rPr>
              <a:t>异常检测</a:t>
            </a:r>
            <a:endParaRPr lang="en-US" sz="1100"/>
          </a:p>
        </p:txBody>
      </p:sp>
      <p:sp>
        <p:nvSpPr>
          <p:cNvPr id="3" name="AutoShape 3"/>
          <p:cNvSpPr/>
          <p:nvPr/>
        </p:nvSpPr>
        <p:spPr>
          <a:xfrm>
            <a:off x="7112000" y="431800"/>
            <a:ext cx="4826000" cy="279400"/>
          </a:xfrm>
          <a:prstGeom prst="rect">
            <a:avLst/>
          </a:prstGeom>
          <a:noFill/>
          <a:ln w="12700" cap="flat" cmpd="sng">
            <a:noFill/>
            <a:prstDash val="solid"/>
            <a:round/>
          </a:ln>
        </p:spPr>
        <p:txBody>
          <a:bodyPr vert="horz" wrap="square" lIns="0" tIns="0" rIns="0" bIns="0" rtlCol="0" anchor="t" anchorCtr="0"/>
          <a:lstStyle/>
          <a:p>
            <a:pPr marL="0" indent="0" algn="r">
              <a:lnSpc>
                <a:spcPct val="83000"/>
              </a:lnSpc>
              <a:defRPr/>
            </a:pPr>
            <a:r>
              <a:rPr lang="en-US" sz="1200" b="0" i="0" u="none" strike="noStrike" spc="100">
                <a:solidFill>
                  <a:srgbClr val="64748B"/>
                </a:solidFill>
                <a:latin typeface="Noto Sans SC"/>
                <a:ea typeface="Noto Sans SC"/>
                <a:cs typeface="Noto Sans SC"/>
                <a:sym typeface="Noto Sans SC"/>
              </a:rPr>
              <a:t>所属层级:L3 ｜ 编号#42</a:t>
            </a:r>
            <a:endParaRPr lang="en-US" sz="1100"/>
          </a:p>
        </p:txBody>
      </p:sp>
      <p:sp>
        <p:nvSpPr>
          <p:cNvPr id="4" name="AutoShape 4"/>
          <p:cNvSpPr/>
          <p:nvPr/>
        </p:nvSpPr>
        <p:spPr>
          <a:xfrm>
            <a:off x="7112000" y="787400"/>
            <a:ext cx="4826000" cy="279400"/>
          </a:xfrm>
          <a:prstGeom prst="rect">
            <a:avLst/>
          </a:prstGeom>
          <a:noFill/>
          <a:ln w="12700" cap="flat" cmpd="sng">
            <a:noFill/>
            <a:prstDash val="solid"/>
            <a:round/>
          </a:ln>
        </p:spPr>
        <p:txBody>
          <a:bodyPr vert="horz" wrap="square" lIns="0" tIns="0" rIns="0" bIns="0" rtlCol="0" anchor="t" anchorCtr="0"/>
          <a:lstStyle/>
          <a:p>
            <a:pPr marL="0" indent="0" algn="r">
              <a:lnSpc>
                <a:spcPct val="83000"/>
              </a:lnSpc>
              <a:defRPr/>
            </a:pPr>
            <a:r>
              <a:rPr lang="en-US" sz="1200" b="0" i="0" u="none" strike="noStrike" spc="100">
                <a:solidFill>
                  <a:srgbClr val="94A3B8"/>
                </a:solidFill>
                <a:latin typeface="Noto Sans SC"/>
                <a:ea typeface="Noto Sans SC"/>
                <a:cs typeface="Noto Sans SC"/>
                <a:sym typeface="Noto Sans SC"/>
              </a:rPr>
              <a:t>辅导材料:算法清单与API</a:t>
            </a:r>
            <a:endParaRPr lang="en-US" sz="1100"/>
          </a:p>
        </p:txBody>
      </p:sp>
      <p:sp>
        <p:nvSpPr>
          <p:cNvPr id="5" name="AutoShape 5"/>
          <p:cNvSpPr/>
          <p:nvPr/>
        </p:nvSpPr>
        <p:spPr>
          <a:xfrm>
            <a:off x="508000" y="1270000"/>
            <a:ext cx="11176000" cy="12700"/>
          </a:xfrm>
          <a:prstGeom prst="roundRect">
            <a:avLst>
              <a:gd name="adj" fmla="val 0"/>
            </a:avLst>
          </a:prstGeom>
          <a:solidFill>
            <a:srgbClr val="1E3A8A">
              <a:alpha val="12000"/>
            </a:srgbClr>
          </a:solidFill>
          <a:ln cap="flat" cmpd="sng">
            <a:solidFill>
              <a:srgbClr val="0D2771">
                <a:alpha val="12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508000" y="1460500"/>
            <a:ext cx="50800" cy="3048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698500" y="1422400"/>
            <a:ext cx="5461000" cy="3556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800" b="1" i="0" u="none" strike="noStrike" spc="200">
                <a:solidFill>
                  <a:srgbClr val="1E3A8A"/>
                </a:solidFill>
                <a:latin typeface="Noto Sans SC"/>
                <a:ea typeface="Noto Sans SC"/>
                <a:cs typeface="Noto Sans SC"/>
                <a:sym typeface="Noto Sans SC"/>
              </a:rPr>
              <a:t>功能定义</a:t>
            </a:r>
            <a:endParaRPr lang="en-US" sz="1100"/>
          </a:p>
        </p:txBody>
      </p:sp>
      <p:sp>
        <p:nvSpPr>
          <p:cNvPr id="8" name="AutoShape 8"/>
          <p:cNvSpPr/>
          <p:nvPr/>
        </p:nvSpPr>
        <p:spPr>
          <a:xfrm>
            <a:off x="698500" y="1905000"/>
            <a:ext cx="5524500" cy="762000"/>
          </a:xfrm>
          <a:prstGeom prst="rect">
            <a:avLst/>
          </a:prstGeom>
          <a:noFill/>
          <a:ln w="12700" cap="flat" cmpd="sng">
            <a:noFill/>
            <a:prstDash val="solid"/>
            <a:round/>
          </a:ln>
        </p:spPr>
        <p:txBody>
          <a:bodyPr vert="horz" wrap="square" lIns="0" tIns="0" rIns="0" bIns="0" rtlCol="0" anchor="t" anchorCtr="0"/>
          <a:lstStyle/>
          <a:p>
            <a:pPr marL="0" indent="0" algn="l">
              <a:lnSpc>
                <a:spcPct val="133000"/>
              </a:lnSpc>
              <a:defRPr/>
            </a:pPr>
            <a:r>
              <a:rPr lang="en-US" sz="1500" b="0" i="0" u="none" strike="noStrike">
                <a:solidFill>
                  <a:srgbClr val="334155"/>
                </a:solidFill>
                <a:latin typeface="Noto Sans SC"/>
                <a:ea typeface="Noto Sans SC"/>
                <a:cs typeface="Noto Sans SC"/>
                <a:sym typeface="Noto Sans SC"/>
              </a:rPr>
              <a:t>识别图像中与周围环境显著不同的异常像素或区域。</a:t>
            </a:r>
            <a:endParaRPr lang="en-US" sz="1100"/>
          </a:p>
        </p:txBody>
      </p:sp>
      <p:sp>
        <p:nvSpPr>
          <p:cNvPr id="9" name="AutoShape 9"/>
          <p:cNvSpPr/>
          <p:nvPr/>
        </p:nvSpPr>
        <p:spPr>
          <a:xfrm>
            <a:off x="508000" y="2794000"/>
            <a:ext cx="50800" cy="3048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698500" y="2755900"/>
            <a:ext cx="5461000" cy="3556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800" b="1" i="0" u="none" strike="noStrike" spc="200">
                <a:solidFill>
                  <a:srgbClr val="1E3A8A"/>
                </a:solidFill>
                <a:latin typeface="Noto Sans SC"/>
                <a:ea typeface="Noto Sans SC"/>
                <a:cs typeface="Noto Sans SC"/>
                <a:sym typeface="Noto Sans SC"/>
              </a:rPr>
              <a:t>方法要点</a:t>
            </a:r>
            <a:endParaRPr lang="en-US" sz="1100"/>
          </a:p>
        </p:txBody>
      </p:sp>
      <p:sp>
        <p:nvSpPr>
          <p:cNvPr id="11" name="AutoShape 11"/>
          <p:cNvSpPr/>
          <p:nvPr/>
        </p:nvSpPr>
        <p:spPr>
          <a:xfrm>
            <a:off x="698500" y="3213100"/>
            <a:ext cx="5524500" cy="990600"/>
          </a:xfrm>
          <a:prstGeom prst="roundRect">
            <a:avLst>
              <a:gd name="adj" fmla="val 0"/>
            </a:avLst>
          </a:prstGeom>
          <a:solidFill>
            <a:srgbClr val="EFF6FF">
              <a:alpha val="100000"/>
            </a:srgbClr>
          </a:solidFill>
          <a:ln cap="flat" cmpd="sng">
            <a:solidFill>
              <a:srgbClr val="C0D0E6">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863600" y="3251200"/>
            <a:ext cx="5207000" cy="914400"/>
          </a:xfrm>
          <a:prstGeom prst="rect">
            <a:avLst/>
          </a:prstGeom>
          <a:noFill/>
          <a:ln w="12700" cap="flat" cmpd="sng">
            <a:noFill/>
            <a:prstDash val="solid"/>
            <a:round/>
          </a:ln>
        </p:spPr>
        <p:txBody>
          <a:bodyPr vert="horz" wrap="square" lIns="0" tIns="0" rIns="0" bIns="0" rtlCol="0" anchor="ctr" anchorCtr="0"/>
          <a:lstStyle/>
          <a:p>
            <a:pPr marL="0" indent="0" algn="l">
              <a:lnSpc>
                <a:spcPct val="129000"/>
              </a:lnSpc>
              <a:defRPr/>
            </a:pPr>
            <a:r>
              <a:rPr lang="en-US" sz="1400" b="0" i="0" u="none" strike="noStrike">
                <a:solidFill>
                  <a:srgbClr val="475569"/>
                </a:solidFill>
                <a:latin typeface="Noto Sans SC"/>
                <a:ea typeface="Noto Sans SC"/>
                <a:cs typeface="Noto Sans SC"/>
                <a:sym typeface="Noto Sans SC"/>
              </a:rPr>
              <a:t>通过构建背景模型(如基于K-means或高斯混合模型),然后将与模型偏差较大的像素识别为异常。</a:t>
            </a:r>
            <a:endParaRPr lang="en-US" sz="1100"/>
          </a:p>
        </p:txBody>
      </p:sp>
      <p:sp>
        <p:nvSpPr>
          <p:cNvPr id="13" name="AutoShape 13"/>
          <p:cNvSpPr/>
          <p:nvPr/>
        </p:nvSpPr>
        <p:spPr>
          <a:xfrm>
            <a:off x="6477000" y="1460500"/>
            <a:ext cx="5207000" cy="1244600"/>
          </a:xfrm>
          <a:prstGeom prst="roundRect">
            <a:avLst>
              <a:gd name="adj" fmla="val 0"/>
            </a:avLst>
          </a:prstGeom>
          <a:solidFill>
            <a:srgbClr val="F8FAFC">
              <a:alpha val="100000"/>
            </a:srgbClr>
          </a:solidFill>
          <a:ln cap="flat" cmpd="sng">
            <a:solidFill>
              <a:srgbClr val="C8D5E3">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6477000" y="1460500"/>
            <a:ext cx="50800" cy="12446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6731000" y="1498600"/>
            <a:ext cx="4826000" cy="3302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600" b="1" i="0" u="none" strike="noStrike" spc="100">
                <a:solidFill>
                  <a:srgbClr val="1E3A8A"/>
                </a:solidFill>
                <a:latin typeface="Noto Sans SC"/>
                <a:ea typeface="Noto Sans SC"/>
                <a:cs typeface="Noto Sans SC"/>
                <a:sym typeface="Noto Sans SC"/>
              </a:rPr>
              <a:t>适用场景</a:t>
            </a:r>
            <a:endParaRPr lang="en-US" sz="1100"/>
          </a:p>
        </p:txBody>
      </p:sp>
      <p:sp>
        <p:nvSpPr>
          <p:cNvPr id="16" name="AutoShape 16"/>
          <p:cNvSpPr/>
          <p:nvPr/>
        </p:nvSpPr>
        <p:spPr>
          <a:xfrm>
            <a:off x="6731000" y="1905000"/>
            <a:ext cx="4889500" cy="7366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病虫害监测、环境污染监测、地质灾害识别。</a:t>
            </a:r>
            <a:endParaRPr lang="en-US" sz="1100"/>
          </a:p>
        </p:txBody>
      </p:sp>
      <p:sp>
        <p:nvSpPr>
          <p:cNvPr id="17" name="AutoShape 17"/>
          <p:cNvSpPr/>
          <p:nvPr/>
        </p:nvSpPr>
        <p:spPr>
          <a:xfrm>
            <a:off x="6477000" y="2794000"/>
            <a:ext cx="5207000" cy="1244600"/>
          </a:xfrm>
          <a:prstGeom prst="roundRect">
            <a:avLst>
              <a:gd name="adj" fmla="val 0"/>
            </a:avLst>
          </a:prstGeom>
          <a:solidFill>
            <a:srgbClr val="FFFBEB">
              <a:alpha val="100000"/>
            </a:srgbClr>
          </a:solidFill>
          <a:ln cap="flat" cmpd="sng">
            <a:solidFill>
              <a:srgbClr val="E6DDBD">
                <a:alpha val="10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6477000" y="2794000"/>
            <a:ext cx="50800" cy="1244600"/>
          </a:xfrm>
          <a:prstGeom prst="roundRect">
            <a:avLst>
              <a:gd name="adj" fmla="val 0"/>
            </a:avLst>
          </a:prstGeom>
          <a:solidFill>
            <a:srgbClr val="F59E0B">
              <a:alpha val="100000"/>
            </a:srgbClr>
          </a:solidFill>
          <a:ln cap="flat" cmpd="sng">
            <a:solidFill>
              <a:srgbClr val="DC8A00">
                <a:alpha val="10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6731000" y="2832100"/>
            <a:ext cx="4826000" cy="3302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600" b="1" i="0" u="none" strike="noStrike" spc="100">
                <a:solidFill>
                  <a:srgbClr val="F59E0B"/>
                </a:solidFill>
                <a:latin typeface="Noto Sans SC"/>
                <a:ea typeface="Noto Sans SC"/>
                <a:cs typeface="Noto Sans SC"/>
                <a:sym typeface="Noto Sans SC"/>
              </a:rPr>
              <a:t>业务价值</a:t>
            </a:r>
            <a:endParaRPr lang="en-US" sz="1100"/>
          </a:p>
        </p:txBody>
      </p:sp>
      <p:sp>
        <p:nvSpPr>
          <p:cNvPr id="20" name="AutoShape 20"/>
          <p:cNvSpPr/>
          <p:nvPr/>
        </p:nvSpPr>
        <p:spPr>
          <a:xfrm>
            <a:off x="6731000" y="3213100"/>
            <a:ext cx="4889500" cy="7366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能够在没有先验知识的情况下发现异常情况。</a:t>
            </a:r>
            <a:endParaRPr lang="en-US" sz="1100"/>
          </a:p>
        </p:txBody>
      </p:sp>
      <p:sp>
        <p:nvSpPr>
          <p:cNvPr id="21" name="AutoShape 21"/>
          <p:cNvSpPr/>
          <p:nvPr/>
        </p:nvSpPr>
        <p:spPr>
          <a:xfrm>
            <a:off x="6477000" y="4127500"/>
            <a:ext cx="5207000" cy="1244600"/>
          </a:xfrm>
          <a:prstGeom prst="roundRect">
            <a:avLst>
              <a:gd name="adj" fmla="val 0"/>
            </a:avLst>
          </a:prstGeom>
          <a:solidFill>
            <a:srgbClr val="FEF2F2">
              <a:alpha val="100000"/>
            </a:srgbClr>
          </a:solidFill>
          <a:ln cap="flat" cmpd="sng">
            <a:solidFill>
              <a:srgbClr val="E5C3C3">
                <a:alpha val="10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6477000" y="4127500"/>
            <a:ext cx="50800" cy="1244600"/>
          </a:xfrm>
          <a:prstGeom prst="roundRect">
            <a:avLst>
              <a:gd name="adj" fmla="val 0"/>
            </a:avLst>
          </a:prstGeom>
          <a:solidFill>
            <a:srgbClr val="EF4444">
              <a:alpha val="100000"/>
            </a:srgbClr>
          </a:solidFill>
          <a:ln cap="flat" cmpd="sng">
            <a:solidFill>
              <a:srgbClr val="D52727">
                <a:alpha val="10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6731000" y="4165600"/>
            <a:ext cx="4826000" cy="3302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600" b="1" i="0" u="none" strike="noStrike" spc="100">
                <a:solidFill>
                  <a:srgbClr val="EF4444"/>
                </a:solidFill>
                <a:latin typeface="Noto Sans SC"/>
                <a:ea typeface="Noto Sans SC"/>
                <a:cs typeface="Noto Sans SC"/>
                <a:sym typeface="Noto Sans SC"/>
              </a:rPr>
              <a:t>缺失影响</a:t>
            </a:r>
            <a:endParaRPr lang="en-US" sz="1100"/>
          </a:p>
        </p:txBody>
      </p:sp>
      <p:sp>
        <p:nvSpPr>
          <p:cNvPr id="24" name="AutoShape 24"/>
          <p:cNvSpPr/>
          <p:nvPr/>
        </p:nvSpPr>
        <p:spPr>
          <a:xfrm>
            <a:off x="6731000" y="4546600"/>
            <a:ext cx="4889500" cy="7366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无法自动发现异常区域,需要人工判读。</a:t>
            </a:r>
            <a:endParaRPr lang="en-US" sz="1100"/>
          </a:p>
        </p:txBody>
      </p:sp>
      <p:sp>
        <p:nvSpPr>
          <p:cNvPr id="25" name="AutoShape 25"/>
          <p:cNvSpPr/>
          <p:nvPr/>
        </p:nvSpPr>
        <p:spPr>
          <a:xfrm>
            <a:off x="508000" y="5486400"/>
            <a:ext cx="11176000" cy="1041400"/>
          </a:xfrm>
          <a:prstGeom prst="roundRect">
            <a:avLst>
              <a:gd name="adj" fmla="val 0"/>
            </a:avLst>
          </a:prstGeom>
          <a:gradFill rotWithShape="1">
            <a:gsLst>
              <a:gs pos="0">
                <a:srgbClr val="1E3A8A">
                  <a:alpha val="100000"/>
                </a:srgbClr>
              </a:gs>
              <a:gs pos="100000">
                <a:srgbClr val="2D52A8">
                  <a:alpha val="100000"/>
                </a:srgbClr>
              </a:gs>
            </a:gsLst>
            <a:lin ang="0"/>
          </a:gradFill>
          <a:ln cap="flat" cmpd="sng">
            <a:gradFill rotWithShape="1">
              <a:gsLst>
                <a:gs pos="0">
                  <a:srgbClr val="0D2771">
                    <a:alpha val="100000"/>
                  </a:srgbClr>
                </a:gs>
                <a:gs pos="100000">
                  <a:srgbClr val="183C8E">
                    <a:alpha val="100000"/>
                  </a:srgbClr>
                </a:gs>
              </a:gsLst>
              <a:lin ang="0"/>
            </a:gradFill>
            <a:prstDash val="solid"/>
            <a:round/>
          </a:ln>
        </p:spPr>
        <p:txBody>
          <a:bodyPr vert="horz" wrap="square" lIns="63500" tIns="63500" rIns="63500" bIns="63500" rtlCol="0" anchor="ctr"/>
          <a:lstStyle/>
          <a:p>
            <a:pPr algn="ctr">
              <a:defRPr/>
            </a:pPr>
          </a:p>
        </p:txBody>
      </p:sp>
      <p:sp>
        <p:nvSpPr>
          <p:cNvPr id="26" name="AutoShape 26"/>
          <p:cNvSpPr/>
          <p:nvPr/>
        </p:nvSpPr>
        <p:spPr>
          <a:xfrm>
            <a:off x="508000" y="5486400"/>
            <a:ext cx="50800" cy="1041400"/>
          </a:xfrm>
          <a:prstGeom prst="roundRect">
            <a:avLst>
              <a:gd name="adj" fmla="val 0"/>
            </a:avLst>
          </a:prstGeom>
          <a:solidFill>
            <a:srgbClr val="60A5FA">
              <a:alpha val="100000"/>
            </a:srgbClr>
          </a:solidFill>
          <a:ln cap="flat" cmpd="sng">
            <a:solidFill>
              <a:srgbClr val="4088E1">
                <a:alpha val="100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762000" y="5562600"/>
            <a:ext cx="53340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100" b="0" i="0" u="none" strike="noStrike" spc="200">
                <a:solidFill>
                  <a:srgbClr val="FFFFFF">
                    <a:alpha val="60000"/>
                  </a:srgbClr>
                </a:solidFill>
                <a:latin typeface="Noto Sans SC"/>
                <a:ea typeface="Noto Sans SC"/>
                <a:cs typeface="Noto Sans SC"/>
                <a:sym typeface="Noto Sans SC"/>
              </a:rPr>
              <a:t>流程位置与关联</a:t>
            </a:r>
            <a:endParaRPr lang="en-US" sz="1100"/>
          </a:p>
        </p:txBody>
      </p:sp>
      <p:sp>
        <p:nvSpPr>
          <p:cNvPr id="28" name="AutoShape 28"/>
          <p:cNvSpPr/>
          <p:nvPr/>
        </p:nvSpPr>
        <p:spPr>
          <a:xfrm>
            <a:off x="762000" y="5854700"/>
            <a:ext cx="5334000" cy="5842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300" b="0" i="0" u="none" strike="noStrike">
                <a:solidFill>
                  <a:srgbClr val="FFFFFF">
                    <a:alpha val="87843"/>
                  </a:srgbClr>
                </a:solidFill>
                <a:latin typeface="Noto Sans SC"/>
                <a:ea typeface="Noto Sans SC"/>
                <a:cs typeface="Noto Sans SC"/>
                <a:sym typeface="Noto Sans SC"/>
              </a:rPr>
              <a:t>环节:L3分类与检测 ｜ 关联:</a:t>
            </a:r>
            <a:r>
              <a:rPr lang="en-US" sz="1300" b="1" i="0" u="none" strike="noStrike">
                <a:solidFill>
                  <a:srgbClr val="FFFFFF"/>
                </a:solidFill>
                <a:latin typeface="Noto Sans SC"/>
                <a:ea typeface="Noto Sans SC"/>
                <a:cs typeface="Noto Sans SC"/>
                <a:sym typeface="Noto Sans SC"/>
              </a:rPr>
              <a:t>#45 告警</a:t>
            </a:r>
            <a:endParaRPr lang="en-US" sz="1100"/>
          </a:p>
        </p:txBody>
      </p:sp>
      <p:sp>
        <p:nvSpPr>
          <p:cNvPr id="29" name="AutoShape 29"/>
          <p:cNvSpPr/>
          <p:nvPr/>
        </p:nvSpPr>
        <p:spPr>
          <a:xfrm>
            <a:off x="6350000" y="5651500"/>
            <a:ext cx="12700" cy="711200"/>
          </a:xfrm>
          <a:prstGeom prst="roundRect">
            <a:avLst>
              <a:gd name="adj" fmla="val 0"/>
            </a:avLst>
          </a:prstGeom>
          <a:solidFill>
            <a:srgbClr val="FFFFFF">
              <a:alpha val="18000"/>
            </a:srgbClr>
          </a:solidFill>
          <a:ln cap="flat" cmpd="sng">
            <a:solidFill>
              <a:srgbClr val="E6CFCF">
                <a:alpha val="18000"/>
              </a:srgbClr>
            </a:solidFill>
            <a:prstDash val="solid"/>
            <a:round/>
          </a:ln>
        </p:spPr>
        <p:txBody>
          <a:bodyPr vert="horz" wrap="square" lIns="63500" tIns="63500" rIns="63500" bIns="63500" rtlCol="0" anchor="ctr"/>
          <a:lstStyle/>
          <a:p>
            <a:pPr algn="ctr">
              <a:defRPr/>
            </a:pPr>
          </a:p>
        </p:txBody>
      </p:sp>
      <p:sp>
        <p:nvSpPr>
          <p:cNvPr id="30" name="AutoShape 30"/>
          <p:cNvSpPr/>
          <p:nvPr/>
        </p:nvSpPr>
        <p:spPr>
          <a:xfrm>
            <a:off x="6604000" y="5562600"/>
            <a:ext cx="49530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100" b="0" i="0" u="none" strike="noStrike" spc="200">
                <a:solidFill>
                  <a:srgbClr val="FFFFFF">
                    <a:alpha val="60000"/>
                  </a:srgbClr>
                </a:solidFill>
                <a:latin typeface="Noto Sans SC"/>
                <a:ea typeface="Noto Sans SC"/>
                <a:cs typeface="Noto Sans SC"/>
                <a:sym typeface="Noto Sans SC"/>
              </a:rPr>
              <a:t>API 接口</a:t>
            </a:r>
            <a:endParaRPr lang="en-US" sz="1100"/>
          </a:p>
        </p:txBody>
      </p:sp>
      <p:sp>
        <p:nvSpPr>
          <p:cNvPr id="31" name="AutoShape 31"/>
          <p:cNvSpPr/>
          <p:nvPr/>
        </p:nvSpPr>
        <p:spPr>
          <a:xfrm>
            <a:off x="6604000" y="5854700"/>
            <a:ext cx="5016500" cy="5842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400" b="1" i="0" u="none" strike="noStrike" spc="100">
                <a:solidFill>
                  <a:srgbClr val="FFFFFF"/>
                </a:solidFill>
                <a:latin typeface="Noto Sans SC"/>
                <a:ea typeface="Noto Sans SC"/>
                <a:cs typeface="Noto Sans SC"/>
                <a:sym typeface="Noto Sans SC"/>
              </a:rPr>
              <a:t>/api/v1/42_anomaly_detection/run</a:t>
            </a:r>
            <a:endParaRPr lang="en-US" sz="11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041400"/>
          </a:xfrm>
          <a:prstGeom prst="roundRect">
            <a:avLst>
              <a:gd name="adj" fmla="val 0"/>
            </a:avLst>
          </a:prstGeom>
          <a:gradFill rotWithShape="1">
            <a:gsLst>
              <a:gs pos="0">
                <a:srgbClr val="1E3A8A">
                  <a:alpha val="100000"/>
                </a:srgbClr>
              </a:gs>
              <a:gs pos="100000">
                <a:srgbClr val="3B59B2">
                  <a:alpha val="100000"/>
                </a:srgbClr>
              </a:gs>
            </a:gsLst>
            <a:lin ang="0"/>
          </a:gradFill>
          <a:ln cap="flat" cmpd="sng">
            <a:gradFill rotWithShape="1">
              <a:gsLst>
                <a:gs pos="0">
                  <a:srgbClr val="0D2771">
                    <a:alpha val="100000"/>
                  </a:srgbClr>
                </a:gs>
                <a:gs pos="100000">
                  <a:srgbClr val="234199">
                    <a:alpha val="100000"/>
                  </a:srgbClr>
                </a:gs>
              </a:gsLst>
              <a:lin ang="0"/>
            </a:gradFill>
            <a:prstDash val="solid"/>
            <a:round/>
          </a:ln>
        </p:spPr>
        <p:txBody>
          <a:bodyPr vert="horz" wrap="square" lIns="63500" tIns="63500" rIns="63500" bIns="63500" rtlCol="0" anchor="ctr"/>
          <a:lstStyle/>
          <a:p>
            <a:pPr algn="ctr">
              <a:defRPr/>
            </a:pPr>
          </a:p>
        </p:txBody>
      </p:sp>
      <p:sp>
        <p:nvSpPr>
          <p:cNvPr id="3" name="AutoShape 3"/>
          <p:cNvSpPr/>
          <p:nvPr/>
        </p:nvSpPr>
        <p:spPr>
          <a:xfrm>
            <a:off x="381000" y="177800"/>
            <a:ext cx="8890000" cy="558800"/>
          </a:xfrm>
          <a:prstGeom prst="rect">
            <a:avLst/>
          </a:prstGeom>
          <a:noFill/>
          <a:ln w="12700" cap="flat" cmpd="sng">
            <a:noFill/>
            <a:prstDash val="solid"/>
            <a:round/>
          </a:ln>
        </p:spPr>
        <p:txBody>
          <a:bodyPr vert="horz" wrap="square" lIns="0" tIns="0" rIns="0" bIns="0" rtlCol="0" anchor="t" anchorCtr="0"/>
          <a:lstStyle/>
          <a:p>
            <a:pPr marL="0" indent="0" algn="l">
              <a:lnSpc>
                <a:spcPct val="92000"/>
              </a:lnSpc>
              <a:defRPr/>
            </a:pPr>
            <a:r>
              <a:rPr lang="en-US" sz="2800" b="1" i="0" u="none" strike="noStrike" spc="100">
                <a:solidFill>
                  <a:srgbClr val="FFFFFF"/>
                </a:solidFill>
                <a:latin typeface="Noto Sans SC"/>
                <a:ea typeface="Noto Sans SC"/>
                <a:cs typeface="Noto Sans SC"/>
                <a:sym typeface="Noto Sans SC"/>
              </a:rPr>
              <a:t>多时相变化检测</a:t>
            </a:r>
            <a:endParaRPr lang="en-US" sz="1100"/>
          </a:p>
        </p:txBody>
      </p:sp>
      <p:sp>
        <p:nvSpPr>
          <p:cNvPr id="4" name="AutoShape 4"/>
          <p:cNvSpPr/>
          <p:nvPr/>
        </p:nvSpPr>
        <p:spPr>
          <a:xfrm>
            <a:off x="381000" y="711200"/>
            <a:ext cx="7620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100" b="0" i="0" u="none" strike="noStrike" spc="200">
                <a:solidFill>
                  <a:srgbClr val="FFFFFF">
                    <a:alpha val="78039"/>
                  </a:srgbClr>
                </a:solidFill>
                <a:latin typeface="Noto Sans SC"/>
                <a:ea typeface="Noto Sans SC"/>
                <a:cs typeface="Noto Sans SC"/>
                <a:sym typeface="Noto Sans SC"/>
              </a:rPr>
              <a:t>L3 分类与检测 · 编号 #43 · 辅导材料:算法清单与API</a:t>
            </a:r>
            <a:endParaRPr lang="en-US" sz="1100"/>
          </a:p>
        </p:txBody>
      </p:sp>
      <p:sp>
        <p:nvSpPr>
          <p:cNvPr id="5" name="AutoShape 5"/>
          <p:cNvSpPr/>
          <p:nvPr/>
        </p:nvSpPr>
        <p:spPr>
          <a:xfrm>
            <a:off x="8890000" y="228600"/>
            <a:ext cx="2921000" cy="635000"/>
          </a:xfrm>
          <a:prstGeom prst="rect">
            <a:avLst/>
          </a:prstGeom>
          <a:noFill/>
          <a:ln w="12700" cap="flat" cmpd="sng">
            <a:noFill/>
            <a:prstDash val="solid"/>
            <a:round/>
          </a:ln>
        </p:spPr>
        <p:txBody>
          <a:bodyPr vert="horz" wrap="square" lIns="0" tIns="0" rIns="0" bIns="0" rtlCol="0" anchor="ctr" anchorCtr="0"/>
          <a:lstStyle/>
          <a:p>
            <a:pPr marL="0" indent="0" algn="r">
              <a:lnSpc>
                <a:spcPct val="83000"/>
              </a:lnSpc>
              <a:defRPr/>
            </a:pPr>
            <a:r>
              <a:rPr lang="en-US" sz="3800" b="1" i="0" u="none" strike="noStrike" spc="100">
                <a:solidFill>
                  <a:srgbClr val="FFFFFF">
                    <a:alpha val="30196"/>
                  </a:srgbClr>
                </a:solidFill>
                <a:latin typeface="Inter"/>
                <a:ea typeface="Inter"/>
                <a:cs typeface="Inter"/>
                <a:sym typeface="Inter"/>
              </a:rPr>
              <a:t>43</a:t>
            </a:r>
            <a:endParaRPr lang="en-US" sz="1100"/>
          </a:p>
        </p:txBody>
      </p:sp>
      <p:sp>
        <p:nvSpPr>
          <p:cNvPr id="6" name="AutoShape 6"/>
          <p:cNvSpPr/>
          <p:nvPr/>
        </p:nvSpPr>
        <p:spPr>
          <a:xfrm>
            <a:off x="381000" y="1168400"/>
            <a:ext cx="7747000" cy="10414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381000" y="1168400"/>
            <a:ext cx="50800" cy="1041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635000" y="1168400"/>
            <a:ext cx="736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spc="200">
                <a:solidFill>
                  <a:srgbClr val="1E3A8A"/>
                </a:solidFill>
                <a:latin typeface="Noto Sans SC"/>
                <a:ea typeface="Noto Sans SC"/>
                <a:cs typeface="Noto Sans SC"/>
                <a:sym typeface="Noto Sans SC"/>
              </a:rPr>
              <a:t>功能定义</a:t>
            </a:r>
            <a:endParaRPr lang="en-US" sz="1100"/>
          </a:p>
        </p:txBody>
      </p:sp>
      <p:sp>
        <p:nvSpPr>
          <p:cNvPr id="9" name="AutoShape 9"/>
          <p:cNvSpPr/>
          <p:nvPr/>
        </p:nvSpPr>
        <p:spPr>
          <a:xfrm>
            <a:off x="635000" y="1524000"/>
            <a:ext cx="7366000" cy="5842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对比不同时间点的影像,发现地物的变化情况。</a:t>
            </a:r>
            <a:endParaRPr lang="en-US" sz="1100"/>
          </a:p>
        </p:txBody>
      </p:sp>
      <p:sp>
        <p:nvSpPr>
          <p:cNvPr id="10" name="AutoShape 10"/>
          <p:cNvSpPr/>
          <p:nvPr/>
        </p:nvSpPr>
        <p:spPr>
          <a:xfrm>
            <a:off x="381000" y="2286000"/>
            <a:ext cx="7747000" cy="10414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381000" y="2286000"/>
            <a:ext cx="50800" cy="1041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635000" y="2286000"/>
            <a:ext cx="736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spc="200">
                <a:solidFill>
                  <a:srgbClr val="1E3A8A"/>
                </a:solidFill>
                <a:latin typeface="Noto Sans SC"/>
                <a:ea typeface="Noto Sans SC"/>
                <a:cs typeface="Noto Sans SC"/>
                <a:sym typeface="Noto Sans SC"/>
              </a:rPr>
              <a:t>方法要点</a:t>
            </a:r>
            <a:endParaRPr lang="en-US" sz="1100"/>
          </a:p>
        </p:txBody>
      </p:sp>
      <p:sp>
        <p:nvSpPr>
          <p:cNvPr id="13" name="AutoShape 13"/>
          <p:cNvSpPr/>
          <p:nvPr/>
        </p:nvSpPr>
        <p:spPr>
          <a:xfrm>
            <a:off x="635000" y="2641600"/>
            <a:ext cx="7366000" cy="5842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通过对不同时相的影像进行差值、比值或分类后比较等操作,提取变化区域。</a:t>
            </a:r>
            <a:endParaRPr lang="en-US" sz="1100"/>
          </a:p>
        </p:txBody>
      </p:sp>
      <p:sp>
        <p:nvSpPr>
          <p:cNvPr id="14" name="AutoShape 14"/>
          <p:cNvSpPr/>
          <p:nvPr/>
        </p:nvSpPr>
        <p:spPr>
          <a:xfrm>
            <a:off x="381000" y="3403600"/>
            <a:ext cx="7747000" cy="11938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381000" y="3403600"/>
            <a:ext cx="50800" cy="11938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635000" y="3403600"/>
            <a:ext cx="736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spc="200">
                <a:solidFill>
                  <a:srgbClr val="1E3A8A"/>
                </a:solidFill>
                <a:latin typeface="Noto Sans SC"/>
                <a:ea typeface="Noto Sans SC"/>
                <a:cs typeface="Noto Sans SC"/>
                <a:sym typeface="Noto Sans SC"/>
              </a:rPr>
              <a:t>适用场景</a:t>
            </a:r>
            <a:endParaRPr lang="en-US" sz="1100"/>
          </a:p>
        </p:txBody>
      </p:sp>
      <p:sp>
        <p:nvSpPr>
          <p:cNvPr id="17" name="AutoShape 17"/>
          <p:cNvSpPr/>
          <p:nvPr/>
        </p:nvSpPr>
        <p:spPr>
          <a:xfrm>
            <a:off x="635000" y="3810000"/>
            <a:ext cx="2362200" cy="609600"/>
          </a:xfrm>
          <a:prstGeom prst="roundRect">
            <a:avLst>
              <a:gd name="adj" fmla="val 0"/>
            </a:avLst>
          </a:prstGeom>
          <a:solidFill>
            <a:srgbClr val="1E3A8A">
              <a:alpha val="10000"/>
            </a:srgbClr>
          </a:solidFill>
          <a:ln cap="flat" cmpd="sng">
            <a:solidFill>
              <a:srgbClr val="0D2771">
                <a:alpha val="1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635000" y="3810000"/>
            <a:ext cx="2362200" cy="6096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300" b="1" i="0" u="none" strike="noStrike">
                <a:solidFill>
                  <a:srgbClr val="1E3A8A"/>
                </a:solidFill>
                <a:latin typeface="Noto Sans SC"/>
                <a:ea typeface="Noto Sans SC"/>
                <a:cs typeface="Noto Sans SC"/>
                <a:sym typeface="Noto Sans SC"/>
              </a:rPr>
              <a:t>作物长势变化监测</a:t>
            </a:r>
            <a:endParaRPr lang="en-US" sz="1100"/>
          </a:p>
        </p:txBody>
      </p:sp>
      <p:sp>
        <p:nvSpPr>
          <p:cNvPr id="19" name="AutoShape 19"/>
          <p:cNvSpPr/>
          <p:nvPr/>
        </p:nvSpPr>
        <p:spPr>
          <a:xfrm>
            <a:off x="3086100" y="3810000"/>
            <a:ext cx="2362200" cy="609600"/>
          </a:xfrm>
          <a:prstGeom prst="roundRect">
            <a:avLst>
              <a:gd name="adj" fmla="val 0"/>
            </a:avLst>
          </a:prstGeom>
          <a:solidFill>
            <a:srgbClr val="1E3A8A">
              <a:alpha val="10000"/>
            </a:srgbClr>
          </a:solidFill>
          <a:ln cap="flat" cmpd="sng">
            <a:solidFill>
              <a:srgbClr val="0D2771">
                <a:alpha val="1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3086100" y="3810000"/>
            <a:ext cx="2362200" cy="6096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300" b="1" i="0" u="none" strike="noStrike">
                <a:solidFill>
                  <a:srgbClr val="1E3A8A"/>
                </a:solidFill>
                <a:latin typeface="Noto Sans SC"/>
                <a:ea typeface="Noto Sans SC"/>
                <a:cs typeface="Noto Sans SC"/>
                <a:sym typeface="Noto Sans SC"/>
              </a:rPr>
              <a:t>土地利用变化检测</a:t>
            </a:r>
            <a:endParaRPr lang="en-US" sz="1100"/>
          </a:p>
        </p:txBody>
      </p:sp>
      <p:sp>
        <p:nvSpPr>
          <p:cNvPr id="21" name="AutoShape 21"/>
          <p:cNvSpPr/>
          <p:nvPr/>
        </p:nvSpPr>
        <p:spPr>
          <a:xfrm>
            <a:off x="5537200" y="3810000"/>
            <a:ext cx="2362200" cy="609600"/>
          </a:xfrm>
          <a:prstGeom prst="roundRect">
            <a:avLst>
              <a:gd name="adj" fmla="val 0"/>
            </a:avLst>
          </a:prstGeom>
          <a:solidFill>
            <a:srgbClr val="1E3A8A">
              <a:alpha val="10000"/>
            </a:srgbClr>
          </a:solidFill>
          <a:ln cap="flat" cmpd="sng">
            <a:solidFill>
              <a:srgbClr val="0D2771">
                <a:alpha val="1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5537200" y="3810000"/>
            <a:ext cx="2362200" cy="6096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300" b="1" i="0" u="none" strike="noStrike">
                <a:solidFill>
                  <a:srgbClr val="1E3A8A"/>
                </a:solidFill>
                <a:latin typeface="Noto Sans SC"/>
                <a:ea typeface="Noto Sans SC"/>
                <a:cs typeface="Noto Sans SC"/>
                <a:sym typeface="Noto Sans SC"/>
              </a:rPr>
              <a:t>灾害评估</a:t>
            </a:r>
            <a:endParaRPr lang="en-US" sz="1100"/>
          </a:p>
        </p:txBody>
      </p:sp>
      <p:sp>
        <p:nvSpPr>
          <p:cNvPr id="23" name="AutoShape 23"/>
          <p:cNvSpPr/>
          <p:nvPr/>
        </p:nvSpPr>
        <p:spPr>
          <a:xfrm>
            <a:off x="381000" y="4673600"/>
            <a:ext cx="7747000" cy="9652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381000" y="4673600"/>
            <a:ext cx="50800" cy="9652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635000" y="4673600"/>
            <a:ext cx="736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800" b="1" i="0" u="none" strike="noStrike" spc="200">
                <a:solidFill>
                  <a:srgbClr val="1E3A8A"/>
                </a:solidFill>
                <a:latin typeface="Noto Sans SC"/>
                <a:ea typeface="Noto Sans SC"/>
                <a:cs typeface="Noto Sans SC"/>
                <a:sym typeface="Noto Sans SC"/>
              </a:rPr>
              <a:t>业务价值</a:t>
            </a:r>
            <a:endParaRPr lang="en-US" sz="1100"/>
          </a:p>
        </p:txBody>
      </p:sp>
      <p:sp>
        <p:nvSpPr>
          <p:cNvPr id="26" name="AutoShape 26"/>
          <p:cNvSpPr/>
          <p:nvPr/>
        </p:nvSpPr>
        <p:spPr>
          <a:xfrm>
            <a:off x="635000" y="5029200"/>
            <a:ext cx="7366000" cy="533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量化时间维度上的变化,帮助管理者及时发现异常和趋势。</a:t>
            </a:r>
            <a:endParaRPr lang="en-US" sz="1100"/>
          </a:p>
        </p:txBody>
      </p:sp>
      <p:sp>
        <p:nvSpPr>
          <p:cNvPr id="27" name="AutoShape 27"/>
          <p:cNvSpPr/>
          <p:nvPr/>
        </p:nvSpPr>
        <p:spPr>
          <a:xfrm>
            <a:off x="381000" y="5715000"/>
            <a:ext cx="7747000" cy="838200"/>
          </a:xfrm>
          <a:prstGeom prst="roundRect">
            <a:avLst>
              <a:gd name="adj" fmla="val 0"/>
            </a:avLst>
          </a:prstGeom>
          <a:solidFill>
            <a:srgbClr val="F59E0B">
              <a:alpha val="10000"/>
            </a:srgbClr>
          </a:solidFill>
          <a:ln cap="flat" cmpd="sng">
            <a:solidFill>
              <a:srgbClr val="DC8A00">
                <a:alpha val="10000"/>
              </a:srgbClr>
            </a:solidFill>
            <a:prstDash val="solid"/>
            <a:round/>
          </a:ln>
        </p:spPr>
        <p:txBody>
          <a:bodyPr vert="horz" wrap="square" lIns="63500" tIns="63500" rIns="63500" bIns="63500" rtlCol="0" anchor="ctr"/>
          <a:lstStyle/>
          <a:p>
            <a:pPr algn="ctr">
              <a:defRPr/>
            </a:pPr>
          </a:p>
        </p:txBody>
      </p:sp>
      <p:sp>
        <p:nvSpPr>
          <p:cNvPr id="28" name="AutoShape 28"/>
          <p:cNvSpPr/>
          <p:nvPr/>
        </p:nvSpPr>
        <p:spPr>
          <a:xfrm>
            <a:off x="381000" y="5715000"/>
            <a:ext cx="50800" cy="838200"/>
          </a:xfrm>
          <a:prstGeom prst="roundRect">
            <a:avLst>
              <a:gd name="adj" fmla="val 0"/>
            </a:avLst>
          </a:prstGeom>
          <a:solidFill>
            <a:srgbClr val="F59E0B">
              <a:alpha val="100000"/>
            </a:srgbClr>
          </a:solidFill>
          <a:ln cap="flat" cmpd="sng">
            <a:solidFill>
              <a:srgbClr val="DC8A00">
                <a:alpha val="100000"/>
              </a:srgbClr>
            </a:solidFill>
            <a:prstDash val="solid"/>
            <a:round/>
          </a:ln>
        </p:spPr>
        <p:txBody>
          <a:bodyPr vert="horz" wrap="square" lIns="63500" tIns="63500" rIns="63500" bIns="63500" rtlCol="0" anchor="ctr"/>
          <a:lstStyle/>
          <a:p>
            <a:pPr algn="ctr">
              <a:defRPr/>
            </a:pPr>
          </a:p>
        </p:txBody>
      </p:sp>
      <p:sp>
        <p:nvSpPr>
          <p:cNvPr id="29" name="AutoShape 29"/>
          <p:cNvSpPr/>
          <p:nvPr/>
        </p:nvSpPr>
        <p:spPr>
          <a:xfrm>
            <a:off x="635000" y="5715000"/>
            <a:ext cx="165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600" b="1" i="0" u="none" strike="noStrike" spc="100">
                <a:solidFill>
                  <a:srgbClr val="F59E0B"/>
                </a:solidFill>
                <a:latin typeface="Noto Sans SC"/>
                <a:ea typeface="Noto Sans SC"/>
                <a:cs typeface="Noto Sans SC"/>
                <a:sym typeface="Noto Sans SC"/>
              </a:rPr>
              <a:t>缺失影响</a:t>
            </a:r>
            <a:endParaRPr lang="en-US" sz="1100"/>
          </a:p>
        </p:txBody>
      </p:sp>
      <p:sp>
        <p:nvSpPr>
          <p:cNvPr id="30" name="AutoShape 30"/>
          <p:cNvSpPr/>
          <p:nvPr/>
        </p:nvSpPr>
        <p:spPr>
          <a:xfrm>
            <a:off x="2286000" y="5715000"/>
            <a:ext cx="5740400" cy="6604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a:ea typeface="Noto Sans SC"/>
                <a:cs typeface="Noto Sans SC"/>
                <a:sym typeface="Noto Sans SC"/>
              </a:rPr>
              <a:t>无法量化时间维度上的变化,只能进行单一时相的分析。</a:t>
            </a:r>
            <a:endParaRPr lang="en-US" sz="1100"/>
          </a:p>
        </p:txBody>
      </p:sp>
      <p:sp>
        <p:nvSpPr>
          <p:cNvPr id="31" name="AutoShape 31"/>
          <p:cNvSpPr/>
          <p:nvPr/>
        </p:nvSpPr>
        <p:spPr>
          <a:xfrm>
            <a:off x="8382000" y="1168400"/>
            <a:ext cx="3556000" cy="5384800"/>
          </a:xfrm>
          <a:prstGeom prst="roundRect">
            <a:avLst>
              <a:gd name="adj" fmla="val 0"/>
            </a:avLst>
          </a:prstGeom>
          <a:solidFill>
            <a:srgbClr val="000000">
              <a:alpha val="4000"/>
            </a:srgbClr>
          </a:solidFill>
          <a:ln cap="flat" cmpd="sng">
            <a:solidFill>
              <a:srgbClr val="000000">
                <a:alpha val="4000"/>
              </a:srgbClr>
            </a:solidFill>
            <a:prstDash val="solid"/>
            <a:round/>
          </a:ln>
        </p:spPr>
        <p:txBody>
          <a:bodyPr vert="horz" wrap="square" lIns="63500" tIns="63500" rIns="63500" bIns="63500" rtlCol="0" anchor="ctr"/>
          <a:lstStyle/>
          <a:p>
            <a:pPr algn="ctr">
              <a:defRPr/>
            </a:pPr>
          </a:p>
        </p:txBody>
      </p:sp>
      <p:sp>
        <p:nvSpPr>
          <p:cNvPr id="32" name="AutoShape 32"/>
          <p:cNvSpPr/>
          <p:nvPr/>
        </p:nvSpPr>
        <p:spPr>
          <a:xfrm>
            <a:off x="8585200" y="1244600"/>
            <a:ext cx="32004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100" b="1" i="0" u="none" strike="noStrike" spc="300">
                <a:solidFill>
                  <a:srgbClr val="6B7280"/>
                </a:solidFill>
                <a:latin typeface="Noto Sans SC"/>
                <a:ea typeface="Noto Sans SC"/>
                <a:cs typeface="Noto Sans SC"/>
                <a:sym typeface="Noto Sans SC"/>
              </a:rPr>
              <a:t>流程位置</a:t>
            </a:r>
            <a:endParaRPr lang="en-US" sz="1100"/>
          </a:p>
        </p:txBody>
      </p:sp>
      <p:sp>
        <p:nvSpPr>
          <p:cNvPr id="33" name="AutoShape 33"/>
          <p:cNvSpPr/>
          <p:nvPr/>
        </p:nvSpPr>
        <p:spPr>
          <a:xfrm>
            <a:off x="8585200" y="1524000"/>
            <a:ext cx="32004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500" b="1" i="0" u="none" strike="noStrike">
                <a:solidFill>
                  <a:srgbClr val="1E3A8A"/>
                </a:solidFill>
                <a:latin typeface="Noto Sans SC"/>
                <a:ea typeface="Noto Sans SC"/>
                <a:cs typeface="Noto Sans SC"/>
                <a:sym typeface="Noto Sans SC"/>
              </a:rPr>
              <a:t>L3</a:t>
            </a:r>
            <a:r>
              <a:rPr lang="en-US" sz="1500" b="0" i="0" u="none" strike="noStrike">
                <a:solidFill>
                  <a:srgbClr val="374151"/>
                </a:solidFill>
                <a:latin typeface="Noto Sans SC"/>
                <a:ea typeface="Noto Sans SC"/>
                <a:cs typeface="Noto Sans SC"/>
                <a:sym typeface="Noto Sans SC"/>
              </a:rPr>
              <a:t>· 分类与检测</a:t>
            </a:r>
            <a:endParaRPr lang="en-US" sz="1100"/>
          </a:p>
        </p:txBody>
      </p:sp>
      <p:cxnSp>
        <p:nvCxnSpPr>
          <p:cNvPr id="34" name="Connector 34"/>
          <p:cNvCxnSpPr/>
          <p:nvPr/>
        </p:nvCxnSpPr>
        <p:spPr>
          <a:xfrm rot="-14089">
            <a:off x="8585213" y="2025650"/>
            <a:ext cx="3098800" cy="12700"/>
          </a:xfrm>
          <a:prstGeom prst="straightConnector1">
            <a:avLst/>
          </a:prstGeom>
          <a:solidFill>
            <a:srgbClr val="DEE0E3">
              <a:alpha val="100000"/>
            </a:srgbClr>
          </a:solidFill>
          <a:ln w="12700" cap="flat" cmpd="sng">
            <a:solidFill>
              <a:srgbClr val="000000">
                <a:alpha val="8000"/>
              </a:srgbClr>
            </a:solidFill>
            <a:prstDash val="solid"/>
            <a:round/>
            <a:headEnd type="none" w="med" len="med"/>
            <a:tailEnd type="none" w="med" len="med"/>
          </a:ln>
        </p:spPr>
      </p:cxnSp>
      <p:sp>
        <p:nvSpPr>
          <p:cNvPr id="35" name="AutoShape 35"/>
          <p:cNvSpPr/>
          <p:nvPr/>
        </p:nvSpPr>
        <p:spPr>
          <a:xfrm>
            <a:off x="8585200" y="2159000"/>
            <a:ext cx="32004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100" b="1" i="0" u="none" strike="noStrike" spc="300">
                <a:solidFill>
                  <a:srgbClr val="6B7280"/>
                </a:solidFill>
                <a:latin typeface="Noto Sans SC"/>
                <a:ea typeface="Noto Sans SC"/>
                <a:cs typeface="Noto Sans SC"/>
                <a:sym typeface="Noto Sans SC"/>
              </a:rPr>
              <a:t>关联算法</a:t>
            </a:r>
            <a:endParaRPr lang="en-US" sz="1100"/>
          </a:p>
        </p:txBody>
      </p:sp>
      <p:sp>
        <p:nvSpPr>
          <p:cNvPr id="36" name="AutoShape 36"/>
          <p:cNvSpPr/>
          <p:nvPr/>
        </p:nvSpPr>
        <p:spPr>
          <a:xfrm>
            <a:off x="8585200" y="2438400"/>
            <a:ext cx="32004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400" b="1" i="0" u="none" strike="noStrike">
                <a:solidFill>
                  <a:srgbClr val="1E3A8A"/>
                </a:solidFill>
                <a:latin typeface="Inter"/>
                <a:ea typeface="Inter"/>
                <a:cs typeface="Inter"/>
                <a:sym typeface="Inter"/>
              </a:rPr>
              <a:t>#45</a:t>
            </a:r>
            <a:r>
              <a:rPr lang="en-US" sz="1400" b="0" i="0" u="none" strike="noStrike">
                <a:solidFill>
                  <a:srgbClr val="374151"/>
                </a:solidFill>
                <a:latin typeface="Noto Sans SC"/>
                <a:ea typeface="Noto Sans SC"/>
                <a:cs typeface="Noto Sans SC"/>
                <a:sym typeface="Noto Sans SC"/>
              </a:rPr>
              <a:t>· 告警</a:t>
            </a:r>
            <a:endParaRPr lang="en-US" sz="1100"/>
          </a:p>
        </p:txBody>
      </p:sp>
      <p:cxnSp>
        <p:nvCxnSpPr>
          <p:cNvPr id="37" name="Connector 37"/>
          <p:cNvCxnSpPr/>
          <p:nvPr/>
        </p:nvCxnSpPr>
        <p:spPr>
          <a:xfrm rot="-14089">
            <a:off x="8585213" y="2940050"/>
            <a:ext cx="3098800" cy="12700"/>
          </a:xfrm>
          <a:prstGeom prst="straightConnector1">
            <a:avLst/>
          </a:prstGeom>
          <a:solidFill>
            <a:srgbClr val="DEE0E3">
              <a:alpha val="100000"/>
            </a:srgbClr>
          </a:solidFill>
          <a:ln w="12700" cap="flat" cmpd="sng">
            <a:solidFill>
              <a:srgbClr val="000000">
                <a:alpha val="8000"/>
              </a:srgbClr>
            </a:solidFill>
            <a:prstDash val="solid"/>
            <a:round/>
            <a:headEnd type="none" w="med" len="med"/>
            <a:tailEnd type="none" w="med" len="med"/>
          </a:ln>
        </p:spPr>
      </p:cxnSp>
      <p:sp>
        <p:nvSpPr>
          <p:cNvPr id="38" name="AutoShape 38"/>
          <p:cNvSpPr/>
          <p:nvPr/>
        </p:nvSpPr>
        <p:spPr>
          <a:xfrm>
            <a:off x="8585200" y="3073400"/>
            <a:ext cx="32004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100" b="1" i="0" u="none" strike="noStrike" spc="300">
                <a:solidFill>
                  <a:srgbClr val="6B7280"/>
                </a:solidFill>
                <a:latin typeface="Noto Sans SC"/>
                <a:ea typeface="Noto Sans SC"/>
                <a:cs typeface="Noto Sans SC"/>
                <a:sym typeface="Noto Sans SC"/>
              </a:rPr>
              <a:t>调用接口 [API]</a:t>
            </a:r>
            <a:endParaRPr lang="en-US" sz="1100"/>
          </a:p>
        </p:txBody>
      </p:sp>
      <p:sp>
        <p:nvSpPr>
          <p:cNvPr id="39" name="AutoShape 39"/>
          <p:cNvSpPr/>
          <p:nvPr/>
        </p:nvSpPr>
        <p:spPr>
          <a:xfrm>
            <a:off x="8585200" y="3429000"/>
            <a:ext cx="3200400" cy="965200"/>
          </a:xfrm>
          <a:prstGeom prst="roundRect">
            <a:avLst>
              <a:gd name="adj" fmla="val 0"/>
            </a:avLst>
          </a:prstGeom>
          <a:gradFill rotWithShape="1">
            <a:gsLst>
              <a:gs pos="0">
                <a:srgbClr val="1E3A8A">
                  <a:alpha val="8000"/>
                </a:srgbClr>
              </a:gs>
              <a:gs pos="100000">
                <a:srgbClr val="1E3A8A">
                  <a:alpha val="2000"/>
                </a:srgbClr>
              </a:gs>
            </a:gsLst>
            <a:lin ang="2700000"/>
          </a:gradFill>
          <a:ln cap="flat" cmpd="sng">
            <a:gradFill rotWithShape="1">
              <a:gsLst>
                <a:gs pos="0">
                  <a:srgbClr val="0D2771">
                    <a:alpha val="8000"/>
                  </a:srgbClr>
                </a:gs>
                <a:gs pos="100000">
                  <a:srgbClr val="0D2771">
                    <a:alpha val="2000"/>
                  </a:srgbClr>
                </a:gs>
              </a:gsLst>
              <a:lin ang="2700000"/>
            </a:gradFill>
            <a:prstDash val="solid"/>
            <a:round/>
          </a:ln>
        </p:spPr>
        <p:txBody>
          <a:bodyPr vert="horz" wrap="square" lIns="63500" tIns="63500" rIns="63500" bIns="63500" rtlCol="0" anchor="ctr"/>
          <a:lstStyle/>
          <a:p>
            <a:pPr algn="ctr">
              <a:defRPr/>
            </a:pPr>
          </a:p>
        </p:txBody>
      </p:sp>
      <p:sp>
        <p:nvSpPr>
          <p:cNvPr id="40" name="AutoShape 40"/>
          <p:cNvSpPr/>
          <p:nvPr/>
        </p:nvSpPr>
        <p:spPr>
          <a:xfrm>
            <a:off x="8686800" y="3429000"/>
            <a:ext cx="2997200" cy="9652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1" i="0" u="none" strike="noStrike">
                <a:solidFill>
                  <a:srgbClr val="1E3A8A"/>
                </a:solidFill>
                <a:latin typeface="Inter"/>
                <a:ea typeface="Inter"/>
                <a:cs typeface="Inter"/>
                <a:sym typeface="Inter"/>
              </a:rPr>
              <a:t>/api/v1/</a:t>
            </a:r>
            <a:endParaRPr lang="en-US" sz="1100"/>
          </a:p>
          <a:p>
            <a:pPr marL="0" indent="0" algn="l">
              <a:lnSpc>
                <a:spcPct val="117000"/>
              </a:lnSpc>
            </a:pPr>
            <a:r>
              <a:rPr lang="en-US" sz="1300" b="1" i="0" u="none" strike="noStrike">
                <a:solidFill>
                  <a:srgbClr val="1E3A8A"/>
                </a:solidFill>
                <a:latin typeface="Inter"/>
                <a:ea typeface="Inter"/>
                <a:cs typeface="Inter"/>
                <a:sym typeface="Inter"/>
              </a:rPr>
              <a:t>43_change_detection/run</a:t>
            </a:r>
            <a:endParaRPr lang="en-US" sz="1300" b="1" i="0" u="none" strike="noStrike">
              <a:solidFill>
                <a:srgbClr val="1E3A8A"/>
              </a:solidFill>
              <a:latin typeface="Inter"/>
              <a:ea typeface="Inter"/>
              <a:cs typeface="Inter"/>
              <a:sym typeface="Inter"/>
            </a:endParaRPr>
          </a:p>
        </p:txBody>
      </p:sp>
      <p:cxnSp>
        <p:nvCxnSpPr>
          <p:cNvPr id="41" name="Connector 41"/>
          <p:cNvCxnSpPr/>
          <p:nvPr/>
        </p:nvCxnSpPr>
        <p:spPr>
          <a:xfrm rot="-14089">
            <a:off x="8585213" y="4641850"/>
            <a:ext cx="3098800" cy="12700"/>
          </a:xfrm>
          <a:prstGeom prst="straightConnector1">
            <a:avLst/>
          </a:prstGeom>
          <a:solidFill>
            <a:srgbClr val="DEE0E3">
              <a:alpha val="100000"/>
            </a:srgbClr>
          </a:solidFill>
          <a:ln w="12700" cap="flat" cmpd="sng">
            <a:solidFill>
              <a:srgbClr val="000000">
                <a:alpha val="8000"/>
              </a:srgbClr>
            </a:solidFill>
            <a:prstDash val="solid"/>
            <a:round/>
            <a:headEnd type="none" w="med" len="med"/>
            <a:tailEnd type="none" w="med" len="med"/>
          </a:ln>
        </p:spPr>
      </p:cxnSp>
      <p:sp>
        <p:nvSpPr>
          <p:cNvPr id="42" name="AutoShape 42"/>
          <p:cNvSpPr/>
          <p:nvPr/>
        </p:nvSpPr>
        <p:spPr>
          <a:xfrm>
            <a:off x="8585200" y="4775200"/>
            <a:ext cx="3200400" cy="762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200" b="0" i="0" u="none" strike="noStrike">
                <a:solidFill>
                  <a:srgbClr val="4B5563"/>
                </a:solidFill>
                <a:latin typeface="Noto Sans SC"/>
                <a:ea typeface="Noto Sans SC"/>
                <a:cs typeface="Noto Sans SC"/>
                <a:sym typeface="Noto Sans SC"/>
              </a:rPr>
              <a:t>对比不同时相影像,量化变化,支撑</a:t>
            </a:r>
            <a:endParaRPr lang="en-US" sz="1100"/>
          </a:p>
          <a:p>
            <a:pPr marL="0" indent="0" algn="l">
              <a:lnSpc>
                <a:spcPct val="125000"/>
              </a:lnSpc>
            </a:pPr>
            <a:r>
              <a:rPr lang="en-US" sz="1200" b="0" i="0" u="none" strike="noStrike">
                <a:solidFill>
                  <a:srgbClr val="4B5563"/>
                </a:solidFill>
                <a:latin typeface="Noto Sans SC"/>
                <a:ea typeface="Noto Sans SC"/>
                <a:cs typeface="Noto Sans SC"/>
                <a:sym typeface="Noto Sans SC"/>
              </a:rPr>
              <a:t>异常发现与趋势研判。</a:t>
            </a:r>
            <a:endParaRPr lang="en-US" sz="1200" b="0" i="0" u="none" strike="noStrike">
              <a:solidFill>
                <a:srgbClr val="4B5563"/>
              </a:solidFill>
              <a:latin typeface="Noto Sans SC"/>
              <a:ea typeface="Noto Sans SC"/>
              <a:cs typeface="Noto Sans SC"/>
              <a:sym typeface="Noto Sans SC"/>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35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spc="100">
                <a:solidFill>
                  <a:srgbClr val="1E3A8A"/>
                </a:solidFill>
                <a:latin typeface="Noto Sans SC"/>
                <a:ea typeface="Noto Sans SC"/>
                <a:cs typeface="Noto Sans SC"/>
                <a:sym typeface="Noto Sans SC"/>
              </a:rPr>
              <a:t>44.分类后处理:形态学滤波/CRF/小斑剔除</a:t>
            </a:r>
            <a:endParaRPr lang="en-US" sz="1100"/>
          </a:p>
        </p:txBody>
      </p:sp>
      <p:sp>
        <p:nvSpPr>
          <p:cNvPr id="3" name="AutoShape 3"/>
          <p:cNvSpPr/>
          <p:nvPr/>
        </p:nvSpPr>
        <p:spPr>
          <a:xfrm>
            <a:off x="508000" y="1041400"/>
            <a:ext cx="11176000" cy="3302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300" b="0" i="0" u="none" strike="noStrike">
                <a:solidFill>
                  <a:srgbClr val="64748B"/>
                </a:solidFill>
                <a:latin typeface="Noto Sans SC"/>
                <a:ea typeface="Noto Sans SC"/>
                <a:cs typeface="Noto Sans SC"/>
                <a:sym typeface="Noto Sans SC"/>
              </a:rPr>
              <a:t>所属层级:L3→L4 ｜ 编号#44 ｜ 辅导材料:算法清单与API</a:t>
            </a:r>
            <a:endParaRPr lang="en-US" sz="1100"/>
          </a:p>
        </p:txBody>
      </p:sp>
      <p:sp>
        <p:nvSpPr>
          <p:cNvPr id="4" name="AutoShape 4"/>
          <p:cNvSpPr/>
          <p:nvPr/>
        </p:nvSpPr>
        <p:spPr>
          <a:xfrm>
            <a:off x="508000" y="1524000"/>
            <a:ext cx="11176000" cy="787400"/>
          </a:xfrm>
          <a:prstGeom prst="roundRect">
            <a:avLst>
              <a:gd name="adj" fmla="val 0"/>
            </a:avLst>
          </a:prstGeom>
          <a:solidFill>
            <a:srgbClr val="1E3A8A">
              <a:alpha val="7000"/>
            </a:srgbClr>
          </a:solidFill>
          <a:ln cap="flat" cmpd="sng">
            <a:solidFill>
              <a:srgbClr val="0D2771">
                <a:alpha val="7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508000" y="1524000"/>
            <a:ext cx="50800" cy="787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1524000"/>
            <a:ext cx="1524000" cy="787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700" b="1" i="0" u="none" strike="noStrike">
                <a:solidFill>
                  <a:srgbClr val="1E3A8A"/>
                </a:solidFill>
                <a:latin typeface="Noto Sans SC"/>
                <a:ea typeface="Noto Sans SC"/>
                <a:cs typeface="Noto Sans SC"/>
                <a:sym typeface="Noto Sans SC"/>
              </a:rPr>
              <a:t>功能定义</a:t>
            </a:r>
            <a:endParaRPr lang="en-US" sz="1100"/>
          </a:p>
        </p:txBody>
      </p:sp>
      <p:cxnSp>
        <p:nvCxnSpPr>
          <p:cNvPr id="7" name="Connector 7"/>
          <p:cNvCxnSpPr/>
          <p:nvPr/>
        </p:nvCxnSpPr>
        <p:spPr>
          <a:xfrm rot="5318164">
            <a:off x="2120900" y="1911426"/>
            <a:ext cx="533400" cy="12700"/>
          </a:xfrm>
          <a:prstGeom prst="straightConnector1">
            <a:avLst/>
          </a:prstGeom>
          <a:solidFill>
            <a:srgbClr val="DEE0E3">
              <a:alpha val="100000"/>
            </a:srgbClr>
          </a:solidFill>
          <a:ln w="12700" cap="flat" cmpd="sng">
            <a:solidFill>
              <a:srgbClr val="1E3A8A">
                <a:alpha val="25000"/>
              </a:srgbClr>
            </a:solidFill>
            <a:prstDash val="solid"/>
            <a:round/>
            <a:headEnd type="none" w="med" len="med"/>
            <a:tailEnd type="none" w="med" len="med"/>
          </a:ln>
        </p:spPr>
      </p:cxnSp>
      <p:sp>
        <p:nvSpPr>
          <p:cNvPr id="8" name="AutoShape 8"/>
          <p:cNvSpPr/>
          <p:nvPr/>
        </p:nvSpPr>
        <p:spPr>
          <a:xfrm>
            <a:off x="2540000" y="1524000"/>
            <a:ext cx="9042400" cy="7874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334155"/>
                </a:solidFill>
                <a:latin typeface="Noto Sans SC"/>
                <a:ea typeface="Noto Sans SC"/>
                <a:cs typeface="Noto Sans SC"/>
                <a:sym typeface="Noto Sans SC"/>
              </a:rPr>
              <a:t>去除椒盐噪声与过小斑块,使结果符合地物连续性。</a:t>
            </a:r>
            <a:endParaRPr lang="en-US" sz="1100"/>
          </a:p>
        </p:txBody>
      </p:sp>
      <p:sp>
        <p:nvSpPr>
          <p:cNvPr id="9" name="AutoShape 9"/>
          <p:cNvSpPr/>
          <p:nvPr/>
        </p:nvSpPr>
        <p:spPr>
          <a:xfrm>
            <a:off x="508000" y="2438400"/>
            <a:ext cx="3683000" cy="26670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508000" y="2438400"/>
            <a:ext cx="50800" cy="2667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762000" y="2438400"/>
            <a:ext cx="3251200" cy="431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2000" b="1" i="0" u="none" strike="noStrike">
                <a:solidFill>
                  <a:srgbClr val="1E3A8A"/>
                </a:solidFill>
                <a:latin typeface="Noto Sans SC"/>
                <a:ea typeface="Noto Sans SC"/>
                <a:cs typeface="Noto Sans SC"/>
                <a:sym typeface="Noto Sans SC"/>
              </a:rPr>
              <a:t>方法要点</a:t>
            </a:r>
            <a:endParaRPr lang="en-US" sz="1100"/>
          </a:p>
        </p:txBody>
      </p:sp>
      <p:cxnSp>
        <p:nvCxnSpPr>
          <p:cNvPr id="12" name="Connector 12"/>
          <p:cNvCxnSpPr/>
          <p:nvPr/>
        </p:nvCxnSpPr>
        <p:spPr>
          <a:xfrm rot="-13534">
            <a:off x="762012" y="2914650"/>
            <a:ext cx="32258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13" name="AutoShape 13"/>
          <p:cNvSpPr/>
          <p:nvPr/>
        </p:nvSpPr>
        <p:spPr>
          <a:xfrm>
            <a:off x="762000" y="2997200"/>
            <a:ext cx="32512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500" b="1" i="0" u="none" strike="noStrike">
                <a:solidFill>
                  <a:srgbClr val="334155"/>
                </a:solidFill>
                <a:latin typeface="Noto Sans SC"/>
                <a:ea typeface="Noto Sans SC"/>
                <a:cs typeface="Noto Sans SC"/>
                <a:sym typeface="Noto Sans SC"/>
              </a:rPr>
              <a:t>形态学滤波</a:t>
            </a:r>
            <a:endParaRPr lang="en-US" sz="1100"/>
          </a:p>
        </p:txBody>
      </p:sp>
      <p:sp>
        <p:nvSpPr>
          <p:cNvPr id="14" name="AutoShape 14"/>
          <p:cNvSpPr/>
          <p:nvPr/>
        </p:nvSpPr>
        <p:spPr>
          <a:xfrm>
            <a:off x="762000" y="3302000"/>
            <a:ext cx="3251200" cy="609600"/>
          </a:xfrm>
          <a:prstGeom prst="rect">
            <a:avLst/>
          </a:prstGeom>
          <a:noFill/>
          <a:ln w="12700" cap="flat" cmpd="sng">
            <a:noFill/>
            <a:prstDash val="solid"/>
            <a:round/>
          </a:ln>
        </p:spPr>
        <p:txBody>
          <a:bodyPr vert="horz" wrap="square" lIns="0" tIns="0" rIns="0" bIns="0" rtlCol="0" anchor="t" anchorCtr="0"/>
          <a:lstStyle/>
          <a:p>
            <a:pPr marL="0" indent="0" algn="l">
              <a:lnSpc>
                <a:spcPct val="121000"/>
              </a:lnSpc>
              <a:defRPr/>
            </a:pPr>
            <a:r>
              <a:rPr lang="en-US" sz="1300" b="0" i="0" u="none" strike="noStrike">
                <a:solidFill>
                  <a:srgbClr val="475569"/>
                </a:solidFill>
                <a:latin typeface="Noto Sans SC"/>
                <a:ea typeface="Noto Sans SC"/>
                <a:cs typeface="Noto Sans SC"/>
                <a:sym typeface="Noto Sans SC"/>
              </a:rPr>
              <a:t>通过腐蚀、膨胀等操作去除小斑块。</a:t>
            </a:r>
            <a:endParaRPr lang="en-US" sz="1100"/>
          </a:p>
        </p:txBody>
      </p:sp>
      <p:sp>
        <p:nvSpPr>
          <p:cNvPr id="15" name="AutoShape 15"/>
          <p:cNvSpPr/>
          <p:nvPr/>
        </p:nvSpPr>
        <p:spPr>
          <a:xfrm>
            <a:off x="762000" y="4064000"/>
            <a:ext cx="32512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500" b="1" i="0" u="none" strike="noStrike">
                <a:solidFill>
                  <a:srgbClr val="334155"/>
                </a:solidFill>
                <a:latin typeface="Noto Sans SC"/>
                <a:ea typeface="Noto Sans SC"/>
                <a:cs typeface="Noto Sans SC"/>
                <a:sym typeface="Noto Sans SC"/>
              </a:rPr>
              <a:t>CRF(条件随机场)</a:t>
            </a:r>
            <a:endParaRPr lang="en-US" sz="1100"/>
          </a:p>
        </p:txBody>
      </p:sp>
      <p:sp>
        <p:nvSpPr>
          <p:cNvPr id="16" name="AutoShape 16"/>
          <p:cNvSpPr/>
          <p:nvPr/>
        </p:nvSpPr>
        <p:spPr>
          <a:xfrm>
            <a:off x="762000" y="4368800"/>
            <a:ext cx="3251200" cy="609600"/>
          </a:xfrm>
          <a:prstGeom prst="rect">
            <a:avLst/>
          </a:prstGeom>
          <a:noFill/>
          <a:ln w="12700" cap="flat" cmpd="sng">
            <a:noFill/>
            <a:prstDash val="solid"/>
            <a:round/>
          </a:ln>
        </p:spPr>
        <p:txBody>
          <a:bodyPr vert="horz" wrap="square" lIns="0" tIns="0" rIns="0" bIns="0" rtlCol="0" anchor="t" anchorCtr="0"/>
          <a:lstStyle/>
          <a:p>
            <a:pPr marL="0" indent="0" algn="l">
              <a:lnSpc>
                <a:spcPct val="121000"/>
              </a:lnSpc>
              <a:defRPr/>
            </a:pPr>
            <a:r>
              <a:rPr lang="en-US" sz="1300" b="0" i="0" u="none" strike="noStrike">
                <a:solidFill>
                  <a:srgbClr val="475569"/>
                </a:solidFill>
                <a:latin typeface="Noto Sans SC"/>
                <a:ea typeface="Noto Sans SC"/>
                <a:cs typeface="Noto Sans SC"/>
                <a:sym typeface="Noto Sans SC"/>
              </a:rPr>
              <a:t>利用像素间的上下文关系进行优化。</a:t>
            </a:r>
            <a:endParaRPr lang="en-US" sz="1100"/>
          </a:p>
        </p:txBody>
      </p:sp>
      <p:sp>
        <p:nvSpPr>
          <p:cNvPr id="17" name="AutoShape 17"/>
          <p:cNvSpPr/>
          <p:nvPr/>
        </p:nvSpPr>
        <p:spPr>
          <a:xfrm>
            <a:off x="4318000" y="2438400"/>
            <a:ext cx="3683000" cy="26670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4318000" y="2438400"/>
            <a:ext cx="50800" cy="2667000"/>
          </a:xfrm>
          <a:prstGeom prst="roundRect">
            <a:avLst>
              <a:gd name="adj" fmla="val 0"/>
            </a:avLst>
          </a:prstGeom>
          <a:solidFill>
            <a:srgbClr val="3B82F6">
              <a:alpha val="100000"/>
            </a:srgbClr>
          </a:solidFill>
          <a:ln cap="flat" cmpd="sng">
            <a:solidFill>
              <a:srgbClr val="1F67DD">
                <a:alpha val="10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4572000" y="2438400"/>
            <a:ext cx="3251200" cy="431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2000" b="1" i="0" u="none" strike="noStrike">
                <a:solidFill>
                  <a:srgbClr val="3B82F6"/>
                </a:solidFill>
                <a:latin typeface="Noto Sans SC"/>
                <a:ea typeface="Noto Sans SC"/>
                <a:cs typeface="Noto Sans SC"/>
                <a:sym typeface="Noto Sans SC"/>
              </a:rPr>
              <a:t>适用场景</a:t>
            </a:r>
            <a:endParaRPr lang="en-US" sz="1100"/>
          </a:p>
        </p:txBody>
      </p:sp>
      <p:cxnSp>
        <p:nvCxnSpPr>
          <p:cNvPr id="20" name="Connector 20"/>
          <p:cNvCxnSpPr/>
          <p:nvPr/>
        </p:nvCxnSpPr>
        <p:spPr>
          <a:xfrm rot="-13534">
            <a:off x="4572012" y="2914650"/>
            <a:ext cx="32258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21" name="AutoShape 21"/>
          <p:cNvSpPr/>
          <p:nvPr/>
        </p:nvSpPr>
        <p:spPr>
          <a:xfrm>
            <a:off x="4572000" y="2997200"/>
            <a:ext cx="3251200" cy="7112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475569"/>
                </a:solidFill>
                <a:latin typeface="Noto Sans SC"/>
                <a:ea typeface="Noto Sans SC"/>
                <a:cs typeface="Noto Sans SC"/>
                <a:sym typeface="Noto Sans SC"/>
              </a:rPr>
              <a:t>· 像素分类后处理</a:t>
            </a:r>
            <a:br>
              <a:rPr lang="en-US" sz="1400" b="0" i="0" u="none" strike="noStrike">
                <a:solidFill>
                  <a:srgbClr val="475569"/>
                </a:solidFill>
                <a:latin typeface="Noto Sans SC"/>
                <a:ea typeface="Noto Sans SC"/>
                <a:cs typeface="Noto Sans SC"/>
                <a:sym typeface="Noto Sans SC"/>
              </a:rPr>
            </a:br>
            <a:r>
              <a:rPr lang="en-US" sz="1400" b="0" i="0" u="none" strike="noStrike">
                <a:solidFill>
                  <a:srgbClr val="475569"/>
                </a:solidFill>
                <a:latin typeface="Noto Sans SC"/>
                <a:ea typeface="Noto Sans SC"/>
                <a:cs typeface="Noto Sans SC"/>
                <a:sym typeface="Noto Sans SC"/>
              </a:rPr>
              <a:t>· 验收图美化</a:t>
            </a:r>
            <a:endParaRPr lang="en-US" sz="1100"/>
          </a:p>
        </p:txBody>
      </p:sp>
      <p:cxnSp>
        <p:nvCxnSpPr>
          <p:cNvPr id="22" name="Connector 22"/>
          <p:cNvCxnSpPr/>
          <p:nvPr/>
        </p:nvCxnSpPr>
        <p:spPr>
          <a:xfrm rot="-13534">
            <a:off x="4572012" y="3778250"/>
            <a:ext cx="3225800" cy="12700"/>
          </a:xfrm>
          <a:prstGeom prst="straightConnector1">
            <a:avLst/>
          </a:prstGeom>
          <a:solidFill>
            <a:srgbClr val="DEE0E3">
              <a:alpha val="100000"/>
            </a:srgbClr>
          </a:solidFill>
          <a:ln w="12700" cap="flat" cmpd="sng">
            <a:solidFill>
              <a:srgbClr val="3B82F6">
                <a:alpha val="18000"/>
              </a:srgbClr>
            </a:solidFill>
            <a:prstDash val="solid"/>
            <a:round/>
            <a:headEnd type="none" w="med" len="med"/>
            <a:tailEnd type="none" w="med" len="med"/>
          </a:ln>
        </p:spPr>
      </p:cxnSp>
      <p:sp>
        <p:nvSpPr>
          <p:cNvPr id="23" name="AutoShape 23"/>
          <p:cNvSpPr/>
          <p:nvPr/>
        </p:nvSpPr>
        <p:spPr>
          <a:xfrm>
            <a:off x="4572000" y="3860800"/>
            <a:ext cx="32512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600" b="1" i="0" u="none" strike="noStrike">
                <a:solidFill>
                  <a:srgbClr val="3B82F6"/>
                </a:solidFill>
                <a:latin typeface="Noto Sans SC"/>
                <a:ea typeface="Noto Sans SC"/>
                <a:cs typeface="Noto Sans SC"/>
                <a:sym typeface="Noto Sans SC"/>
              </a:rPr>
              <a:t>业务价值</a:t>
            </a:r>
            <a:endParaRPr lang="en-US" sz="1100"/>
          </a:p>
        </p:txBody>
      </p:sp>
      <p:sp>
        <p:nvSpPr>
          <p:cNvPr id="24" name="AutoShape 24"/>
          <p:cNvSpPr/>
          <p:nvPr/>
        </p:nvSpPr>
        <p:spPr>
          <a:xfrm>
            <a:off x="4572000" y="4191000"/>
            <a:ext cx="3251200" cy="762000"/>
          </a:xfrm>
          <a:prstGeom prst="rect">
            <a:avLst/>
          </a:prstGeom>
          <a:noFill/>
          <a:ln w="12700" cap="flat" cmpd="sng">
            <a:noFill/>
            <a:prstDash val="solid"/>
            <a:round/>
          </a:ln>
        </p:spPr>
        <p:txBody>
          <a:bodyPr vert="horz" wrap="square" lIns="0" tIns="0" rIns="0" bIns="0" rtlCol="0" anchor="t" anchorCtr="0"/>
          <a:lstStyle/>
          <a:p>
            <a:pPr marL="0" indent="0" algn="l">
              <a:lnSpc>
                <a:spcPct val="121000"/>
              </a:lnSpc>
              <a:defRPr/>
            </a:pPr>
            <a:r>
              <a:rPr lang="en-US" sz="1300" b="0" i="0" u="none" strike="noStrike">
                <a:solidFill>
                  <a:srgbClr val="475569"/>
                </a:solidFill>
                <a:latin typeface="Noto Sans SC"/>
                <a:ea typeface="Noto Sans SC"/>
                <a:cs typeface="Noto Sans SC"/>
                <a:sym typeface="Noto Sans SC"/>
              </a:rPr>
              <a:t>提升分类图连续性与可读性,稳定后续面积统计。</a:t>
            </a:r>
            <a:endParaRPr lang="en-US" sz="1100"/>
          </a:p>
        </p:txBody>
      </p:sp>
      <p:sp>
        <p:nvSpPr>
          <p:cNvPr id="25" name="AutoShape 25"/>
          <p:cNvSpPr/>
          <p:nvPr/>
        </p:nvSpPr>
        <p:spPr>
          <a:xfrm>
            <a:off x="8128000" y="2438400"/>
            <a:ext cx="3683000" cy="26670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8128000" y="2438400"/>
            <a:ext cx="50800" cy="2667000"/>
          </a:xfrm>
          <a:prstGeom prst="roundRect">
            <a:avLst>
              <a:gd name="adj" fmla="val 0"/>
            </a:avLst>
          </a:prstGeom>
          <a:solidFill>
            <a:srgbClr val="EA580C">
              <a:alpha val="100000"/>
            </a:srgbClr>
          </a:solidFill>
          <a:ln cap="flat" cmpd="sng">
            <a:solidFill>
              <a:srgbClr val="D14700">
                <a:alpha val="100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8382000" y="2438400"/>
            <a:ext cx="3251200" cy="431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2000" b="1" i="0" u="none" strike="noStrike">
                <a:solidFill>
                  <a:srgbClr val="EA580C"/>
                </a:solidFill>
                <a:latin typeface="Noto Sans SC"/>
                <a:ea typeface="Noto Sans SC"/>
                <a:cs typeface="Noto Sans SC"/>
                <a:sym typeface="Noto Sans SC"/>
              </a:rPr>
              <a:t>缺失影响</a:t>
            </a:r>
            <a:endParaRPr lang="en-US" sz="1100"/>
          </a:p>
        </p:txBody>
      </p:sp>
      <p:cxnSp>
        <p:nvCxnSpPr>
          <p:cNvPr id="28" name="Connector 28"/>
          <p:cNvCxnSpPr/>
          <p:nvPr/>
        </p:nvCxnSpPr>
        <p:spPr>
          <a:xfrm rot="-13534">
            <a:off x="8382012" y="2914650"/>
            <a:ext cx="32258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29" name="AutoShape 29"/>
          <p:cNvSpPr/>
          <p:nvPr/>
        </p:nvSpPr>
        <p:spPr>
          <a:xfrm>
            <a:off x="8382000" y="3048000"/>
            <a:ext cx="32512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9000"/>
              </a:lnSpc>
              <a:defRPr/>
            </a:pPr>
            <a:r>
              <a:rPr lang="en-US" sz="1500" b="0" i="0" u="none" strike="noStrike">
                <a:solidFill>
                  <a:srgbClr val="334155"/>
                </a:solidFill>
                <a:latin typeface="Noto Sans SC"/>
                <a:ea typeface="Noto Sans SC"/>
                <a:cs typeface="Noto Sans SC"/>
                <a:sym typeface="Noto Sans SC"/>
              </a:rPr>
              <a:t>椒盐过多影响观感,干扰地块面积汇总。</a:t>
            </a:r>
            <a:endParaRPr lang="en-US" sz="1100"/>
          </a:p>
        </p:txBody>
      </p:sp>
      <p:sp>
        <p:nvSpPr>
          <p:cNvPr id="30" name="AutoShape 30"/>
          <p:cNvSpPr/>
          <p:nvPr/>
        </p:nvSpPr>
        <p:spPr>
          <a:xfrm>
            <a:off x="8382000" y="4191000"/>
            <a:ext cx="3251200" cy="787400"/>
          </a:xfrm>
          <a:prstGeom prst="roundRect">
            <a:avLst>
              <a:gd name="adj" fmla="val 0"/>
            </a:avLst>
          </a:prstGeom>
          <a:solidFill>
            <a:srgbClr val="EA580C">
              <a:alpha val="8000"/>
            </a:srgbClr>
          </a:solidFill>
          <a:ln cap="flat" cmpd="sng">
            <a:solidFill>
              <a:srgbClr val="D14700">
                <a:alpha val="8000"/>
              </a:srgbClr>
            </a:solidFill>
            <a:prstDash val="solid"/>
            <a:round/>
          </a:ln>
        </p:spPr>
        <p:txBody>
          <a:bodyPr vert="horz" wrap="square" lIns="63500" tIns="63500" rIns="63500" bIns="63500" rtlCol="0" anchor="ctr"/>
          <a:lstStyle/>
          <a:p>
            <a:pPr algn="ctr">
              <a:defRPr/>
            </a:pPr>
          </a:p>
        </p:txBody>
      </p:sp>
      <p:sp>
        <p:nvSpPr>
          <p:cNvPr id="31" name="AutoShape 31"/>
          <p:cNvSpPr/>
          <p:nvPr/>
        </p:nvSpPr>
        <p:spPr>
          <a:xfrm>
            <a:off x="8509000" y="4191000"/>
            <a:ext cx="2997200" cy="7874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1" i="0" u="none" strike="noStrike">
                <a:solidFill>
                  <a:srgbClr val="EA580C"/>
                </a:solidFill>
                <a:latin typeface="Noto Sans SC"/>
                <a:ea typeface="Noto Sans SC"/>
                <a:cs typeface="Noto Sans SC"/>
                <a:sym typeface="Noto Sans SC"/>
              </a:rPr>
              <a:t>风险提示 ·</a:t>
            </a:r>
            <a:r>
              <a:rPr lang="en-US" sz="1200" b="0" i="0" u="none" strike="noStrike">
                <a:solidFill>
                  <a:srgbClr val="475569"/>
                </a:solidFill>
                <a:latin typeface="Noto Sans SC"/>
                <a:ea typeface="Noto Sans SC"/>
                <a:cs typeface="Noto Sans SC"/>
                <a:sym typeface="Noto Sans SC"/>
              </a:rPr>
              <a:t>若跳过此步,面积统计结果将出现显著偏差。</a:t>
            </a:r>
            <a:endParaRPr lang="en-US" sz="1100"/>
          </a:p>
        </p:txBody>
      </p:sp>
      <p:sp>
        <p:nvSpPr>
          <p:cNvPr id="32" name="AutoShape 32"/>
          <p:cNvSpPr/>
          <p:nvPr/>
        </p:nvSpPr>
        <p:spPr>
          <a:xfrm>
            <a:off x="508000" y="5334000"/>
            <a:ext cx="11176000" cy="11430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33" name="AutoShape 33"/>
          <p:cNvSpPr/>
          <p:nvPr/>
        </p:nvSpPr>
        <p:spPr>
          <a:xfrm>
            <a:off x="762000" y="53340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400" b="1" i="0" u="none" strike="noStrike">
                <a:solidFill>
                  <a:srgbClr val="1E3A8A"/>
                </a:solidFill>
                <a:latin typeface="Noto Sans SC"/>
                <a:ea typeface="Noto Sans SC"/>
                <a:cs typeface="Noto Sans SC"/>
                <a:sym typeface="Noto Sans SC"/>
              </a:rPr>
              <a:t>流程位置</a:t>
            </a:r>
            <a:endParaRPr lang="en-US" sz="1100"/>
          </a:p>
        </p:txBody>
      </p:sp>
      <p:sp>
        <p:nvSpPr>
          <p:cNvPr id="34" name="AutoShape 34"/>
          <p:cNvSpPr/>
          <p:nvPr/>
        </p:nvSpPr>
        <p:spPr>
          <a:xfrm>
            <a:off x="762000" y="5664200"/>
            <a:ext cx="2540000" cy="5842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1300" b="0" i="0" u="none" strike="noStrike">
                <a:solidFill>
                  <a:srgbClr val="475569"/>
                </a:solidFill>
                <a:latin typeface="Noto Sans SC"/>
                <a:ea typeface="Noto Sans SC"/>
                <a:cs typeface="Noto Sans SC"/>
                <a:sym typeface="Noto Sans SC"/>
              </a:rPr>
              <a:t>L3→L4业务出口</a:t>
            </a:r>
            <a:endParaRPr lang="en-US" sz="1100"/>
          </a:p>
          <a:p>
            <a:pPr marL="0" indent="0" algn="l">
              <a:lnSpc>
                <a:spcPct val="108000"/>
              </a:lnSpc>
            </a:pPr>
            <a:r>
              <a:rPr lang="en-US" sz="1100" b="0" i="0" u="none" strike="noStrike">
                <a:solidFill>
                  <a:srgbClr val="64748B"/>
                </a:solidFill>
                <a:latin typeface="Noto Sans SC"/>
                <a:ea typeface="Noto Sans SC"/>
                <a:cs typeface="Noto Sans SC"/>
                <a:sym typeface="Noto Sans SC"/>
              </a:rPr>
              <a:t>承上启下的关键环节</a:t>
            </a:r>
            <a:endParaRPr lang="en-US" sz="1100" b="0" i="0" u="none" strike="noStrike">
              <a:solidFill>
                <a:srgbClr val="64748B"/>
              </a:solidFill>
              <a:latin typeface="Noto Sans SC"/>
              <a:ea typeface="Noto Sans SC"/>
              <a:cs typeface="Noto Sans SC"/>
              <a:sym typeface="Noto Sans SC"/>
            </a:endParaRPr>
          </a:p>
        </p:txBody>
      </p:sp>
      <p:cxnSp>
        <p:nvCxnSpPr>
          <p:cNvPr id="35" name="Connector 35"/>
          <p:cNvCxnSpPr/>
          <p:nvPr/>
        </p:nvCxnSpPr>
        <p:spPr>
          <a:xfrm rot="5350892">
            <a:off x="3009900" y="5899195"/>
            <a:ext cx="8890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36" name="AutoShape 36"/>
          <p:cNvSpPr/>
          <p:nvPr/>
        </p:nvSpPr>
        <p:spPr>
          <a:xfrm>
            <a:off x="3683000" y="5334000"/>
            <a:ext cx="48260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400" b="1" i="0" u="none" strike="noStrike">
                <a:solidFill>
                  <a:srgbClr val="1E3A8A"/>
                </a:solidFill>
                <a:latin typeface="Noto Sans SC"/>
                <a:ea typeface="Noto Sans SC"/>
                <a:cs typeface="Noto Sans SC"/>
                <a:sym typeface="Noto Sans SC"/>
              </a:rPr>
              <a:t>关联算法</a:t>
            </a:r>
            <a:endParaRPr lang="en-US" sz="1100"/>
          </a:p>
        </p:txBody>
      </p:sp>
      <p:sp>
        <p:nvSpPr>
          <p:cNvPr id="37" name="AutoShape 37"/>
          <p:cNvSpPr/>
          <p:nvPr/>
        </p:nvSpPr>
        <p:spPr>
          <a:xfrm>
            <a:off x="3683000" y="5715000"/>
            <a:ext cx="4826000" cy="533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475569"/>
                </a:solidFill>
                <a:latin typeface="Noto Sans SC"/>
                <a:ea typeface="Noto Sans SC"/>
                <a:cs typeface="Noto Sans SC"/>
                <a:sym typeface="Noto Sans SC"/>
              </a:rPr>
              <a:t>前置</a:t>
            </a:r>
            <a:r>
              <a:rPr lang="en-US" sz="1300" b="1" i="0" u="none" strike="noStrike">
                <a:solidFill>
                  <a:srgbClr val="3B82F6"/>
                </a:solidFill>
                <a:latin typeface="Noto Sans SC"/>
                <a:ea typeface="Noto Sans SC"/>
                <a:cs typeface="Noto Sans SC"/>
                <a:sym typeface="Noto Sans SC"/>
              </a:rPr>
              <a:t>#34-39分类/检测</a:t>
            </a:r>
            <a:r>
              <a:rPr lang="en-US" sz="1300" b="0" i="0" u="none" strike="noStrike">
                <a:solidFill>
                  <a:srgbClr val="475569"/>
                </a:solidFill>
                <a:latin typeface="Noto Sans SC"/>
                <a:ea typeface="Noto Sans SC"/>
                <a:cs typeface="Noto Sans SC"/>
                <a:sym typeface="Noto Sans SC"/>
              </a:rPr>
              <a:t>→ 后置</a:t>
            </a:r>
            <a:r>
              <a:rPr lang="en-US" sz="1300" b="1" i="0" u="none" strike="noStrike">
                <a:solidFill>
                  <a:srgbClr val="3B82F6"/>
                </a:solidFill>
                <a:latin typeface="Noto Sans SC"/>
                <a:ea typeface="Noto Sans SC"/>
                <a:cs typeface="Noto Sans SC"/>
                <a:sym typeface="Noto Sans SC"/>
              </a:rPr>
              <a:t>#45地块汇总</a:t>
            </a:r>
            <a:endParaRPr lang="en-US" sz="1100"/>
          </a:p>
        </p:txBody>
      </p:sp>
      <p:cxnSp>
        <p:nvCxnSpPr>
          <p:cNvPr id="38" name="Connector 38"/>
          <p:cNvCxnSpPr/>
          <p:nvPr/>
        </p:nvCxnSpPr>
        <p:spPr>
          <a:xfrm rot="5350892">
            <a:off x="8064500" y="5899195"/>
            <a:ext cx="889000" cy="12700"/>
          </a:xfrm>
          <a:prstGeom prst="straightConnector1">
            <a:avLst/>
          </a:prstGeom>
          <a:solidFill>
            <a:srgbClr val="DEE0E3">
              <a:alpha val="100000"/>
            </a:srgbClr>
          </a:solidFill>
          <a:ln w="12700" cap="flat" cmpd="sng">
            <a:solidFill>
              <a:srgbClr val="1E3A8A">
                <a:alpha val="18000"/>
              </a:srgbClr>
            </a:solidFill>
            <a:prstDash val="solid"/>
            <a:round/>
            <a:headEnd type="none" w="med" len="med"/>
            <a:tailEnd type="none" w="med" len="med"/>
          </a:ln>
        </p:spPr>
      </p:cxnSp>
      <p:sp>
        <p:nvSpPr>
          <p:cNvPr id="39" name="AutoShape 39"/>
          <p:cNvSpPr/>
          <p:nvPr/>
        </p:nvSpPr>
        <p:spPr>
          <a:xfrm>
            <a:off x="8763000" y="5334000"/>
            <a:ext cx="28956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400" b="1" i="0" u="none" strike="noStrike">
                <a:solidFill>
                  <a:srgbClr val="1E3A8A"/>
                </a:solidFill>
                <a:latin typeface="Noto Sans SC"/>
                <a:ea typeface="Noto Sans SC"/>
                <a:cs typeface="Noto Sans SC"/>
                <a:sym typeface="Noto Sans SC"/>
              </a:rPr>
              <a:t>调用API</a:t>
            </a:r>
            <a:endParaRPr lang="en-US" sz="1100"/>
          </a:p>
        </p:txBody>
      </p:sp>
      <p:sp>
        <p:nvSpPr>
          <p:cNvPr id="40" name="AutoShape 40"/>
          <p:cNvSpPr/>
          <p:nvPr/>
        </p:nvSpPr>
        <p:spPr>
          <a:xfrm>
            <a:off x="8763000" y="5715000"/>
            <a:ext cx="2895600" cy="533400"/>
          </a:xfrm>
          <a:prstGeom prst="roundRect">
            <a:avLst>
              <a:gd name="adj" fmla="val 0"/>
            </a:avLst>
          </a:prstGeom>
          <a:solidFill>
            <a:srgbClr val="1E3A8A">
              <a:alpha val="10000"/>
            </a:srgbClr>
          </a:solidFill>
          <a:ln cap="flat" cmpd="sng">
            <a:solidFill>
              <a:srgbClr val="0D2771">
                <a:alpha val="10000"/>
              </a:srgbClr>
            </a:solidFill>
            <a:prstDash val="solid"/>
            <a:round/>
          </a:ln>
        </p:spPr>
        <p:txBody>
          <a:bodyPr vert="horz" wrap="square" lIns="63500" tIns="63500" rIns="63500" bIns="63500" rtlCol="0" anchor="ctr"/>
          <a:lstStyle/>
          <a:p>
            <a:pPr algn="ctr">
              <a:defRPr/>
            </a:pPr>
          </a:p>
        </p:txBody>
      </p:sp>
      <p:sp>
        <p:nvSpPr>
          <p:cNvPr id="41" name="AutoShape 41"/>
          <p:cNvSpPr/>
          <p:nvPr/>
        </p:nvSpPr>
        <p:spPr>
          <a:xfrm>
            <a:off x="8763000" y="5715000"/>
            <a:ext cx="2895600" cy="533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100" b="0" i="0" u="none" strike="noStrike" spc="30">
                <a:solidFill>
                  <a:srgbClr val="1E3A8A"/>
                </a:solidFill>
                <a:latin typeface="Noto Sans SC"/>
                <a:ea typeface="Noto Sans SC"/>
                <a:cs typeface="Noto Sans SC"/>
                <a:sym typeface="Noto Sans SC"/>
              </a:rPr>
              <a:t>/api/v1/44_postprocessing_smooth/run</a:t>
            </a:r>
            <a:endParaRPr lang="en-US" sz="11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55600"/>
            <a:ext cx="11176000" cy="5842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2800" b="1" i="0" u="none" strike="noStrike" spc="100">
                <a:solidFill>
                  <a:srgbClr val="1E3A8A"/>
                </a:solidFill>
                <a:latin typeface="Noto Sans SC"/>
                <a:ea typeface="Noto Sans SC"/>
                <a:cs typeface="Noto Sans SC"/>
                <a:sym typeface="Noto Sans SC"/>
              </a:rPr>
              <a:t>地块汇总、专题制图与业务告警</a:t>
            </a:r>
            <a:r>
              <a:rPr lang="en-US" sz="2000" b="0" i="0" u="none" strike="noStrike" spc="100">
                <a:solidFill>
                  <a:srgbClr val="64748B"/>
                </a:solidFill>
                <a:latin typeface="Noto Sans SC"/>
                <a:ea typeface="Noto Sans SC"/>
                <a:cs typeface="Noto Sans SC"/>
                <a:sym typeface="Noto Sans SC"/>
              </a:rPr>
              <a:t>(L4核心)</a:t>
            </a:r>
            <a:endParaRPr lang="en-US" sz="1100"/>
          </a:p>
        </p:txBody>
      </p:sp>
      <p:sp>
        <p:nvSpPr>
          <p:cNvPr id="3" name="AutoShape 3"/>
          <p:cNvSpPr/>
          <p:nvPr/>
        </p:nvSpPr>
        <p:spPr>
          <a:xfrm>
            <a:off x="508000" y="965200"/>
            <a:ext cx="11176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300" b="0" i="0" u="none" strike="noStrike">
                <a:solidFill>
                  <a:srgbClr val="475569"/>
                </a:solidFill>
                <a:latin typeface="Noto Sans SC"/>
                <a:ea typeface="Noto Sans SC"/>
                <a:cs typeface="Noto Sans SC"/>
                <a:sym typeface="Noto Sans SC"/>
              </a:rPr>
              <a:t>所属层级:L4 ｜ 编号#45 ｜ 辅导材料:算法清单与API</a:t>
            </a:r>
            <a:endParaRPr lang="en-US" sz="1100"/>
          </a:p>
        </p:txBody>
      </p:sp>
      <p:cxnSp>
        <p:nvCxnSpPr>
          <p:cNvPr id="4" name="Connector 4"/>
          <p:cNvCxnSpPr/>
          <p:nvPr/>
        </p:nvCxnSpPr>
        <p:spPr>
          <a:xfrm rot="-3906">
            <a:off x="508004" y="1339850"/>
            <a:ext cx="11176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5" name="AutoShape 5"/>
          <p:cNvSpPr/>
          <p:nvPr/>
        </p:nvSpPr>
        <p:spPr>
          <a:xfrm>
            <a:off x="508000" y="1498600"/>
            <a:ext cx="1397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6400" b="1" i="0" u="none" strike="noStrike">
                <a:solidFill>
                  <a:srgbClr val="1E3A8A">
                    <a:alpha val="12941"/>
                  </a:srgbClr>
                </a:solidFill>
                <a:latin typeface="Noto Sans SC"/>
                <a:ea typeface="Noto Sans SC"/>
                <a:cs typeface="Noto Sans SC"/>
                <a:sym typeface="Noto Sans SC"/>
              </a:rPr>
              <a:t>45</a:t>
            </a:r>
            <a:endParaRPr lang="en-US" sz="1100"/>
          </a:p>
        </p:txBody>
      </p:sp>
      <p:sp>
        <p:nvSpPr>
          <p:cNvPr id="6" name="AutoShape 6"/>
          <p:cNvSpPr/>
          <p:nvPr/>
        </p:nvSpPr>
        <p:spPr>
          <a:xfrm>
            <a:off x="2032000" y="1498600"/>
            <a:ext cx="6223000" cy="9652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2032000" y="1498600"/>
            <a:ext cx="50800" cy="9652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2235200" y="1498600"/>
            <a:ext cx="5842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600" b="1" i="0" u="none" strike="noStrike">
                <a:solidFill>
                  <a:srgbClr val="1E3A8A"/>
                </a:solidFill>
                <a:latin typeface="Noto Sans SC"/>
                <a:ea typeface="Noto Sans SC"/>
                <a:cs typeface="Noto Sans SC"/>
                <a:sym typeface="Noto Sans SC"/>
              </a:rPr>
              <a:t>功能定义</a:t>
            </a:r>
            <a:endParaRPr lang="en-US" sz="1100"/>
          </a:p>
        </p:txBody>
      </p:sp>
      <p:sp>
        <p:nvSpPr>
          <p:cNvPr id="9" name="AutoShape 9"/>
          <p:cNvSpPr/>
          <p:nvPr/>
        </p:nvSpPr>
        <p:spPr>
          <a:xfrm>
            <a:off x="2235200" y="1803400"/>
            <a:ext cx="5969000" cy="6096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34155"/>
                </a:solidFill>
                <a:latin typeface="Noto Sans SC"/>
                <a:ea typeface="Noto Sans SC"/>
                <a:cs typeface="Noto Sans SC"/>
                <a:sym typeface="Noto Sans SC"/>
              </a:rPr>
              <a:t>把像素级结果变成「人眼/拍板」的亩数、占比、告警和建议。</a:t>
            </a:r>
            <a:endParaRPr lang="en-US" sz="1100"/>
          </a:p>
        </p:txBody>
      </p:sp>
      <p:sp>
        <p:nvSpPr>
          <p:cNvPr id="10" name="AutoShape 10"/>
          <p:cNvSpPr/>
          <p:nvPr/>
        </p:nvSpPr>
        <p:spPr>
          <a:xfrm>
            <a:off x="2032000" y="2565400"/>
            <a:ext cx="6223000" cy="9652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2032000" y="2565400"/>
            <a:ext cx="50800" cy="9652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2235200" y="2565400"/>
            <a:ext cx="5842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600" b="1" i="0" u="none" strike="noStrike">
                <a:solidFill>
                  <a:srgbClr val="1E3A8A"/>
                </a:solidFill>
                <a:latin typeface="Noto Sans SC"/>
                <a:ea typeface="Noto Sans SC"/>
                <a:cs typeface="Noto Sans SC"/>
                <a:sym typeface="Noto Sans SC"/>
              </a:rPr>
              <a:t>方法要点</a:t>
            </a:r>
            <a:endParaRPr lang="en-US" sz="1100"/>
          </a:p>
        </p:txBody>
      </p:sp>
      <p:sp>
        <p:nvSpPr>
          <p:cNvPr id="13" name="AutoShape 13"/>
          <p:cNvSpPr/>
          <p:nvPr/>
        </p:nvSpPr>
        <p:spPr>
          <a:xfrm>
            <a:off x="2235200" y="2870200"/>
            <a:ext cx="5969000" cy="6096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34155"/>
                </a:solidFill>
                <a:latin typeface="Noto Sans SC"/>
                <a:ea typeface="Noto Sans SC"/>
                <a:cs typeface="Noto Sans SC"/>
                <a:sym typeface="Noto Sans SC"/>
              </a:rPr>
              <a:t>以地块矢量为界,对分类/指数栅格做分区统计,结合阈值生成报表与告警。</a:t>
            </a:r>
            <a:endParaRPr lang="en-US" sz="1100"/>
          </a:p>
        </p:txBody>
      </p:sp>
      <p:sp>
        <p:nvSpPr>
          <p:cNvPr id="14" name="AutoShape 14"/>
          <p:cNvSpPr/>
          <p:nvPr/>
        </p:nvSpPr>
        <p:spPr>
          <a:xfrm>
            <a:off x="2032000" y="3632200"/>
            <a:ext cx="6223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600" b="1" i="0" u="none" strike="noStrike">
                <a:solidFill>
                  <a:srgbClr val="1E3A8A"/>
                </a:solidFill>
                <a:latin typeface="Noto Sans SC"/>
                <a:ea typeface="Noto Sans SC"/>
                <a:cs typeface="Noto Sans SC"/>
                <a:sym typeface="Noto Sans SC"/>
              </a:rPr>
              <a:t>适用场景</a:t>
            </a:r>
            <a:endParaRPr lang="en-US" sz="1100"/>
          </a:p>
        </p:txBody>
      </p:sp>
      <p:sp>
        <p:nvSpPr>
          <p:cNvPr id="15" name="AutoShape 15"/>
          <p:cNvSpPr/>
          <p:nvPr/>
        </p:nvSpPr>
        <p:spPr>
          <a:xfrm>
            <a:off x="2032000" y="3962400"/>
            <a:ext cx="1460500" cy="431800"/>
          </a:xfrm>
          <a:prstGeom prst="roundRect">
            <a:avLst>
              <a:gd name="adj" fmla="val 0"/>
            </a:avLst>
          </a:prstGeom>
          <a:solidFill>
            <a:srgbClr val="DBEAFE">
              <a:alpha val="100000"/>
            </a:srgbClr>
          </a:solidFill>
          <a:ln cap="flat" cmpd="sng">
            <a:solidFill>
              <a:srgbClr val="AEC5E5">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2032000" y="3962400"/>
            <a:ext cx="1460500" cy="4318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300" b="0" i="0" u="none" strike="noStrike">
                <a:solidFill>
                  <a:srgbClr val="1E3A8A"/>
                </a:solidFill>
                <a:latin typeface="Noto Sans SC"/>
                <a:ea typeface="Noto Sans SC"/>
                <a:cs typeface="Noto Sans SC"/>
                <a:sym typeface="Noto Sans SC"/>
              </a:rPr>
              <a:t>业务汇报</a:t>
            </a:r>
            <a:endParaRPr lang="en-US" sz="1100"/>
          </a:p>
        </p:txBody>
      </p:sp>
      <p:sp>
        <p:nvSpPr>
          <p:cNvPr id="17" name="AutoShape 17"/>
          <p:cNvSpPr/>
          <p:nvPr/>
        </p:nvSpPr>
        <p:spPr>
          <a:xfrm>
            <a:off x="3581400" y="3962400"/>
            <a:ext cx="1460500" cy="431800"/>
          </a:xfrm>
          <a:prstGeom prst="roundRect">
            <a:avLst>
              <a:gd name="adj" fmla="val 0"/>
            </a:avLst>
          </a:prstGeom>
          <a:solidFill>
            <a:srgbClr val="DBEAFE">
              <a:alpha val="100000"/>
            </a:srgbClr>
          </a:solidFill>
          <a:ln cap="flat" cmpd="sng">
            <a:solidFill>
              <a:srgbClr val="AEC5E5">
                <a:alpha val="10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3581400" y="3962400"/>
            <a:ext cx="1460500" cy="4318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300" b="0" i="0" u="none" strike="noStrike">
                <a:solidFill>
                  <a:srgbClr val="1E3A8A"/>
                </a:solidFill>
                <a:latin typeface="Noto Sans SC"/>
                <a:ea typeface="Noto Sans SC"/>
                <a:cs typeface="Noto Sans SC"/>
                <a:sym typeface="Noto Sans SC"/>
              </a:rPr>
              <a:t>农事App</a:t>
            </a:r>
            <a:endParaRPr lang="en-US" sz="1100"/>
          </a:p>
        </p:txBody>
      </p:sp>
      <p:sp>
        <p:nvSpPr>
          <p:cNvPr id="19" name="AutoShape 19"/>
          <p:cNvSpPr/>
          <p:nvPr/>
        </p:nvSpPr>
        <p:spPr>
          <a:xfrm>
            <a:off x="5130800" y="3962400"/>
            <a:ext cx="1460500" cy="431800"/>
          </a:xfrm>
          <a:prstGeom prst="roundRect">
            <a:avLst>
              <a:gd name="adj" fmla="val 0"/>
            </a:avLst>
          </a:prstGeom>
          <a:solidFill>
            <a:srgbClr val="DBEAFE">
              <a:alpha val="100000"/>
            </a:srgbClr>
          </a:solidFill>
          <a:ln cap="flat" cmpd="sng">
            <a:solidFill>
              <a:srgbClr val="AEC5E5">
                <a:alpha val="10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5130800" y="3962400"/>
            <a:ext cx="1460500" cy="4318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300" b="0" i="0" u="none" strike="noStrike">
                <a:solidFill>
                  <a:srgbClr val="1E3A8A"/>
                </a:solidFill>
                <a:latin typeface="Noto Sans SC"/>
                <a:ea typeface="Noto Sans SC"/>
                <a:cs typeface="Noto Sans SC"/>
                <a:sym typeface="Noto Sans SC"/>
              </a:rPr>
              <a:t>补贴核对</a:t>
            </a:r>
            <a:endParaRPr lang="en-US" sz="1100"/>
          </a:p>
        </p:txBody>
      </p:sp>
      <p:sp>
        <p:nvSpPr>
          <p:cNvPr id="21" name="AutoShape 21"/>
          <p:cNvSpPr/>
          <p:nvPr/>
        </p:nvSpPr>
        <p:spPr>
          <a:xfrm>
            <a:off x="2032000" y="4470400"/>
            <a:ext cx="2032000" cy="431800"/>
          </a:xfrm>
          <a:prstGeom prst="roundRect">
            <a:avLst>
              <a:gd name="adj" fmla="val 0"/>
            </a:avLst>
          </a:prstGeom>
          <a:solidFill>
            <a:srgbClr val="DBEAFE">
              <a:alpha val="100000"/>
            </a:srgbClr>
          </a:solidFill>
          <a:ln cap="flat" cmpd="sng">
            <a:solidFill>
              <a:srgbClr val="AEC5E5">
                <a:alpha val="10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2032000" y="4470400"/>
            <a:ext cx="2032000" cy="4318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300" b="0" i="0" u="none" strike="noStrike">
                <a:solidFill>
                  <a:srgbClr val="1E3A8A"/>
                </a:solidFill>
                <a:latin typeface="Noto Sans SC"/>
                <a:ea typeface="Noto Sans SC"/>
                <a:cs typeface="Noto Sans SC"/>
                <a:sym typeface="Noto Sans SC"/>
              </a:rPr>
              <a:t>产量预估输入</a:t>
            </a:r>
            <a:endParaRPr lang="en-US" sz="1100"/>
          </a:p>
        </p:txBody>
      </p:sp>
      <p:sp>
        <p:nvSpPr>
          <p:cNvPr id="23" name="AutoShape 23"/>
          <p:cNvSpPr/>
          <p:nvPr/>
        </p:nvSpPr>
        <p:spPr>
          <a:xfrm>
            <a:off x="8509000" y="1498600"/>
            <a:ext cx="3200400" cy="14986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8509000" y="1498600"/>
            <a:ext cx="50800" cy="14986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8712200" y="1498600"/>
            <a:ext cx="29210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600" b="1" i="0" u="none" strike="noStrike">
                <a:solidFill>
                  <a:srgbClr val="1E3A8A"/>
                </a:solidFill>
                <a:latin typeface="Noto Sans SC"/>
                <a:ea typeface="Noto Sans SC"/>
                <a:cs typeface="Noto Sans SC"/>
                <a:sym typeface="Noto Sans SC"/>
              </a:rPr>
              <a:t>业务价值</a:t>
            </a:r>
            <a:endParaRPr lang="en-US" sz="1100"/>
          </a:p>
        </p:txBody>
      </p:sp>
      <p:sp>
        <p:nvSpPr>
          <p:cNvPr id="26" name="AutoShape 26"/>
          <p:cNvSpPr/>
          <p:nvPr/>
        </p:nvSpPr>
        <p:spPr>
          <a:xfrm>
            <a:off x="8712200" y="1854200"/>
            <a:ext cx="2946400" cy="889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300" b="0" i="0" u="none" strike="noStrike">
                <a:solidFill>
                  <a:srgbClr val="334155"/>
                </a:solidFill>
                <a:latin typeface="Noto Sans SC"/>
                <a:ea typeface="Noto Sans SC"/>
                <a:cs typeface="Noto Sans SC"/>
                <a:sym typeface="Noto Sans SC"/>
              </a:rPr>
              <a:t>将像素级结果转换为面积、占比、告警列表等可对接到业务系统的决策产品。</a:t>
            </a:r>
            <a:endParaRPr lang="en-US" sz="1100"/>
          </a:p>
        </p:txBody>
      </p:sp>
      <p:sp>
        <p:nvSpPr>
          <p:cNvPr id="27" name="AutoShape 27"/>
          <p:cNvSpPr/>
          <p:nvPr/>
        </p:nvSpPr>
        <p:spPr>
          <a:xfrm>
            <a:off x="8509000" y="3048000"/>
            <a:ext cx="3200400" cy="1498600"/>
          </a:xfrm>
          <a:prstGeom prst="roundRect">
            <a:avLst>
              <a:gd name="adj" fmla="val 0"/>
            </a:avLst>
          </a:prstGeom>
          <a:solidFill>
            <a:srgbClr val="EF4444">
              <a:alpha val="6000"/>
            </a:srgbClr>
          </a:solidFill>
          <a:ln cap="flat" cmpd="sng">
            <a:solidFill>
              <a:srgbClr val="D52727">
                <a:alpha val="6000"/>
              </a:srgbClr>
            </a:solidFill>
            <a:prstDash val="solid"/>
            <a:round/>
          </a:ln>
        </p:spPr>
        <p:txBody>
          <a:bodyPr vert="horz" wrap="square" lIns="63500" tIns="63500" rIns="63500" bIns="63500" rtlCol="0" anchor="ctr"/>
          <a:lstStyle/>
          <a:p>
            <a:pPr algn="ctr">
              <a:defRPr/>
            </a:pPr>
          </a:p>
        </p:txBody>
      </p:sp>
      <p:sp>
        <p:nvSpPr>
          <p:cNvPr id="28" name="AutoShape 28"/>
          <p:cNvSpPr/>
          <p:nvPr/>
        </p:nvSpPr>
        <p:spPr>
          <a:xfrm>
            <a:off x="8509000" y="3048000"/>
            <a:ext cx="50800" cy="1498600"/>
          </a:xfrm>
          <a:prstGeom prst="roundRect">
            <a:avLst>
              <a:gd name="adj" fmla="val 0"/>
            </a:avLst>
          </a:prstGeom>
          <a:solidFill>
            <a:srgbClr val="EF4444">
              <a:alpha val="100000"/>
            </a:srgbClr>
          </a:solidFill>
          <a:ln cap="flat" cmpd="sng">
            <a:solidFill>
              <a:srgbClr val="D52727">
                <a:alpha val="100000"/>
              </a:srgbClr>
            </a:solidFill>
            <a:prstDash val="solid"/>
            <a:round/>
          </a:ln>
        </p:spPr>
        <p:txBody>
          <a:bodyPr vert="horz" wrap="square" lIns="63500" tIns="63500" rIns="63500" bIns="63500" rtlCol="0" anchor="ctr"/>
          <a:lstStyle/>
          <a:p>
            <a:pPr algn="ctr">
              <a:defRPr/>
            </a:pPr>
          </a:p>
        </p:txBody>
      </p:sp>
      <p:sp>
        <p:nvSpPr>
          <p:cNvPr id="29" name="AutoShape 29"/>
          <p:cNvSpPr/>
          <p:nvPr/>
        </p:nvSpPr>
        <p:spPr>
          <a:xfrm>
            <a:off x="8712200" y="3048000"/>
            <a:ext cx="29210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600" b="1" i="0" u="none" strike="noStrike">
                <a:solidFill>
                  <a:srgbClr val="EF4444"/>
                </a:solidFill>
                <a:latin typeface="Noto Sans SC"/>
                <a:ea typeface="Noto Sans SC"/>
                <a:cs typeface="Noto Sans SC"/>
                <a:sym typeface="Noto Sans SC"/>
              </a:rPr>
              <a:t>缺失影响</a:t>
            </a:r>
            <a:endParaRPr lang="en-US" sz="1100"/>
          </a:p>
        </p:txBody>
      </p:sp>
      <p:sp>
        <p:nvSpPr>
          <p:cNvPr id="30" name="AutoShape 30"/>
          <p:cNvSpPr/>
          <p:nvPr/>
        </p:nvSpPr>
        <p:spPr>
          <a:xfrm>
            <a:off x="8712200" y="3403600"/>
            <a:ext cx="2946400" cy="889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300" b="0" i="0" u="none" strike="noStrike">
                <a:solidFill>
                  <a:srgbClr val="334155"/>
                </a:solidFill>
                <a:latin typeface="Noto Sans SC"/>
                <a:ea typeface="Noto Sans SC"/>
                <a:cs typeface="Noto Sans SC"/>
                <a:sym typeface="Noto Sans SC"/>
              </a:rPr>
              <a:t>缺少汇总结果停留在技术图,难以进入业务系统与管理流程。</a:t>
            </a:r>
            <a:endParaRPr lang="en-US" sz="1100"/>
          </a:p>
        </p:txBody>
      </p:sp>
      <p:cxnSp>
        <p:nvCxnSpPr>
          <p:cNvPr id="31" name="Connector 31"/>
          <p:cNvCxnSpPr/>
          <p:nvPr/>
        </p:nvCxnSpPr>
        <p:spPr>
          <a:xfrm rot="-3906">
            <a:off x="508004" y="5200650"/>
            <a:ext cx="11176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32" name="AutoShape 32"/>
          <p:cNvSpPr/>
          <p:nvPr/>
        </p:nvSpPr>
        <p:spPr>
          <a:xfrm>
            <a:off x="508000" y="5334000"/>
            <a:ext cx="6350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500" b="1" i="0" u="none" strike="noStrike">
                <a:solidFill>
                  <a:srgbClr val="1E3A8A"/>
                </a:solidFill>
                <a:latin typeface="Noto Sans SC"/>
                <a:ea typeface="Noto Sans SC"/>
                <a:cs typeface="Noto Sans SC"/>
                <a:sym typeface="Noto Sans SC"/>
              </a:rPr>
              <a:t>流程位置与关联</a:t>
            </a:r>
            <a:endParaRPr lang="en-US" sz="1100"/>
          </a:p>
        </p:txBody>
      </p:sp>
      <p:sp>
        <p:nvSpPr>
          <p:cNvPr id="33" name="AutoShape 33"/>
          <p:cNvSpPr/>
          <p:nvPr/>
        </p:nvSpPr>
        <p:spPr>
          <a:xfrm>
            <a:off x="508000" y="5715000"/>
            <a:ext cx="6350000" cy="5842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300" b="0" i="0" u="none" strike="noStrike">
                <a:solidFill>
                  <a:srgbClr val="475569"/>
                </a:solidFill>
                <a:latin typeface="Noto Sans SC"/>
                <a:ea typeface="Noto Sans SC"/>
                <a:cs typeface="Noto Sans SC"/>
                <a:sym typeface="Noto Sans SC"/>
              </a:rPr>
              <a:t>环节:L3→L4业务出口 ｜ 关联:</a:t>
            </a:r>
            <a:r>
              <a:rPr lang="en-US" sz="1300" b="1" i="0" u="none" strike="noStrike">
                <a:solidFill>
                  <a:srgbClr val="1E3A8A"/>
                </a:solidFill>
                <a:latin typeface="Noto Sans SC"/>
                <a:ea typeface="Noto Sans SC"/>
                <a:cs typeface="Noto Sans SC"/>
                <a:sym typeface="Noto Sans SC"/>
              </a:rPr>
              <a:t>#34-39分类/检测</a:t>
            </a:r>
            <a:r>
              <a:rPr lang="en-US" sz="1300" b="0" i="0" u="none" strike="noStrike">
                <a:solidFill>
                  <a:srgbClr val="475569"/>
                </a:solidFill>
                <a:latin typeface="Noto Sans SC"/>
                <a:ea typeface="Noto Sans SC"/>
                <a:cs typeface="Noto Sans SC"/>
                <a:sym typeface="Noto Sans SC"/>
              </a:rPr>
              <a:t>,</a:t>
            </a:r>
            <a:r>
              <a:rPr lang="en-US" sz="1300" b="1" i="0" u="none" strike="noStrike">
                <a:solidFill>
                  <a:srgbClr val="1E3A8A"/>
                </a:solidFill>
                <a:latin typeface="Noto Sans SC"/>
                <a:ea typeface="Noto Sans SC"/>
                <a:cs typeface="Noto Sans SC"/>
                <a:sym typeface="Noto Sans SC"/>
              </a:rPr>
              <a:t>#27-33指数/反演</a:t>
            </a:r>
            <a:endParaRPr lang="en-US" sz="1100"/>
          </a:p>
        </p:txBody>
      </p:sp>
      <p:sp>
        <p:nvSpPr>
          <p:cNvPr id="34" name="AutoShape 34"/>
          <p:cNvSpPr/>
          <p:nvPr/>
        </p:nvSpPr>
        <p:spPr>
          <a:xfrm>
            <a:off x="7112000" y="5334000"/>
            <a:ext cx="4572000" cy="1016000"/>
          </a:xfrm>
          <a:prstGeom prst="roundRect">
            <a:avLst>
              <a:gd name="adj" fmla="val 0"/>
            </a:avLst>
          </a:prstGeom>
          <a:gradFill rotWithShape="1">
            <a:gsLst>
              <a:gs pos="0">
                <a:srgbClr val="1E3A8A">
                  <a:alpha val="9000"/>
                </a:srgbClr>
              </a:gs>
              <a:gs pos="100000">
                <a:srgbClr val="1E3A8A">
                  <a:alpha val="3000"/>
                </a:srgbClr>
              </a:gs>
            </a:gsLst>
            <a:lin ang="0"/>
          </a:gradFill>
          <a:ln cap="flat" cmpd="sng">
            <a:gradFill rotWithShape="1">
              <a:gsLst>
                <a:gs pos="0">
                  <a:srgbClr val="0D2771">
                    <a:alpha val="9000"/>
                  </a:srgbClr>
                </a:gs>
                <a:gs pos="100000">
                  <a:srgbClr val="0D2771">
                    <a:alpha val="3000"/>
                  </a:srgbClr>
                </a:gs>
              </a:gsLst>
              <a:lin ang="0"/>
            </a:gradFill>
            <a:prstDash val="solid"/>
            <a:round/>
          </a:ln>
        </p:spPr>
        <p:txBody>
          <a:bodyPr vert="horz" wrap="square" lIns="63500" tIns="63500" rIns="63500" bIns="63500" rtlCol="0" anchor="ctr"/>
          <a:lstStyle/>
          <a:p>
            <a:pPr algn="ctr">
              <a:defRPr/>
            </a:pPr>
          </a:p>
        </p:txBody>
      </p:sp>
      <p:sp>
        <p:nvSpPr>
          <p:cNvPr id="35" name="AutoShape 35"/>
          <p:cNvSpPr/>
          <p:nvPr/>
        </p:nvSpPr>
        <p:spPr>
          <a:xfrm>
            <a:off x="7112000" y="5334000"/>
            <a:ext cx="50800" cy="1016000"/>
          </a:xfrm>
          <a:prstGeom prst="roundRect">
            <a:avLst>
              <a:gd name="adj" fmla="val 0"/>
            </a:avLst>
          </a:prstGeom>
          <a:solidFill>
            <a:srgbClr val="F59E0B">
              <a:alpha val="100000"/>
            </a:srgbClr>
          </a:solidFill>
          <a:ln cap="flat" cmpd="sng">
            <a:solidFill>
              <a:srgbClr val="DC8A00">
                <a:alpha val="100000"/>
              </a:srgbClr>
            </a:solidFill>
            <a:prstDash val="solid"/>
            <a:round/>
          </a:ln>
        </p:spPr>
        <p:txBody>
          <a:bodyPr vert="horz" wrap="square" lIns="63500" tIns="63500" rIns="63500" bIns="63500" rtlCol="0" anchor="ctr"/>
          <a:lstStyle/>
          <a:p>
            <a:pPr algn="ctr">
              <a:defRPr/>
            </a:pPr>
          </a:p>
        </p:txBody>
      </p:sp>
      <p:sp>
        <p:nvSpPr>
          <p:cNvPr id="36" name="AutoShape 36"/>
          <p:cNvSpPr/>
          <p:nvPr/>
        </p:nvSpPr>
        <p:spPr>
          <a:xfrm>
            <a:off x="7366000" y="5359400"/>
            <a:ext cx="41910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1" i="0" u="none" strike="noStrike" spc="100">
                <a:solidFill>
                  <a:srgbClr val="F59E0B"/>
                </a:solidFill>
                <a:latin typeface="Noto Sans SC"/>
                <a:ea typeface="Noto Sans SC"/>
                <a:cs typeface="Noto Sans SC"/>
                <a:sym typeface="Noto Sans SC"/>
              </a:rPr>
              <a:t>[API]</a:t>
            </a:r>
            <a:endParaRPr lang="en-US" sz="1100"/>
          </a:p>
        </p:txBody>
      </p:sp>
      <p:sp>
        <p:nvSpPr>
          <p:cNvPr id="37" name="AutoShape 37"/>
          <p:cNvSpPr/>
          <p:nvPr/>
        </p:nvSpPr>
        <p:spPr>
          <a:xfrm>
            <a:off x="7366000" y="5664200"/>
            <a:ext cx="4254500" cy="5842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1400" b="1" i="0" u="none" strike="noStrike">
                <a:solidFill>
                  <a:srgbClr val="1E3A8A"/>
                </a:solidFill>
                <a:latin typeface="Noto Sans SC"/>
                <a:ea typeface="Noto Sans SC"/>
                <a:cs typeface="Noto Sans SC"/>
                <a:sym typeface="Noto Sans SC"/>
              </a:rPr>
              <a:t>/api/v1/45_parcel_zonal_statrun</a:t>
            </a:r>
            <a:endParaRPr lang="en-US" sz="11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381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800" b="0" i="0" u="none" strike="noStrike" spc="300">
                <a:solidFill>
                  <a:srgbClr val="64748B"/>
                </a:solidFill>
                <a:latin typeface="Noto Sans SC"/>
                <a:ea typeface="Noto Sans SC"/>
                <a:cs typeface="Noto Sans SC"/>
                <a:sym typeface="Noto Sans SC"/>
              </a:rPr>
              <a:t>第三部分 服务能力与对接</a:t>
            </a:r>
            <a:endParaRPr lang="en-US" sz="1100"/>
          </a:p>
        </p:txBody>
      </p:sp>
      <p:sp>
        <p:nvSpPr>
          <p:cNvPr id="3" name="AutoShape 3"/>
          <p:cNvSpPr/>
          <p:nvPr/>
        </p:nvSpPr>
        <p:spPr>
          <a:xfrm>
            <a:off x="508000" y="889000"/>
            <a:ext cx="11176000" cy="6604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2800" b="1" i="0" u="none" strike="noStrike" spc="200">
                <a:solidFill>
                  <a:srgbClr val="1E3A8A"/>
                </a:solidFill>
                <a:latin typeface="Noto Sans SC"/>
                <a:ea typeface="Noto Sans SC"/>
                <a:cs typeface="Noto Sans SC"/>
                <a:sym typeface="Noto Sans SC"/>
              </a:rPr>
              <a:t>统一HTTP入口,业务文件格式入出</a:t>
            </a:r>
            <a:endParaRPr lang="en-US" sz="1100"/>
          </a:p>
        </p:txBody>
      </p:sp>
      <p:sp>
        <p:nvSpPr>
          <p:cNvPr id="4" name="AutoShape 4"/>
          <p:cNvSpPr/>
          <p:nvPr/>
        </p:nvSpPr>
        <p:spPr>
          <a:xfrm>
            <a:off x="508000" y="1778000"/>
            <a:ext cx="6731000" cy="4064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200" b="1" i="0" u="none" strike="noStrike">
                <a:solidFill>
                  <a:srgbClr val="1E293B"/>
                </a:solidFill>
                <a:latin typeface="Noto Sans SC"/>
                <a:ea typeface="Noto Sans SC"/>
                <a:cs typeface="Noto Sans SC"/>
                <a:sym typeface="Noto Sans SC"/>
              </a:rPr>
              <a:t>服务定位与解决的问题</a:t>
            </a:r>
            <a:endParaRPr lang="en-US" sz="1100"/>
          </a:p>
        </p:txBody>
      </p:sp>
      <p:sp>
        <p:nvSpPr>
          <p:cNvPr id="5" name="AutoShape 5"/>
          <p:cNvSpPr/>
          <p:nvPr/>
        </p:nvSpPr>
        <p:spPr>
          <a:xfrm>
            <a:off x="508000" y="2286000"/>
            <a:ext cx="50800" cy="914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2286000"/>
            <a:ext cx="6477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600" b="1" i="0" u="none" strike="noStrike">
                <a:solidFill>
                  <a:srgbClr val="1E3A8A"/>
                </a:solidFill>
                <a:latin typeface="Noto Sans SC"/>
                <a:ea typeface="Noto Sans SC"/>
                <a:cs typeface="Noto Sans SC"/>
                <a:sym typeface="Noto Sans SC"/>
              </a:rPr>
              <a:t>定位:</a:t>
            </a:r>
            <a:endParaRPr lang="en-US" sz="1100"/>
          </a:p>
        </p:txBody>
      </p:sp>
      <p:sp>
        <p:nvSpPr>
          <p:cNvPr id="7" name="AutoShape 7"/>
          <p:cNvSpPr/>
          <p:nvPr/>
        </p:nvSpPr>
        <p:spPr>
          <a:xfrm>
            <a:off x="762000" y="2667000"/>
            <a:ext cx="6477000" cy="5842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34155"/>
                </a:solidFill>
                <a:latin typeface="Noto Sans SC"/>
                <a:ea typeface="Noto Sans SC"/>
                <a:cs typeface="Noto Sans SC"/>
                <a:sym typeface="Noto Sans SC"/>
              </a:rPr>
              <a:t>高光谱算法能力的统一HTTP服务(单进程、一算法一目录)。</a:t>
            </a:r>
            <a:endParaRPr lang="en-US" sz="1100"/>
          </a:p>
        </p:txBody>
      </p:sp>
      <p:cxnSp>
        <p:nvCxnSpPr>
          <p:cNvPr id="8" name="Connector 8"/>
          <p:cNvCxnSpPr/>
          <p:nvPr/>
        </p:nvCxnSpPr>
        <p:spPr>
          <a:xfrm rot="-6740">
            <a:off x="508006" y="3321050"/>
            <a:ext cx="6477000" cy="12700"/>
          </a:xfrm>
          <a:prstGeom prst="straightConnector1">
            <a:avLst/>
          </a:prstGeom>
          <a:solidFill>
            <a:srgbClr val="DEE0E3">
              <a:alpha val="100000"/>
            </a:srgbClr>
          </a:solidFill>
          <a:ln w="12700" cap="flat" cmpd="sng">
            <a:solidFill>
              <a:srgbClr val="94A3B8">
                <a:alpha val="35000"/>
              </a:srgbClr>
            </a:solidFill>
            <a:prstDash val="solid"/>
            <a:round/>
            <a:headEnd type="none" w="med" len="med"/>
            <a:tailEnd type="none" w="med" len="med"/>
          </a:ln>
        </p:spPr>
      </p:cxnSp>
      <p:sp>
        <p:nvSpPr>
          <p:cNvPr id="9" name="AutoShape 9"/>
          <p:cNvSpPr/>
          <p:nvPr/>
        </p:nvSpPr>
        <p:spPr>
          <a:xfrm>
            <a:off x="508000" y="3429000"/>
            <a:ext cx="6731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600" b="1" i="0" u="none" strike="noStrike">
                <a:solidFill>
                  <a:srgbClr val="1E3A8A"/>
                </a:solidFill>
                <a:latin typeface="Noto Sans SC"/>
                <a:ea typeface="Noto Sans SC"/>
                <a:cs typeface="Noto Sans SC"/>
                <a:sym typeface="Noto Sans SC"/>
              </a:rPr>
              <a:t>解决的问题:</a:t>
            </a:r>
            <a:endParaRPr lang="en-US" sz="1100"/>
          </a:p>
        </p:txBody>
      </p:sp>
      <p:sp>
        <p:nvSpPr>
          <p:cNvPr id="10" name="AutoShape 10"/>
          <p:cNvSpPr/>
          <p:nvPr/>
        </p:nvSpPr>
        <p:spPr>
          <a:xfrm>
            <a:off x="508000" y="3860800"/>
            <a:ext cx="50800" cy="685800"/>
          </a:xfrm>
          <a:prstGeom prst="roundRect">
            <a:avLst>
              <a:gd name="adj" fmla="val 0"/>
            </a:avLst>
          </a:prstGeom>
          <a:solidFill>
            <a:srgbClr val="1E3A8A">
              <a:alpha val="35000"/>
            </a:srgbClr>
          </a:solidFill>
          <a:ln cap="flat" cmpd="sng">
            <a:solidFill>
              <a:srgbClr val="0D2771">
                <a:alpha val="35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762000" y="3860800"/>
            <a:ext cx="6477000" cy="685800"/>
          </a:xfrm>
          <a:prstGeom prst="rect">
            <a:avLst/>
          </a:prstGeom>
          <a:noFill/>
          <a:ln w="12700" cap="flat" cmpd="sng">
            <a:noFill/>
            <a:prstDash val="solid"/>
            <a:round/>
          </a:ln>
        </p:spPr>
        <p:txBody>
          <a:bodyPr vert="horz" wrap="square" lIns="0" tIns="0" rIns="0" bIns="0" rtlCol="0" anchor="ctr"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业务系统无需各自实现遥感算法,通过标准文件与接口调用即可。</a:t>
            </a:r>
            <a:endParaRPr lang="en-US" sz="1100"/>
          </a:p>
        </p:txBody>
      </p:sp>
      <p:sp>
        <p:nvSpPr>
          <p:cNvPr id="12" name="AutoShape 12"/>
          <p:cNvSpPr/>
          <p:nvPr/>
        </p:nvSpPr>
        <p:spPr>
          <a:xfrm>
            <a:off x="508000" y="4572000"/>
            <a:ext cx="50800" cy="685800"/>
          </a:xfrm>
          <a:prstGeom prst="roundRect">
            <a:avLst>
              <a:gd name="adj" fmla="val 0"/>
            </a:avLst>
          </a:prstGeom>
          <a:solidFill>
            <a:srgbClr val="1E3A8A">
              <a:alpha val="35000"/>
            </a:srgbClr>
          </a:solidFill>
          <a:ln cap="flat" cmpd="sng">
            <a:solidFill>
              <a:srgbClr val="0D2771">
                <a:alpha val="35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762000" y="4572000"/>
            <a:ext cx="6477000" cy="685800"/>
          </a:xfrm>
          <a:prstGeom prst="rect">
            <a:avLst/>
          </a:prstGeom>
          <a:noFill/>
          <a:ln w="12700" cap="flat" cmpd="sng">
            <a:noFill/>
            <a:prstDash val="solid"/>
            <a:round/>
          </a:ln>
        </p:spPr>
        <p:txBody>
          <a:bodyPr vert="horz" wrap="square" lIns="0" tIns="0" rIns="0" bIns="0" rtlCol="0" anchor="ctr"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培训与联调统一入口:清单编号+目录+API一一对应。</a:t>
            </a:r>
            <a:endParaRPr lang="en-US" sz="1100"/>
          </a:p>
        </p:txBody>
      </p:sp>
      <p:sp>
        <p:nvSpPr>
          <p:cNvPr id="14" name="AutoShape 14"/>
          <p:cNvSpPr/>
          <p:nvPr/>
        </p:nvSpPr>
        <p:spPr>
          <a:xfrm>
            <a:off x="508000" y="5283200"/>
            <a:ext cx="50800" cy="685800"/>
          </a:xfrm>
          <a:prstGeom prst="roundRect">
            <a:avLst>
              <a:gd name="adj" fmla="val 0"/>
            </a:avLst>
          </a:prstGeom>
          <a:solidFill>
            <a:srgbClr val="1E3A8A">
              <a:alpha val="35000"/>
            </a:srgbClr>
          </a:solidFill>
          <a:ln cap="flat" cmpd="sng">
            <a:solidFill>
              <a:srgbClr val="0D2771">
                <a:alpha val="35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762000" y="5283200"/>
            <a:ext cx="6477000" cy="685800"/>
          </a:xfrm>
          <a:prstGeom prst="rect">
            <a:avLst/>
          </a:prstGeom>
          <a:noFill/>
          <a:ln w="12700" cap="flat" cmpd="sng">
            <a:noFill/>
            <a:prstDash val="solid"/>
            <a:round/>
          </a:ln>
        </p:spPr>
        <p:txBody>
          <a:bodyPr vert="horz" wrap="square" lIns="0" tIns="0" rIns="0" bIns="0" rtlCol="0" anchor="ctr"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先以数字实现打通闭环,再按优先级将骨架算法补齐到生产线。</a:t>
            </a:r>
            <a:endParaRPr lang="en-US" sz="1100"/>
          </a:p>
        </p:txBody>
      </p:sp>
      <p:sp>
        <p:nvSpPr>
          <p:cNvPr id="16" name="AutoShape 16"/>
          <p:cNvSpPr/>
          <p:nvPr/>
        </p:nvSpPr>
        <p:spPr>
          <a:xfrm>
            <a:off x="7620000" y="1778000"/>
            <a:ext cx="4064000" cy="4064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200" b="1" i="0" u="none" strike="noStrike">
                <a:solidFill>
                  <a:srgbClr val="1E293B"/>
                </a:solidFill>
                <a:latin typeface="Noto Sans SC"/>
                <a:ea typeface="Noto Sans SC"/>
                <a:cs typeface="Noto Sans SC"/>
                <a:sym typeface="Noto Sans SC"/>
              </a:rPr>
              <a:t>调用形态</a:t>
            </a:r>
            <a:endParaRPr lang="en-US" sz="1100"/>
          </a:p>
        </p:txBody>
      </p:sp>
      <p:sp>
        <p:nvSpPr>
          <p:cNvPr id="17" name="AutoShape 17"/>
          <p:cNvSpPr/>
          <p:nvPr/>
        </p:nvSpPr>
        <p:spPr>
          <a:xfrm>
            <a:off x="7620000" y="2286000"/>
            <a:ext cx="4064000" cy="1397000"/>
          </a:xfrm>
          <a:prstGeom prst="roundRect">
            <a:avLst>
              <a:gd name="adj" fmla="val 0"/>
            </a:avLst>
          </a:prstGeom>
          <a:gradFill rotWithShape="1">
            <a:gsLst>
              <a:gs pos="0">
                <a:srgbClr val="38BDF8">
                  <a:alpha val="14000"/>
                </a:srgbClr>
              </a:gs>
              <a:gs pos="100000">
                <a:srgbClr val="38BDF8">
                  <a:alpha val="3000"/>
                </a:srgbClr>
              </a:gs>
            </a:gsLst>
            <a:lin ang="2700000"/>
          </a:gradFill>
          <a:ln cap="flat" cmpd="sng">
            <a:gradFill rotWithShape="1">
              <a:gsLst>
                <a:gs pos="0">
                  <a:srgbClr val="1CA3DF">
                    <a:alpha val="14000"/>
                  </a:srgbClr>
                </a:gs>
                <a:gs pos="100000">
                  <a:srgbClr val="1CA3DF">
                    <a:alpha val="3000"/>
                  </a:srgbClr>
                </a:gs>
              </a:gsLst>
              <a:lin ang="2700000"/>
            </a:gradFill>
            <a:prstDash val="solid"/>
            <a:round/>
          </a:ln>
        </p:spPr>
        <p:txBody>
          <a:bodyPr vert="horz" wrap="square" lIns="63500" tIns="63500" rIns="63500" bIns="63500" rtlCol="0" anchor="ctr"/>
          <a:lstStyle/>
          <a:p>
            <a:pPr algn="ctr">
              <a:defRPr/>
            </a:pPr>
          </a:p>
        </p:txBody>
      </p:sp>
      <p:sp>
        <p:nvSpPr>
          <p:cNvPr id="18" name="AutoShape 18"/>
          <p:cNvSpPr/>
          <p:nvPr/>
        </p:nvSpPr>
        <p:spPr>
          <a:xfrm>
            <a:off x="7620000" y="2286000"/>
            <a:ext cx="50800" cy="1397000"/>
          </a:xfrm>
          <a:prstGeom prst="roundRect">
            <a:avLst>
              <a:gd name="adj" fmla="val 0"/>
            </a:avLst>
          </a:prstGeom>
          <a:solidFill>
            <a:srgbClr val="38BDF8">
              <a:alpha val="100000"/>
            </a:srgbClr>
          </a:solidFill>
          <a:ln cap="flat" cmpd="sng">
            <a:solidFill>
              <a:srgbClr val="1CA3DF">
                <a:alpha val="10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7848600" y="2336800"/>
            <a:ext cx="3683000" cy="381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上传</a:t>
            </a:r>
            <a:endParaRPr lang="en-US" sz="1100"/>
          </a:p>
        </p:txBody>
      </p:sp>
      <p:sp>
        <p:nvSpPr>
          <p:cNvPr id="20" name="AutoShape 20"/>
          <p:cNvSpPr/>
          <p:nvPr/>
        </p:nvSpPr>
        <p:spPr>
          <a:xfrm>
            <a:off x="7848600" y="2794000"/>
            <a:ext cx="3683000" cy="762000"/>
          </a:xfrm>
          <a:prstGeom prst="rect">
            <a:avLst/>
          </a:prstGeom>
          <a:noFill/>
          <a:ln w="12700" cap="flat" cmpd="sng">
            <a:noFill/>
            <a:prstDash val="solid"/>
            <a:round/>
          </a:ln>
        </p:spPr>
        <p:txBody>
          <a:bodyPr vert="horz" wrap="square" lIns="0" tIns="0" rIns="0" bIns="0" rtlCol="0" anchor="t" anchorCtr="0"/>
          <a:lstStyle/>
          <a:p>
            <a:pPr marL="0" indent="0" algn="l">
              <a:lnSpc>
                <a:spcPct val="121000"/>
              </a:lnSpc>
              <a:defRPr/>
            </a:pPr>
            <a:r>
              <a:rPr lang="en-US" sz="1500" b="0" i="0" u="none" strike="noStrike">
                <a:solidFill>
                  <a:srgbClr val="475569"/>
                </a:solidFill>
                <a:latin typeface="Noto Sans SC"/>
                <a:ea typeface="Noto Sans SC"/>
                <a:cs typeface="Noto Sans SC"/>
                <a:sym typeface="Noto Sans SC"/>
              </a:rPr>
              <a:t>GeoTIFF / GeoJSON / CSV</a:t>
            </a:r>
            <a:endParaRPr lang="en-US" sz="1100"/>
          </a:p>
        </p:txBody>
      </p:sp>
      <p:sp>
        <p:nvSpPr>
          <p:cNvPr id="21" name="AutoShape 21"/>
          <p:cNvSpPr/>
          <p:nvPr/>
        </p:nvSpPr>
        <p:spPr>
          <a:xfrm>
            <a:off x="7620000" y="3810000"/>
            <a:ext cx="4064000" cy="1397000"/>
          </a:xfrm>
          <a:prstGeom prst="roundRect">
            <a:avLst>
              <a:gd name="adj" fmla="val 0"/>
            </a:avLst>
          </a:prstGeom>
          <a:gradFill rotWithShape="1">
            <a:gsLst>
              <a:gs pos="0">
                <a:srgbClr val="1E3A8A">
                  <a:alpha val="10000"/>
                </a:srgbClr>
              </a:gs>
              <a:gs pos="100000">
                <a:srgbClr val="1E3A8A">
                  <a:alpha val="2000"/>
                </a:srgbClr>
              </a:gs>
            </a:gsLst>
            <a:lin ang="2700000"/>
          </a:gradFill>
          <a:ln cap="flat" cmpd="sng">
            <a:gradFill rotWithShape="1">
              <a:gsLst>
                <a:gs pos="0">
                  <a:srgbClr val="0D2771">
                    <a:alpha val="10000"/>
                  </a:srgbClr>
                </a:gs>
                <a:gs pos="100000">
                  <a:srgbClr val="0D2771">
                    <a:alpha val="2000"/>
                  </a:srgbClr>
                </a:gs>
              </a:gsLst>
              <a:lin ang="2700000"/>
            </a:gradFill>
            <a:prstDash val="solid"/>
            <a:round/>
          </a:ln>
        </p:spPr>
        <p:txBody>
          <a:bodyPr vert="horz" wrap="square" lIns="63500" tIns="63500" rIns="63500" bIns="63500" rtlCol="0" anchor="ctr"/>
          <a:lstStyle/>
          <a:p>
            <a:pPr algn="ctr">
              <a:defRPr/>
            </a:pPr>
          </a:p>
        </p:txBody>
      </p:sp>
      <p:sp>
        <p:nvSpPr>
          <p:cNvPr id="22" name="AutoShape 22"/>
          <p:cNvSpPr/>
          <p:nvPr/>
        </p:nvSpPr>
        <p:spPr>
          <a:xfrm>
            <a:off x="7620000" y="3810000"/>
            <a:ext cx="50800" cy="1397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7848600" y="3860800"/>
            <a:ext cx="3683000" cy="381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800" b="1" i="0" u="none" strike="noStrike">
                <a:solidFill>
                  <a:srgbClr val="1E3A8A"/>
                </a:solidFill>
                <a:latin typeface="Noto Sans SC"/>
                <a:ea typeface="Noto Sans SC"/>
                <a:cs typeface="Noto Sans SC"/>
                <a:sym typeface="Noto Sans SC"/>
              </a:rPr>
              <a:t>返回</a:t>
            </a:r>
            <a:endParaRPr lang="en-US" sz="1100"/>
          </a:p>
        </p:txBody>
      </p:sp>
      <p:sp>
        <p:nvSpPr>
          <p:cNvPr id="24" name="AutoShape 24"/>
          <p:cNvSpPr/>
          <p:nvPr/>
        </p:nvSpPr>
        <p:spPr>
          <a:xfrm>
            <a:off x="7848600" y="4318000"/>
            <a:ext cx="3683000" cy="762000"/>
          </a:xfrm>
          <a:prstGeom prst="rect">
            <a:avLst/>
          </a:prstGeom>
          <a:noFill/>
          <a:ln w="12700" cap="flat" cmpd="sng">
            <a:noFill/>
            <a:prstDash val="solid"/>
            <a:round/>
          </a:ln>
        </p:spPr>
        <p:txBody>
          <a:bodyPr vert="horz" wrap="square" lIns="0" tIns="0" rIns="0" bIns="0" rtlCol="0" anchor="t" anchorCtr="0"/>
          <a:lstStyle/>
          <a:p>
            <a:pPr marL="0" indent="0" algn="l">
              <a:lnSpc>
                <a:spcPct val="121000"/>
              </a:lnSpc>
              <a:defRPr/>
            </a:pPr>
            <a:r>
              <a:rPr lang="en-US" sz="1500" b="1" i="0" u="none" strike="noStrike">
                <a:solidFill>
                  <a:srgbClr val="1E3A8A"/>
                </a:solidFill>
                <a:latin typeface="Noto Sans SC"/>
                <a:ea typeface="Noto Sans SC"/>
                <a:cs typeface="Noto Sans SC"/>
                <a:sym typeface="Noto Sans SC"/>
              </a:rPr>
              <a:t>JSON</a:t>
            </a:r>
            <a:r>
              <a:rPr lang="en-US" sz="1400" b="0" i="0" u="none" strike="noStrike">
                <a:solidFill>
                  <a:srgbClr val="475569"/>
                </a:solidFill>
                <a:latin typeface="Noto Sans SC"/>
                <a:ea typeface="Noto Sans SC"/>
                <a:cs typeface="Noto Sans SC"/>
                <a:sym typeface="Noto Sans SC"/>
              </a:rPr>
              <a:t>(含统计与产物路径)</a:t>
            </a:r>
            <a:endParaRPr lang="en-US" sz="1100"/>
          </a:p>
        </p:txBody>
      </p:sp>
      <p:sp>
        <p:nvSpPr>
          <p:cNvPr id="25" name="AutoShape 25"/>
          <p:cNvSpPr/>
          <p:nvPr/>
        </p:nvSpPr>
        <p:spPr>
          <a:xfrm>
            <a:off x="7620000" y="5359400"/>
            <a:ext cx="4064000" cy="838200"/>
          </a:xfrm>
          <a:prstGeom prst="roundRect">
            <a:avLst>
              <a:gd name="adj" fmla="val 0"/>
            </a:avLst>
          </a:prstGeom>
          <a:solidFill>
            <a:srgbClr val="1E3A8A">
              <a:alpha val="8000"/>
            </a:srgbClr>
          </a:solidFill>
          <a:ln cap="flat" cmpd="sng">
            <a:solidFill>
              <a:srgbClr val="0D2771">
                <a:alpha val="8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7620000" y="5359400"/>
            <a:ext cx="50800" cy="8382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7848600" y="5384800"/>
            <a:ext cx="3683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300" b="1" i="0" u="none" strike="noStrike">
                <a:solidFill>
                  <a:srgbClr val="1E3A8A"/>
                </a:solidFill>
                <a:latin typeface="Noto Sans SC"/>
                <a:ea typeface="Noto Sans SC"/>
                <a:cs typeface="Noto Sans SC"/>
                <a:sym typeface="Noto Sans SC"/>
              </a:rPr>
              <a:t>交互文档</a:t>
            </a:r>
            <a:endParaRPr lang="en-US" sz="1100"/>
          </a:p>
        </p:txBody>
      </p:sp>
      <p:sp>
        <p:nvSpPr>
          <p:cNvPr id="28" name="AutoShape 28"/>
          <p:cNvSpPr/>
          <p:nvPr/>
        </p:nvSpPr>
        <p:spPr>
          <a:xfrm>
            <a:off x="7848600" y="5715000"/>
            <a:ext cx="3746500" cy="406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500" b="1" i="0" u="none" strike="noStrike">
                <a:solidFill>
                  <a:srgbClr val="38BDF8"/>
                </a:solidFill>
                <a:latin typeface="Noto Sans SC"/>
                <a:ea typeface="Noto Sans SC"/>
                <a:cs typeface="Noto Sans SC"/>
                <a:sym typeface="Noto Sans SC"/>
              </a:rPr>
              <a:t>http://服务地址:28800/docs</a:t>
            </a:r>
            <a:endParaRPr lang="en-US" sz="11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985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3200" b="1" i="0" u="none" strike="noStrike" spc="100">
                <a:solidFill>
                  <a:srgbClr val="1E3A8A"/>
                </a:solidFill>
                <a:latin typeface="Noto Sans SC"/>
                <a:ea typeface="Noto Sans SC"/>
                <a:cs typeface="Noto Sans SC"/>
                <a:sym typeface="Noto Sans SC"/>
              </a:rPr>
              <a:t>对不同角色的价值</a:t>
            </a:r>
            <a:endParaRPr lang="en-US" sz="1100"/>
          </a:p>
        </p:txBody>
      </p:sp>
      <p:sp>
        <p:nvSpPr>
          <p:cNvPr id="3" name="AutoShape 3"/>
          <p:cNvSpPr/>
          <p:nvPr/>
        </p:nvSpPr>
        <p:spPr>
          <a:xfrm>
            <a:off x="508000" y="1117600"/>
            <a:ext cx="11176000" cy="381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800" b="0" i="0" u="none" strike="noStrike">
                <a:solidFill>
                  <a:srgbClr val="475569"/>
                </a:solidFill>
                <a:latin typeface="Noto Sans SC"/>
                <a:ea typeface="Noto Sans SC"/>
                <a:cs typeface="Noto Sans SC"/>
                <a:sym typeface="Noto Sans SC"/>
              </a:rPr>
              <a:t>同一套能力,面向业务、产品与算法三类读者</a:t>
            </a:r>
            <a:endParaRPr lang="en-US" sz="1100"/>
          </a:p>
        </p:txBody>
      </p:sp>
      <p:sp>
        <p:nvSpPr>
          <p:cNvPr id="4" name="AutoShape 4"/>
          <p:cNvSpPr/>
          <p:nvPr/>
        </p:nvSpPr>
        <p:spPr>
          <a:xfrm>
            <a:off x="508000" y="1651000"/>
            <a:ext cx="3683000" cy="43180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508000" y="1651000"/>
            <a:ext cx="50800" cy="4318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1752600"/>
            <a:ext cx="3175000" cy="508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200" b="1" i="0" u="none" strike="noStrike">
                <a:solidFill>
                  <a:srgbClr val="1E3A8A"/>
                </a:solidFill>
                <a:latin typeface="Noto Sans SC"/>
                <a:ea typeface="Noto Sans SC"/>
                <a:cs typeface="Noto Sans SC"/>
                <a:sym typeface="Noto Sans SC"/>
              </a:rPr>
              <a:t>业务与管理</a:t>
            </a:r>
            <a:endParaRPr lang="en-US" sz="1100"/>
          </a:p>
        </p:txBody>
      </p:sp>
      <p:sp>
        <p:nvSpPr>
          <p:cNvPr id="7" name="AutoShape 7"/>
          <p:cNvSpPr/>
          <p:nvPr/>
        </p:nvSpPr>
        <p:spPr>
          <a:xfrm>
            <a:off x="762000" y="2311400"/>
            <a:ext cx="3200400" cy="1041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将光谱观测转化为分类图、长势图、面积与告警。支撑灾情监测、作物一键摸底等应用场景,降低对单一算法专家的路径依赖。</a:t>
            </a:r>
            <a:endParaRPr lang="en-US" sz="1100"/>
          </a:p>
        </p:txBody>
      </p:sp>
      <p:cxnSp>
        <p:nvCxnSpPr>
          <p:cNvPr id="8" name="Connector 8"/>
          <p:cNvCxnSpPr/>
          <p:nvPr/>
        </p:nvCxnSpPr>
        <p:spPr>
          <a:xfrm rot="-13750">
            <a:off x="762013" y="3448050"/>
            <a:ext cx="3175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9" name="AutoShape 9"/>
          <p:cNvSpPr/>
          <p:nvPr/>
        </p:nvSpPr>
        <p:spPr>
          <a:xfrm>
            <a:off x="762000" y="3556000"/>
            <a:ext cx="3200400" cy="3302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200" b="1" i="0" u="none" strike="noStrike" spc="200">
                <a:solidFill>
                  <a:srgbClr val="1E3A8A"/>
                </a:solidFill>
                <a:latin typeface="Noto Sans SC"/>
                <a:ea typeface="Noto Sans SC"/>
                <a:cs typeface="Noto Sans SC"/>
                <a:sym typeface="Noto Sans SC"/>
              </a:rPr>
              <a:t>验收关注</a:t>
            </a:r>
            <a:endParaRPr lang="en-US" sz="1100"/>
          </a:p>
        </p:txBody>
      </p:sp>
      <p:sp>
        <p:nvSpPr>
          <p:cNvPr id="10" name="AutoShape 10"/>
          <p:cNvSpPr/>
          <p:nvPr/>
        </p:nvSpPr>
        <p:spPr>
          <a:xfrm>
            <a:off x="762000" y="3975100"/>
            <a:ext cx="38100" cy="279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914400" y="3937000"/>
            <a:ext cx="3022600" cy="3556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400" b="0" i="0" u="none" strike="noStrike">
                <a:solidFill>
                  <a:srgbClr val="334155"/>
                </a:solidFill>
                <a:latin typeface="Noto Sans SC"/>
                <a:ea typeface="Noto Sans SC"/>
                <a:cs typeface="Noto Sans SC"/>
                <a:sym typeface="Noto Sans SC"/>
              </a:rPr>
              <a:t>专题图可读性</a:t>
            </a:r>
            <a:endParaRPr lang="en-US" sz="1100"/>
          </a:p>
        </p:txBody>
      </p:sp>
      <p:sp>
        <p:nvSpPr>
          <p:cNvPr id="12" name="AutoShape 12"/>
          <p:cNvSpPr/>
          <p:nvPr/>
        </p:nvSpPr>
        <p:spPr>
          <a:xfrm>
            <a:off x="762000" y="4445000"/>
            <a:ext cx="38100" cy="279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914400" y="4406900"/>
            <a:ext cx="3022600" cy="3556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400" b="0" i="0" u="none" strike="noStrike">
                <a:solidFill>
                  <a:srgbClr val="334155"/>
                </a:solidFill>
                <a:latin typeface="Noto Sans SC"/>
                <a:ea typeface="Noto Sans SC"/>
                <a:cs typeface="Noto Sans SC"/>
                <a:sym typeface="Noto Sans SC"/>
              </a:rPr>
              <a:t>面积可核对</a:t>
            </a:r>
            <a:endParaRPr lang="en-US" sz="1100"/>
          </a:p>
        </p:txBody>
      </p:sp>
      <p:sp>
        <p:nvSpPr>
          <p:cNvPr id="14" name="AutoShape 14"/>
          <p:cNvSpPr/>
          <p:nvPr/>
        </p:nvSpPr>
        <p:spPr>
          <a:xfrm>
            <a:off x="762000" y="4914900"/>
            <a:ext cx="38100" cy="279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914400" y="4876800"/>
            <a:ext cx="3022600" cy="3556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400" b="0" i="0" u="none" strike="noStrike">
                <a:solidFill>
                  <a:srgbClr val="334155"/>
                </a:solidFill>
                <a:latin typeface="Noto Sans SC"/>
                <a:ea typeface="Noto Sans SC"/>
                <a:cs typeface="Noto Sans SC"/>
                <a:sym typeface="Noto Sans SC"/>
              </a:rPr>
              <a:t>告警可执行</a:t>
            </a:r>
            <a:endParaRPr lang="en-US" sz="1100"/>
          </a:p>
        </p:txBody>
      </p:sp>
      <p:sp>
        <p:nvSpPr>
          <p:cNvPr id="16" name="AutoShape 16"/>
          <p:cNvSpPr/>
          <p:nvPr/>
        </p:nvSpPr>
        <p:spPr>
          <a:xfrm>
            <a:off x="4381500" y="1651000"/>
            <a:ext cx="3683000" cy="43180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4381500" y="1651000"/>
            <a:ext cx="50800" cy="4318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4635500" y="1752600"/>
            <a:ext cx="3238500" cy="508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200" b="1" i="0" u="none" strike="noStrike">
                <a:solidFill>
                  <a:srgbClr val="1E3A8A"/>
                </a:solidFill>
                <a:latin typeface="Noto Sans SC"/>
                <a:ea typeface="Noto Sans SC"/>
                <a:cs typeface="Noto Sans SC"/>
                <a:sym typeface="Noto Sans SC"/>
              </a:rPr>
              <a:t>产品与应用研发</a:t>
            </a:r>
            <a:endParaRPr lang="en-US" sz="1100"/>
          </a:p>
        </p:txBody>
      </p:sp>
      <p:sp>
        <p:nvSpPr>
          <p:cNvPr id="19" name="AutoShape 19"/>
          <p:cNvSpPr/>
          <p:nvPr/>
        </p:nvSpPr>
        <p:spPr>
          <a:xfrm>
            <a:off x="4635500" y="2311400"/>
            <a:ext cx="3200400" cy="1041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统一API,可按场景组合算法。业界格式便于接入GIS、App,可从骨架演进到生产实现。</a:t>
            </a:r>
            <a:endParaRPr lang="en-US" sz="1100"/>
          </a:p>
        </p:txBody>
      </p:sp>
      <p:cxnSp>
        <p:nvCxnSpPr>
          <p:cNvPr id="20" name="Connector 20"/>
          <p:cNvCxnSpPr/>
          <p:nvPr/>
        </p:nvCxnSpPr>
        <p:spPr>
          <a:xfrm rot="-13750">
            <a:off x="4635513" y="3448050"/>
            <a:ext cx="3175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21" name="AutoShape 21"/>
          <p:cNvSpPr/>
          <p:nvPr/>
        </p:nvSpPr>
        <p:spPr>
          <a:xfrm>
            <a:off x="4635500" y="3556000"/>
            <a:ext cx="3200400" cy="3302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200" b="1" i="0" u="none" strike="noStrike" spc="200">
                <a:solidFill>
                  <a:srgbClr val="1E3A8A"/>
                </a:solidFill>
                <a:latin typeface="Noto Sans SC"/>
                <a:ea typeface="Noto Sans SC"/>
                <a:cs typeface="Noto Sans SC"/>
                <a:sym typeface="Noto Sans SC"/>
              </a:rPr>
              <a:t>对接关注</a:t>
            </a:r>
            <a:endParaRPr lang="en-US" sz="1100"/>
          </a:p>
        </p:txBody>
      </p:sp>
      <p:sp>
        <p:nvSpPr>
          <p:cNvPr id="22" name="AutoShape 22"/>
          <p:cNvSpPr/>
          <p:nvPr/>
        </p:nvSpPr>
        <p:spPr>
          <a:xfrm>
            <a:off x="4635500" y="3975100"/>
            <a:ext cx="38100" cy="279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4787900" y="3937000"/>
            <a:ext cx="3022600" cy="3556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400" b="0" i="0" u="none" strike="noStrike">
                <a:solidFill>
                  <a:srgbClr val="334155"/>
                </a:solidFill>
                <a:latin typeface="Noto Sans SC"/>
                <a:ea typeface="Noto Sans SC"/>
                <a:cs typeface="Noto Sans SC"/>
                <a:sym typeface="Noto Sans SC"/>
              </a:rPr>
              <a:t>契约稳定</a:t>
            </a:r>
            <a:endParaRPr lang="en-US" sz="1100"/>
          </a:p>
        </p:txBody>
      </p:sp>
      <p:sp>
        <p:nvSpPr>
          <p:cNvPr id="24" name="AutoShape 24"/>
          <p:cNvSpPr/>
          <p:nvPr/>
        </p:nvSpPr>
        <p:spPr>
          <a:xfrm>
            <a:off x="4635500" y="4445000"/>
            <a:ext cx="38100" cy="279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4787900" y="4406900"/>
            <a:ext cx="3022600" cy="3556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400" b="0" i="0" u="none" strike="noStrike">
                <a:solidFill>
                  <a:srgbClr val="334155"/>
                </a:solidFill>
                <a:latin typeface="Noto Sans SC"/>
                <a:ea typeface="Noto Sans SC"/>
                <a:cs typeface="Noto Sans SC"/>
                <a:sym typeface="Noto Sans SC"/>
              </a:rPr>
              <a:t>OpenAPI可调试</a:t>
            </a:r>
            <a:endParaRPr lang="en-US" sz="1100"/>
          </a:p>
        </p:txBody>
      </p:sp>
      <p:sp>
        <p:nvSpPr>
          <p:cNvPr id="26" name="AutoShape 26"/>
          <p:cNvSpPr/>
          <p:nvPr/>
        </p:nvSpPr>
        <p:spPr>
          <a:xfrm>
            <a:off x="4635500" y="4914900"/>
            <a:ext cx="38100" cy="279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4787900" y="4876800"/>
            <a:ext cx="3022600" cy="3556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400" b="0" i="0" u="none" strike="noStrike">
                <a:solidFill>
                  <a:srgbClr val="334155"/>
                </a:solidFill>
                <a:latin typeface="Noto Sans SC"/>
                <a:ea typeface="Noto Sans SC"/>
                <a:cs typeface="Noto Sans SC"/>
                <a:sym typeface="Noto Sans SC"/>
              </a:rPr>
              <a:t>样例可一键跑通</a:t>
            </a:r>
            <a:endParaRPr lang="en-US" sz="1100"/>
          </a:p>
        </p:txBody>
      </p:sp>
      <p:sp>
        <p:nvSpPr>
          <p:cNvPr id="28" name="AutoShape 28"/>
          <p:cNvSpPr/>
          <p:nvPr/>
        </p:nvSpPr>
        <p:spPr>
          <a:xfrm>
            <a:off x="8255000" y="1651000"/>
            <a:ext cx="3683000" cy="43180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29" name="AutoShape 29"/>
          <p:cNvSpPr/>
          <p:nvPr/>
        </p:nvSpPr>
        <p:spPr>
          <a:xfrm>
            <a:off x="8255000" y="1651000"/>
            <a:ext cx="50800" cy="4318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30" name="AutoShape 30"/>
          <p:cNvSpPr/>
          <p:nvPr/>
        </p:nvSpPr>
        <p:spPr>
          <a:xfrm>
            <a:off x="8509000" y="1752600"/>
            <a:ext cx="3238500" cy="508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200" b="1" i="0" u="none" strike="noStrike">
                <a:solidFill>
                  <a:srgbClr val="1E3A8A"/>
                </a:solidFill>
                <a:latin typeface="Noto Sans SC"/>
                <a:ea typeface="Noto Sans SC"/>
                <a:cs typeface="Noto Sans SC"/>
                <a:sym typeface="Noto Sans SC"/>
              </a:rPr>
              <a:t>算法与数据工程</a:t>
            </a:r>
            <a:endParaRPr lang="en-US" sz="1100"/>
          </a:p>
        </p:txBody>
      </p:sp>
      <p:sp>
        <p:nvSpPr>
          <p:cNvPr id="31" name="AutoShape 31"/>
          <p:cNvSpPr/>
          <p:nvPr/>
        </p:nvSpPr>
        <p:spPr>
          <a:xfrm>
            <a:off x="8509000" y="2311400"/>
            <a:ext cx="3200400" cy="10414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对齐L0-L4业界分层语言。与小模型仓库能力可衔接,输入输出契约清晰,便于验收。</a:t>
            </a:r>
            <a:endParaRPr lang="en-US" sz="1100"/>
          </a:p>
        </p:txBody>
      </p:sp>
      <p:cxnSp>
        <p:nvCxnSpPr>
          <p:cNvPr id="32" name="Connector 32"/>
          <p:cNvCxnSpPr/>
          <p:nvPr/>
        </p:nvCxnSpPr>
        <p:spPr>
          <a:xfrm rot="-13750">
            <a:off x="8509013" y="3448050"/>
            <a:ext cx="3175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33" name="AutoShape 33"/>
          <p:cNvSpPr/>
          <p:nvPr/>
        </p:nvSpPr>
        <p:spPr>
          <a:xfrm>
            <a:off x="8509000" y="3556000"/>
            <a:ext cx="3200400" cy="3302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200" b="1" i="0" u="none" strike="noStrike" spc="200">
                <a:solidFill>
                  <a:srgbClr val="1E3A8A"/>
                </a:solidFill>
                <a:latin typeface="Noto Sans SC"/>
                <a:ea typeface="Noto Sans SC"/>
                <a:cs typeface="Noto Sans SC"/>
                <a:sym typeface="Noto Sans SC"/>
              </a:rPr>
              <a:t>实现关注</a:t>
            </a:r>
            <a:endParaRPr lang="en-US" sz="1100"/>
          </a:p>
        </p:txBody>
      </p:sp>
      <p:sp>
        <p:nvSpPr>
          <p:cNvPr id="34" name="AutoShape 34"/>
          <p:cNvSpPr/>
          <p:nvPr/>
        </p:nvSpPr>
        <p:spPr>
          <a:xfrm>
            <a:off x="8509000" y="3975100"/>
            <a:ext cx="38100" cy="279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35" name="AutoShape 35"/>
          <p:cNvSpPr/>
          <p:nvPr/>
        </p:nvSpPr>
        <p:spPr>
          <a:xfrm>
            <a:off x="8661400" y="3937000"/>
            <a:ext cx="3022600" cy="3556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400" b="0" i="0" u="none" strike="noStrike">
                <a:solidFill>
                  <a:srgbClr val="334155"/>
                </a:solidFill>
                <a:latin typeface="Noto Sans SC"/>
                <a:ea typeface="Noto Sans SC"/>
                <a:cs typeface="Noto Sans SC"/>
                <a:sym typeface="Noto Sans SC"/>
              </a:rPr>
              <a:t>implemented标记</a:t>
            </a:r>
            <a:endParaRPr lang="en-US" sz="1100"/>
          </a:p>
        </p:txBody>
      </p:sp>
      <p:sp>
        <p:nvSpPr>
          <p:cNvPr id="36" name="AutoShape 36"/>
          <p:cNvSpPr/>
          <p:nvPr/>
        </p:nvSpPr>
        <p:spPr>
          <a:xfrm>
            <a:off x="8509000" y="4445000"/>
            <a:ext cx="38100" cy="279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37" name="AutoShape 37"/>
          <p:cNvSpPr/>
          <p:nvPr/>
        </p:nvSpPr>
        <p:spPr>
          <a:xfrm>
            <a:off x="8661400" y="4406900"/>
            <a:ext cx="3022600" cy="3556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400" b="0" i="0" u="none" strike="noStrike">
                <a:solidFill>
                  <a:srgbClr val="334155"/>
                </a:solidFill>
                <a:latin typeface="Noto Sans SC"/>
                <a:ea typeface="Noto Sans SC"/>
                <a:cs typeface="Noto Sans SC"/>
                <a:sym typeface="Noto Sans SC"/>
              </a:rPr>
              <a:t>产物files路径</a:t>
            </a:r>
            <a:endParaRPr lang="en-US" sz="1100"/>
          </a:p>
        </p:txBody>
      </p:sp>
      <p:sp>
        <p:nvSpPr>
          <p:cNvPr id="38" name="AutoShape 38"/>
          <p:cNvSpPr/>
          <p:nvPr/>
        </p:nvSpPr>
        <p:spPr>
          <a:xfrm>
            <a:off x="8509000" y="4914900"/>
            <a:ext cx="38100" cy="279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39" name="AutoShape 39"/>
          <p:cNvSpPr/>
          <p:nvPr/>
        </p:nvSpPr>
        <p:spPr>
          <a:xfrm>
            <a:off x="8661400" y="4876800"/>
            <a:ext cx="3022600" cy="3556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400" b="0" i="0" u="none" strike="noStrike">
                <a:solidFill>
                  <a:srgbClr val="334155"/>
                </a:solidFill>
                <a:latin typeface="Noto Sans SC"/>
                <a:ea typeface="Noto Sans SC"/>
                <a:cs typeface="Noto Sans SC"/>
                <a:sym typeface="Noto Sans SC"/>
              </a:rPr>
              <a:t>与清单编号一致</a:t>
            </a:r>
            <a:endParaRPr lang="en-US" sz="1100"/>
          </a:p>
        </p:txBody>
      </p:sp>
      <p:sp>
        <p:nvSpPr>
          <p:cNvPr id="40" name="AutoShape 40"/>
          <p:cNvSpPr/>
          <p:nvPr/>
        </p:nvSpPr>
        <p:spPr>
          <a:xfrm>
            <a:off x="508000" y="6134100"/>
            <a:ext cx="1117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spc="100">
                <a:solidFill>
                  <a:srgbClr val="475569"/>
                </a:solidFill>
                <a:latin typeface="Noto Sans SC"/>
                <a:ea typeface="Noto Sans SC"/>
                <a:cs typeface="Noto Sans SC"/>
                <a:sym typeface="Noto Sans SC"/>
              </a:rPr>
              <a:t>同一套能力,支撑三类角色协同工作,让业务、产品、算法高效对齐。</a:t>
            </a:r>
            <a:endParaRPr lang="en-US" sz="11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8890000" cy="6096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3000" b="1" i="0" u="none" strike="noStrike" spc="100">
                <a:solidFill>
                  <a:srgbClr val="1E3A8A"/>
                </a:solidFill>
                <a:latin typeface="Noto Sans SC"/>
                <a:ea typeface="Noto Sans SC"/>
                <a:cs typeface="Noto Sans SC"/>
                <a:sym typeface="Noto Sans SC"/>
              </a:rPr>
              <a:t>当前已实现能力(可联调)</a:t>
            </a:r>
            <a:endParaRPr lang="en-US" sz="1100"/>
          </a:p>
        </p:txBody>
      </p:sp>
      <p:sp>
        <p:nvSpPr>
          <p:cNvPr id="3" name="AutoShape 3"/>
          <p:cNvSpPr/>
          <p:nvPr/>
        </p:nvSpPr>
        <p:spPr>
          <a:xfrm>
            <a:off x="508000" y="1041400"/>
            <a:ext cx="8890000" cy="3302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500" b="0" i="0" u="none" strike="noStrike">
                <a:solidFill>
                  <a:srgbClr val="475569"/>
                </a:solidFill>
                <a:latin typeface="Noto Sans SC"/>
                <a:ea typeface="Noto Sans SC"/>
                <a:cs typeface="Noto Sans SC"/>
                <a:sym typeface="Noto Sans SC"/>
              </a:rPr>
              <a:t>数字实现,接口形状按业界格式对齐</a:t>
            </a:r>
            <a:endParaRPr lang="en-US" sz="1100"/>
          </a:p>
        </p:txBody>
      </p:sp>
      <p:sp>
        <p:nvSpPr>
          <p:cNvPr id="4" name="AutoShape 4"/>
          <p:cNvSpPr/>
          <p:nvPr/>
        </p:nvSpPr>
        <p:spPr>
          <a:xfrm>
            <a:off x="508000" y="1524000"/>
            <a:ext cx="7493000" cy="584200"/>
          </a:xfrm>
          <a:prstGeom prst="roundRect">
            <a:avLst>
              <a:gd name="adj" fmla="val 0"/>
            </a:avLst>
          </a:prstGeom>
          <a:solidFill>
            <a:srgbClr val="FFFFFF">
              <a:alpha val="70000"/>
            </a:srgbClr>
          </a:solidFill>
          <a:ln cap="flat" cmpd="sng">
            <a:solidFill>
              <a:srgbClr val="E6CFCF">
                <a:alpha val="7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508000" y="1524000"/>
            <a:ext cx="50800" cy="5842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685800" y="1524000"/>
            <a:ext cx="838200" cy="584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2200" b="1" i="0" u="none" strike="noStrike" spc="100">
                <a:solidFill>
                  <a:srgbClr val="3B82F6"/>
                </a:solidFill>
                <a:latin typeface="Noto Sans SC"/>
                <a:ea typeface="Noto Sans SC"/>
                <a:cs typeface="Noto Sans SC"/>
                <a:sym typeface="Noto Sans SC"/>
              </a:rPr>
              <a:t>#12</a:t>
            </a:r>
            <a:endParaRPr lang="en-US" sz="1100"/>
          </a:p>
        </p:txBody>
      </p:sp>
      <p:sp>
        <p:nvSpPr>
          <p:cNvPr id="7" name="AutoShape 7"/>
          <p:cNvSpPr/>
          <p:nvPr/>
        </p:nvSpPr>
        <p:spPr>
          <a:xfrm>
            <a:off x="1549400" y="1524000"/>
            <a:ext cx="63246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500" b="1" i="0" u="none" strike="noStrike">
                <a:solidFill>
                  <a:srgbClr val="1E293B"/>
                </a:solidFill>
                <a:latin typeface="Noto Sans SC"/>
                <a:ea typeface="Noto Sans SC"/>
                <a:cs typeface="Noto Sans SC"/>
                <a:sym typeface="Noto Sans SC"/>
              </a:rPr>
              <a:t>白板/灰板反射率定标</a:t>
            </a:r>
            <a:r>
              <a:rPr lang="en-US" sz="1200" b="0" i="0" u="none" strike="noStrike">
                <a:solidFill>
                  <a:srgbClr val="64748B"/>
                </a:solidFill>
                <a:latin typeface="Noto Sans SC"/>
                <a:ea typeface="Noto Sans SC"/>
                <a:cs typeface="Noto Sans SC"/>
                <a:sym typeface="Noto Sans SC"/>
              </a:rPr>
              <a:t>(经验线法)</a:t>
            </a:r>
            <a:endParaRPr lang="en-US" sz="1100"/>
          </a:p>
        </p:txBody>
      </p:sp>
      <p:sp>
        <p:nvSpPr>
          <p:cNvPr id="8" name="AutoShape 8"/>
          <p:cNvSpPr/>
          <p:nvPr/>
        </p:nvSpPr>
        <p:spPr>
          <a:xfrm>
            <a:off x="508000" y="2159000"/>
            <a:ext cx="7493000" cy="584200"/>
          </a:xfrm>
          <a:prstGeom prst="roundRect">
            <a:avLst>
              <a:gd name="adj" fmla="val 0"/>
            </a:avLst>
          </a:prstGeom>
          <a:solidFill>
            <a:srgbClr val="FFFFFF">
              <a:alpha val="70000"/>
            </a:srgbClr>
          </a:solidFill>
          <a:ln cap="flat" cmpd="sng">
            <a:solidFill>
              <a:srgbClr val="E6CFCF">
                <a:alpha val="7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508000" y="2159000"/>
            <a:ext cx="50800" cy="5842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685800" y="2159000"/>
            <a:ext cx="838200" cy="584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2200" b="1" i="0" u="none" strike="noStrike" spc="100">
                <a:solidFill>
                  <a:srgbClr val="3B82F6"/>
                </a:solidFill>
                <a:latin typeface="Noto Sans SC"/>
                <a:ea typeface="Noto Sans SC"/>
                <a:cs typeface="Noto Sans SC"/>
                <a:sym typeface="Noto Sans SC"/>
              </a:rPr>
              <a:t>#20</a:t>
            </a:r>
            <a:endParaRPr lang="en-US" sz="1100"/>
          </a:p>
        </p:txBody>
      </p:sp>
      <p:sp>
        <p:nvSpPr>
          <p:cNvPr id="11" name="AutoShape 11"/>
          <p:cNvSpPr/>
          <p:nvPr/>
        </p:nvSpPr>
        <p:spPr>
          <a:xfrm>
            <a:off x="1549400" y="2159000"/>
            <a:ext cx="63246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500" b="1" i="0" u="none" strike="noStrike">
                <a:solidFill>
                  <a:srgbClr val="1E293B"/>
                </a:solidFill>
                <a:latin typeface="Noto Sans SC"/>
                <a:ea typeface="Noto Sans SC"/>
                <a:cs typeface="Noto Sans SC"/>
                <a:sym typeface="Noto Sans SC"/>
              </a:rPr>
              <a:t>坏波段剔除与光谱去噪</a:t>
            </a:r>
            <a:endParaRPr lang="en-US" sz="1100"/>
          </a:p>
        </p:txBody>
      </p:sp>
      <p:sp>
        <p:nvSpPr>
          <p:cNvPr id="12" name="AutoShape 12"/>
          <p:cNvSpPr/>
          <p:nvPr/>
        </p:nvSpPr>
        <p:spPr>
          <a:xfrm>
            <a:off x="508000" y="2794000"/>
            <a:ext cx="7493000" cy="584200"/>
          </a:xfrm>
          <a:prstGeom prst="roundRect">
            <a:avLst>
              <a:gd name="adj" fmla="val 0"/>
            </a:avLst>
          </a:prstGeom>
          <a:solidFill>
            <a:srgbClr val="FFFFFF">
              <a:alpha val="70000"/>
            </a:srgbClr>
          </a:solidFill>
          <a:ln cap="flat" cmpd="sng">
            <a:solidFill>
              <a:srgbClr val="E6CFCF">
                <a:alpha val="7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508000" y="2794000"/>
            <a:ext cx="50800" cy="5842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685800" y="2794000"/>
            <a:ext cx="838200" cy="584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2200" b="1" i="0" u="none" strike="noStrike" spc="100">
                <a:solidFill>
                  <a:srgbClr val="3B82F6"/>
                </a:solidFill>
                <a:latin typeface="Noto Sans SC"/>
                <a:ea typeface="Noto Sans SC"/>
                <a:cs typeface="Noto Sans SC"/>
                <a:sym typeface="Noto Sans SC"/>
              </a:rPr>
              <a:t>#21</a:t>
            </a:r>
            <a:endParaRPr lang="en-US" sz="1100"/>
          </a:p>
        </p:txBody>
      </p:sp>
      <p:sp>
        <p:nvSpPr>
          <p:cNvPr id="15" name="AutoShape 15"/>
          <p:cNvSpPr/>
          <p:nvPr/>
        </p:nvSpPr>
        <p:spPr>
          <a:xfrm>
            <a:off x="1549400" y="2794000"/>
            <a:ext cx="63246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500" b="1" i="0" u="none" strike="noStrike">
                <a:solidFill>
                  <a:srgbClr val="1E293B"/>
                </a:solidFill>
                <a:latin typeface="Noto Sans SC"/>
                <a:ea typeface="Noto Sans SC"/>
                <a:cs typeface="Noto Sans SC"/>
                <a:sym typeface="Noto Sans SC"/>
              </a:rPr>
              <a:t>Savitzky-Golay平滑</a:t>
            </a:r>
            <a:r>
              <a:rPr lang="en-US" sz="1300" b="0" i="0" u="none" strike="noStrike">
                <a:solidFill>
                  <a:srgbClr val="475569"/>
                </a:solidFill>
                <a:latin typeface="Noto Sans SC"/>
                <a:ea typeface="Noto Sans SC"/>
                <a:cs typeface="Noto Sans SC"/>
                <a:sym typeface="Noto Sans SC"/>
              </a:rPr>
              <a:t>/包络线去除</a:t>
            </a:r>
            <a:endParaRPr lang="en-US" sz="1100"/>
          </a:p>
        </p:txBody>
      </p:sp>
      <p:sp>
        <p:nvSpPr>
          <p:cNvPr id="16" name="AutoShape 16"/>
          <p:cNvSpPr/>
          <p:nvPr/>
        </p:nvSpPr>
        <p:spPr>
          <a:xfrm>
            <a:off x="508000" y="3429000"/>
            <a:ext cx="7493000" cy="584200"/>
          </a:xfrm>
          <a:prstGeom prst="roundRect">
            <a:avLst>
              <a:gd name="adj" fmla="val 0"/>
            </a:avLst>
          </a:prstGeom>
          <a:solidFill>
            <a:srgbClr val="FFFFFF">
              <a:alpha val="70000"/>
            </a:srgbClr>
          </a:solidFill>
          <a:ln cap="flat" cmpd="sng">
            <a:solidFill>
              <a:srgbClr val="E6CFCF">
                <a:alpha val="7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508000" y="3429000"/>
            <a:ext cx="50800" cy="5842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685800" y="3429000"/>
            <a:ext cx="838200" cy="584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2200" b="1" i="0" u="none" strike="noStrike" spc="100">
                <a:solidFill>
                  <a:srgbClr val="3B82F6"/>
                </a:solidFill>
                <a:latin typeface="Noto Sans SC"/>
                <a:ea typeface="Noto Sans SC"/>
                <a:cs typeface="Noto Sans SC"/>
                <a:sym typeface="Noto Sans SC"/>
              </a:rPr>
              <a:t>#22</a:t>
            </a:r>
            <a:endParaRPr lang="en-US" sz="1100"/>
          </a:p>
        </p:txBody>
      </p:sp>
      <p:sp>
        <p:nvSpPr>
          <p:cNvPr id="19" name="AutoShape 19"/>
          <p:cNvSpPr/>
          <p:nvPr/>
        </p:nvSpPr>
        <p:spPr>
          <a:xfrm>
            <a:off x="1549400" y="3429000"/>
            <a:ext cx="63246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500" b="1" i="0" u="none" strike="noStrike">
                <a:solidFill>
                  <a:srgbClr val="1E293B"/>
                </a:solidFill>
                <a:latin typeface="Noto Sans SC"/>
                <a:ea typeface="Noto Sans SC"/>
                <a:cs typeface="Noto Sans SC"/>
                <a:sym typeface="Noto Sans SC"/>
              </a:rPr>
              <a:t>标准化/归一化</a:t>
            </a:r>
            <a:endParaRPr lang="en-US" sz="1100"/>
          </a:p>
        </p:txBody>
      </p:sp>
      <p:sp>
        <p:nvSpPr>
          <p:cNvPr id="20" name="AutoShape 20"/>
          <p:cNvSpPr/>
          <p:nvPr/>
        </p:nvSpPr>
        <p:spPr>
          <a:xfrm>
            <a:off x="508000" y="4064000"/>
            <a:ext cx="7493000" cy="584200"/>
          </a:xfrm>
          <a:prstGeom prst="roundRect">
            <a:avLst>
              <a:gd name="adj" fmla="val 0"/>
            </a:avLst>
          </a:prstGeom>
          <a:solidFill>
            <a:srgbClr val="FFFFFF">
              <a:alpha val="70000"/>
            </a:srgbClr>
          </a:solidFill>
          <a:ln cap="flat" cmpd="sng">
            <a:solidFill>
              <a:srgbClr val="E6CFCF">
                <a:alpha val="7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508000" y="4064000"/>
            <a:ext cx="50800" cy="5842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685800" y="4064000"/>
            <a:ext cx="838200" cy="584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2200" b="1" i="0" u="none" strike="noStrike" spc="100">
                <a:solidFill>
                  <a:srgbClr val="3B82F6"/>
                </a:solidFill>
                <a:latin typeface="Noto Sans SC"/>
                <a:ea typeface="Noto Sans SC"/>
                <a:cs typeface="Noto Sans SC"/>
                <a:sym typeface="Noto Sans SC"/>
              </a:rPr>
              <a:t>#23</a:t>
            </a:r>
            <a:endParaRPr lang="en-US" sz="1100"/>
          </a:p>
        </p:txBody>
      </p:sp>
      <p:sp>
        <p:nvSpPr>
          <p:cNvPr id="23" name="AutoShape 23"/>
          <p:cNvSpPr/>
          <p:nvPr/>
        </p:nvSpPr>
        <p:spPr>
          <a:xfrm>
            <a:off x="1549400" y="4064000"/>
            <a:ext cx="63246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500" b="1" i="0" u="none" strike="noStrike">
                <a:solidFill>
                  <a:srgbClr val="1E293B"/>
                </a:solidFill>
                <a:latin typeface="Noto Sans SC"/>
                <a:ea typeface="Noto Sans SC"/>
                <a:cs typeface="Noto Sans SC"/>
                <a:sym typeface="Noto Sans SC"/>
              </a:rPr>
              <a:t>降维</a:t>
            </a:r>
            <a:r>
              <a:rPr lang="en-US" sz="1300" b="0" i="0" u="none" strike="noStrike">
                <a:solidFill>
                  <a:srgbClr val="475569"/>
                </a:solidFill>
                <a:latin typeface="Noto Sans SC"/>
                <a:ea typeface="Noto Sans SC"/>
                <a:cs typeface="Noto Sans SC"/>
                <a:sym typeface="Noto Sans SC"/>
              </a:rPr>
              <a:t>(PCA/MNF/ICA)</a:t>
            </a:r>
            <a:endParaRPr lang="en-US" sz="1100"/>
          </a:p>
        </p:txBody>
      </p:sp>
      <p:sp>
        <p:nvSpPr>
          <p:cNvPr id="24" name="AutoShape 24"/>
          <p:cNvSpPr/>
          <p:nvPr/>
        </p:nvSpPr>
        <p:spPr>
          <a:xfrm>
            <a:off x="508000" y="4699000"/>
            <a:ext cx="7493000" cy="584200"/>
          </a:xfrm>
          <a:prstGeom prst="roundRect">
            <a:avLst>
              <a:gd name="adj" fmla="val 0"/>
            </a:avLst>
          </a:prstGeom>
          <a:solidFill>
            <a:srgbClr val="FFFFFF">
              <a:alpha val="70000"/>
            </a:srgbClr>
          </a:solidFill>
          <a:ln cap="flat" cmpd="sng">
            <a:solidFill>
              <a:srgbClr val="E6CFCF">
                <a:alpha val="70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508000" y="4699000"/>
            <a:ext cx="50800" cy="5842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685800" y="4699000"/>
            <a:ext cx="838200" cy="584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2200" b="1" i="0" u="none" strike="noStrike" spc="100">
                <a:solidFill>
                  <a:srgbClr val="3B82F6"/>
                </a:solidFill>
                <a:latin typeface="Noto Sans SC"/>
                <a:ea typeface="Noto Sans SC"/>
                <a:cs typeface="Noto Sans SC"/>
                <a:sym typeface="Noto Sans SC"/>
              </a:rPr>
              <a:t>#27</a:t>
            </a:r>
            <a:endParaRPr lang="en-US" sz="1100"/>
          </a:p>
        </p:txBody>
      </p:sp>
      <p:sp>
        <p:nvSpPr>
          <p:cNvPr id="27" name="AutoShape 27"/>
          <p:cNvSpPr/>
          <p:nvPr/>
        </p:nvSpPr>
        <p:spPr>
          <a:xfrm>
            <a:off x="1549400" y="4699000"/>
            <a:ext cx="63246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500" b="1" i="0" u="none" strike="noStrike">
                <a:solidFill>
                  <a:srgbClr val="1E293B"/>
                </a:solidFill>
                <a:latin typeface="Noto Sans SC"/>
                <a:ea typeface="Noto Sans SC"/>
                <a:cs typeface="Noto Sans SC"/>
                <a:sym typeface="Noto Sans SC"/>
              </a:rPr>
              <a:t>NDVI</a:t>
            </a:r>
            <a:r>
              <a:rPr lang="en-US" sz="1300" b="0" i="0" u="none" strike="noStrike">
                <a:solidFill>
                  <a:srgbClr val="475569"/>
                </a:solidFill>
                <a:latin typeface="Noto Sans SC"/>
                <a:ea typeface="Noto Sans SC"/>
                <a:cs typeface="Noto Sans SC"/>
                <a:sym typeface="Noto Sans SC"/>
              </a:rPr>
              <a:t>(归一化植被指数)</a:t>
            </a:r>
            <a:endParaRPr lang="en-US" sz="1100"/>
          </a:p>
        </p:txBody>
      </p:sp>
      <p:sp>
        <p:nvSpPr>
          <p:cNvPr id="28" name="AutoShape 28"/>
          <p:cNvSpPr/>
          <p:nvPr/>
        </p:nvSpPr>
        <p:spPr>
          <a:xfrm>
            <a:off x="508000" y="5334000"/>
            <a:ext cx="7493000" cy="584200"/>
          </a:xfrm>
          <a:prstGeom prst="roundRect">
            <a:avLst>
              <a:gd name="adj" fmla="val 0"/>
            </a:avLst>
          </a:prstGeom>
          <a:solidFill>
            <a:srgbClr val="FFFFFF">
              <a:alpha val="70000"/>
            </a:srgbClr>
          </a:solidFill>
          <a:ln cap="flat" cmpd="sng">
            <a:solidFill>
              <a:srgbClr val="E6CFCF">
                <a:alpha val="70000"/>
              </a:srgbClr>
            </a:solidFill>
            <a:prstDash val="solid"/>
            <a:round/>
          </a:ln>
        </p:spPr>
        <p:txBody>
          <a:bodyPr vert="horz" wrap="square" lIns="63500" tIns="63500" rIns="63500" bIns="63500" rtlCol="0" anchor="ctr"/>
          <a:lstStyle/>
          <a:p>
            <a:pPr algn="ctr">
              <a:defRPr/>
            </a:pPr>
          </a:p>
        </p:txBody>
      </p:sp>
      <p:sp>
        <p:nvSpPr>
          <p:cNvPr id="29" name="AutoShape 29"/>
          <p:cNvSpPr/>
          <p:nvPr/>
        </p:nvSpPr>
        <p:spPr>
          <a:xfrm>
            <a:off x="508000" y="5334000"/>
            <a:ext cx="50800" cy="5842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30" name="AutoShape 30"/>
          <p:cNvSpPr/>
          <p:nvPr/>
        </p:nvSpPr>
        <p:spPr>
          <a:xfrm>
            <a:off x="685800" y="5334000"/>
            <a:ext cx="838200" cy="584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2200" b="1" i="0" u="none" strike="noStrike" spc="100">
                <a:solidFill>
                  <a:srgbClr val="3B82F6"/>
                </a:solidFill>
                <a:latin typeface="Noto Sans SC"/>
                <a:ea typeface="Noto Sans SC"/>
                <a:cs typeface="Noto Sans SC"/>
                <a:sym typeface="Noto Sans SC"/>
              </a:rPr>
              <a:t>#34</a:t>
            </a:r>
            <a:endParaRPr lang="en-US" sz="1100"/>
          </a:p>
        </p:txBody>
      </p:sp>
      <p:sp>
        <p:nvSpPr>
          <p:cNvPr id="31" name="AutoShape 31"/>
          <p:cNvSpPr/>
          <p:nvPr/>
        </p:nvSpPr>
        <p:spPr>
          <a:xfrm>
            <a:off x="1549400" y="5334000"/>
            <a:ext cx="63246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500" b="1" i="0" u="none" strike="noStrike">
                <a:solidFill>
                  <a:srgbClr val="1E293B"/>
                </a:solidFill>
                <a:latin typeface="Noto Sans SC"/>
                <a:ea typeface="Noto Sans SC"/>
                <a:cs typeface="Noto Sans SC"/>
                <a:sym typeface="Noto Sans SC"/>
              </a:rPr>
              <a:t>传统机器学习分类</a:t>
            </a:r>
            <a:r>
              <a:rPr lang="en-US" sz="1300" b="0" i="0" u="none" strike="noStrike">
                <a:solidFill>
                  <a:srgbClr val="475569"/>
                </a:solidFill>
                <a:latin typeface="Noto Sans SC"/>
                <a:ea typeface="Noto Sans SC"/>
                <a:cs typeface="Noto Sans SC"/>
                <a:sym typeface="Noto Sans SC"/>
              </a:rPr>
              <a:t>(SVM/随机森林/逻辑回归)</a:t>
            </a:r>
            <a:endParaRPr lang="en-US" sz="1100"/>
          </a:p>
        </p:txBody>
      </p:sp>
      <p:sp>
        <p:nvSpPr>
          <p:cNvPr id="32" name="AutoShape 32"/>
          <p:cNvSpPr/>
          <p:nvPr/>
        </p:nvSpPr>
        <p:spPr>
          <a:xfrm>
            <a:off x="508000" y="5969000"/>
            <a:ext cx="7493000" cy="584200"/>
          </a:xfrm>
          <a:prstGeom prst="roundRect">
            <a:avLst>
              <a:gd name="adj" fmla="val 0"/>
            </a:avLst>
          </a:prstGeom>
          <a:solidFill>
            <a:srgbClr val="FFFFFF">
              <a:alpha val="70000"/>
            </a:srgbClr>
          </a:solidFill>
          <a:ln cap="flat" cmpd="sng">
            <a:solidFill>
              <a:srgbClr val="E6CFCF">
                <a:alpha val="70000"/>
              </a:srgbClr>
            </a:solidFill>
            <a:prstDash val="solid"/>
            <a:round/>
          </a:ln>
        </p:spPr>
        <p:txBody>
          <a:bodyPr vert="horz" wrap="square" lIns="63500" tIns="63500" rIns="63500" bIns="63500" rtlCol="0" anchor="ctr"/>
          <a:lstStyle/>
          <a:p>
            <a:pPr algn="ctr">
              <a:defRPr/>
            </a:pPr>
          </a:p>
        </p:txBody>
      </p:sp>
      <p:sp>
        <p:nvSpPr>
          <p:cNvPr id="33" name="AutoShape 33"/>
          <p:cNvSpPr/>
          <p:nvPr/>
        </p:nvSpPr>
        <p:spPr>
          <a:xfrm>
            <a:off x="508000" y="5969000"/>
            <a:ext cx="50800" cy="5842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34" name="AutoShape 34"/>
          <p:cNvSpPr/>
          <p:nvPr/>
        </p:nvSpPr>
        <p:spPr>
          <a:xfrm>
            <a:off x="685800" y="5969000"/>
            <a:ext cx="838200" cy="584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2200" b="1" i="0" u="none" strike="noStrike" spc="100">
                <a:solidFill>
                  <a:srgbClr val="3B82F6"/>
                </a:solidFill>
                <a:latin typeface="Noto Sans SC"/>
                <a:ea typeface="Noto Sans SC"/>
                <a:cs typeface="Noto Sans SC"/>
                <a:sym typeface="Noto Sans SC"/>
              </a:rPr>
              <a:t>#45</a:t>
            </a:r>
            <a:endParaRPr lang="en-US" sz="1100"/>
          </a:p>
        </p:txBody>
      </p:sp>
      <p:sp>
        <p:nvSpPr>
          <p:cNvPr id="35" name="AutoShape 35"/>
          <p:cNvSpPr/>
          <p:nvPr/>
        </p:nvSpPr>
        <p:spPr>
          <a:xfrm>
            <a:off x="1549400" y="5969000"/>
            <a:ext cx="63246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500" b="1" i="0" u="none" strike="noStrike">
                <a:solidFill>
                  <a:srgbClr val="1E293B"/>
                </a:solidFill>
                <a:latin typeface="Noto Sans SC"/>
                <a:ea typeface="Noto Sans SC"/>
                <a:cs typeface="Noto Sans SC"/>
                <a:sym typeface="Noto Sans SC"/>
              </a:rPr>
              <a:t>地块汇总、专题制图与业务告警</a:t>
            </a:r>
            <a:r>
              <a:rPr lang="en-US" sz="1300" b="0" i="0" u="none" strike="noStrike">
                <a:solidFill>
                  <a:srgbClr val="475569"/>
                </a:solidFill>
                <a:latin typeface="Noto Sans SC"/>
                <a:ea typeface="Noto Sans SC"/>
                <a:cs typeface="Noto Sans SC"/>
                <a:sym typeface="Noto Sans SC"/>
              </a:rPr>
              <a:t>(L4核心)</a:t>
            </a:r>
            <a:endParaRPr lang="en-US" sz="1100"/>
          </a:p>
        </p:txBody>
      </p:sp>
      <p:cxnSp>
        <p:nvCxnSpPr>
          <p:cNvPr id="36" name="Connector 36"/>
          <p:cNvCxnSpPr/>
          <p:nvPr/>
        </p:nvCxnSpPr>
        <p:spPr>
          <a:xfrm rot="5391318">
            <a:off x="5740400" y="4032258"/>
            <a:ext cx="50292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37" name="AutoShape 37"/>
          <p:cNvSpPr/>
          <p:nvPr/>
        </p:nvSpPr>
        <p:spPr>
          <a:xfrm>
            <a:off x="8509000" y="1524000"/>
            <a:ext cx="342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400" b="1" i="0" u="none" strike="noStrike" spc="200">
                <a:solidFill>
                  <a:srgbClr val="1E3A8A"/>
                </a:solidFill>
                <a:latin typeface="Noto Sans SC"/>
                <a:ea typeface="Noto Sans SC"/>
                <a:cs typeface="Noto Sans SC"/>
                <a:sym typeface="Noto Sans SC"/>
              </a:rPr>
              <a:t>已实现核心算法</a:t>
            </a:r>
            <a:endParaRPr lang="en-US" sz="1100"/>
          </a:p>
        </p:txBody>
      </p:sp>
      <p:sp>
        <p:nvSpPr>
          <p:cNvPr id="38" name="AutoShape 38"/>
          <p:cNvSpPr/>
          <p:nvPr/>
        </p:nvSpPr>
        <p:spPr>
          <a:xfrm>
            <a:off x="8509000" y="1905000"/>
            <a:ext cx="3429000" cy="1092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6400" b="1" i="0" u="none" strike="noStrike">
                <a:solidFill>
                  <a:srgbClr val="1E3A8A"/>
                </a:solidFill>
                <a:latin typeface="Noto Sans SC"/>
                <a:ea typeface="Noto Sans SC"/>
                <a:cs typeface="Noto Sans SC"/>
                <a:sym typeface="Noto Sans SC"/>
              </a:rPr>
              <a:t>9</a:t>
            </a:r>
            <a:r>
              <a:rPr lang="en-US" sz="1800" b="0" i="0" u="none" strike="noStrike">
                <a:solidFill>
                  <a:srgbClr val="475569"/>
                </a:solidFill>
                <a:latin typeface="Noto Sans SC"/>
                <a:ea typeface="Noto Sans SC"/>
                <a:cs typeface="Noto Sans SC"/>
                <a:sym typeface="Noto Sans SC"/>
              </a:rPr>
              <a:t>项</a:t>
            </a:r>
            <a:endParaRPr lang="en-US" sz="1100"/>
          </a:p>
        </p:txBody>
      </p:sp>
      <p:sp>
        <p:nvSpPr>
          <p:cNvPr id="39" name="AutoShape 39"/>
          <p:cNvSpPr/>
          <p:nvPr/>
        </p:nvSpPr>
        <p:spPr>
          <a:xfrm>
            <a:off x="8509000" y="3048000"/>
            <a:ext cx="3429000" cy="279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400" b="1" i="0" u="none" strike="noStrike" spc="200">
                <a:solidFill>
                  <a:srgbClr val="1E3A8A"/>
                </a:solidFill>
                <a:latin typeface="Noto Sans SC"/>
                <a:ea typeface="Noto Sans SC"/>
                <a:cs typeface="Noto Sans SC"/>
                <a:sym typeface="Noto Sans SC"/>
              </a:rPr>
              <a:t>覆盖类型</a:t>
            </a:r>
            <a:endParaRPr lang="en-US" sz="1100"/>
          </a:p>
        </p:txBody>
      </p:sp>
      <p:sp>
        <p:nvSpPr>
          <p:cNvPr id="40" name="AutoShape 40"/>
          <p:cNvSpPr/>
          <p:nvPr/>
        </p:nvSpPr>
        <p:spPr>
          <a:xfrm>
            <a:off x="8509000" y="3352800"/>
            <a:ext cx="3429000" cy="8890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200" b="0" i="0" u="none" strike="noStrike">
                <a:solidFill>
                  <a:srgbClr val="475569"/>
                </a:solidFill>
                <a:latin typeface="Noto Sans SC"/>
                <a:ea typeface="Noto Sans SC"/>
                <a:cs typeface="Noto Sans SC"/>
                <a:sym typeface="Noto Sans SC"/>
              </a:rPr>
              <a:t>反射率定标示意、立方体清洗去噪、</a:t>
            </a:r>
            <a:endParaRPr lang="en-US" sz="1100"/>
          </a:p>
          <a:p>
            <a:pPr marL="0" indent="0" algn="l">
              <a:lnSpc>
                <a:spcPct val="129000"/>
              </a:lnSpc>
            </a:pPr>
            <a:r>
              <a:rPr lang="en-US" sz="1200" b="0" i="0" u="none" strike="noStrike">
                <a:solidFill>
                  <a:srgbClr val="475569"/>
                </a:solidFill>
                <a:latin typeface="Noto Sans SC"/>
                <a:ea typeface="Noto Sans SC"/>
                <a:cs typeface="Noto Sans SC"/>
                <a:sym typeface="Noto Sans SC"/>
              </a:rPr>
              <a:t>植被指数、SVM分类、地块汇总</a:t>
            </a:r>
            <a:endParaRPr lang="en-US" sz="1200" b="0" i="0" u="none" strike="noStrike">
              <a:solidFill>
                <a:srgbClr val="475569"/>
              </a:solidFill>
              <a:latin typeface="Noto Sans SC"/>
              <a:ea typeface="Noto Sans SC"/>
              <a:cs typeface="Noto Sans SC"/>
              <a:sym typeface="Noto Sans SC"/>
            </a:endParaRPr>
          </a:p>
        </p:txBody>
      </p:sp>
      <p:cxnSp>
        <p:nvCxnSpPr>
          <p:cNvPr id="41" name="Connector 41"/>
          <p:cNvCxnSpPr/>
          <p:nvPr/>
        </p:nvCxnSpPr>
        <p:spPr>
          <a:xfrm rot="-13750">
            <a:off x="8509013" y="4311650"/>
            <a:ext cx="3175000" cy="12700"/>
          </a:xfrm>
          <a:prstGeom prst="straightConnector1">
            <a:avLst/>
          </a:prstGeom>
          <a:solidFill>
            <a:srgbClr val="DEE0E3">
              <a:alpha val="100000"/>
            </a:srgbClr>
          </a:solidFill>
          <a:ln w="12700" cap="flat" cmpd="sng">
            <a:solidFill>
              <a:srgbClr val="1E3A8A">
                <a:alpha val="12000"/>
              </a:srgbClr>
            </a:solidFill>
            <a:prstDash val="solid"/>
            <a:round/>
            <a:headEnd type="none" w="med" len="med"/>
            <a:tailEnd type="none" w="med" len="med"/>
          </a:ln>
        </p:spPr>
      </p:cxnSp>
      <p:sp>
        <p:nvSpPr>
          <p:cNvPr id="42" name="AutoShape 42"/>
          <p:cNvSpPr/>
          <p:nvPr/>
        </p:nvSpPr>
        <p:spPr>
          <a:xfrm>
            <a:off x="8509000" y="4445000"/>
            <a:ext cx="342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400" b="1" i="0" u="none" strike="noStrike" spc="200">
                <a:solidFill>
                  <a:srgbClr val="1E3A8A"/>
                </a:solidFill>
                <a:latin typeface="Noto Sans SC"/>
                <a:ea typeface="Noto Sans SC"/>
                <a:cs typeface="Noto Sans SC"/>
                <a:sym typeface="Noto Sans SC"/>
              </a:rPr>
              <a:t>其余预留接口</a:t>
            </a:r>
            <a:endParaRPr lang="en-US" sz="1100"/>
          </a:p>
        </p:txBody>
      </p:sp>
      <p:sp>
        <p:nvSpPr>
          <p:cNvPr id="43" name="AutoShape 43"/>
          <p:cNvSpPr/>
          <p:nvPr/>
        </p:nvSpPr>
        <p:spPr>
          <a:xfrm>
            <a:off x="8509000" y="4800600"/>
            <a:ext cx="342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4400" b="1" i="0" u="none" strike="noStrike">
                <a:solidFill>
                  <a:srgbClr val="1E3A8A">
                    <a:alpha val="34902"/>
                  </a:srgbClr>
                </a:solidFill>
                <a:latin typeface="Noto Sans SC"/>
                <a:ea typeface="Noto Sans SC"/>
                <a:cs typeface="Noto Sans SC"/>
                <a:sym typeface="Noto Sans SC"/>
              </a:rPr>
              <a:t>36</a:t>
            </a:r>
            <a:r>
              <a:rPr lang="en-US" sz="1800" b="0" i="0" u="none" strike="noStrike">
                <a:solidFill>
                  <a:srgbClr val="475569"/>
                </a:solidFill>
                <a:latin typeface="Noto Sans SC"/>
                <a:ea typeface="Noto Sans SC"/>
                <a:cs typeface="Noto Sans SC"/>
                <a:sym typeface="Noto Sans SC"/>
              </a:rPr>
              <a:t>项</a:t>
            </a:r>
            <a:endParaRPr lang="en-US" sz="1100"/>
          </a:p>
        </p:txBody>
      </p:sp>
      <p:sp>
        <p:nvSpPr>
          <p:cNvPr id="44" name="AutoShape 44"/>
          <p:cNvSpPr/>
          <p:nvPr/>
        </p:nvSpPr>
        <p:spPr>
          <a:xfrm>
            <a:off x="8509000" y="5588000"/>
            <a:ext cx="3429000" cy="4826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100" b="0" i="0" u="none" strike="noStrike">
                <a:solidFill>
                  <a:srgbClr val="64748B"/>
                </a:solidFill>
                <a:latin typeface="Noto Sans SC"/>
                <a:ea typeface="Noto Sans SC"/>
                <a:cs typeface="Noto Sans SC"/>
                <a:sym typeface="Noto Sans SC"/>
              </a:rPr>
              <a:t>目录与 POST /api/v1/id/run 已预留(implemented=false),可按场景优先级补齐。</a:t>
            </a:r>
            <a:endParaRPr lang="en-US" sz="1100"/>
          </a:p>
        </p:txBody>
      </p:sp>
      <p:sp>
        <p:nvSpPr>
          <p:cNvPr id="45" name="AutoShape 45"/>
          <p:cNvSpPr/>
          <p:nvPr/>
        </p:nvSpPr>
        <p:spPr>
          <a:xfrm>
            <a:off x="8509000" y="6172200"/>
            <a:ext cx="3429000" cy="4064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46" name="AutoShape 46"/>
          <p:cNvSpPr/>
          <p:nvPr/>
        </p:nvSpPr>
        <p:spPr>
          <a:xfrm>
            <a:off x="8509000" y="6172200"/>
            <a:ext cx="38100" cy="4064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47" name="AutoShape 47"/>
          <p:cNvSpPr/>
          <p:nvPr/>
        </p:nvSpPr>
        <p:spPr>
          <a:xfrm>
            <a:off x="8636000" y="6172200"/>
            <a:ext cx="3251200" cy="406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100" b="0" i="0" u="none" strike="noStrike">
                <a:solidFill>
                  <a:srgbClr val="475569"/>
                </a:solidFill>
                <a:latin typeface="Noto Sans SC"/>
                <a:ea typeface="Noto Sans SC"/>
                <a:cs typeface="Noto Sans SC"/>
                <a:sym typeface="Noto Sans SC"/>
              </a:rPr>
              <a:t>详细curl见:</a:t>
            </a:r>
            <a:r>
              <a:rPr lang="en-US" sz="1100" b="1" i="0" u="none" strike="noStrike">
                <a:solidFill>
                  <a:srgbClr val="1E3A8A"/>
                </a:solidFill>
                <a:latin typeface="Noto Sans SC"/>
                <a:ea typeface="Noto Sans SC"/>
                <a:cs typeface="Noto Sans SC"/>
                <a:sym typeface="Noto Sans SC"/>
              </a:rPr>
              <a:t>docs/算法API测试清单.md</a:t>
            </a:r>
            <a:endParaRPr lang="en-US" sz="11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72A">
                <a:alpha val="100000"/>
              </a:srgbClr>
            </a:gs>
            <a:gs pos="100000">
              <a:srgbClr val="1E293B">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508000" y="381000"/>
            <a:ext cx="8890000" cy="6604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3000" b="1" i="0" u="none" strike="noStrike" spc="100">
                <a:solidFill>
                  <a:srgbClr val="F1F5F9"/>
                </a:solidFill>
                <a:latin typeface="Noto Sans SC"/>
                <a:ea typeface="Noto Sans SC"/>
                <a:cs typeface="Noto Sans SC"/>
                <a:sym typeface="Noto Sans SC"/>
              </a:rPr>
              <a:t>对接步骤与调用示例</a:t>
            </a:r>
            <a:endParaRPr lang="en-US" sz="1100"/>
          </a:p>
        </p:txBody>
      </p:sp>
      <p:sp>
        <p:nvSpPr>
          <p:cNvPr id="3" name="AutoShape 3"/>
          <p:cNvSpPr/>
          <p:nvPr/>
        </p:nvSpPr>
        <p:spPr>
          <a:xfrm>
            <a:off x="508000" y="1041400"/>
            <a:ext cx="7620000" cy="2794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300" b="0" i="0" u="none" strike="noStrike" spc="100">
                <a:solidFill>
                  <a:srgbClr val="CBD5E1">
                    <a:alpha val="70196"/>
                  </a:srgbClr>
                </a:solidFill>
                <a:latin typeface="Noto Sans SC"/>
                <a:ea typeface="Noto Sans SC"/>
                <a:cs typeface="Noto Sans SC"/>
                <a:sym typeface="Noto Sans SC"/>
              </a:rPr>
              <a:t>工作目录:</a:t>
            </a:r>
            <a:r>
              <a:rPr lang="en-US" sz="1300" b="0" i="0" u="none" strike="noStrike" spc="100">
                <a:solidFill>
                  <a:srgbClr val="94A3B8"/>
                </a:solidFill>
                <a:latin typeface="Inter"/>
                <a:ea typeface="Inter"/>
                <a:cs typeface="Inter"/>
                <a:sym typeface="Inter"/>
              </a:rPr>
              <a:t>algorithm/source</a:t>
            </a:r>
            <a:endParaRPr lang="en-US" sz="1100"/>
          </a:p>
        </p:txBody>
      </p:sp>
      <p:sp>
        <p:nvSpPr>
          <p:cNvPr id="4" name="AutoShape 4"/>
          <p:cNvSpPr/>
          <p:nvPr/>
        </p:nvSpPr>
        <p:spPr>
          <a:xfrm>
            <a:off x="508000" y="1524000"/>
            <a:ext cx="6858000" cy="1422400"/>
          </a:xfrm>
          <a:prstGeom prst="roundRect">
            <a:avLst>
              <a:gd name="adj" fmla="val 0"/>
            </a:avLst>
          </a:prstGeom>
          <a:solidFill>
            <a:srgbClr val="FFFFFF">
              <a:alpha val="6000"/>
            </a:srgbClr>
          </a:solidFill>
          <a:ln cap="flat" cmpd="sng">
            <a:solidFill>
              <a:srgbClr val="E6CFCF">
                <a:alpha val="6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508000" y="1524000"/>
            <a:ext cx="50800" cy="1422400"/>
          </a:xfrm>
          <a:prstGeom prst="roundRect">
            <a:avLst>
              <a:gd name="adj" fmla="val 0"/>
            </a:avLst>
          </a:prstGeom>
          <a:solidFill>
            <a:srgbClr val="38BDF8">
              <a:alpha val="100000"/>
            </a:srgbClr>
          </a:solidFill>
          <a:ln cap="flat" cmpd="sng">
            <a:solidFill>
              <a:srgbClr val="1CA3DF">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1524000"/>
            <a:ext cx="101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3600" b="1" i="0" u="none" strike="noStrike">
                <a:solidFill>
                  <a:srgbClr val="38BDF8"/>
                </a:solidFill>
                <a:latin typeface="Inter"/>
                <a:ea typeface="Inter"/>
                <a:cs typeface="Inter"/>
                <a:sym typeface="Inter"/>
              </a:rPr>
              <a:t>01</a:t>
            </a:r>
            <a:endParaRPr lang="en-US" sz="1100"/>
          </a:p>
        </p:txBody>
      </p:sp>
      <p:sp>
        <p:nvSpPr>
          <p:cNvPr id="7" name="AutoShape 7"/>
          <p:cNvSpPr/>
          <p:nvPr/>
        </p:nvSpPr>
        <p:spPr>
          <a:xfrm>
            <a:off x="1905000" y="1600200"/>
            <a:ext cx="5207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2000" b="1" i="0" u="none" strike="noStrike">
                <a:solidFill>
                  <a:srgbClr val="F1F5F9"/>
                </a:solidFill>
                <a:latin typeface="Noto Sans SC"/>
                <a:ea typeface="Noto Sans SC"/>
                <a:cs typeface="Noto Sans SC"/>
                <a:sym typeface="Noto Sans SC"/>
              </a:rPr>
              <a:t>启动服务</a:t>
            </a:r>
            <a:endParaRPr lang="en-US" sz="1100"/>
          </a:p>
        </p:txBody>
      </p:sp>
      <p:sp>
        <p:nvSpPr>
          <p:cNvPr id="8" name="AutoShape 8"/>
          <p:cNvSpPr/>
          <p:nvPr/>
        </p:nvSpPr>
        <p:spPr>
          <a:xfrm>
            <a:off x="1905000" y="1955800"/>
            <a:ext cx="5207000" cy="381000"/>
          </a:xfrm>
          <a:prstGeom prst="roundRect">
            <a:avLst>
              <a:gd name="adj" fmla="val 0"/>
            </a:avLst>
          </a:prstGeom>
          <a:solidFill>
            <a:srgbClr val="000000">
              <a:alpha val="40000"/>
            </a:srgbClr>
          </a:solidFill>
          <a:ln cap="flat" cmpd="sng">
            <a:solidFill>
              <a:srgbClr val="000000">
                <a:alpha val="4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1905000" y="1955800"/>
            <a:ext cx="38100" cy="381000"/>
          </a:xfrm>
          <a:prstGeom prst="roundRect">
            <a:avLst>
              <a:gd name="adj" fmla="val 0"/>
            </a:avLst>
          </a:prstGeom>
          <a:solidFill>
            <a:srgbClr val="38BDF8">
              <a:alpha val="100000"/>
            </a:srgbClr>
          </a:solidFill>
          <a:ln cap="flat" cmpd="sng">
            <a:solidFill>
              <a:srgbClr val="1CA3DF">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2057400" y="1955800"/>
            <a:ext cx="50165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0" i="0" u="none" strike="noStrike">
                <a:solidFill>
                  <a:srgbClr val="CBD5E1"/>
                </a:solidFill>
                <a:latin typeface="Inter"/>
                <a:ea typeface="Inter"/>
                <a:cs typeface="Inter"/>
                <a:sym typeface="Inter"/>
              </a:rPr>
              <a:t>./scripts/start.sh</a:t>
            </a:r>
            <a:endParaRPr lang="en-US" sz="1100"/>
          </a:p>
        </p:txBody>
      </p:sp>
      <p:sp>
        <p:nvSpPr>
          <p:cNvPr id="11" name="AutoShape 11"/>
          <p:cNvSpPr/>
          <p:nvPr/>
        </p:nvSpPr>
        <p:spPr>
          <a:xfrm>
            <a:off x="1905000" y="2413000"/>
            <a:ext cx="52070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0" i="0" u="none" strike="noStrike">
                <a:solidFill>
                  <a:srgbClr val="CBD5E1">
                    <a:alpha val="70196"/>
                  </a:srgbClr>
                </a:solidFill>
                <a:latin typeface="Noto Sans SC"/>
                <a:ea typeface="Noto Sans SC"/>
                <a:cs typeface="Noto Sans SC"/>
                <a:sym typeface="Noto Sans SC"/>
              </a:rPr>
              <a:t>服务地址:</a:t>
            </a:r>
            <a:r>
              <a:rPr lang="en-US" sz="1200" b="0" i="0" u="none" strike="noStrike">
                <a:solidFill>
                  <a:srgbClr val="94A3B8"/>
                </a:solidFill>
                <a:latin typeface="Inter"/>
                <a:ea typeface="Inter"/>
                <a:cs typeface="Inter"/>
                <a:sym typeface="Inter"/>
              </a:rPr>
              <a:t>http://127.0.0.1:28800</a:t>
            </a:r>
            <a:endParaRPr lang="en-US" sz="1100"/>
          </a:p>
        </p:txBody>
      </p:sp>
      <p:sp>
        <p:nvSpPr>
          <p:cNvPr id="12" name="AutoShape 12"/>
          <p:cNvSpPr/>
          <p:nvPr/>
        </p:nvSpPr>
        <p:spPr>
          <a:xfrm>
            <a:off x="508000" y="3073400"/>
            <a:ext cx="6858000" cy="1422400"/>
          </a:xfrm>
          <a:prstGeom prst="roundRect">
            <a:avLst>
              <a:gd name="adj" fmla="val 0"/>
            </a:avLst>
          </a:prstGeom>
          <a:solidFill>
            <a:srgbClr val="FFFFFF">
              <a:alpha val="6000"/>
            </a:srgbClr>
          </a:solidFill>
          <a:ln cap="flat" cmpd="sng">
            <a:solidFill>
              <a:srgbClr val="E6CFCF">
                <a:alpha val="6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508000" y="3073400"/>
            <a:ext cx="50800" cy="1422400"/>
          </a:xfrm>
          <a:prstGeom prst="roundRect">
            <a:avLst>
              <a:gd name="adj" fmla="val 0"/>
            </a:avLst>
          </a:prstGeom>
          <a:solidFill>
            <a:srgbClr val="38BDF8">
              <a:alpha val="100000"/>
            </a:srgbClr>
          </a:solidFill>
          <a:ln cap="flat" cmpd="sng">
            <a:solidFill>
              <a:srgbClr val="1CA3DF">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762000" y="3073400"/>
            <a:ext cx="101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3600" b="1" i="0" u="none" strike="noStrike">
                <a:solidFill>
                  <a:srgbClr val="38BDF8"/>
                </a:solidFill>
                <a:latin typeface="Inter"/>
                <a:ea typeface="Inter"/>
                <a:cs typeface="Inter"/>
                <a:sym typeface="Inter"/>
              </a:rPr>
              <a:t>02</a:t>
            </a:r>
            <a:endParaRPr lang="en-US" sz="1100"/>
          </a:p>
        </p:txBody>
      </p:sp>
      <p:sp>
        <p:nvSpPr>
          <p:cNvPr id="15" name="AutoShape 15"/>
          <p:cNvSpPr/>
          <p:nvPr/>
        </p:nvSpPr>
        <p:spPr>
          <a:xfrm>
            <a:off x="1905000" y="3149600"/>
            <a:ext cx="5207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2000" b="1" i="0" u="none" strike="noStrike">
                <a:solidFill>
                  <a:srgbClr val="F1F5F9"/>
                </a:solidFill>
                <a:latin typeface="Noto Sans SC"/>
                <a:ea typeface="Noto Sans SC"/>
                <a:cs typeface="Noto Sans SC"/>
                <a:sym typeface="Noto Sans SC"/>
              </a:rPr>
              <a:t>查询清单</a:t>
            </a:r>
            <a:endParaRPr lang="en-US" sz="1100"/>
          </a:p>
        </p:txBody>
      </p:sp>
      <p:sp>
        <p:nvSpPr>
          <p:cNvPr id="16" name="AutoShape 16"/>
          <p:cNvSpPr/>
          <p:nvPr/>
        </p:nvSpPr>
        <p:spPr>
          <a:xfrm>
            <a:off x="1905000" y="3556000"/>
            <a:ext cx="5207000" cy="381000"/>
          </a:xfrm>
          <a:prstGeom prst="roundRect">
            <a:avLst>
              <a:gd name="adj" fmla="val 0"/>
            </a:avLst>
          </a:prstGeom>
          <a:solidFill>
            <a:srgbClr val="000000">
              <a:alpha val="40000"/>
            </a:srgbClr>
          </a:solidFill>
          <a:ln cap="flat" cmpd="sng">
            <a:solidFill>
              <a:srgbClr val="000000">
                <a:alpha val="4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1905000" y="3556000"/>
            <a:ext cx="38100" cy="381000"/>
          </a:xfrm>
          <a:prstGeom prst="roundRect">
            <a:avLst>
              <a:gd name="adj" fmla="val 0"/>
            </a:avLst>
          </a:prstGeom>
          <a:solidFill>
            <a:srgbClr val="38BDF8">
              <a:alpha val="100000"/>
            </a:srgbClr>
          </a:solidFill>
          <a:ln cap="flat" cmpd="sng">
            <a:solidFill>
              <a:srgbClr val="1CA3DF">
                <a:alpha val="10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2057400" y="3556000"/>
            <a:ext cx="5016500" cy="381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1" i="0" u="none" strike="noStrike">
                <a:solidFill>
                  <a:srgbClr val="38BDF8"/>
                </a:solidFill>
                <a:latin typeface="Inter"/>
                <a:ea typeface="Inter"/>
                <a:cs typeface="Inter"/>
                <a:sym typeface="Inter"/>
              </a:rPr>
              <a:t>GET</a:t>
            </a:r>
            <a:r>
              <a:rPr lang="en-US" sz="1300" b="0" i="0" u="none" strike="noStrike">
                <a:solidFill>
                  <a:srgbClr val="CBD5E1"/>
                </a:solidFill>
                <a:latin typeface="Inter"/>
                <a:ea typeface="Inter"/>
                <a:cs typeface="Inter"/>
                <a:sym typeface="Inter"/>
              </a:rPr>
              <a:t>/api/v1/algorithms</a:t>
            </a:r>
            <a:endParaRPr lang="en-US" sz="1100"/>
          </a:p>
        </p:txBody>
      </p:sp>
      <p:sp>
        <p:nvSpPr>
          <p:cNvPr id="19" name="AutoShape 19"/>
          <p:cNvSpPr/>
          <p:nvPr/>
        </p:nvSpPr>
        <p:spPr>
          <a:xfrm>
            <a:off x="508000" y="4622800"/>
            <a:ext cx="6858000" cy="1422400"/>
          </a:xfrm>
          <a:prstGeom prst="roundRect">
            <a:avLst>
              <a:gd name="adj" fmla="val 0"/>
            </a:avLst>
          </a:prstGeom>
          <a:solidFill>
            <a:srgbClr val="FFFFFF">
              <a:alpha val="6000"/>
            </a:srgbClr>
          </a:solidFill>
          <a:ln cap="flat" cmpd="sng">
            <a:solidFill>
              <a:srgbClr val="E6CFCF">
                <a:alpha val="6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508000" y="4622800"/>
            <a:ext cx="50800" cy="1422400"/>
          </a:xfrm>
          <a:prstGeom prst="roundRect">
            <a:avLst>
              <a:gd name="adj" fmla="val 0"/>
            </a:avLst>
          </a:prstGeom>
          <a:solidFill>
            <a:srgbClr val="38BDF8">
              <a:alpha val="100000"/>
            </a:srgbClr>
          </a:solidFill>
          <a:ln cap="flat" cmpd="sng">
            <a:solidFill>
              <a:srgbClr val="1CA3DF">
                <a:alpha val="10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762000" y="4622800"/>
            <a:ext cx="101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3600" b="1" i="0" u="none" strike="noStrike">
                <a:solidFill>
                  <a:srgbClr val="38BDF8"/>
                </a:solidFill>
                <a:latin typeface="Inter"/>
                <a:ea typeface="Inter"/>
                <a:cs typeface="Inter"/>
                <a:sym typeface="Inter"/>
              </a:rPr>
              <a:t>03</a:t>
            </a:r>
            <a:endParaRPr lang="en-US" sz="1100"/>
          </a:p>
        </p:txBody>
      </p:sp>
      <p:sp>
        <p:nvSpPr>
          <p:cNvPr id="22" name="AutoShape 22"/>
          <p:cNvSpPr/>
          <p:nvPr/>
        </p:nvSpPr>
        <p:spPr>
          <a:xfrm>
            <a:off x="1905000" y="4699000"/>
            <a:ext cx="5207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2000" b="1" i="0" u="none" strike="noStrike">
                <a:solidFill>
                  <a:srgbClr val="F1F5F9"/>
                </a:solidFill>
                <a:latin typeface="Noto Sans SC"/>
                <a:ea typeface="Noto Sans SC"/>
                <a:cs typeface="Noto Sans SC"/>
                <a:sym typeface="Noto Sans SC"/>
              </a:rPr>
              <a:t>调用算法</a:t>
            </a:r>
            <a:endParaRPr lang="en-US" sz="1100"/>
          </a:p>
        </p:txBody>
      </p:sp>
      <p:sp>
        <p:nvSpPr>
          <p:cNvPr id="23" name="AutoShape 23"/>
          <p:cNvSpPr/>
          <p:nvPr/>
        </p:nvSpPr>
        <p:spPr>
          <a:xfrm>
            <a:off x="1905000" y="5080000"/>
            <a:ext cx="5207000" cy="330200"/>
          </a:xfrm>
          <a:prstGeom prst="roundRect">
            <a:avLst>
              <a:gd name="adj" fmla="val 0"/>
            </a:avLst>
          </a:prstGeom>
          <a:solidFill>
            <a:srgbClr val="000000">
              <a:alpha val="40000"/>
            </a:srgbClr>
          </a:solidFill>
          <a:ln cap="flat" cmpd="sng">
            <a:solidFill>
              <a:srgbClr val="000000">
                <a:alpha val="40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1905000" y="5080000"/>
            <a:ext cx="38100" cy="330200"/>
          </a:xfrm>
          <a:prstGeom prst="roundRect">
            <a:avLst>
              <a:gd name="adj" fmla="val 0"/>
            </a:avLst>
          </a:prstGeom>
          <a:solidFill>
            <a:srgbClr val="38BDF8">
              <a:alpha val="100000"/>
            </a:srgbClr>
          </a:solidFill>
          <a:ln cap="flat" cmpd="sng">
            <a:solidFill>
              <a:srgbClr val="1CA3DF">
                <a:alpha val="100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2057400" y="5080000"/>
            <a:ext cx="5016500" cy="3302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300" b="1" i="0" u="none" strike="noStrike">
                <a:solidFill>
                  <a:srgbClr val="38BDF8"/>
                </a:solidFill>
                <a:latin typeface="Inter"/>
                <a:ea typeface="Inter"/>
                <a:cs typeface="Inter"/>
                <a:sym typeface="Inter"/>
              </a:rPr>
              <a:t>POST</a:t>
            </a:r>
            <a:r>
              <a:rPr lang="en-US" sz="1300" b="0" i="0" u="none" strike="noStrike">
                <a:solidFill>
                  <a:srgbClr val="CBD5E1"/>
                </a:solidFill>
                <a:latin typeface="Inter"/>
                <a:ea typeface="Inter"/>
                <a:cs typeface="Inter"/>
                <a:sym typeface="Inter"/>
              </a:rPr>
              <a:t>/api/v1/algorithm/{id}/run</a:t>
            </a:r>
            <a:endParaRPr lang="en-US" sz="1100"/>
          </a:p>
        </p:txBody>
      </p:sp>
      <p:sp>
        <p:nvSpPr>
          <p:cNvPr id="26" name="AutoShape 26"/>
          <p:cNvSpPr/>
          <p:nvPr/>
        </p:nvSpPr>
        <p:spPr>
          <a:xfrm>
            <a:off x="1905000" y="5461000"/>
            <a:ext cx="5207000" cy="533400"/>
          </a:xfrm>
          <a:prstGeom prst="rect">
            <a:avLst/>
          </a:prstGeom>
          <a:noFill/>
          <a:ln w="12700" cap="flat" cmpd="sng">
            <a:noFill/>
            <a:prstDash val="solid"/>
            <a:round/>
          </a:ln>
        </p:spPr>
        <p:txBody>
          <a:bodyPr vert="horz" wrap="square" lIns="0" tIns="0" rIns="0" bIns="0" rtlCol="0" anchor="t" anchorCtr="0"/>
          <a:lstStyle/>
          <a:p>
            <a:pPr marL="0" indent="0" algn="l">
              <a:lnSpc>
                <a:spcPct val="113000"/>
              </a:lnSpc>
              <a:defRPr/>
            </a:pPr>
            <a:r>
              <a:rPr lang="en-US" sz="1200" b="0" i="0" u="none" strike="noStrike">
                <a:solidFill>
                  <a:srgbClr val="94A3B8"/>
                </a:solidFill>
                <a:latin typeface="Inter"/>
                <a:ea typeface="Inter"/>
                <a:cs typeface="Inter"/>
                <a:sym typeface="Inter"/>
              </a:rPr>
              <a:t>-F file=@xxx.tif</a:t>
            </a:r>
            <a:r>
              <a:rPr lang="en-US" sz="1200" b="0" i="0" u="none" strike="noStrike">
                <a:solidFill>
                  <a:srgbClr val="CBD5E1">
                    <a:alpha val="54902"/>
                  </a:srgbClr>
                </a:solidFill>
                <a:latin typeface="Noto Sans SC"/>
                <a:ea typeface="Noto Sans SC"/>
                <a:cs typeface="Noto Sans SC"/>
                <a:sym typeface="Noto Sans SC"/>
              </a:rPr>
              <a:t>｜</a:t>
            </a:r>
            <a:r>
              <a:rPr lang="en-US" sz="1200" b="0" i="0" u="none" strike="noStrike">
                <a:solidFill>
                  <a:srgbClr val="F97316">
                    <a:alpha val="90196"/>
                  </a:srgbClr>
                </a:solidFill>
                <a:latin typeface="Inter"/>
                <a:ea typeface="Inter"/>
                <a:cs typeface="Inter"/>
                <a:sym typeface="Inter"/>
              </a:rPr>
              <a:t>-F file2=@yyy.geojson(可选)</a:t>
            </a:r>
            <a:endParaRPr lang="en-US" sz="1100"/>
          </a:p>
          <a:p>
            <a:pPr marL="0" indent="0" algn="l">
              <a:lnSpc>
                <a:spcPct val="113000"/>
              </a:lnSpc>
            </a:pPr>
            <a:r>
              <a:rPr lang="en-US" sz="1200" b="0" i="0" u="none" strike="noStrike">
                <a:solidFill>
                  <a:srgbClr val="F97316">
                    <a:alpha val="90196"/>
                  </a:srgbClr>
                </a:solidFill>
                <a:latin typeface="Inter"/>
                <a:ea typeface="Inter"/>
                <a:cs typeface="Inter"/>
                <a:sym typeface="Inter"/>
              </a:rPr>
              <a:t>-F params='{}'(可选)</a:t>
            </a:r>
            <a:r>
              <a:rPr lang="en-US" sz="1200" b="0" i="0" u="none" strike="noStrike">
                <a:solidFill>
                  <a:srgbClr val="CBD5E1">
                    <a:alpha val="54902"/>
                  </a:srgbClr>
                </a:solidFill>
                <a:latin typeface="Noto Sans SC"/>
                <a:ea typeface="Noto Sans SC"/>
                <a:cs typeface="Noto Sans SC"/>
                <a:sym typeface="Noto Sans SC"/>
              </a:rPr>
              <a:t>｜　返回:</a:t>
            </a:r>
            <a:r>
              <a:rPr lang="en-US" sz="1200" b="0" i="0" u="none" strike="noStrike">
                <a:solidFill>
                  <a:srgbClr val="10B981"/>
                </a:solidFill>
                <a:latin typeface="Inter"/>
                <a:ea typeface="Inter"/>
                <a:cs typeface="Inter"/>
                <a:sym typeface="Inter"/>
              </a:rPr>
              <a:t>success / data / files</a:t>
            </a:r>
            <a:endParaRPr lang="en-US" sz="1200" b="0" i="0" u="none" strike="noStrike">
              <a:solidFill>
                <a:srgbClr val="10B981"/>
              </a:solidFill>
              <a:latin typeface="Inter"/>
              <a:ea typeface="Inter"/>
              <a:cs typeface="Inter"/>
              <a:sym typeface="Inter"/>
            </a:endParaRPr>
          </a:p>
        </p:txBody>
      </p:sp>
      <p:sp>
        <p:nvSpPr>
          <p:cNvPr id="27" name="AutoShape 27"/>
          <p:cNvSpPr/>
          <p:nvPr/>
        </p:nvSpPr>
        <p:spPr>
          <a:xfrm>
            <a:off x="7620000" y="1524000"/>
            <a:ext cx="4191000" cy="2921000"/>
          </a:xfrm>
          <a:prstGeom prst="roundRect">
            <a:avLst>
              <a:gd name="adj" fmla="val 0"/>
            </a:avLst>
          </a:prstGeom>
          <a:solidFill>
            <a:srgbClr val="38BDF8">
              <a:alpha val="8000"/>
            </a:srgbClr>
          </a:solidFill>
          <a:ln cap="flat" cmpd="sng">
            <a:solidFill>
              <a:srgbClr val="1CA3DF">
                <a:alpha val="8000"/>
              </a:srgbClr>
            </a:solidFill>
            <a:prstDash val="solid"/>
            <a:round/>
          </a:ln>
        </p:spPr>
        <p:txBody>
          <a:bodyPr vert="horz" wrap="square" lIns="63500" tIns="63500" rIns="63500" bIns="63500" rtlCol="0" anchor="ctr"/>
          <a:lstStyle/>
          <a:p>
            <a:pPr algn="ctr">
              <a:defRPr/>
            </a:pPr>
          </a:p>
        </p:txBody>
      </p:sp>
      <p:sp>
        <p:nvSpPr>
          <p:cNvPr id="28" name="AutoShape 28"/>
          <p:cNvSpPr/>
          <p:nvPr/>
        </p:nvSpPr>
        <p:spPr>
          <a:xfrm>
            <a:off x="7772400" y="1600200"/>
            <a:ext cx="3937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2000" b="1" i="0" u="none" strike="noStrike">
                <a:solidFill>
                  <a:srgbClr val="F1F5F9"/>
                </a:solidFill>
                <a:latin typeface="Noto Sans SC"/>
                <a:ea typeface="Noto Sans SC"/>
                <a:cs typeface="Noto Sans SC"/>
                <a:sym typeface="Noto Sans SC"/>
              </a:rPr>
              <a:t>示例:NDVI</a:t>
            </a:r>
            <a:r>
              <a:rPr lang="en-US" sz="1300" b="0" i="0" u="none" strike="noStrike">
                <a:solidFill>
                  <a:srgbClr val="94A3B8">
                    <a:alpha val="90196"/>
                  </a:srgbClr>
                </a:solidFill>
                <a:latin typeface="Inter"/>
                <a:ea typeface="Inter"/>
                <a:cs typeface="Inter"/>
                <a:sym typeface="Inter"/>
              </a:rPr>
              <a:t>(#27)</a:t>
            </a:r>
            <a:endParaRPr lang="en-US" sz="1100"/>
          </a:p>
        </p:txBody>
      </p:sp>
      <p:cxnSp>
        <p:nvCxnSpPr>
          <p:cNvPr id="29" name="Connector 29"/>
          <p:cNvCxnSpPr/>
          <p:nvPr/>
        </p:nvCxnSpPr>
        <p:spPr>
          <a:xfrm rot="-11234">
            <a:off x="7772410" y="2025650"/>
            <a:ext cx="3886200" cy="12700"/>
          </a:xfrm>
          <a:prstGeom prst="straightConnector1">
            <a:avLst/>
          </a:prstGeom>
          <a:solidFill>
            <a:srgbClr val="DEE0E3">
              <a:alpha val="100000"/>
            </a:srgbClr>
          </a:solidFill>
          <a:ln w="12700" cap="flat" cmpd="sng">
            <a:solidFill>
              <a:srgbClr val="94A3B8">
                <a:alpha val="25000"/>
              </a:srgbClr>
            </a:solidFill>
            <a:prstDash val="solid"/>
            <a:round/>
            <a:headEnd type="none" w="med" len="med"/>
            <a:tailEnd type="none" w="med" len="med"/>
          </a:ln>
        </p:spPr>
      </p:cxnSp>
      <p:sp>
        <p:nvSpPr>
          <p:cNvPr id="30" name="AutoShape 30"/>
          <p:cNvSpPr/>
          <p:nvPr/>
        </p:nvSpPr>
        <p:spPr>
          <a:xfrm>
            <a:off x="7772400" y="2133600"/>
            <a:ext cx="3886200" cy="1244600"/>
          </a:xfrm>
          <a:prstGeom prst="roundRect">
            <a:avLst>
              <a:gd name="adj" fmla="val 0"/>
            </a:avLst>
          </a:prstGeom>
          <a:solidFill>
            <a:srgbClr val="000000">
              <a:alpha val="40000"/>
            </a:srgbClr>
          </a:solidFill>
          <a:ln cap="flat" cmpd="sng">
            <a:solidFill>
              <a:srgbClr val="000000">
                <a:alpha val="40000"/>
              </a:srgbClr>
            </a:solidFill>
            <a:prstDash val="solid"/>
            <a:round/>
          </a:ln>
        </p:spPr>
        <p:txBody>
          <a:bodyPr vert="horz" wrap="square" lIns="63500" tIns="63500" rIns="63500" bIns="63500" rtlCol="0" anchor="ctr"/>
          <a:lstStyle/>
          <a:p>
            <a:pPr algn="ctr">
              <a:defRPr/>
            </a:pPr>
          </a:p>
        </p:txBody>
      </p:sp>
      <p:sp>
        <p:nvSpPr>
          <p:cNvPr id="31" name="AutoShape 31"/>
          <p:cNvSpPr/>
          <p:nvPr/>
        </p:nvSpPr>
        <p:spPr>
          <a:xfrm>
            <a:off x="7874000" y="2159000"/>
            <a:ext cx="3708400" cy="11938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100" b="0" i="0" u="none" strike="noStrike">
                <a:solidFill>
                  <a:srgbClr val="CBD5E1">
                    <a:alpha val="90196"/>
                  </a:srgbClr>
                </a:solidFill>
                <a:latin typeface="Inter"/>
                <a:ea typeface="Inter"/>
                <a:cs typeface="Inter"/>
                <a:sym typeface="Inter"/>
              </a:rPr>
              <a:t>curl -X POST "http://127.0.0.1:28800</a:t>
            </a:r>
            <a:endParaRPr lang="en-US" sz="1100"/>
          </a:p>
          <a:p>
            <a:pPr marL="0" indent="0" algn="l">
              <a:lnSpc>
                <a:spcPct val="117000"/>
              </a:lnSpc>
            </a:pPr>
            <a:r>
              <a:rPr lang="en-US" sz="1100" b="0" i="0" u="none" strike="noStrike">
                <a:solidFill>
                  <a:srgbClr val="CBD5E1">
                    <a:alpha val="90196"/>
                  </a:srgbClr>
                </a:solidFill>
                <a:latin typeface="Inter"/>
                <a:ea typeface="Inter"/>
                <a:cs typeface="Inter"/>
                <a:sym typeface="Inter"/>
              </a:rPr>
              <a:t>/api/v1/27_ndvi/run" -F</a:t>
            </a:r>
            <a:endParaRPr lang="en-US" sz="1100" b="0" i="0" u="none" strike="noStrike">
              <a:solidFill>
                <a:srgbClr val="CBD5E1">
                  <a:alpha val="90196"/>
                </a:srgbClr>
              </a:solidFill>
              <a:latin typeface="Inter"/>
              <a:ea typeface="Inter"/>
              <a:cs typeface="Inter"/>
              <a:sym typeface="Inter"/>
            </a:endParaRPr>
          </a:p>
          <a:p>
            <a:pPr marL="0" indent="0" algn="l">
              <a:lnSpc>
                <a:spcPct val="117000"/>
              </a:lnSpc>
            </a:pPr>
            <a:r>
              <a:rPr lang="en-US" sz="1100" b="0" i="0" u="none" strike="noStrike">
                <a:solidFill>
                  <a:srgbClr val="CBD5E1">
                    <a:alpha val="90196"/>
                  </a:srgbClr>
                </a:solidFill>
                <a:latin typeface="Inter"/>
                <a:ea typeface="Inter"/>
                <a:cs typeface="Inter"/>
                <a:sym typeface="Inter"/>
              </a:rPr>
              <a:t>"file=@testdata/input.tif" -F</a:t>
            </a:r>
            <a:endParaRPr lang="en-US" sz="1100" b="0" i="0" u="none" strike="noStrike">
              <a:solidFill>
                <a:srgbClr val="CBD5E1">
                  <a:alpha val="90196"/>
                </a:srgbClr>
              </a:solidFill>
              <a:latin typeface="Inter"/>
              <a:ea typeface="Inter"/>
              <a:cs typeface="Inter"/>
              <a:sym typeface="Inter"/>
            </a:endParaRPr>
          </a:p>
          <a:p>
            <a:pPr marL="0" indent="0" algn="l">
              <a:lnSpc>
                <a:spcPct val="117000"/>
              </a:lnSpc>
            </a:pPr>
            <a:r>
              <a:rPr lang="en-US" sz="1100" b="0" i="0" u="none" strike="noStrike">
                <a:solidFill>
                  <a:srgbClr val="CBD5E1">
                    <a:alpha val="90196"/>
                  </a:srgbClr>
                </a:solidFill>
                <a:latin typeface="Inter"/>
                <a:ea typeface="Inter"/>
                <a:cs typeface="Inter"/>
                <a:sym typeface="Inter"/>
              </a:rPr>
              <a:t>'params={"red_band":2,"nir_band":3}'</a:t>
            </a:r>
            <a:endParaRPr lang="en-US" sz="1100" b="0" i="0" u="none" strike="noStrike">
              <a:solidFill>
                <a:srgbClr val="CBD5E1">
                  <a:alpha val="90196"/>
                </a:srgbClr>
              </a:solidFill>
              <a:latin typeface="Inter"/>
              <a:ea typeface="Inter"/>
              <a:cs typeface="Inter"/>
              <a:sym typeface="Inter"/>
            </a:endParaRPr>
          </a:p>
        </p:txBody>
      </p:sp>
      <p:sp>
        <p:nvSpPr>
          <p:cNvPr id="32" name="AutoShape 32"/>
          <p:cNvSpPr/>
          <p:nvPr/>
        </p:nvSpPr>
        <p:spPr>
          <a:xfrm>
            <a:off x="7772400" y="3454400"/>
            <a:ext cx="3937000" cy="279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500" b="1" i="0" u="none" strike="noStrike">
                <a:solidFill>
                  <a:srgbClr val="F1F5F9"/>
                </a:solidFill>
                <a:latin typeface="Noto Sans SC"/>
                <a:ea typeface="Noto Sans SC"/>
                <a:cs typeface="Noto Sans SC"/>
                <a:sym typeface="Noto Sans SC"/>
              </a:rPr>
              <a:t>业务侧可消费</a:t>
            </a:r>
            <a:endParaRPr lang="en-US" sz="1100"/>
          </a:p>
        </p:txBody>
      </p:sp>
      <p:sp>
        <p:nvSpPr>
          <p:cNvPr id="33" name="AutoShape 33"/>
          <p:cNvSpPr/>
          <p:nvPr/>
        </p:nvSpPr>
        <p:spPr>
          <a:xfrm>
            <a:off x="7772400" y="3810000"/>
            <a:ext cx="1270000" cy="660400"/>
          </a:xfrm>
          <a:prstGeom prst="roundRect">
            <a:avLst>
              <a:gd name="adj" fmla="val 0"/>
            </a:avLst>
          </a:prstGeom>
          <a:solidFill>
            <a:srgbClr val="10B981">
              <a:alpha val="12000"/>
            </a:srgbClr>
          </a:solidFill>
          <a:ln cap="flat" cmpd="sng">
            <a:solidFill>
              <a:srgbClr val="00A06B">
                <a:alpha val="12000"/>
              </a:srgbClr>
            </a:solidFill>
            <a:prstDash val="solid"/>
            <a:round/>
          </a:ln>
        </p:spPr>
        <p:txBody>
          <a:bodyPr vert="horz" wrap="square" lIns="63500" tIns="63500" rIns="63500" bIns="63500" rtlCol="0" anchor="ctr"/>
          <a:lstStyle/>
          <a:p>
            <a:pPr algn="ctr">
              <a:defRPr/>
            </a:pPr>
          </a:p>
        </p:txBody>
      </p:sp>
      <p:sp>
        <p:nvSpPr>
          <p:cNvPr id="34" name="AutoShape 34"/>
          <p:cNvSpPr/>
          <p:nvPr/>
        </p:nvSpPr>
        <p:spPr>
          <a:xfrm>
            <a:off x="7772400" y="3810000"/>
            <a:ext cx="38100" cy="660400"/>
          </a:xfrm>
          <a:prstGeom prst="roundRect">
            <a:avLst>
              <a:gd name="adj" fmla="val 0"/>
            </a:avLst>
          </a:prstGeom>
          <a:solidFill>
            <a:srgbClr val="10B981">
              <a:alpha val="100000"/>
            </a:srgbClr>
          </a:solidFill>
          <a:ln cap="flat" cmpd="sng">
            <a:solidFill>
              <a:srgbClr val="00A06B">
                <a:alpha val="100000"/>
              </a:srgbClr>
            </a:solidFill>
            <a:prstDash val="solid"/>
            <a:round/>
          </a:ln>
        </p:spPr>
        <p:txBody>
          <a:bodyPr vert="horz" wrap="square" lIns="63500" tIns="63500" rIns="63500" bIns="63500" rtlCol="0" anchor="ctr"/>
          <a:lstStyle/>
          <a:p>
            <a:pPr algn="ctr">
              <a:defRPr/>
            </a:pPr>
          </a:p>
        </p:txBody>
      </p:sp>
      <p:sp>
        <p:nvSpPr>
          <p:cNvPr id="35" name="AutoShape 35"/>
          <p:cNvSpPr/>
          <p:nvPr/>
        </p:nvSpPr>
        <p:spPr>
          <a:xfrm>
            <a:off x="7835900" y="3810000"/>
            <a:ext cx="12065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200" b="1" i="0" u="none" strike="noStrike">
                <a:solidFill>
                  <a:srgbClr val="E2E8F0"/>
                </a:solidFill>
                <a:latin typeface="Inter"/>
                <a:ea typeface="Inter"/>
                <a:cs typeface="Inter"/>
                <a:sym typeface="Inter"/>
              </a:rPr>
              <a:t>data.json</a:t>
            </a:r>
            <a:endParaRPr lang="en-US" sz="1100"/>
          </a:p>
        </p:txBody>
      </p:sp>
      <p:sp>
        <p:nvSpPr>
          <p:cNvPr id="36" name="AutoShape 36"/>
          <p:cNvSpPr/>
          <p:nvPr/>
        </p:nvSpPr>
        <p:spPr>
          <a:xfrm>
            <a:off x="7835900" y="4089400"/>
            <a:ext cx="12065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000" b="0" i="0" u="none" strike="noStrike">
                <a:solidFill>
                  <a:srgbClr val="94A3B8">
                    <a:alpha val="90196"/>
                  </a:srgbClr>
                </a:solidFill>
                <a:latin typeface="Noto Sans SC"/>
                <a:ea typeface="Noto Sans SC"/>
                <a:cs typeface="Noto Sans SC"/>
                <a:sym typeface="Noto Sans SC"/>
              </a:rPr>
              <a:t>min/max 统计</a:t>
            </a:r>
            <a:endParaRPr lang="en-US" sz="1100"/>
          </a:p>
        </p:txBody>
      </p:sp>
      <p:sp>
        <p:nvSpPr>
          <p:cNvPr id="37" name="AutoShape 37"/>
          <p:cNvSpPr/>
          <p:nvPr/>
        </p:nvSpPr>
        <p:spPr>
          <a:xfrm>
            <a:off x="9093200" y="3810000"/>
            <a:ext cx="1270000" cy="660400"/>
          </a:xfrm>
          <a:prstGeom prst="roundRect">
            <a:avLst>
              <a:gd name="adj" fmla="val 0"/>
            </a:avLst>
          </a:prstGeom>
          <a:solidFill>
            <a:srgbClr val="10B981">
              <a:alpha val="12000"/>
            </a:srgbClr>
          </a:solidFill>
          <a:ln cap="flat" cmpd="sng">
            <a:solidFill>
              <a:srgbClr val="00A06B">
                <a:alpha val="12000"/>
              </a:srgbClr>
            </a:solidFill>
            <a:prstDash val="solid"/>
            <a:round/>
          </a:ln>
        </p:spPr>
        <p:txBody>
          <a:bodyPr vert="horz" wrap="square" lIns="63500" tIns="63500" rIns="63500" bIns="63500" rtlCol="0" anchor="ctr"/>
          <a:lstStyle/>
          <a:p>
            <a:pPr algn="ctr">
              <a:defRPr/>
            </a:pPr>
          </a:p>
        </p:txBody>
      </p:sp>
      <p:sp>
        <p:nvSpPr>
          <p:cNvPr id="38" name="AutoShape 38"/>
          <p:cNvSpPr/>
          <p:nvPr/>
        </p:nvSpPr>
        <p:spPr>
          <a:xfrm>
            <a:off x="9093200" y="3810000"/>
            <a:ext cx="38100" cy="660400"/>
          </a:xfrm>
          <a:prstGeom prst="roundRect">
            <a:avLst>
              <a:gd name="adj" fmla="val 0"/>
            </a:avLst>
          </a:prstGeom>
          <a:solidFill>
            <a:srgbClr val="10B981">
              <a:alpha val="100000"/>
            </a:srgbClr>
          </a:solidFill>
          <a:ln cap="flat" cmpd="sng">
            <a:solidFill>
              <a:srgbClr val="00A06B">
                <a:alpha val="100000"/>
              </a:srgbClr>
            </a:solidFill>
            <a:prstDash val="solid"/>
            <a:round/>
          </a:ln>
        </p:spPr>
        <p:txBody>
          <a:bodyPr vert="horz" wrap="square" lIns="63500" tIns="63500" rIns="63500" bIns="63500" rtlCol="0" anchor="ctr"/>
          <a:lstStyle/>
          <a:p>
            <a:pPr algn="ctr">
              <a:defRPr/>
            </a:pPr>
          </a:p>
        </p:txBody>
      </p:sp>
      <p:sp>
        <p:nvSpPr>
          <p:cNvPr id="39" name="AutoShape 39"/>
          <p:cNvSpPr/>
          <p:nvPr/>
        </p:nvSpPr>
        <p:spPr>
          <a:xfrm>
            <a:off x="9156700" y="3810000"/>
            <a:ext cx="12065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200" b="1" i="0" u="none" strike="noStrike">
                <a:solidFill>
                  <a:srgbClr val="E2E8F0"/>
                </a:solidFill>
                <a:latin typeface="Inter"/>
                <a:ea typeface="Inter"/>
                <a:cs typeface="Inter"/>
                <a:sym typeface="Inter"/>
              </a:rPr>
              <a:t>files.tif</a:t>
            </a:r>
            <a:endParaRPr lang="en-US" sz="1100"/>
          </a:p>
        </p:txBody>
      </p:sp>
      <p:sp>
        <p:nvSpPr>
          <p:cNvPr id="40" name="AutoShape 40"/>
          <p:cNvSpPr/>
          <p:nvPr/>
        </p:nvSpPr>
        <p:spPr>
          <a:xfrm>
            <a:off x="9156700" y="4089400"/>
            <a:ext cx="12065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000" b="0" i="0" u="none" strike="noStrike">
                <a:solidFill>
                  <a:srgbClr val="94A3B8">
                    <a:alpha val="90196"/>
                  </a:srgbClr>
                </a:solidFill>
                <a:latin typeface="Noto Sans SC"/>
                <a:ea typeface="Noto Sans SC"/>
                <a:cs typeface="Noto Sans SC"/>
                <a:sym typeface="Noto Sans SC"/>
              </a:rPr>
              <a:t>GIS 看图</a:t>
            </a:r>
            <a:endParaRPr lang="en-US" sz="1100"/>
          </a:p>
        </p:txBody>
      </p:sp>
      <p:sp>
        <p:nvSpPr>
          <p:cNvPr id="41" name="AutoShape 41"/>
          <p:cNvSpPr/>
          <p:nvPr/>
        </p:nvSpPr>
        <p:spPr>
          <a:xfrm>
            <a:off x="10414000" y="3810000"/>
            <a:ext cx="1270000" cy="660400"/>
          </a:xfrm>
          <a:prstGeom prst="roundRect">
            <a:avLst>
              <a:gd name="adj" fmla="val 0"/>
            </a:avLst>
          </a:prstGeom>
          <a:solidFill>
            <a:srgbClr val="10B981">
              <a:alpha val="12000"/>
            </a:srgbClr>
          </a:solidFill>
          <a:ln cap="flat" cmpd="sng">
            <a:solidFill>
              <a:srgbClr val="00A06B">
                <a:alpha val="12000"/>
              </a:srgbClr>
            </a:solidFill>
            <a:prstDash val="solid"/>
            <a:round/>
          </a:ln>
        </p:spPr>
        <p:txBody>
          <a:bodyPr vert="horz" wrap="square" lIns="63500" tIns="63500" rIns="63500" bIns="63500" rtlCol="0" anchor="ctr"/>
          <a:lstStyle/>
          <a:p>
            <a:pPr algn="ctr">
              <a:defRPr/>
            </a:pPr>
          </a:p>
        </p:txBody>
      </p:sp>
      <p:sp>
        <p:nvSpPr>
          <p:cNvPr id="42" name="AutoShape 42"/>
          <p:cNvSpPr/>
          <p:nvPr/>
        </p:nvSpPr>
        <p:spPr>
          <a:xfrm>
            <a:off x="10414000" y="3810000"/>
            <a:ext cx="38100" cy="660400"/>
          </a:xfrm>
          <a:prstGeom prst="roundRect">
            <a:avLst>
              <a:gd name="adj" fmla="val 0"/>
            </a:avLst>
          </a:prstGeom>
          <a:solidFill>
            <a:srgbClr val="10B981">
              <a:alpha val="100000"/>
            </a:srgbClr>
          </a:solidFill>
          <a:ln cap="flat" cmpd="sng">
            <a:solidFill>
              <a:srgbClr val="00A06B">
                <a:alpha val="100000"/>
              </a:srgbClr>
            </a:solidFill>
            <a:prstDash val="solid"/>
            <a:round/>
          </a:ln>
        </p:spPr>
        <p:txBody>
          <a:bodyPr vert="horz" wrap="square" lIns="63500" tIns="63500" rIns="63500" bIns="63500" rtlCol="0" anchor="ctr"/>
          <a:lstStyle/>
          <a:p>
            <a:pPr algn="ctr">
              <a:defRPr/>
            </a:pPr>
          </a:p>
        </p:txBody>
      </p:sp>
      <p:sp>
        <p:nvSpPr>
          <p:cNvPr id="43" name="AutoShape 43"/>
          <p:cNvSpPr/>
          <p:nvPr/>
        </p:nvSpPr>
        <p:spPr>
          <a:xfrm>
            <a:off x="10477500" y="3810000"/>
            <a:ext cx="12065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200" b="1" i="0" u="none" strike="noStrike">
                <a:solidFill>
                  <a:srgbClr val="E2E8F0"/>
                </a:solidFill>
                <a:latin typeface="Inter"/>
                <a:ea typeface="Inter"/>
                <a:cs typeface="Inter"/>
                <a:sym typeface="Inter"/>
              </a:rPr>
              <a:t>preview.png</a:t>
            </a:r>
            <a:endParaRPr lang="en-US" sz="1100"/>
          </a:p>
        </p:txBody>
      </p:sp>
      <p:sp>
        <p:nvSpPr>
          <p:cNvPr id="44" name="AutoShape 44"/>
          <p:cNvSpPr/>
          <p:nvPr/>
        </p:nvSpPr>
        <p:spPr>
          <a:xfrm>
            <a:off x="10477500" y="4089400"/>
            <a:ext cx="12065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000" b="0" i="0" u="none" strike="noStrike">
                <a:solidFill>
                  <a:srgbClr val="94A3B8">
                    <a:alpha val="90196"/>
                  </a:srgbClr>
                </a:solidFill>
                <a:latin typeface="Noto Sans SC"/>
                <a:ea typeface="Noto Sans SC"/>
                <a:cs typeface="Noto Sans SC"/>
                <a:sym typeface="Noto Sans SC"/>
              </a:rPr>
              <a:t>直观预览</a:t>
            </a:r>
            <a:endParaRPr lang="en-US" sz="1100"/>
          </a:p>
        </p:txBody>
      </p:sp>
      <p:sp>
        <p:nvSpPr>
          <p:cNvPr id="45" name="AutoShape 45"/>
          <p:cNvSpPr/>
          <p:nvPr/>
        </p:nvSpPr>
        <p:spPr>
          <a:xfrm>
            <a:off x="7620000" y="4927600"/>
            <a:ext cx="4191000" cy="762000"/>
          </a:xfrm>
          <a:prstGeom prst="roundRect">
            <a:avLst>
              <a:gd name="adj" fmla="val 0"/>
            </a:avLst>
          </a:prstGeom>
          <a:solidFill>
            <a:srgbClr val="FFFFFF">
              <a:alpha val="5000"/>
            </a:srgbClr>
          </a:solidFill>
          <a:ln cap="flat" cmpd="sng">
            <a:solidFill>
              <a:srgbClr val="E6CFCF">
                <a:alpha val="5000"/>
              </a:srgbClr>
            </a:solidFill>
            <a:prstDash val="solid"/>
            <a:round/>
          </a:ln>
        </p:spPr>
        <p:txBody>
          <a:bodyPr vert="horz" wrap="square" lIns="63500" tIns="63500" rIns="63500" bIns="63500" rtlCol="0" anchor="ctr"/>
          <a:lstStyle/>
          <a:p>
            <a:pPr algn="ctr">
              <a:defRPr/>
            </a:pPr>
          </a:p>
        </p:txBody>
      </p:sp>
      <p:sp>
        <p:nvSpPr>
          <p:cNvPr id="46" name="AutoShape 46"/>
          <p:cNvSpPr/>
          <p:nvPr/>
        </p:nvSpPr>
        <p:spPr>
          <a:xfrm>
            <a:off x="7772400" y="4991100"/>
            <a:ext cx="3937000" cy="254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300" b="1" i="0" u="none" strike="noStrike">
                <a:solidFill>
                  <a:srgbClr val="E2E8F0">
                    <a:alpha val="90196"/>
                  </a:srgbClr>
                </a:solidFill>
                <a:latin typeface="Noto Sans SC"/>
                <a:ea typeface="Noto Sans SC"/>
                <a:cs typeface="Noto Sans SC"/>
                <a:sym typeface="Noto Sans SC"/>
              </a:rPr>
              <a:t>同类方式对接</a:t>
            </a:r>
            <a:endParaRPr lang="en-US" sz="1100"/>
          </a:p>
        </p:txBody>
      </p:sp>
      <p:sp>
        <p:nvSpPr>
          <p:cNvPr id="47" name="AutoShape 47"/>
          <p:cNvSpPr/>
          <p:nvPr/>
        </p:nvSpPr>
        <p:spPr>
          <a:xfrm>
            <a:off x="7772400" y="5334000"/>
            <a:ext cx="3937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200" b="0" i="0" u="none" strike="noStrike">
                <a:solidFill>
                  <a:srgbClr val="CBD5E1">
                    <a:alpha val="80000"/>
                  </a:srgbClr>
                </a:solidFill>
                <a:latin typeface="Inter"/>
                <a:ea typeface="Inter"/>
                <a:cs typeface="Inter"/>
                <a:sym typeface="Inter"/>
              </a:rPr>
              <a:t>#34 分类</a:t>
            </a:r>
            <a:r>
              <a:rPr lang="en-US" sz="1200" b="0" i="0" u="none" strike="noStrike">
                <a:solidFill>
                  <a:srgbClr val="CBD5E1">
                    <a:alpha val="50196"/>
                  </a:srgbClr>
                </a:solidFill>
                <a:latin typeface="Noto Sans SC"/>
                <a:ea typeface="Noto Sans SC"/>
                <a:cs typeface="Noto Sans SC"/>
                <a:sym typeface="Noto Sans SC"/>
              </a:rPr>
              <a:t>·</a:t>
            </a:r>
            <a:r>
              <a:rPr lang="en-US" sz="1200" b="0" i="0" u="none" strike="noStrike">
                <a:solidFill>
                  <a:srgbClr val="CBD5E1">
                    <a:alpha val="80000"/>
                  </a:srgbClr>
                </a:solidFill>
                <a:latin typeface="Inter"/>
                <a:ea typeface="Inter"/>
                <a:cs typeface="Inter"/>
                <a:sym typeface="Inter"/>
              </a:rPr>
              <a:t>#45 汇总</a:t>
            </a:r>
            <a:r>
              <a:rPr lang="en-US" sz="1200" b="0" i="0" u="none" strike="noStrike">
                <a:solidFill>
                  <a:srgbClr val="CBD5E1">
                    <a:alpha val="50196"/>
                  </a:srgbClr>
                </a:solidFill>
                <a:latin typeface="Noto Sans SC"/>
                <a:ea typeface="Noto Sans SC"/>
                <a:cs typeface="Noto Sans SC"/>
                <a:sym typeface="Noto Sans SC"/>
              </a:rPr>
              <a:t>,调用方式一致。</a:t>
            </a:r>
            <a:endParaRPr lang="en-US" sz="11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7112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3200" b="1" i="0" u="none" strike="noStrike" spc="100">
                <a:solidFill>
                  <a:srgbClr val="1E3A8A"/>
                </a:solidFill>
                <a:latin typeface="Noto Sans SC"/>
                <a:ea typeface="Noto Sans SC"/>
                <a:cs typeface="Noto Sans SC"/>
                <a:sym typeface="Noto Sans SC"/>
              </a:rPr>
              <a:t>能力边界与建设路径</a:t>
            </a:r>
            <a:endParaRPr lang="en-US" sz="1100"/>
          </a:p>
        </p:txBody>
      </p:sp>
      <p:sp>
        <p:nvSpPr>
          <p:cNvPr id="3" name="AutoShape 3"/>
          <p:cNvSpPr/>
          <p:nvPr/>
        </p:nvSpPr>
        <p:spPr>
          <a:xfrm>
            <a:off x="508000" y="1117600"/>
            <a:ext cx="11176000" cy="3556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800" b="0" i="0" u="none" strike="noStrike" spc="100">
                <a:solidFill>
                  <a:srgbClr val="64748B"/>
                </a:solidFill>
                <a:latin typeface="Noto Sans SC"/>
                <a:ea typeface="Noto Sans SC"/>
                <a:cs typeface="Noto Sans SC"/>
                <a:sym typeface="Noto Sans SC"/>
              </a:rPr>
              <a:t>汇报与立项需明确范围,避免预期错位</a:t>
            </a:r>
            <a:endParaRPr lang="en-US" sz="1100"/>
          </a:p>
        </p:txBody>
      </p:sp>
      <p:sp>
        <p:nvSpPr>
          <p:cNvPr id="4" name="AutoShape 4"/>
          <p:cNvSpPr/>
          <p:nvPr/>
        </p:nvSpPr>
        <p:spPr>
          <a:xfrm>
            <a:off x="508000" y="1651000"/>
            <a:ext cx="5588000" cy="20955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508000" y="1651000"/>
            <a:ext cx="50800" cy="20955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87400" y="1752600"/>
            <a:ext cx="5080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900" b="1" i="0" u="none" strike="noStrike" spc="200">
                <a:solidFill>
                  <a:srgbClr val="1E3A8A"/>
                </a:solidFill>
                <a:latin typeface="Noto Sans SC"/>
                <a:ea typeface="Noto Sans SC"/>
                <a:cs typeface="Noto Sans SC"/>
                <a:sym typeface="Noto Sans SC"/>
              </a:rPr>
              <a:t>当前范围</a:t>
            </a:r>
            <a:endParaRPr lang="en-US" sz="1100"/>
          </a:p>
        </p:txBody>
      </p:sp>
      <p:cxnSp>
        <p:nvCxnSpPr>
          <p:cNvPr id="7" name="Connector 7"/>
          <p:cNvCxnSpPr/>
          <p:nvPr/>
        </p:nvCxnSpPr>
        <p:spPr>
          <a:xfrm rot="-8681">
            <a:off x="787408" y="2228850"/>
            <a:ext cx="50292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8" name="AutoShape 8"/>
          <p:cNvSpPr/>
          <p:nvPr/>
        </p:nvSpPr>
        <p:spPr>
          <a:xfrm>
            <a:off x="787400" y="2311400"/>
            <a:ext cx="5080000" cy="889000"/>
          </a:xfrm>
          <a:prstGeom prst="rect">
            <a:avLst/>
          </a:prstGeom>
          <a:noFill/>
          <a:ln w="12700" cap="flat" cmpd="sng">
            <a:noFill/>
            <a:prstDash val="solid"/>
            <a:round/>
          </a:ln>
        </p:spPr>
        <p:txBody>
          <a:bodyPr vert="horz" wrap="square" lIns="0" tIns="0" rIns="0" bIns="0" rtlCol="0" anchor="t" anchorCtr="0"/>
          <a:lstStyle/>
          <a:p>
            <a:pPr marL="0" indent="0" algn="l">
              <a:lnSpc>
                <a:spcPct val="133000"/>
              </a:lnSpc>
              <a:defRPr/>
            </a:pPr>
            <a:r>
              <a:rPr lang="en-US" sz="1400" b="0" i="0" u="none" strike="noStrike">
                <a:solidFill>
                  <a:srgbClr val="334155"/>
                </a:solidFill>
                <a:latin typeface="Noto Sans SC"/>
                <a:ea typeface="Noto Sans SC"/>
                <a:cs typeface="Noto Sans SC"/>
                <a:sym typeface="Noto Sans SC"/>
              </a:rPr>
              <a:t>数字/调取级算法实现,叠加完整业界流程能力地图,</a:t>
            </a:r>
            <a:r>
              <a:rPr lang="en-US" sz="1400" b="1" i="0" u="none" strike="noStrike">
                <a:solidFill>
                  <a:srgbClr val="1E3A8A"/>
                </a:solidFill>
                <a:latin typeface="Noto Sans SC"/>
                <a:ea typeface="Noto Sans SC"/>
                <a:cs typeface="Noto Sans SC"/>
                <a:sym typeface="Noto Sans SC"/>
              </a:rPr>
              <a:t>45目录对齐</a:t>
            </a:r>
            <a:r>
              <a:rPr lang="en-US" sz="1400" b="0" i="0" u="none" strike="noStrike">
                <a:solidFill>
                  <a:srgbClr val="334155"/>
                </a:solidFill>
                <a:latin typeface="Noto Sans SC"/>
                <a:ea typeface="Noto Sans SC"/>
                <a:cs typeface="Noto Sans SC"/>
                <a:sym typeface="Noto Sans SC"/>
              </a:rPr>
              <a:t>。</a:t>
            </a:r>
            <a:endParaRPr lang="en-US" sz="1100"/>
          </a:p>
        </p:txBody>
      </p:sp>
      <p:sp>
        <p:nvSpPr>
          <p:cNvPr id="9" name="AutoShape 9"/>
          <p:cNvSpPr/>
          <p:nvPr/>
        </p:nvSpPr>
        <p:spPr>
          <a:xfrm>
            <a:off x="6350000" y="1651000"/>
            <a:ext cx="5588000" cy="20955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6350000" y="1651000"/>
            <a:ext cx="50800" cy="2095500"/>
          </a:xfrm>
          <a:prstGeom prst="roundRect">
            <a:avLst>
              <a:gd name="adj" fmla="val 0"/>
            </a:avLst>
          </a:prstGeom>
          <a:solidFill>
            <a:srgbClr val="94A3B8">
              <a:alpha val="100000"/>
            </a:srgbClr>
          </a:solidFill>
          <a:ln cap="flat" cmpd="sng">
            <a:solidFill>
              <a:srgbClr val="70839F">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6629400" y="1752600"/>
            <a:ext cx="5080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900" b="1" i="0" u="none" strike="noStrike" spc="200">
                <a:solidFill>
                  <a:srgbClr val="475569"/>
                </a:solidFill>
                <a:latin typeface="Noto Sans SC"/>
                <a:ea typeface="Noto Sans SC"/>
                <a:cs typeface="Noto Sans SC"/>
                <a:sym typeface="Noto Sans SC"/>
              </a:rPr>
              <a:t>非当前范围</a:t>
            </a:r>
            <a:endParaRPr lang="en-US" sz="1100"/>
          </a:p>
        </p:txBody>
      </p:sp>
      <p:cxnSp>
        <p:nvCxnSpPr>
          <p:cNvPr id="12" name="Connector 12"/>
          <p:cNvCxnSpPr/>
          <p:nvPr/>
        </p:nvCxnSpPr>
        <p:spPr>
          <a:xfrm rot="-8681">
            <a:off x="6629408" y="2228850"/>
            <a:ext cx="5029200" cy="12700"/>
          </a:xfrm>
          <a:prstGeom prst="straightConnector1">
            <a:avLst/>
          </a:prstGeom>
          <a:solidFill>
            <a:srgbClr val="DEE0E3">
              <a:alpha val="100000"/>
            </a:srgbClr>
          </a:solidFill>
          <a:ln w="12700" cap="flat" cmpd="sng">
            <a:solidFill>
              <a:srgbClr val="94A3B8">
                <a:alpha val="25000"/>
              </a:srgbClr>
            </a:solidFill>
            <a:prstDash val="solid"/>
            <a:round/>
            <a:headEnd type="none" w="med" len="med"/>
            <a:tailEnd type="none" w="med" len="med"/>
          </a:ln>
        </p:spPr>
      </p:cxnSp>
      <p:sp>
        <p:nvSpPr>
          <p:cNvPr id="13" name="AutoShape 13"/>
          <p:cNvSpPr/>
          <p:nvPr/>
        </p:nvSpPr>
        <p:spPr>
          <a:xfrm>
            <a:off x="6629400" y="2311400"/>
            <a:ext cx="5080000" cy="889000"/>
          </a:xfrm>
          <a:prstGeom prst="rect">
            <a:avLst/>
          </a:prstGeom>
          <a:noFill/>
          <a:ln w="12700" cap="flat" cmpd="sng">
            <a:noFill/>
            <a:prstDash val="solid"/>
            <a:round/>
          </a:ln>
        </p:spPr>
        <p:txBody>
          <a:bodyPr vert="horz" wrap="square" lIns="0" tIns="0" rIns="0" bIns="0" rtlCol="0" anchor="t" anchorCtr="0"/>
          <a:lstStyle/>
          <a:p>
            <a:pPr marL="0" indent="0" algn="l">
              <a:lnSpc>
                <a:spcPct val="133000"/>
              </a:lnSpc>
              <a:defRPr/>
            </a:pPr>
            <a:r>
              <a:rPr lang="en-US" sz="1400" b="0" i="0" u="none" strike="noStrike">
                <a:solidFill>
                  <a:srgbClr val="334155"/>
                </a:solidFill>
                <a:latin typeface="Noto Sans SC"/>
                <a:ea typeface="Noto Sans SC"/>
                <a:cs typeface="Noto Sans SC"/>
                <a:sym typeface="Noto Sans SC"/>
              </a:rPr>
              <a:t>完整生产线正射、大气、SM等,通常由专用处理软件/处理中心承担。</a:t>
            </a:r>
            <a:endParaRPr lang="en-US" sz="1100"/>
          </a:p>
        </p:txBody>
      </p:sp>
      <p:sp>
        <p:nvSpPr>
          <p:cNvPr id="14" name="AutoShape 14"/>
          <p:cNvSpPr/>
          <p:nvPr/>
        </p:nvSpPr>
        <p:spPr>
          <a:xfrm>
            <a:off x="508000" y="3937000"/>
            <a:ext cx="5588000" cy="20955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508000" y="3937000"/>
            <a:ext cx="50800" cy="2095500"/>
          </a:xfrm>
          <a:prstGeom prst="roundRect">
            <a:avLst>
              <a:gd name="adj" fmla="val 0"/>
            </a:avLst>
          </a:prstGeom>
          <a:solidFill>
            <a:srgbClr val="10B981">
              <a:alpha val="100000"/>
            </a:srgbClr>
          </a:solidFill>
          <a:ln cap="flat" cmpd="sng">
            <a:solidFill>
              <a:srgbClr val="00A06B">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787400" y="4038600"/>
            <a:ext cx="5080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900" b="1" i="0" u="none" strike="noStrike" spc="200">
                <a:solidFill>
                  <a:srgbClr val="10B981"/>
                </a:solidFill>
                <a:latin typeface="Noto Sans SC"/>
                <a:ea typeface="Noto Sans SC"/>
                <a:cs typeface="Noto Sans SC"/>
                <a:sym typeface="Noto Sans SC"/>
              </a:rPr>
              <a:t>仓库强项</a:t>
            </a:r>
            <a:endParaRPr lang="en-US" sz="1100"/>
          </a:p>
        </p:txBody>
      </p:sp>
      <p:cxnSp>
        <p:nvCxnSpPr>
          <p:cNvPr id="17" name="Connector 17"/>
          <p:cNvCxnSpPr/>
          <p:nvPr/>
        </p:nvCxnSpPr>
        <p:spPr>
          <a:xfrm rot="-8681">
            <a:off x="787408" y="4514850"/>
            <a:ext cx="5029200" cy="12700"/>
          </a:xfrm>
          <a:prstGeom prst="straightConnector1">
            <a:avLst/>
          </a:prstGeom>
          <a:solidFill>
            <a:srgbClr val="DEE0E3">
              <a:alpha val="100000"/>
            </a:srgbClr>
          </a:solidFill>
          <a:ln w="12700" cap="flat" cmpd="sng">
            <a:solidFill>
              <a:srgbClr val="10B981">
                <a:alpha val="20000"/>
              </a:srgbClr>
            </a:solidFill>
            <a:prstDash val="solid"/>
            <a:round/>
            <a:headEnd type="none" w="med" len="med"/>
            <a:tailEnd type="none" w="med" len="med"/>
          </a:ln>
        </p:spPr>
      </p:cxnSp>
      <p:sp>
        <p:nvSpPr>
          <p:cNvPr id="18" name="AutoShape 18"/>
          <p:cNvSpPr/>
          <p:nvPr/>
        </p:nvSpPr>
        <p:spPr>
          <a:xfrm>
            <a:off x="787400" y="4597400"/>
            <a:ext cx="5080000" cy="889000"/>
          </a:xfrm>
          <a:prstGeom prst="rect">
            <a:avLst/>
          </a:prstGeom>
          <a:noFill/>
          <a:ln w="12700" cap="flat" cmpd="sng">
            <a:noFill/>
            <a:prstDash val="solid"/>
            <a:round/>
          </a:ln>
        </p:spPr>
        <p:txBody>
          <a:bodyPr vert="horz" wrap="square" lIns="0" tIns="0" rIns="0" bIns="0" rtlCol="0" anchor="t" anchorCtr="0"/>
          <a:lstStyle/>
          <a:p>
            <a:pPr marL="0" indent="0" algn="l">
              <a:lnSpc>
                <a:spcPct val="133000"/>
              </a:lnSpc>
              <a:defRPr/>
            </a:pPr>
            <a:r>
              <a:rPr lang="en-US" sz="1400" b="1" i="0" u="none" strike="noStrike">
                <a:solidFill>
                  <a:srgbClr val="10B981"/>
                </a:solidFill>
                <a:latin typeface="Noto Sans SC"/>
                <a:ea typeface="Noto Sans SC"/>
                <a:cs typeface="Noto Sans SC"/>
                <a:sym typeface="Noto Sans SC"/>
              </a:rPr>
              <a:t>L2→L3</a:t>
            </a:r>
            <a:r>
              <a:rPr lang="en-US" sz="1400" b="0" i="0" u="none" strike="noStrike">
                <a:solidFill>
                  <a:srgbClr val="334155"/>
                </a:solidFill>
                <a:latin typeface="Noto Sans SC"/>
                <a:ea typeface="Noto Sans SC"/>
                <a:cs typeface="Noto Sans SC"/>
                <a:sym typeface="Noto Sans SC"/>
              </a:rPr>
              <a:t>分类小模型(hyper-spectral-small-modes)可继续接入本服务。</a:t>
            </a:r>
            <a:endParaRPr lang="en-US" sz="1100"/>
          </a:p>
        </p:txBody>
      </p:sp>
      <p:sp>
        <p:nvSpPr>
          <p:cNvPr id="19" name="AutoShape 19"/>
          <p:cNvSpPr/>
          <p:nvPr/>
        </p:nvSpPr>
        <p:spPr>
          <a:xfrm>
            <a:off x="6350000" y="3937000"/>
            <a:ext cx="5588000" cy="20955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6350000" y="3937000"/>
            <a:ext cx="50800" cy="2095500"/>
          </a:xfrm>
          <a:prstGeom prst="roundRect">
            <a:avLst>
              <a:gd name="adj" fmla="val 0"/>
            </a:avLst>
          </a:prstGeom>
          <a:solidFill>
            <a:srgbClr val="F59E0B">
              <a:alpha val="100000"/>
            </a:srgbClr>
          </a:solidFill>
          <a:ln cap="flat" cmpd="sng">
            <a:solidFill>
              <a:srgbClr val="DC8A00">
                <a:alpha val="10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6629400" y="4038600"/>
            <a:ext cx="5080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900" b="1" i="0" u="none" strike="noStrike" spc="200">
                <a:solidFill>
                  <a:srgbClr val="F59E0B"/>
                </a:solidFill>
                <a:latin typeface="Noto Sans SC"/>
                <a:ea typeface="Noto Sans SC"/>
                <a:cs typeface="Noto Sans SC"/>
                <a:sym typeface="Noto Sans SC"/>
              </a:rPr>
              <a:t>建议路径</a:t>
            </a:r>
            <a:endParaRPr lang="en-US" sz="1100"/>
          </a:p>
        </p:txBody>
      </p:sp>
      <p:cxnSp>
        <p:nvCxnSpPr>
          <p:cNvPr id="22" name="Connector 22"/>
          <p:cNvCxnSpPr/>
          <p:nvPr/>
        </p:nvCxnSpPr>
        <p:spPr>
          <a:xfrm rot="-8681">
            <a:off x="6629408" y="4514850"/>
            <a:ext cx="5029200" cy="12700"/>
          </a:xfrm>
          <a:prstGeom prst="straightConnector1">
            <a:avLst/>
          </a:prstGeom>
          <a:solidFill>
            <a:srgbClr val="DEE0E3">
              <a:alpha val="100000"/>
            </a:srgbClr>
          </a:solidFill>
          <a:ln w="12700" cap="flat" cmpd="sng">
            <a:solidFill>
              <a:srgbClr val="F59E0B">
                <a:alpha val="22000"/>
              </a:srgbClr>
            </a:solidFill>
            <a:prstDash val="solid"/>
            <a:round/>
            <a:headEnd type="none" w="med" len="med"/>
            <a:tailEnd type="none" w="med" len="med"/>
          </a:ln>
        </p:spPr>
      </p:cxnSp>
      <p:sp>
        <p:nvSpPr>
          <p:cNvPr id="23" name="AutoShape 23"/>
          <p:cNvSpPr/>
          <p:nvPr/>
        </p:nvSpPr>
        <p:spPr>
          <a:xfrm>
            <a:off x="6629400" y="4597400"/>
            <a:ext cx="5080000" cy="889000"/>
          </a:xfrm>
          <a:prstGeom prst="rect">
            <a:avLst/>
          </a:prstGeom>
          <a:noFill/>
          <a:ln w="12700" cap="flat" cmpd="sng">
            <a:noFill/>
            <a:prstDash val="solid"/>
            <a:round/>
          </a:ln>
        </p:spPr>
        <p:txBody>
          <a:bodyPr vert="horz" wrap="square" lIns="0" tIns="0" rIns="0" bIns="0" rtlCol="0" anchor="t" anchorCtr="0"/>
          <a:lstStyle/>
          <a:p>
            <a:pPr marL="0" indent="0" algn="l">
              <a:lnSpc>
                <a:spcPct val="133000"/>
              </a:lnSpc>
              <a:defRPr/>
            </a:pPr>
            <a:r>
              <a:rPr lang="en-US" sz="1400" b="0" i="0" u="none" strike="noStrike">
                <a:solidFill>
                  <a:srgbClr val="334155"/>
                </a:solidFill>
                <a:latin typeface="Noto Sans SC"/>
                <a:ea typeface="Noto Sans SC"/>
                <a:cs typeface="Noto Sans SC"/>
                <a:sym typeface="Noto Sans SC"/>
              </a:rPr>
              <a:t>先用已实现接口打通业务闭环,再按场景优先级将骨架补到生产线。</a:t>
            </a:r>
            <a:endParaRPr lang="en-US" sz="1100"/>
          </a:p>
        </p:txBody>
      </p:sp>
      <p:sp>
        <p:nvSpPr>
          <p:cNvPr id="24" name="AutoShape 24"/>
          <p:cNvSpPr/>
          <p:nvPr/>
        </p:nvSpPr>
        <p:spPr>
          <a:xfrm>
            <a:off x="508000" y="6159500"/>
            <a:ext cx="11176000" cy="5080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508000" y="6159500"/>
            <a:ext cx="38100" cy="508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787400" y="6159500"/>
            <a:ext cx="1079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spc="100">
                <a:solidFill>
                  <a:srgbClr val="475569"/>
                </a:solidFill>
                <a:latin typeface="Noto Sans SC"/>
                <a:ea typeface="Noto Sans SC"/>
                <a:cs typeface="Noto Sans SC"/>
                <a:sym typeface="Noto Sans SC"/>
              </a:rPr>
              <a:t>先利用已实现接口打通业务闭环,验证业务价值,再逐步补齐到生产级别。</a:t>
            </a:r>
            <a:endParaRPr lang="en-US" sz="11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8FA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381000"/>
            <a:ext cx="11176000" cy="635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3200" b="1" i="0" u="none" strike="noStrike" spc="200">
                <a:solidFill>
                  <a:srgbClr val="1E3A8A"/>
                </a:solidFill>
                <a:latin typeface="Noto Sans SC"/>
                <a:ea typeface="Noto Sans SC"/>
                <a:cs typeface="Noto Sans SC"/>
                <a:sym typeface="Noto Sans SC"/>
              </a:rPr>
              <a:t>总结与下一步</a:t>
            </a:r>
            <a:endParaRPr lang="en-US" sz="1100"/>
          </a:p>
        </p:txBody>
      </p:sp>
      <p:sp>
        <p:nvSpPr>
          <p:cNvPr id="3" name="AutoShape 3"/>
          <p:cNvSpPr/>
          <p:nvPr/>
        </p:nvSpPr>
        <p:spPr>
          <a:xfrm>
            <a:off x="508000" y="1041400"/>
            <a:ext cx="11176000" cy="3048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300" b="0" i="0" u="none" strike="noStrike" spc="300">
                <a:solidFill>
                  <a:srgbClr val="94A3B8"/>
                </a:solidFill>
                <a:latin typeface="Noto Sans SC"/>
                <a:ea typeface="Noto Sans SC"/>
                <a:cs typeface="Noto Sans SC"/>
                <a:sym typeface="Noto Sans SC"/>
              </a:rPr>
              <a:t>SUMMARY &amp; NEXT STEPS</a:t>
            </a:r>
            <a:endParaRPr lang="en-US" sz="1100"/>
          </a:p>
        </p:txBody>
      </p:sp>
      <p:sp>
        <p:nvSpPr>
          <p:cNvPr id="4" name="AutoShape 4"/>
          <p:cNvSpPr/>
          <p:nvPr/>
        </p:nvSpPr>
        <p:spPr>
          <a:xfrm>
            <a:off x="508000" y="1524000"/>
            <a:ext cx="11176000" cy="381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2000" b="1" i="0" u="none" strike="noStrike">
                <a:solidFill>
                  <a:srgbClr val="1E3A8A"/>
                </a:solidFill>
                <a:latin typeface="Noto Sans SC"/>
                <a:ea typeface="Noto Sans SC"/>
                <a:cs typeface="Noto Sans SC"/>
                <a:sym typeface="Noto Sans SC"/>
              </a:rPr>
              <a:t>本材料覆盖的三部分</a:t>
            </a:r>
            <a:endParaRPr lang="en-US" sz="1100"/>
          </a:p>
        </p:txBody>
      </p:sp>
      <p:sp>
        <p:nvSpPr>
          <p:cNvPr id="5" name="AutoShape 5"/>
          <p:cNvSpPr/>
          <p:nvPr/>
        </p:nvSpPr>
        <p:spPr>
          <a:xfrm>
            <a:off x="508000" y="2032000"/>
            <a:ext cx="3594100" cy="16510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508000" y="2032000"/>
            <a:ext cx="50800" cy="1651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762000" y="2032000"/>
            <a:ext cx="3111500" cy="431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2200" b="1" i="0" u="none" strike="noStrike">
                <a:solidFill>
                  <a:srgbClr val="1E3A8A"/>
                </a:solidFill>
                <a:latin typeface="Noto Sans SC"/>
                <a:ea typeface="Noto Sans SC"/>
                <a:cs typeface="Noto Sans SC"/>
                <a:sym typeface="Noto Sans SC"/>
              </a:rPr>
              <a:t>架构</a:t>
            </a:r>
            <a:endParaRPr lang="en-US" sz="1100"/>
          </a:p>
        </p:txBody>
      </p:sp>
      <p:cxnSp>
        <p:nvCxnSpPr>
          <p:cNvPr id="8" name="Connector 8"/>
          <p:cNvCxnSpPr/>
          <p:nvPr/>
        </p:nvCxnSpPr>
        <p:spPr>
          <a:xfrm rot="-14147">
            <a:off x="762013" y="2533650"/>
            <a:ext cx="30861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9" name="AutoShape 9"/>
          <p:cNvSpPr/>
          <p:nvPr/>
        </p:nvSpPr>
        <p:spPr>
          <a:xfrm>
            <a:off x="762000" y="2603500"/>
            <a:ext cx="3111500" cy="8255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L0-L4分层清晰,分类链与指标链并行。</a:t>
            </a:r>
            <a:endParaRPr lang="en-US" sz="1100"/>
          </a:p>
        </p:txBody>
      </p:sp>
      <p:sp>
        <p:nvSpPr>
          <p:cNvPr id="10" name="AutoShape 10"/>
          <p:cNvSpPr/>
          <p:nvPr/>
        </p:nvSpPr>
        <p:spPr>
          <a:xfrm>
            <a:off x="4318000" y="2032000"/>
            <a:ext cx="3594100" cy="16510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4318000" y="2032000"/>
            <a:ext cx="50800" cy="1651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4572000" y="2032000"/>
            <a:ext cx="3111500" cy="431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2200" b="1" i="0" u="none" strike="noStrike">
                <a:solidFill>
                  <a:srgbClr val="1E3A8A"/>
                </a:solidFill>
                <a:latin typeface="Noto Sans SC"/>
                <a:ea typeface="Noto Sans SC"/>
                <a:cs typeface="Noto Sans SC"/>
                <a:sym typeface="Noto Sans SC"/>
              </a:rPr>
              <a:t>算法</a:t>
            </a:r>
            <a:endParaRPr lang="en-US" sz="1100"/>
          </a:p>
        </p:txBody>
      </p:sp>
      <p:cxnSp>
        <p:nvCxnSpPr>
          <p:cNvPr id="13" name="Connector 13"/>
          <p:cNvCxnSpPr/>
          <p:nvPr/>
        </p:nvCxnSpPr>
        <p:spPr>
          <a:xfrm rot="-14147">
            <a:off x="4572013" y="2533650"/>
            <a:ext cx="30861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14" name="AutoShape 14"/>
          <p:cNvSpPr/>
          <p:nvPr/>
        </p:nvSpPr>
        <p:spPr>
          <a:xfrm>
            <a:off x="4572000" y="2603500"/>
            <a:ext cx="3213100" cy="8255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45项业界清单,逐项说明方法、输入输出、价值与流程位置。</a:t>
            </a:r>
            <a:endParaRPr lang="en-US" sz="1100"/>
          </a:p>
        </p:txBody>
      </p:sp>
      <p:sp>
        <p:nvSpPr>
          <p:cNvPr id="15" name="AutoShape 15"/>
          <p:cNvSpPr/>
          <p:nvPr/>
        </p:nvSpPr>
        <p:spPr>
          <a:xfrm>
            <a:off x="8128000" y="2032000"/>
            <a:ext cx="3594100" cy="1651000"/>
          </a:xfrm>
          <a:prstGeom prst="roundRect">
            <a:avLst>
              <a:gd name="adj" fmla="val 0"/>
            </a:avLst>
          </a:prstGeom>
          <a:solidFill>
            <a:srgbClr val="1E3A8A">
              <a:alpha val="6000"/>
            </a:srgbClr>
          </a:solidFill>
          <a:ln cap="flat" cmpd="sng">
            <a:solidFill>
              <a:srgbClr val="0D2771">
                <a:alpha val="6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8128000" y="2032000"/>
            <a:ext cx="50800" cy="1651000"/>
          </a:xfrm>
          <a:prstGeom prst="roundRect">
            <a:avLst>
              <a:gd name="adj" fmla="val 0"/>
            </a:avLst>
          </a:prstGeom>
          <a:solidFill>
            <a:srgbClr val="1E3A8A">
              <a:alpha val="100000"/>
            </a:srgbClr>
          </a:solidFill>
          <a:ln cap="flat" cmpd="sng">
            <a:solidFill>
              <a:srgbClr val="0D2771">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8382000" y="2032000"/>
            <a:ext cx="3111500" cy="4318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2200" b="1" i="0" u="none" strike="noStrike">
                <a:solidFill>
                  <a:srgbClr val="1E3A8A"/>
                </a:solidFill>
                <a:latin typeface="Noto Sans SC"/>
                <a:ea typeface="Noto Sans SC"/>
                <a:cs typeface="Noto Sans SC"/>
                <a:sym typeface="Noto Sans SC"/>
              </a:rPr>
              <a:t>服务</a:t>
            </a:r>
            <a:endParaRPr lang="en-US" sz="1100"/>
          </a:p>
        </p:txBody>
      </p:sp>
      <p:cxnSp>
        <p:nvCxnSpPr>
          <p:cNvPr id="18" name="Connector 18"/>
          <p:cNvCxnSpPr/>
          <p:nvPr/>
        </p:nvCxnSpPr>
        <p:spPr>
          <a:xfrm rot="-14147">
            <a:off x="8382013" y="2533650"/>
            <a:ext cx="3086100" cy="12700"/>
          </a:xfrm>
          <a:prstGeom prst="straightConnector1">
            <a:avLst/>
          </a:prstGeom>
          <a:solidFill>
            <a:srgbClr val="DEE0E3">
              <a:alpha val="100000"/>
            </a:srgbClr>
          </a:solidFill>
          <a:ln w="12700" cap="flat" cmpd="sng">
            <a:solidFill>
              <a:srgbClr val="1E3A8A">
                <a:alpha val="15000"/>
              </a:srgbClr>
            </a:solidFill>
            <a:prstDash val="solid"/>
            <a:round/>
            <a:headEnd type="none" w="med" len="med"/>
            <a:tailEnd type="none" w="med" len="med"/>
          </a:ln>
        </p:spPr>
      </p:cxnSp>
      <p:sp>
        <p:nvSpPr>
          <p:cNvPr id="19" name="AutoShape 19"/>
          <p:cNvSpPr/>
          <p:nvPr/>
        </p:nvSpPr>
        <p:spPr>
          <a:xfrm>
            <a:off x="8382000" y="2603500"/>
            <a:ext cx="3213100" cy="825500"/>
          </a:xfrm>
          <a:prstGeom prst="rect">
            <a:avLst/>
          </a:prstGeom>
          <a:noFill/>
          <a:ln w="12700" cap="flat" cmpd="sng">
            <a:noFill/>
            <a:prstDash val="solid"/>
            <a:round/>
          </a:ln>
        </p:spPr>
        <p:txBody>
          <a:bodyPr vert="horz" wrap="square" lIns="0" tIns="0" rIns="0" bIns="0" rtlCol="0" anchor="t" anchorCtr="0"/>
          <a:lstStyle/>
          <a:p>
            <a:pPr marL="0" indent="0" algn="l">
              <a:lnSpc>
                <a:spcPct val="129000"/>
              </a:lnSpc>
              <a:defRPr/>
            </a:pPr>
            <a:r>
              <a:rPr lang="en-US" sz="1400" b="0" i="0" u="none" strike="noStrike">
                <a:solidFill>
                  <a:srgbClr val="334155"/>
                </a:solidFill>
                <a:latin typeface="Noto Sans SC"/>
                <a:ea typeface="Noto Sans SC"/>
                <a:cs typeface="Noto Sans SC"/>
                <a:sym typeface="Noto Sans SC"/>
              </a:rPr>
              <a:t>HTTP统一入口,GeoTIFF/GeoJSON正规对接,可培训可调。</a:t>
            </a:r>
            <a:endParaRPr lang="en-US" sz="1100"/>
          </a:p>
        </p:txBody>
      </p:sp>
      <p:cxnSp>
        <p:nvCxnSpPr>
          <p:cNvPr id="20" name="Connector 20"/>
          <p:cNvCxnSpPr/>
          <p:nvPr/>
        </p:nvCxnSpPr>
        <p:spPr>
          <a:xfrm rot="-3906">
            <a:off x="508004" y="3994150"/>
            <a:ext cx="11176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21" name="AutoShape 21"/>
          <p:cNvSpPr/>
          <p:nvPr/>
        </p:nvSpPr>
        <p:spPr>
          <a:xfrm>
            <a:off x="508000" y="4127500"/>
            <a:ext cx="11176000" cy="3810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2000" b="1" i="0" u="none" strike="noStrike">
                <a:solidFill>
                  <a:srgbClr val="1E3A8A"/>
                </a:solidFill>
                <a:latin typeface="Noto Sans SC"/>
                <a:ea typeface="Noto Sans SC"/>
                <a:cs typeface="Noto Sans SC"/>
                <a:sym typeface="Noto Sans SC"/>
              </a:rPr>
              <a:t>建议下一步</a:t>
            </a:r>
            <a:endParaRPr lang="en-US" sz="1100"/>
          </a:p>
        </p:txBody>
      </p:sp>
      <p:sp>
        <p:nvSpPr>
          <p:cNvPr id="22" name="AutoShape 22"/>
          <p:cNvSpPr/>
          <p:nvPr/>
        </p:nvSpPr>
        <p:spPr>
          <a:xfrm>
            <a:off x="508000" y="4572000"/>
            <a:ext cx="3594100" cy="1778000"/>
          </a:xfrm>
          <a:prstGeom prst="roundRect">
            <a:avLst>
              <a:gd name="adj" fmla="val 0"/>
            </a:avLst>
          </a:prstGeom>
          <a:solidFill>
            <a:srgbClr val="3B82F6">
              <a:alpha val="5000"/>
            </a:srgbClr>
          </a:solidFill>
          <a:ln cap="flat" cmpd="sng">
            <a:solidFill>
              <a:srgbClr val="1F67DD">
                <a:alpha val="5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508000" y="4572000"/>
            <a:ext cx="50800" cy="1778000"/>
          </a:xfrm>
          <a:prstGeom prst="roundRect">
            <a:avLst>
              <a:gd name="adj" fmla="val 0"/>
            </a:avLst>
          </a:prstGeom>
          <a:solidFill>
            <a:srgbClr val="3B82F6">
              <a:alpha val="100000"/>
            </a:srgbClr>
          </a:solidFill>
          <a:ln cap="flat" cmpd="sng">
            <a:solidFill>
              <a:srgbClr val="1F67DD">
                <a:alpha val="100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762000" y="45720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3600" b="1" i="0" u="none" strike="noStrike">
                <a:solidFill>
                  <a:srgbClr val="3B82F6">
                    <a:alpha val="27843"/>
                  </a:srgbClr>
                </a:solidFill>
                <a:latin typeface="Noto Sans SC"/>
                <a:ea typeface="Noto Sans SC"/>
                <a:cs typeface="Noto Sans SC"/>
                <a:sym typeface="Noto Sans SC"/>
              </a:rPr>
              <a:t>01</a:t>
            </a:r>
            <a:endParaRPr lang="en-US" sz="1100"/>
          </a:p>
        </p:txBody>
      </p:sp>
      <p:sp>
        <p:nvSpPr>
          <p:cNvPr id="25" name="AutoShape 25"/>
          <p:cNvSpPr/>
          <p:nvPr/>
        </p:nvSpPr>
        <p:spPr>
          <a:xfrm>
            <a:off x="1549400" y="4572000"/>
            <a:ext cx="2476500" cy="406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700" b="1" i="0" u="none" strike="noStrike">
                <a:solidFill>
                  <a:srgbClr val="1E3A8A"/>
                </a:solidFill>
                <a:latin typeface="Noto Sans SC"/>
                <a:ea typeface="Noto Sans SC"/>
                <a:cs typeface="Noto Sans SC"/>
                <a:sym typeface="Noto Sans SC"/>
              </a:rPr>
              <a:t>选定1-2个业务场景</a:t>
            </a:r>
            <a:endParaRPr lang="en-US" sz="1100"/>
          </a:p>
        </p:txBody>
      </p:sp>
      <p:sp>
        <p:nvSpPr>
          <p:cNvPr id="26" name="AutoShape 26"/>
          <p:cNvSpPr/>
          <p:nvPr/>
        </p:nvSpPr>
        <p:spPr>
          <a:xfrm>
            <a:off x="1549400" y="5016500"/>
            <a:ext cx="2476500" cy="762000"/>
          </a:xfrm>
          <a:prstGeom prst="rect">
            <a:avLst/>
          </a:prstGeom>
          <a:noFill/>
          <a:ln w="12700" cap="flat" cmpd="sng">
            <a:noFill/>
            <a:prstDash val="solid"/>
            <a:round/>
          </a:ln>
        </p:spPr>
        <p:txBody>
          <a:bodyPr vert="horz" wrap="square" lIns="0" tIns="0" rIns="0" bIns="0" rtlCol="0" anchor="t" anchorCtr="0"/>
          <a:lstStyle/>
          <a:p>
            <a:pPr marL="0" indent="0" algn="l">
              <a:lnSpc>
                <a:spcPct val="121000"/>
              </a:lnSpc>
              <a:defRPr/>
            </a:pPr>
            <a:r>
              <a:rPr lang="en-US" sz="1300" b="0" i="0" u="none" strike="noStrike">
                <a:solidFill>
                  <a:srgbClr val="475569"/>
                </a:solidFill>
                <a:latin typeface="Noto Sans SC"/>
                <a:ea typeface="Noto Sans SC"/>
                <a:cs typeface="Noto Sans SC"/>
                <a:sym typeface="Noto Sans SC"/>
              </a:rPr>
              <a:t>作物分类/长势监测,打通应用演示。</a:t>
            </a:r>
            <a:endParaRPr lang="en-US" sz="1100"/>
          </a:p>
        </p:txBody>
      </p:sp>
      <p:sp>
        <p:nvSpPr>
          <p:cNvPr id="27" name="AutoShape 27"/>
          <p:cNvSpPr/>
          <p:nvPr/>
        </p:nvSpPr>
        <p:spPr>
          <a:xfrm>
            <a:off x="4318000" y="4572000"/>
            <a:ext cx="3594100" cy="1778000"/>
          </a:xfrm>
          <a:prstGeom prst="roundRect">
            <a:avLst>
              <a:gd name="adj" fmla="val 0"/>
            </a:avLst>
          </a:prstGeom>
          <a:solidFill>
            <a:srgbClr val="3B82F6">
              <a:alpha val="5000"/>
            </a:srgbClr>
          </a:solidFill>
          <a:ln cap="flat" cmpd="sng">
            <a:solidFill>
              <a:srgbClr val="1F67DD">
                <a:alpha val="5000"/>
              </a:srgbClr>
            </a:solidFill>
            <a:prstDash val="solid"/>
            <a:round/>
          </a:ln>
        </p:spPr>
        <p:txBody>
          <a:bodyPr vert="horz" wrap="square" lIns="63500" tIns="63500" rIns="63500" bIns="63500" rtlCol="0" anchor="ctr"/>
          <a:lstStyle/>
          <a:p>
            <a:pPr algn="ctr">
              <a:defRPr/>
            </a:pPr>
          </a:p>
        </p:txBody>
      </p:sp>
      <p:sp>
        <p:nvSpPr>
          <p:cNvPr id="28" name="AutoShape 28"/>
          <p:cNvSpPr/>
          <p:nvPr/>
        </p:nvSpPr>
        <p:spPr>
          <a:xfrm>
            <a:off x="4318000" y="4572000"/>
            <a:ext cx="50800" cy="1778000"/>
          </a:xfrm>
          <a:prstGeom prst="roundRect">
            <a:avLst>
              <a:gd name="adj" fmla="val 0"/>
            </a:avLst>
          </a:prstGeom>
          <a:solidFill>
            <a:srgbClr val="3B82F6">
              <a:alpha val="100000"/>
            </a:srgbClr>
          </a:solidFill>
          <a:ln cap="flat" cmpd="sng">
            <a:solidFill>
              <a:srgbClr val="1F67DD">
                <a:alpha val="100000"/>
              </a:srgbClr>
            </a:solidFill>
            <a:prstDash val="solid"/>
            <a:round/>
          </a:ln>
        </p:spPr>
        <p:txBody>
          <a:bodyPr vert="horz" wrap="square" lIns="63500" tIns="63500" rIns="63500" bIns="63500" rtlCol="0" anchor="ctr"/>
          <a:lstStyle/>
          <a:p>
            <a:pPr algn="ctr">
              <a:defRPr/>
            </a:pPr>
          </a:p>
        </p:txBody>
      </p:sp>
      <p:sp>
        <p:nvSpPr>
          <p:cNvPr id="29" name="AutoShape 29"/>
          <p:cNvSpPr/>
          <p:nvPr/>
        </p:nvSpPr>
        <p:spPr>
          <a:xfrm>
            <a:off x="4572000" y="45720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3600" b="1" i="0" u="none" strike="noStrike">
                <a:solidFill>
                  <a:srgbClr val="3B82F6">
                    <a:alpha val="27843"/>
                  </a:srgbClr>
                </a:solidFill>
                <a:latin typeface="Noto Sans SC"/>
                <a:ea typeface="Noto Sans SC"/>
                <a:cs typeface="Noto Sans SC"/>
                <a:sym typeface="Noto Sans SC"/>
              </a:rPr>
              <a:t>02</a:t>
            </a:r>
            <a:endParaRPr lang="en-US" sz="1100"/>
          </a:p>
        </p:txBody>
      </p:sp>
      <p:sp>
        <p:nvSpPr>
          <p:cNvPr id="30" name="AutoShape 30"/>
          <p:cNvSpPr/>
          <p:nvPr/>
        </p:nvSpPr>
        <p:spPr>
          <a:xfrm>
            <a:off x="5359400" y="4572000"/>
            <a:ext cx="2476500" cy="406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700" b="1" i="0" u="none" strike="noStrike">
                <a:solidFill>
                  <a:srgbClr val="1E3A8A"/>
                </a:solidFill>
                <a:latin typeface="Noto Sans SC"/>
                <a:ea typeface="Noto Sans SC"/>
                <a:cs typeface="Noto Sans SC"/>
                <a:sym typeface="Noto Sans SC"/>
              </a:rPr>
              <a:t>按场景优先级补齐</a:t>
            </a:r>
            <a:endParaRPr lang="en-US" sz="1100"/>
          </a:p>
        </p:txBody>
      </p:sp>
      <p:sp>
        <p:nvSpPr>
          <p:cNvPr id="31" name="AutoShape 31"/>
          <p:cNvSpPr/>
          <p:nvPr/>
        </p:nvSpPr>
        <p:spPr>
          <a:xfrm>
            <a:off x="5359400" y="5016500"/>
            <a:ext cx="2476500" cy="762000"/>
          </a:xfrm>
          <a:prstGeom prst="rect">
            <a:avLst/>
          </a:prstGeom>
          <a:noFill/>
          <a:ln w="12700" cap="flat" cmpd="sng">
            <a:noFill/>
            <a:prstDash val="solid"/>
            <a:round/>
          </a:ln>
        </p:spPr>
        <p:txBody>
          <a:bodyPr vert="horz" wrap="square" lIns="0" tIns="0" rIns="0" bIns="0" rtlCol="0" anchor="t" anchorCtr="0"/>
          <a:lstStyle/>
          <a:p>
            <a:pPr marL="0" indent="0" algn="l">
              <a:lnSpc>
                <a:spcPct val="121000"/>
              </a:lnSpc>
              <a:defRPr/>
            </a:pPr>
            <a:r>
              <a:rPr lang="en-US" sz="1300" b="0" i="0" u="none" strike="noStrike">
                <a:solidFill>
                  <a:srgbClr val="475569"/>
                </a:solidFill>
                <a:latin typeface="Noto Sans SC"/>
                <a:ea typeface="Noto Sans SC"/>
                <a:cs typeface="Noto Sans SC"/>
                <a:sym typeface="Noto Sans SC"/>
              </a:rPr>
              <a:t>关键骨架算法到生产级。</a:t>
            </a:r>
            <a:endParaRPr lang="en-US" sz="1100"/>
          </a:p>
        </p:txBody>
      </p:sp>
      <p:sp>
        <p:nvSpPr>
          <p:cNvPr id="32" name="AutoShape 32"/>
          <p:cNvSpPr/>
          <p:nvPr/>
        </p:nvSpPr>
        <p:spPr>
          <a:xfrm>
            <a:off x="8128000" y="4572000"/>
            <a:ext cx="3594100" cy="1778000"/>
          </a:xfrm>
          <a:prstGeom prst="roundRect">
            <a:avLst>
              <a:gd name="adj" fmla="val 0"/>
            </a:avLst>
          </a:prstGeom>
          <a:solidFill>
            <a:srgbClr val="3B82F6">
              <a:alpha val="5000"/>
            </a:srgbClr>
          </a:solidFill>
          <a:ln cap="flat" cmpd="sng">
            <a:solidFill>
              <a:srgbClr val="1F67DD">
                <a:alpha val="5000"/>
              </a:srgbClr>
            </a:solidFill>
            <a:prstDash val="solid"/>
            <a:round/>
          </a:ln>
        </p:spPr>
        <p:txBody>
          <a:bodyPr vert="horz" wrap="square" lIns="63500" tIns="63500" rIns="63500" bIns="63500" rtlCol="0" anchor="ctr"/>
          <a:lstStyle/>
          <a:p>
            <a:pPr algn="ctr">
              <a:defRPr/>
            </a:pPr>
          </a:p>
        </p:txBody>
      </p:sp>
      <p:sp>
        <p:nvSpPr>
          <p:cNvPr id="33" name="AutoShape 33"/>
          <p:cNvSpPr/>
          <p:nvPr/>
        </p:nvSpPr>
        <p:spPr>
          <a:xfrm>
            <a:off x="8128000" y="4572000"/>
            <a:ext cx="50800" cy="1778000"/>
          </a:xfrm>
          <a:prstGeom prst="roundRect">
            <a:avLst>
              <a:gd name="adj" fmla="val 0"/>
            </a:avLst>
          </a:prstGeom>
          <a:solidFill>
            <a:srgbClr val="3B82F6">
              <a:alpha val="100000"/>
            </a:srgbClr>
          </a:solidFill>
          <a:ln cap="flat" cmpd="sng">
            <a:solidFill>
              <a:srgbClr val="1F67DD">
                <a:alpha val="100000"/>
              </a:srgbClr>
            </a:solidFill>
            <a:prstDash val="solid"/>
            <a:round/>
          </a:ln>
        </p:spPr>
        <p:txBody>
          <a:bodyPr vert="horz" wrap="square" lIns="63500" tIns="63500" rIns="63500" bIns="63500" rtlCol="0" anchor="ctr"/>
          <a:lstStyle/>
          <a:p>
            <a:pPr algn="ctr">
              <a:defRPr/>
            </a:pPr>
          </a:p>
        </p:txBody>
      </p:sp>
      <p:sp>
        <p:nvSpPr>
          <p:cNvPr id="34" name="AutoShape 34"/>
          <p:cNvSpPr/>
          <p:nvPr/>
        </p:nvSpPr>
        <p:spPr>
          <a:xfrm>
            <a:off x="8382000" y="45720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3600" b="1" i="0" u="none" strike="noStrike">
                <a:solidFill>
                  <a:srgbClr val="3B82F6">
                    <a:alpha val="27843"/>
                  </a:srgbClr>
                </a:solidFill>
                <a:latin typeface="Noto Sans SC"/>
                <a:ea typeface="Noto Sans SC"/>
                <a:cs typeface="Noto Sans SC"/>
                <a:sym typeface="Noto Sans SC"/>
              </a:rPr>
              <a:t>03</a:t>
            </a:r>
            <a:endParaRPr lang="en-US" sz="1100"/>
          </a:p>
        </p:txBody>
      </p:sp>
      <p:sp>
        <p:nvSpPr>
          <p:cNvPr id="35" name="AutoShape 35"/>
          <p:cNvSpPr/>
          <p:nvPr/>
        </p:nvSpPr>
        <p:spPr>
          <a:xfrm>
            <a:off x="9169400" y="4572000"/>
            <a:ext cx="2438400" cy="406400"/>
          </a:xfrm>
          <a:prstGeom prst="rect">
            <a:avLst/>
          </a:prstGeom>
          <a:noFill/>
          <a:ln w="12700" cap="flat" cmpd="sng">
            <a:noFill/>
            <a:prstDash val="solid"/>
            <a:round/>
          </a:ln>
        </p:spPr>
        <p:txBody>
          <a:bodyPr vert="horz" wrap="square" lIns="0" tIns="0" rIns="0" bIns="0" rtlCol="0" anchor="ctr" anchorCtr="0"/>
          <a:lstStyle/>
          <a:p>
            <a:pPr marL="0" indent="0" algn="l">
              <a:lnSpc>
                <a:spcPct val="83000"/>
              </a:lnSpc>
              <a:defRPr/>
            </a:pPr>
            <a:r>
              <a:rPr lang="en-US" sz="1700" b="1" i="0" u="none" strike="noStrike">
                <a:solidFill>
                  <a:srgbClr val="1E3A8A"/>
                </a:solidFill>
                <a:latin typeface="Noto Sans SC"/>
                <a:ea typeface="Noto Sans SC"/>
                <a:cs typeface="Noto Sans SC"/>
                <a:sym typeface="Noto Sans SC"/>
              </a:rPr>
              <a:t>深度对接分类模型</a:t>
            </a:r>
            <a:endParaRPr lang="en-US" sz="1100"/>
          </a:p>
        </p:txBody>
      </p:sp>
      <p:sp>
        <p:nvSpPr>
          <p:cNvPr id="36" name="AutoShape 36"/>
          <p:cNvSpPr/>
          <p:nvPr/>
        </p:nvSpPr>
        <p:spPr>
          <a:xfrm>
            <a:off x="9169400" y="5016500"/>
            <a:ext cx="2438400" cy="825500"/>
          </a:xfrm>
          <a:prstGeom prst="rect">
            <a:avLst/>
          </a:prstGeom>
          <a:noFill/>
          <a:ln w="12700" cap="flat" cmpd="sng">
            <a:noFill/>
            <a:prstDash val="solid"/>
            <a:round/>
          </a:ln>
        </p:spPr>
        <p:txBody>
          <a:bodyPr vert="horz" wrap="square" lIns="0" tIns="0" rIns="0" bIns="0" rtlCol="0" anchor="t" anchorCtr="0"/>
          <a:lstStyle/>
          <a:p>
            <a:pPr marL="0" indent="0" algn="l">
              <a:lnSpc>
                <a:spcPct val="121000"/>
              </a:lnSpc>
              <a:defRPr/>
            </a:pPr>
            <a:r>
              <a:rPr lang="en-US" sz="1300" b="0" i="0" u="none" strike="noStrike">
                <a:solidFill>
                  <a:srgbClr val="475569"/>
                </a:solidFill>
                <a:latin typeface="Noto Sans SC"/>
                <a:ea typeface="Noto Sans SC"/>
                <a:cs typeface="Noto Sans SC"/>
                <a:sym typeface="Noto Sans SC"/>
              </a:rPr>
              <a:t>与hyper-spectral-small-modes分类模型深度对接本服务。</a:t>
            </a:r>
            <a:endParaRPr lang="en-US" sz="11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gradFill rotWithShape="1">
          <a:gsLst>
            <a:gs pos="0">
              <a:srgbClr val="EFF6FF">
                <a:alpha val="100000"/>
              </a:srgbClr>
            </a:gs>
            <a:gs pos="55000">
              <a:srgbClr val="DBEAFE">
                <a:alpha val="100000"/>
              </a:srgbClr>
            </a:gs>
            <a:gs pos="100000">
              <a:srgbClr val="FFFFFF">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0" y="1016000"/>
            <a:ext cx="12192000" cy="1778000"/>
          </a:xfrm>
          <a:prstGeom prst="rect">
            <a:avLst/>
          </a:prstGeom>
          <a:noFill/>
          <a:ln w="12700" cap="flat" cmpd="sng">
            <a:noFill/>
            <a:prstDash val="solid"/>
            <a:round/>
          </a:ln>
        </p:spPr>
        <p:txBody>
          <a:bodyPr vert="horz" wrap="square" lIns="0" tIns="0" rIns="0" bIns="0" rtlCol="0" anchor="t" anchorCtr="0"/>
          <a:lstStyle/>
          <a:p>
            <a:pPr marL="0" indent="0" algn="ctr">
              <a:lnSpc>
                <a:spcPct val="92000"/>
              </a:lnSpc>
              <a:defRPr/>
            </a:pPr>
            <a:r>
              <a:rPr lang="en-US" sz="8800" b="1" i="0" u="none" strike="noStrike" spc="1600">
                <a:solidFill>
                  <a:srgbClr val="1E40AF"/>
                </a:solidFill>
                <a:latin typeface="Noto Sans SC"/>
                <a:ea typeface="Noto Sans SC"/>
                <a:cs typeface="Noto Sans SC"/>
                <a:sym typeface="Noto Sans SC"/>
              </a:rPr>
              <a:t>谢谢</a:t>
            </a:r>
            <a:endParaRPr lang="en-US" sz="1100"/>
          </a:p>
        </p:txBody>
      </p:sp>
      <p:sp>
        <p:nvSpPr>
          <p:cNvPr id="3" name="AutoShape 3"/>
          <p:cNvSpPr/>
          <p:nvPr/>
        </p:nvSpPr>
        <p:spPr>
          <a:xfrm>
            <a:off x="0" y="2921000"/>
            <a:ext cx="12192000" cy="635000"/>
          </a:xfrm>
          <a:prstGeom prst="rect">
            <a:avLst/>
          </a:prstGeom>
          <a:noFill/>
          <a:ln w="12700" cap="flat" cmpd="sng">
            <a:noFill/>
            <a:prstDash val="solid"/>
            <a:round/>
          </a:ln>
        </p:spPr>
        <p:txBody>
          <a:bodyPr vert="horz" wrap="square" lIns="0" tIns="0" rIns="0" bIns="0" rtlCol="0" anchor="t" anchorCtr="0"/>
          <a:lstStyle/>
          <a:p>
            <a:pPr marL="0" indent="0" algn="ctr">
              <a:lnSpc>
                <a:spcPct val="83000"/>
              </a:lnSpc>
              <a:defRPr/>
            </a:pPr>
            <a:r>
              <a:rPr lang="en-US" sz="2200" b="1" i="0" u="none" strike="noStrike" spc="1200">
                <a:solidFill>
                  <a:srgbClr val="1E40AF">
                    <a:alpha val="54902"/>
                  </a:srgbClr>
                </a:solidFill>
                <a:latin typeface="Inter"/>
                <a:ea typeface="Inter"/>
                <a:cs typeface="Inter"/>
                <a:sym typeface="Inter"/>
              </a:rPr>
              <a:t>THANKS</a:t>
            </a:r>
            <a:endParaRPr lang="en-US" sz="1100"/>
          </a:p>
        </p:txBody>
      </p:sp>
      <p:sp>
        <p:nvSpPr>
          <p:cNvPr id="4" name="AutoShape 4"/>
          <p:cNvSpPr/>
          <p:nvPr/>
        </p:nvSpPr>
        <p:spPr>
          <a:xfrm>
            <a:off x="0" y="3784600"/>
            <a:ext cx="12192000" cy="12700"/>
          </a:xfrm>
          <a:prstGeom prst="roundRect">
            <a:avLst>
              <a:gd name="adj" fmla="val 0"/>
            </a:avLst>
          </a:prstGeom>
          <a:solidFill>
            <a:srgbClr val="1E40AF">
              <a:alpha val="14000"/>
            </a:srgbClr>
          </a:solidFill>
          <a:ln cap="flat" cmpd="sng">
            <a:solidFill>
              <a:srgbClr val="0B2B96">
                <a:alpha val="14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4064000"/>
            <a:ext cx="5207000" cy="1778000"/>
          </a:xfrm>
          <a:prstGeom prst="roundRect">
            <a:avLst>
              <a:gd name="adj" fmla="val 0"/>
            </a:avLst>
          </a:prstGeom>
          <a:solidFill>
            <a:srgbClr val="FFFFFF">
              <a:alpha val="55000"/>
            </a:srgbClr>
          </a:solidFill>
          <a:ln cap="flat" cmpd="sng">
            <a:solidFill>
              <a:srgbClr val="E6CFCF">
                <a:alpha val="55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1016000" y="4064000"/>
            <a:ext cx="50800" cy="1778000"/>
          </a:xfrm>
          <a:prstGeom prst="roundRect">
            <a:avLst>
              <a:gd name="adj" fmla="val 0"/>
            </a:avLst>
          </a:prstGeom>
          <a:solidFill>
            <a:srgbClr val="1E40AF">
              <a:alpha val="100000"/>
            </a:srgbClr>
          </a:solidFill>
          <a:ln cap="flat" cmpd="sng">
            <a:solidFill>
              <a:srgbClr val="0B2B96">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1346200" y="4127500"/>
            <a:ext cx="4699000" cy="406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2000" b="1" i="0" u="none" strike="noStrike" spc="400">
                <a:solidFill>
                  <a:srgbClr val="1E40AF"/>
                </a:solidFill>
                <a:latin typeface="Noto Sans SC"/>
                <a:ea typeface="Noto Sans SC"/>
                <a:cs typeface="Noto Sans SC"/>
                <a:sym typeface="Noto Sans SC"/>
              </a:rPr>
              <a:t>资料</a:t>
            </a:r>
            <a:endParaRPr lang="en-US" sz="1100"/>
          </a:p>
        </p:txBody>
      </p:sp>
      <p:sp>
        <p:nvSpPr>
          <p:cNvPr id="8" name="AutoShape 8"/>
          <p:cNvSpPr/>
          <p:nvPr/>
        </p:nvSpPr>
        <p:spPr>
          <a:xfrm>
            <a:off x="1346200" y="4572000"/>
            <a:ext cx="4699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400" b="1" i="0" u="none" strike="noStrike">
                <a:solidFill>
                  <a:srgbClr val="1E293B"/>
                </a:solidFill>
                <a:latin typeface="Inter"/>
                <a:ea typeface="Inter"/>
                <a:cs typeface="Inter"/>
                <a:sym typeface="Inter"/>
              </a:rPr>
              <a:t>algorithm/docs/</a:t>
            </a:r>
            <a:endParaRPr lang="en-US" sz="1100"/>
          </a:p>
        </p:txBody>
      </p:sp>
      <p:sp>
        <p:nvSpPr>
          <p:cNvPr id="9" name="AutoShape 9"/>
          <p:cNvSpPr/>
          <p:nvPr/>
        </p:nvSpPr>
        <p:spPr>
          <a:xfrm>
            <a:off x="1346200" y="4978400"/>
            <a:ext cx="4699000" cy="660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300" b="0" i="0" u="none" strike="noStrike">
                <a:solidFill>
                  <a:srgbClr val="1E293B">
                    <a:alpha val="72157"/>
                  </a:srgbClr>
                </a:solidFill>
                <a:latin typeface="Noto Sans SC"/>
                <a:ea typeface="Noto Sans SC"/>
                <a:cs typeface="Noto Sans SC"/>
                <a:sym typeface="Noto Sans SC"/>
              </a:rPr>
              <a:t>清单、流程、测试清单、本PPT,可随时查阅。</a:t>
            </a:r>
            <a:endParaRPr lang="en-US" sz="1100"/>
          </a:p>
        </p:txBody>
      </p:sp>
      <p:sp>
        <p:nvSpPr>
          <p:cNvPr id="10" name="AutoShape 10"/>
          <p:cNvSpPr/>
          <p:nvPr/>
        </p:nvSpPr>
        <p:spPr>
          <a:xfrm>
            <a:off x="6350000" y="4064000"/>
            <a:ext cx="12700" cy="1778000"/>
          </a:xfrm>
          <a:prstGeom prst="roundRect">
            <a:avLst>
              <a:gd name="adj" fmla="val 0"/>
            </a:avLst>
          </a:prstGeom>
          <a:solidFill>
            <a:srgbClr val="1E40AF">
              <a:alpha val="18000"/>
            </a:srgbClr>
          </a:solidFill>
          <a:ln cap="flat" cmpd="sng">
            <a:solidFill>
              <a:srgbClr val="0B2B96">
                <a:alpha val="18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6604000" y="4064000"/>
            <a:ext cx="5207000" cy="1778000"/>
          </a:xfrm>
          <a:prstGeom prst="roundRect">
            <a:avLst>
              <a:gd name="adj" fmla="val 0"/>
            </a:avLst>
          </a:prstGeom>
          <a:solidFill>
            <a:srgbClr val="FFFFFF">
              <a:alpha val="55000"/>
            </a:srgbClr>
          </a:solidFill>
          <a:ln cap="flat" cmpd="sng">
            <a:solidFill>
              <a:srgbClr val="E6CFCF">
                <a:alpha val="55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6604000" y="4064000"/>
            <a:ext cx="50800" cy="1778000"/>
          </a:xfrm>
          <a:prstGeom prst="roundRect">
            <a:avLst>
              <a:gd name="adj" fmla="val 0"/>
            </a:avLst>
          </a:prstGeom>
          <a:solidFill>
            <a:srgbClr val="1E40AF">
              <a:alpha val="100000"/>
            </a:srgbClr>
          </a:solidFill>
          <a:ln cap="flat" cmpd="sng">
            <a:solidFill>
              <a:srgbClr val="0B2B96">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6934200" y="4127500"/>
            <a:ext cx="4699000" cy="4064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2000" b="1" i="0" u="none" strike="noStrike" spc="400">
                <a:solidFill>
                  <a:srgbClr val="1E40AF"/>
                </a:solidFill>
                <a:latin typeface="Noto Sans SC"/>
                <a:ea typeface="Noto Sans SC"/>
                <a:cs typeface="Noto Sans SC"/>
                <a:sym typeface="Noto Sans SC"/>
              </a:rPr>
              <a:t>服务</a:t>
            </a:r>
            <a:endParaRPr lang="en-US" sz="1100"/>
          </a:p>
        </p:txBody>
      </p:sp>
      <p:sp>
        <p:nvSpPr>
          <p:cNvPr id="14" name="AutoShape 14"/>
          <p:cNvSpPr/>
          <p:nvPr/>
        </p:nvSpPr>
        <p:spPr>
          <a:xfrm>
            <a:off x="6934200" y="4572000"/>
            <a:ext cx="4699000" cy="330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400" b="1" i="0" u="none" strike="noStrike">
                <a:solidFill>
                  <a:srgbClr val="1E293B"/>
                </a:solidFill>
                <a:latin typeface="Inter"/>
                <a:ea typeface="Inter"/>
                <a:cs typeface="Inter"/>
                <a:sym typeface="Inter"/>
              </a:rPr>
              <a:t>algorithm/source/</a:t>
            </a:r>
            <a:endParaRPr lang="en-US" sz="1100"/>
          </a:p>
        </p:txBody>
      </p:sp>
      <p:sp>
        <p:nvSpPr>
          <p:cNvPr id="15" name="AutoShape 15"/>
          <p:cNvSpPr/>
          <p:nvPr/>
        </p:nvSpPr>
        <p:spPr>
          <a:xfrm>
            <a:off x="6934200" y="4978400"/>
            <a:ext cx="4699000" cy="6604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300" b="0" i="0" u="none" strike="noStrike">
                <a:solidFill>
                  <a:srgbClr val="1E293B">
                    <a:alpha val="72157"/>
                  </a:srgbClr>
                </a:solidFill>
                <a:latin typeface="Noto Sans SC"/>
                <a:ea typeface="Noto Sans SC"/>
                <a:cs typeface="Noto Sans SC"/>
                <a:sym typeface="Noto Sans SC"/>
              </a:rPr>
              <a:t>提供HTTP API接口,默认监听端口28800。</a:t>
            </a:r>
            <a:endParaRPr lang="en-US" sz="1100"/>
          </a:p>
        </p:txBody>
      </p:sp>
      <p:sp>
        <p:nvSpPr>
          <p:cNvPr id="16" name="AutoShape 16"/>
          <p:cNvSpPr/>
          <p:nvPr/>
        </p:nvSpPr>
        <p:spPr>
          <a:xfrm>
            <a:off x="0" y="61214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83000"/>
              </a:lnSpc>
              <a:defRPr/>
            </a:pPr>
            <a:r>
              <a:rPr lang="en-US" sz="1200" b="0" i="0" u="none" strike="noStrike" spc="300">
                <a:solidFill>
                  <a:srgbClr val="1E293B">
                    <a:alpha val="45098"/>
                  </a:srgbClr>
                </a:solidFill>
                <a:latin typeface="Noto Sans SC"/>
                <a:ea typeface="Noto Sans SC"/>
                <a:cs typeface="Noto Sans SC"/>
                <a:sym typeface="Noto Sans SC"/>
              </a:rPr>
              <a:t>如果有任何问题,欢迎随时交流,再次感谢!</a:t>
            </a:r>
            <a:endParaRPr lang="en-US" sz="1100"/>
          </a:p>
        </p:txBody>
      </p:sp>
      <p:pic>
        <p:nvPicPr>
          <p:cNvPr id="17" name="Picture 17"/>
          <p:cNvPicPr>
            <a:picLocks noChangeAspect="1"/>
          </p:cNvPicPr>
          <p:nvPr/>
        </p:nvPicPr>
        <p:blipFill>
          <a:blip r:embed="rId1"/>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17549</Words>
  <Application>WPS 演示</Application>
  <PresentationFormat/>
  <Paragraphs>2474</Paragraphs>
  <Slides>62</Slides>
  <Notes>0</Notes>
  <HiddenSlides>0</HiddenSlides>
  <MMClips>0</MMClips>
  <ScaleCrop>false</ScaleCrop>
  <HeadingPairs>
    <vt:vector size="6" baseType="variant">
      <vt:variant>
        <vt:lpstr>已用的字体</vt:lpstr>
      </vt:variant>
      <vt:variant>
        <vt:i4>21</vt:i4>
      </vt:variant>
      <vt:variant>
        <vt:lpstr>主题</vt:lpstr>
      </vt:variant>
      <vt:variant>
        <vt:i4>2</vt:i4>
      </vt:variant>
      <vt:variant>
        <vt:lpstr>幻灯片标题</vt:lpstr>
      </vt:variant>
      <vt:variant>
        <vt:i4>62</vt:i4>
      </vt:variant>
    </vt:vector>
  </HeadingPairs>
  <TitlesOfParts>
    <vt:vector size="85" baseType="lpstr">
      <vt:lpstr>Arial</vt:lpstr>
      <vt:lpstr>宋体</vt:lpstr>
      <vt:lpstr>Wingdings</vt:lpstr>
      <vt:lpstr>Arial</vt:lpstr>
      <vt:lpstr>Noto Sans SC</vt:lpstr>
      <vt:lpstr>Thonburi</vt:lpstr>
      <vt:lpstr>宋体</vt:lpstr>
      <vt:lpstr>汉仪书宋二KW</vt:lpstr>
      <vt:lpstr>微软雅黑</vt:lpstr>
      <vt:lpstr>汉仪旗黑</vt:lpstr>
      <vt:lpstr>Arial Unicode MS</vt:lpstr>
      <vt:lpstr>Poppins</vt:lpstr>
      <vt:lpstr>Inter</vt:lpstr>
      <vt:lpstr>Consolas</vt:lpstr>
      <vt:lpstr>Roboto Mono</vt:lpstr>
      <vt:lpstr>Consolas</vt:lpstr>
      <vt:lpstr>Inter</vt:lpstr>
      <vt:lpstr>Noto Sans SC</vt:lpstr>
      <vt:lpstr>Poppins</vt:lpstr>
      <vt:lpstr>Roboto Mono</vt:lpstr>
      <vt:lpstr>苹方-简</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蒋生平</cp:lastModifiedBy>
  <cp:revision>2</cp:revision>
  <dcterms:created xsi:type="dcterms:W3CDTF">2026-08-09T10:42:26Z</dcterms:created>
  <dcterms:modified xsi:type="dcterms:W3CDTF">2026-08-09T10:42:26Z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{"Label":"1","ContentProducer":"001191110102MACQD9K64010000","ProduceID":"7671979658812296488","ReservedCode1":"","ContentPropagator":"","PropagateID":"","ReservedCode2":""}</vt:lpwstr>
  </property>
  <property fmtid="{D5CDD505-2E9C-101B-9397-08002B2CF9AE}" pid="3" name="ICV">
    <vt:lpwstr>EEF704EF404A23AEFB58786A2951EC0A_42</vt:lpwstr>
  </property>
  <property fmtid="{D5CDD505-2E9C-101B-9397-08002B2CF9AE}" pid="4" name="KSOProductBuildVer">
    <vt:lpwstr>2052-12.1.26035.26035</vt:lpwstr>
  </property>
</Properties>
</file>