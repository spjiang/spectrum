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Noto Sans SC"/>
                <a:ea typeface="Noto Sans SC"/>
              </a:rPr>
              <a:t>高光谱数据处理与算法体系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A7F3D0"/>
                </a:solidFill>
                <a:latin typeface="Noto Sans SC"/>
                <a:ea typeface="Noto Sans SC"/>
              </a:rPr>
              <a:t>架构设计  ·  55 项算法详解  ·  服务能力与对接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BCFE8"/>
                </a:solidFill>
                <a:latin typeface="Noto Sans SC"/>
                <a:ea typeface="Noto Sans SC"/>
              </a:rPr>
              <a:t>政企科技蓝统一版｜专业培训与业务汇报材料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3657600" cy="457200"/>
          </a:xfrm>
          <a:prstGeom prst="roundRect">
            <a:avLst>
              <a:gd name="adj" fmla="val 6000"/>
            </a:avLst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307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Noto Sans SC"/>
                <a:ea typeface="Noto Sans SC"/>
              </a:rPr>
              <a:t>L0 → L1 → L2 → L3 → L4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Noto Sans SC"/>
                <a:ea typeface="Noto Sans SC"/>
              </a:rPr>
              <a:t>核心链路：原始 DN → 反射率正射立方体 → 分类/指数产品 → 面积报表与业务告警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BCFE8"/>
                </a:solidFill>
                <a:latin typeface="Noto Sans SC"/>
                <a:ea typeface="Noto Sans SC"/>
              </a:rPr>
              <a:t>内容口径：55 项能力覆盖 L0–L4；全部可运行并产出 files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BCFE8"/>
                </a:solidFill>
                <a:latin typeface="Noto Sans SC"/>
                <a:ea typeface="Noto Sans SC"/>
              </a:rPr>
              <a:t>配套服务：统一 HTTP API；GeoTIFF / GeoJSON / CSV 标准格式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从采集到地块汇总的完整能力说明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370332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703320" cy="594360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</a:rPr>
              <a:t>01  架构设计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• 数据层级 L0–L4 定义与用户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• 分类链与长势指标链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• 业界交换文件格式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• 端到端业务处理路径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43000"/>
            <a:ext cx="370332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143000"/>
            <a:ext cx="3703320" cy="59436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</a:rPr>
              <a:t>02  算法清单（55项）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1168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• 按层级说明功能与方法要点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• 明确输入输出与产品形态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• 业务价值、缺失影响与流程位置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• 关联算法与实施提示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43000"/>
            <a:ext cx="370332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143000"/>
            <a:ext cx="3703320" cy="594360"/>
          </a:xfrm>
          <a:prstGeom prst="rect">
            <a:avLst/>
          </a:prstGeom>
          <a:solidFill>
            <a:srgbClr val="D17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</a:rPr>
              <a:t>03  服务能力与对接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1168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• 统一 HTTP 服务定位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• 已实现能力与接口契约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• 联调步骤与调用示例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• 能力边界与后续建设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目录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2 / 72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第一部分｜架构设计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先建立数据产品分层，再理解算法落点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566928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64008" cy="5120640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170432"/>
            <a:ext cx="5413248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8447D"/>
                </a:solidFill>
                <a:latin typeface="Noto Sans SC"/>
                <a:ea typeface="Noto Sans SC"/>
              </a:rPr>
              <a:t>核心结论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高光谱业务不是「一组光谱直接得到一个指标」。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业界将链路拆分为多层数据产品，层层增值：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L0  原始 DN 计数 + POS/元数据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L1  辐亮度（具备物理单位）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L2  反射率正射立方体（可上地图）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L3  分类图 / 指数图 / 反演图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L4  面积、报表、告警、业务 API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本仓库分类小模型主要落在 L2→L3；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业务系统最终消费的多为 L4 产品。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562356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64008" cy="512064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170432"/>
            <a:ext cx="5367528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09AA6"/>
                </a:solidFill>
                <a:latin typeface="Noto Sans SC"/>
                <a:ea typeface="Noto Sans SC"/>
              </a:rPr>
              <a:t>分层价值（摘要）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L0：保住可追溯的原始观测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L1：进入可定量的物理量空间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L2：形成算法可消费的标准底图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L3：提取类别、长势、胁迫等信息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L4：转化为可管理、可对接的结论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两条并行分析链均建立在 L2 之上：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① 分类链：回答「种了什么、各多少」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② 指标链：回答「长势/水分如何」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培训重点：先记住分层，再记算法名称。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3 / 72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数据层级 L0–L4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形态 · 主要用户 · 可否直接用于管理决策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22677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2267712" cy="502920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1704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</a:rPr>
              <a:t>L0 原始层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83080"/>
            <a:ext cx="2057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形态：DN 帧/条带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POS、日志、定标板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用户：采集与预处理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决策：否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价值：原始可追溯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33472" y="1097280"/>
            <a:ext cx="22677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33472" y="1097280"/>
            <a:ext cx="2267712" cy="502920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11704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</a:rPr>
              <a:t>L1 辐射校正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783080"/>
            <a:ext cx="2057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形态：辐亮度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可含粗几何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用户：处理中心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决策：否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价值：物理可比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2624" y="1097280"/>
            <a:ext cx="22677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92624" y="1097280"/>
            <a:ext cx="2267712" cy="502920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65776" y="11704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</a:rPr>
              <a:t>L2 反射率、镶嵌与特征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1783080"/>
            <a:ext cx="2057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形态：反射率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正射立方体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用户：算法研发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决策：专业预览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价值：标准输入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51776" y="1097280"/>
            <a:ext cx="22677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51776" y="1097280"/>
            <a:ext cx="2267712" cy="502920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4928" y="11704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</a:rPr>
              <a:t>L3 指数与识别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1504" y="1783080"/>
            <a:ext cx="2057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形态：分类/指数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反演/矢量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用户：分析与产品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决策：部分可读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价值：信息提取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10928" y="1097280"/>
            <a:ext cx="22677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10928" y="1097280"/>
            <a:ext cx="2267712" cy="502920"/>
          </a:xfrm>
          <a:prstGeom prst="rect">
            <a:avLst/>
          </a:prstGeom>
          <a:solidFill>
            <a:srgbClr val="D17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11704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</a:rPr>
              <a:t>L4 地块汇总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0656" y="1783080"/>
            <a:ext cx="2057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形态：亩数报表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告警与 API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用户：业务与系统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决策：是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价值：管理闭环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架构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4 / 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端到端处理路径（以作物分类为例）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从飞行采集到业务系统可读结果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51560"/>
            <a:ext cx="11521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1417320" cy="749808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5272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Noto Sans SC"/>
                <a:ea typeface="Noto Sans SC"/>
              </a:rPr>
              <a:t>① 采集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25272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无人机高光谱（可选 RGB）飞行；布置白板；记录样点类别与地块边界。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892807"/>
            <a:ext cx="11521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892807"/>
            <a:ext cx="1417320" cy="749808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093976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Noto Sans SC"/>
                <a:ea typeface="Noto Sans SC"/>
              </a:rPr>
              <a:t>② 预处理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09397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暗电流/坏线/定标 → 正射 → 镶嵌，形成 L2 反射率正射立方体（GeoTIFF）。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734056"/>
            <a:ext cx="11521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417320" cy="749808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935224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Noto Sans SC"/>
                <a:ea typeface="Noto Sans SC"/>
              </a:rPr>
              <a:t>③ 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293522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样本标注 + 分类模型（传统 ML / 空谱 CNN 等）→ L3 分类着色图。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575304"/>
            <a:ext cx="11521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575304"/>
            <a:ext cx="1417320" cy="749808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7764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Noto Sans SC"/>
                <a:ea typeface="Noto Sans SC"/>
              </a:rPr>
              <a:t>④ 后处理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37764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平滑与小斑剔除，提升图斑连续性，稳定面积统计。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416552"/>
            <a:ext cx="11521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416552"/>
            <a:ext cx="1417320" cy="749808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6177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Noto Sans SC"/>
                <a:ea typeface="Noto Sans SC"/>
              </a:rPr>
              <a:t>⑤ 汇总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6177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按地块分区统计亩数与占比 → L4 报表 / JSON / 专题图。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5257800"/>
            <a:ext cx="11521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5257800"/>
            <a:ext cx="1417320" cy="749808"/>
          </a:xfrm>
          <a:prstGeom prst="rect">
            <a:avLst/>
          </a:prstGeom>
          <a:solidFill>
            <a:srgbClr val="D17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45896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Noto Sans SC"/>
                <a:ea typeface="Noto Sans SC"/>
              </a:rPr>
              <a:t>⑥ 应用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545896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业务系统、GIS、大屏消费 L4；并行可走 NDVI/NDRE 长势监测链。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架构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5 / 72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两条业务主链路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均以 L2 反射率正射立方体为共同输入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566928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64008" cy="5120640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170432"/>
            <a:ext cx="5413248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A. 作物/地物分类链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L2 反射率正射立方体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→ 样本构建与特征处理（#20–26）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→ 分类模型（#34–39）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→ 图斑整理（#44）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→ 地块面积与专题图（#45）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回答的问题：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· 各地块种植了什么？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· 各类面积与空间分布如何？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本仓库小模型主要服务本链路。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验收关注：OA/Kappa + 面积核对。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562356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64008" cy="5120640"/>
          </a:xfrm>
          <a:prstGeom prst="rect">
            <a:avLst/>
          </a:prstGeom>
          <a:solidFill>
            <a:srgbClr val="D17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170432"/>
            <a:ext cx="5367528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1711D"/>
                </a:solidFill>
                <a:latin typeface="Noto Sans SC"/>
                <a:ea typeface="Noto Sans SC"/>
              </a:rPr>
              <a:t>B. 长势/胁迫指标链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L2 反射率正射立方体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→ NDVI/NDRE 等指数（#27–31）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→ 可选生化量反演（#32–33）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→ 热力专题图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→ 地块均值与阈值告警（#45）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回答的问题：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· 长势空间差异如何？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· 是否存在干旱/缺肥风险区？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链路更轻、更适合高频监测。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验收关注：阈值规则与告警闭环。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6 / 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业界文件格式介绍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服务与业务系统按标准格式交换，而非教学用 npy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51560"/>
            <a:ext cx="115214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91440" cy="8961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07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GeoTIFF (.tif)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216151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多波段栅格 + 地理参考；主格式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216151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26375"/>
                </a:solidFill>
                <a:latin typeface="Noto Sans SC"/>
                <a:ea typeface="Noto Sans SC"/>
              </a:rPr>
              <a:t>用途：L2 立方体、指数图、分类图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057400"/>
            <a:ext cx="115214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57400"/>
            <a:ext cx="91440" cy="8961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134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ENVI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22199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经典高光谱交换；服务侧可读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2199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26375"/>
                </a:solidFill>
                <a:latin typeface="Noto Sans SC"/>
                <a:ea typeface="Noto Sans SC"/>
              </a:rPr>
              <a:t>用途：处理中心存量数据接入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063240"/>
            <a:ext cx="115214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063240"/>
            <a:ext cx="91440" cy="8961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192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GeoJSON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22783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测区、地块、斑块矢量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22783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26375"/>
                </a:solidFill>
                <a:latin typeface="Noto Sans SC"/>
                <a:ea typeface="Noto Sans SC"/>
              </a:rPr>
              <a:t>用途：分区统计、AOI 裁剪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069080"/>
            <a:ext cx="115214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069080"/>
            <a:ext cx="91440" cy="8961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3251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23367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POS 轨迹、光谱库、端元表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23367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26375"/>
                </a:solidFill>
                <a:latin typeface="Noto Sans SC"/>
                <a:ea typeface="Noto Sans SC"/>
              </a:rPr>
              <a:t>用途：几何与光谱匹配辅助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5074920"/>
            <a:ext cx="115214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5074920"/>
            <a:ext cx="91440" cy="8961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3309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JSON 报表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23951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统计指标 + 产物路径 + 告警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23951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26375"/>
                </a:solidFill>
                <a:latin typeface="Noto Sans SC"/>
                <a:ea typeface="Noto Sans SC"/>
              </a:rPr>
              <a:t>用途：业务系统 / 大屏直接消费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架构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7 / 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第二部分｜算法清单（55 项）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每项说明：功能 · 方法 · 场景 · 输入输出 · 价值 · 影响 · 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1152144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64008" cy="5120640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170432"/>
            <a:ext cx="11265408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8447D"/>
                </a:solidFill>
                <a:latin typeface="Noto Sans SC"/>
                <a:ea typeface="Noto Sans SC"/>
              </a:rPr>
              <a:t>阅读与培训建议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1. 先按层级理解「本层解决什么业务问题」，再记忆算法名称。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2. 每页包含：功能定义、方法要点、适用场景、输入输出、业务价值、缺失影响、流程位置与关联。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3. 标注「可运行」表示当前 HTTP 服务可联调（教学实现）。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4. 分层覆盖：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   #1–5 航线规划与采集质检　#6–11 辐射校正与相对归一　#12–26 反射率、镶嵌与特征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   #27–43 指数与识别　#44–45 图斑整理与地块汇总　#46–55 植被指数补齐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5. 与仓库关系：L0–L2 工程能力多在处理中心；本仓库强项在 L2→L3 分类及可运行教学 API。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8 / 72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算法分层总览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55 项能力与业务问题的对应关系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51560"/>
            <a:ext cx="115214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2286000" cy="1143000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</a:rPr>
              <a:t>L0 航线规划与采集质检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916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#1–5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23443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8447D"/>
                </a:solidFill>
                <a:latin typeface="Noto Sans SC"/>
                <a:ea typeface="Noto Sans SC"/>
              </a:rPr>
              <a:t>飞行与原始数据质量控制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6002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26375"/>
                </a:solidFill>
                <a:latin typeface="Noto Sans SC"/>
                <a:ea typeface="Noto Sans SC"/>
              </a:rPr>
              <a:t>航线规划与覆盖优化、同步曝光与时间戳对齐、POS轨迹平滑与杠杆臂校、架次过曝与场景统计质检、云/云影检测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331720"/>
            <a:ext cx="115214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31720"/>
            <a:ext cx="2286000" cy="1143000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</a:rPr>
              <a:t>L0→L1 辐射校正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971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#6–11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5146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8447D"/>
                </a:solidFill>
                <a:latin typeface="Noto Sans SC"/>
                <a:ea typeface="Noto Sans SC"/>
              </a:rPr>
              <a:t>从 DN 到物理辐亮度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880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26375"/>
                </a:solidFill>
                <a:latin typeface="Noto Sans SC"/>
                <a:ea typeface="Noto Sans SC"/>
              </a:rPr>
              <a:t>暗电流校正、坏线/坏像元修复、条带噪声去除、光谱微笑/关键畸变校正、辐射定标 DN→辐亮度、相对辐射归一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611879"/>
            <a:ext cx="115214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11879"/>
            <a:ext cx="2286000" cy="1143000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8404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</a:rPr>
              <a:t>L1→L2 反射率与正射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25195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#12–19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79475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8447D"/>
                </a:solidFill>
                <a:latin typeface="Noto Sans SC"/>
                <a:ea typeface="Noto Sans SC"/>
              </a:rPr>
              <a:t>反射率、正射、镶嵌、配准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1605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26375"/>
                </a:solidFill>
                <a:latin typeface="Noto Sans SC"/>
                <a:ea typeface="Noto Sans SC"/>
              </a:rPr>
              <a:t>白板/灰板反射率定标、大气校正、BRDF/观测几何校正、POS中心点与GSD粗定、正射校正、影像匹配与镶嵌、Wallis局部匀色、HSI-RGB全局平移配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4892040"/>
            <a:ext cx="115214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892040"/>
            <a:ext cx="2286000" cy="1143000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120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</a:rPr>
              <a:t>L2 镶嵌与特征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532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#20–26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0749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8447D"/>
                </a:solidFill>
                <a:latin typeface="Noto Sans SC"/>
                <a:ea typeface="Noto Sans SC"/>
              </a:rPr>
              <a:t>清洗、特征、样本构建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44067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26375"/>
                </a:solidFill>
                <a:latin typeface="Noto Sans SC"/>
                <a:ea typeface="Noto Sans SC"/>
              </a:rPr>
              <a:t>坏波段剔除、Savitzky-Gol、标准化/归一化、PCA/MNF降维、波段/特征选择、超像素/对象分割、Patch/样本构建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9 / 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算法分层总览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55 项能力与业务问题的对应关系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51560"/>
            <a:ext cx="115214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2286000" cy="1143000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</a:rPr>
              <a:t>L3 指数与识别（上）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916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#27–33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23443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8447D"/>
                </a:solidFill>
                <a:latin typeface="Noto Sans SC"/>
                <a:ea typeface="Noto Sans SC"/>
              </a:rPr>
              <a:t>长势、水分、生化量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6002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26375"/>
                </a:solidFill>
                <a:latin typeface="Noto Sans SC"/>
                <a:ea typeface="Noto Sans SC"/>
              </a:rPr>
              <a:t>NDVI植被指数、NDRE红边植被指数、EVI/SAVI/MSA、NDMI/NDWI/MN、红边位置与光谱特征参数、经验回归反演、辐射传输物理反演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331720"/>
            <a:ext cx="115214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31720"/>
            <a:ext cx="2286000" cy="1143000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</a:rPr>
              <a:t>L3 指数与识别（下）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971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#34–43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5146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8447D"/>
                </a:solidFill>
                <a:latin typeface="Noto Sans SC"/>
                <a:ea typeface="Noto Sans SC"/>
              </a:rPr>
              <a:t>类别、斑块、异常、变化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880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26375"/>
                </a:solidFill>
                <a:latin typeface="Noto Sans SC"/>
                <a:ea typeface="Noto Sans SC"/>
              </a:rPr>
              <a:t>SVM/随机森林分类、光谱匹配分类、1D-CNN光谱分类、2D/3D-CNN空谱分、SpectralForm、SAM均值原型少样本分类、低NDVI种子ACE目标、混合像元分解、异常检测、多时相变化检测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611879"/>
            <a:ext cx="115214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11879"/>
            <a:ext cx="2286000" cy="1143000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8404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</a:rPr>
              <a:t>L3→L4 图斑整理与地块汇总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25195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#44–45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79475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8447D"/>
                </a:solidFill>
                <a:latin typeface="Noto Sans SC"/>
                <a:ea typeface="Noto Sans SC"/>
              </a:rPr>
              <a:t>平滑与地块统计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1605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26375"/>
                </a:solidFill>
                <a:latin typeface="Noto Sans SC"/>
                <a:ea typeface="Noto Sans SC"/>
              </a:rPr>
              <a:t>分类后处理平滑/小斑剔除、地块汇总与专题统计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4892040"/>
            <a:ext cx="115214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892040"/>
            <a:ext cx="2286000" cy="1143000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120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</a:rPr>
              <a:t>L3 植被指数补齐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532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#46–55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0749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8447D"/>
                </a:solidFill>
                <a:latin typeface="Noto Sans SC"/>
                <a:ea typeface="Noto Sans SC"/>
              </a:rPr>
              <a:t>RECI 到 NDSI 的独立指数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44067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26375"/>
                </a:solidFill>
                <a:latin typeface="Noto Sans SC"/>
                <a:ea typeface="Noto Sans SC"/>
              </a:rPr>
              <a:t>RECI红边叶绿素指数、GNDVI绿色归一化植被、OSAVI优化土壤调节植、ARVI耐大气植被指数、VARI可见大气阻力指数、叶面积经验指数、NBR标准化燃烧率、SIPI结构不敏感色素指、GCI绿色叶绿素指数、NDSI归一化差值雪指数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10 / 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01. 航线规划与覆盖优化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层级：L0 前　｜　algorithm_id：01_flight_planning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规划航高、重叠、航迹，保证测区采全、可拼接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典型场景：无人机起飞前；大田、园区、矿区测绘任务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依据测区边界、DEM 与相机视场，计算航高、旁向/航向重叠率与航迹间距；输出可执行航点序列。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工程提示：典型旁向重叠 60%–80%；分辨率由航高与像元尺寸共同决定。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输入：测区边界、DEM、相机参数、分辨率要求、禁飞区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输出：航线文件、航点列表、预估架次与时长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流程位置：上机前规划 → 飞行采集 → #4 架次质检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保证测区完整覆盖与可镶嵌性，是后续几何处理与面积统计的前提条件。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风险提示：重叠不足将产生空洞；设计过密则增加架次与存储成本，延误交付周期。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关联：#3 POS、#16 正射、#17 镶嵌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API：/api/v1/01_flight_planning/run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11 / 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02. 同步曝光与时间戳对齐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层级：L0　｜　algorithm_id：02_sync_timestamp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让高光谱、RGB、POS 在时间轴上对齐，避免「图对不上姿态」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典型场景：多传感器挂载同飞；后续几何与融合的前提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以统一时钟或硬件触发脉冲为基准，对齐高光谱、RGB、POS 各传感器时间戳，建立帧级对应关系。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工程提示：工程上常输出「帧号—时间—姿态」对应表，作为几何链路输入。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输入：各传感器时间戳、触发脉冲记录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输出：对齐后的帧-姿态对应表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流程位置：多传感器采集 → 时间对齐 → #3 POS 解算 / 几何处理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保障多源数据时空一致，避免几何校正阶段图—姿态错位。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风险提示：时间未对齐将导致正射漂移、镶嵌错位，后续排查成本高。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关联：#3 POS、#15 地理定位、#19 多源配准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API：/api/v1/02_sync_timestamp/run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12 / 72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03. POS轨迹平滑与杠杆臂校正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层级：L0　｜　algorithm_id：03_pos_solution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对已解算 POS CSV 做轨迹平滑与杠杆臂校正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典型场景：所有需要正射、镶嵌、上地图的飞行任务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读取已解算 POS CSV，做粗差剔除、轨迹平滑与杠杆臂校正，输出平滑后的位置、姿态与速度。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工程提示：输入须已含 time/lat/lon/alt/roll/pitch/yaw；本服务不读取原始 IMU 比力或角速度。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输入：已解算 POS CSV（time,lat,lon,alt,roll,pitch,yaw）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输出：平滑后的位置、姿态、速度与 gnss_ok 标志（JSON/CSV）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流程位置：L0 原始包 → POS 轨迹平滑/杠杆臂 → #15/#16 几何校正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为后续粗定位与正射提供更稳定的轨迹，而不是从原始 IMU 重新解算姿态。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风险提示：无可用 POS CSV 则无法平滑轨迹或改正安装偏移，后续几何处理缺少外方位输入。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关联：#2 时间对齐、#15 地理定位、#16 正射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API：/api/v1/03_pos_solution/run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13 / 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04. 架次过曝与场景统计质检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层级：L0　｜　algorithm_id：04_flight_qc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统计过曝/欠曝比例与场景亮度，门控本架是否可进入后续处理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典型场景：落地后第一道关；光照突变、颠簸、存储异常时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统计过曝/欠曝比例与场景亮度分布，仅以过曝比例门控通过与复飞。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工程提示：建议将饱和像元比例设为硬阈值，写入项目验收标准；本服务不检测丢帧。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输入：L0 DN GeoTIFF，可选 bit_depth 与过曝比例阈值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输出：质检报告（过曝/欠曝比例、场景统计、通过/复飞建议）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流程位置：落地 → 过曝质检闸门 → 通过则进入 L0→L1；不通过则补飞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在处理管线入口拦截过曝架次，控制无效算力投入与返工风险。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风险提示：劣质数据进入后续环节，将造成指数/分类结果不可信并浪费处理资源。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关联：#1 航线规划、#5 云影检测、#10 辐射定标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API：/api/v1/04_flight_qc/run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14 / 72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05. 云/云影检测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层级：L0　｜　algorithm_id：05_cloud_shadow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识别云与阴影覆盖，避免当正常地物分析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典型场景：卫星与高空数据常见；低空偶发薄云/树影也可借鉴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基于光谱/亮度阈值或分类模型识别云与阴影，输出二值或概率掩膜。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工程提示：卫星与高空数据更关键；低空亦需关注树影与薄云。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输入：L0/L1 多波段或 RGB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输出：云/影掩膜（0/1 或概率图）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流程位置：L0/L1 预览 → 云影掩膜 → 在 L3 分析中屏蔽或触发补采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避免将遮挡区误判为作物或异常长势，提高专题图可信度。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风险提示：未掩膜时，指数出现虚假低值，分类产生伪斑块，影响农事判断。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关联：#4 架次质检、#27–30 指数、#34–37 分类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API：/api/v1/05_cloud_shadow/run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15 / 72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06. 暗电流校正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层级：L0→L1　｜　algorithm_id：06_dark_current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减去传感器在无光时的本底，降低固定偏差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典型场景：高光谱相机预处理几乎标配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采集或调用暗电流参考帧，按像元/波段从原始 DN 中扣除本底：DN' = DN − Dark。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工程提示：暗帧应与工作积分时间、温度条件匹配，否则校正不完全。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输入：原始 DN、暗电流参考帧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输出：去本底后的 DN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流程位置：原始 DN → 暗电流校正 → #7/#8 缺陷修复 → #10 辐射定标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降低固定偏差，使弱信号区更接近真实辐射响应。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风险提示：未校正时本底抬高整体亮度，定量指数与定标系数产生系统偏差。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关联：#7 坏像元、#8 去条带、#10 辐射定标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API：/api/v1/06_dark_current/run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16 / 72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07. 坏线/坏像元修复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层级：L0→L1　｜　algorithm_id：07_bad_pixel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修复探测器坏点、坏列，避免条纹伪影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典型场景：推扫相机老化或出厂缺陷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依据坏像元表识别坏点/坏列，采用邻域插值或中值填充进行修复。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工程提示：推扫探测器老化时坏列增多，建议纳入设备维保监测。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输入：DN、坏像元表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输出：修复后 DN（插值或邻域填充）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流程位置：暗电流后 → 坏像元修复 → #8 去条带或 #10 定标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消除固定条纹与黑点伪影，避免被后续模型当作地物特征。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风险提示：坏列残留会在分类图中形成条状误差，降低产品合格率。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关联：#6 暗电流、#8 去条带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API：/api/v1/07_bad_pixel/run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17 / 72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08. 条带噪声去除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层级：L0→L1　｜　algorithm_id：08_destriping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去除推扫方向周期性亮暗条纹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典型场景：机载/星载推扫高光谱常见问题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针对推扫方向周期性亮暗条纹，采用矩匹配、滤波或频域方法抑制条带噪声。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工程提示：机载/星载推扫高光谱的常见刚需步骤。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输入：校正中 DN 或辐亮度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输出：去条带影像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流程位置：DN/辐亮度 → 去条带 → #10 辐射定标或 #12 反射率定标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提升辐射一致性，改善镶嵌观感与分类稳定性。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风险提示：残留条带导致镶嵌接缝明显，分类沿飞行方向出现系统性误差。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关联：#7 坏像元、#10/#12 定标、#17 镶嵌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API：/api/v1/08_destriping/run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18 / 72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09. 光谱微笑/关键畸变校正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层级：L0→L1　｜　algorithm_id：09_smile_keystone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校正光谱维与空间维耦合畸变，保证「同一波段真的是同一波长」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典型场景：精密定量与光谱库匹配前；高端机载/星载处理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基于实验室光谱定标与传感器模型，校正 Smile（光谱维弯曲）与 Keystone（空间—光谱耦合）。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工程提示：农情粗指数有时可简化；矿物识别与精密反演建议保留。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输入：传感器模型、实验室光谱定标数据、DN/辐亮度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输出：光谱几何校正后的数据立方体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流程位置：传感器级预处理 → 光谱几何校正 → #35 光谱匹配 / #32–33 反演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保证「同一波段对应同一波长」，支撑光谱库匹配与精密定量。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风险提示：未校正时与标准光谱库无法对齐，SAM/精细反演精度显著下降。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关联：#10 辐射定标、#35 SAM、#31 红边参数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API：/api/v1/09_smile_keystone/run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19 / 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10. 辐射定标 DN→辐亮度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层级：L0→L1　｜　algorithm_id：10_radiance_calibration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把仪器计数变成有单位的辐亮度，具备物理可比性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典型场景：定量遥感、跨传感器对比、进入大气校正前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应用定标系数与积分时间等元数据：L = gain × DN + offset，得到有物理单位的辐亮度。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工程提示：输出为 L1 Radiance Cube/条带，需保留单位与波段中心波长元数据。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输入：校正后 DN、定标系数、积分时间等元数据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输出：L1 辐亮度产品（Radiance Cube/条带）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流程位置：校正后 DN → L1 辐亮度 → #12 白板定标或 #13 大气校正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实现跨传感器、跨架次的物理可比，是定量遥感的基础里程碑。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风险提示：停留在 DN 无法开展严谨定量对比，后续大气/反射率链路缺少物理输入。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关联：#6–9 预处理、#12/#13 反射率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API：/api/v1/10_radiance_calibration/run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20 / 72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11. 相对辐射归一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层级：L1　｜　algorithm_id：11_relative_radiometric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消除不同架次光照、增益差异，使亮度可对比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典型场景：一天多架次、多日监测、镶嵌前匀光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利用重叠区或伪不变特征，对多景进行相对辐射归一，消除增益与光照差异。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工程提示：监测类项目应将辐射一致性纳入质量指标。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输入：多景 L1/L2、重叠区或伪不变特征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输出：辐射一致化后的多景数据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流程位置：多景 L1/L2 → 相对辐射归一 → #17 镶嵌 / #43 变化检测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支持多架次/多时相公平对比，以及镶嵌前匀光。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风险提示：未归一时时间序列出现虚假「长势跳变」，告警规则失效。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关联：#17 镶嵌、#18 匀色、#43 变化检测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API：/api/v1/11_relative_radiometric/run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21 / 72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12. 白板/灰板反射率定标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层级：L1→L2　｜　algorithm_id：12_panel_reflectance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用地面参考板把辐亮度转为地表反射率（无人机最常用）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典型场景：低空农情、植被指数、分类前；替代完整大气校正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经验线法：利用地面白板/灰板同步测量，将辐亮度线性转换为近似地表反射率。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工程提示：本服务已提供教学级可运行接口；白板应置于测区代表性光照条件下。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输入：辐亮度、白板光谱/同步测量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输出：近似/地表 反射率立方体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流程位置：L1 辐亮度 + 白板 → 反射率立方体 → L2 分析入口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无人机农情最常用的反射率获取路径，为指数与分类提供标准底图。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风险提示：量纲错误将导致跨天不可比，指数与分类结果缺乏一致性。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关联：#13 大气校正（替代路径）、#27–34 分析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API：/api/v1/12_panel_reflectance/run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22 / 72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13. 大气校正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层级：L1→L2　｜　algorithm_id：13_atmospheric_correction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扣除大气吸收散射，得到更接近真实的地表反射率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典型场景：卫星高光谱、有人机高空；跨区域定量对比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基于辐射传输（如 6S/MODTRAN 类）或暗目标法等，扣除大气吸收与散射。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工程提示：卫星/高空项目更依赖；低空无人机多以白板法简化。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输入：辐亮度、大气参数（水汽、气溶胶等）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输出：地表反射率产品（常称 L2A 一类）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流程位置：L1 辐亮度 + 大气参数 → 地表反射率（L2A 类）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获得更接近真实的地表反射率，支撑跨区域、跨季节定量产品。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风险提示：未校正时反射率含大气「染色」，区域对比与反演偏差增大。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关联：#12 白板定标（低空常用替代）、#32–33 反演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API：/api/v1/13_atmospheric_correction/run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23 / 72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14. BRDF/观测几何校正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层级：L1→L2　｜　algorithm_id：14_brdf_correction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减弱太阳-观测角度不同造成的「一边亮一边暗」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典型场景：宽视场航带边缘、多日多角度合成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根据太阳—观测几何，对双向反射分布（BRDF）效应进行归一或校正。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工程提示：宽视场航测、多日多角度合景时优先考虑。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输入：反射率、太阳/观测天顶角方位角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输出：角度归一后的反射率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流程位置：反射率 + 角度元数据 → 角度归一反射率 → 镶嵌/监测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减弱航带边缘「一边亮一边暗」，提高大范围合成一致性。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风险提示：角度效应残留会造成假异常斑与镶嵌花斑。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关联：#17 镶嵌、#11 相对辐射、#43 变化检测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API：/api/v1/14_brdf_correction/run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24 / 72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15. POS中心点与GSD粗定位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层级：L1→L2　｜　algorithm_id：15_geo_locate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以单个 POS 中心点与 GSD 写北向上仿射，不使用姿态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典型场景：正射前；快速预览落点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以单个 POS 中心点与估算 GSD 写北向上仿射，供落点预览；不使用姿态。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工程提示：精度通常不足以直接量亩，也不是共线方程正射，但满足任务级预览。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输入：影像条带、POS、相机内参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输出：带粗略地理参考的条带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流程位置：影像条带 + POS 中心点 → 粗地理参考 → #16 正射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快速确认飞行落点，为精正射提供粗定位起点。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风险提示：无法预览落点时，任务质检与正射排错效率显著下降。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关联：#3 POS、#16 正射、#4 质检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API：/api/v1/15_geo_locate/run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25 / 72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16. 正射校正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层级：L1→L2　｜　algorithm_id：16_orthorectify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消除地形起伏与姿态引起的几何畸变，像素可准确落图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典型场景：要量面积、叠地块、做 GIS 的所有项目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引入 DEM 与相机模型，消除地形起伏与姿态引起的几何畸变，生成正射条带。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工程提示：「能否进入 GIS 与量亩」的关键分水岭。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输入：条带、POS、DEM、相机模型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输出：正射条带（Orthophoto / Ortho Cube）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流程位置：粗定位条带 + DEM → 正射条带 → #17 镶嵌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使像素可准确叠合地块边界，支撑面积量测与 GIS 分析。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风险提示：几何不准导致地块错位，面积统计系统性失真。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关联：#15 地理定位、#17 镶嵌、#45 地块统计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API：/api/v1/16_orthorectify/run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26 / 72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17. 影像匹配与镶嵌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层级：L2　｜　algorithm_id：17_mosaic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多航带拼成测区完整一张图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典型场景：大田多航线飞行；生成整景 L2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把同 CRS 的两幅 GeoTIFF 落到统一网格，重叠区做距离加权羽化；不搜索接缝线，也不做同名点匹配。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工程提示：算法研发侧最常见的标准输入形态。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输入：多条正射条带、重叠区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输出：整景反射率正射立方体（典型 L2 交付）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流程位置：多条正射条带 → 地理镶嵌/羽化 → 整景反射率正射立方体（典型 L2）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形成测区完整 L2 产品，供整村/整园尺度分析与制图。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风险提示：仅保留碎片条带时，无法开展区域级专题产品。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关联：#16 正射、#18 匀色、#19 配准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API：/api/v1/17_mosaic/run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27 / 72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18. Wallis局部匀色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层级：L2　｜　algorithm_id：18_color_balance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逐波段 Wallis 局部匀光，不执行接缝线优化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典型场景：出图给客户看；镶嵌后美化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逐波段执行 Wallis 局部匀色；当前不搜索或优化接缝线。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工程提示：偏交付质量环节，但对项目验收影响直接。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输入：镶嵌前多条带或初镶嵌图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输出：匀色后镶嵌产品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流程位置：初镶嵌 → Wallis 局部匀色 → 交付或进入分析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提升交付图可读性与验收通过率，不改变几何框架。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风险提示：明暗跳变会降低产品观感，影响业务验收评价。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关联：#17 镶嵌、#11 相对辐射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API：/api/v1/18_color_balance/run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28 / 72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19. HSI-RGB全局平移配准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层级：L2　｜　algorithm_id：19_multi_source_register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估计全局亚像元平移，把 RGB 对齐到 HSI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典型场景：已粗对齐、仅剩平移差异的 HSI-RGB 栅格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估计一个全局亚像元平移，把 RGB 栅格对齐到 HSI；不处理矢量。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工程提示：打通「图、谱、田」三层数据是产品闭环关键。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输入：HSI Cube、RGB 栅格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输出：HSI 参考栅格与平移后的 RGB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流程位置：HSI + RGB → 全局平移配准 → 标注/统计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支撑「真彩色目视 + 光谱算法 + 按地块统计」的标准业务形态。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风险提示：未配准导致标注错位、裁剪错误，面积与专题统计失效。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关联：#17 镶嵌、#34–40 分析、#45 汇总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API：/api/v1/19_multi_source_register/run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29 / 72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20. 坏波段剔除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层级：L2　｜　algorithm_id：20_bad_band_remove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去掉水汽强吸收等噪声波段，提升后续稳定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典型场景：分类/指数/反演前；1400、1900 nm 附近常剔除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按场景像元均值/标准差比（非传感器 SNR）与水汽吸收特征剔除坏波段；本算法只剔除波段，不执行光谱去噪。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工程提示：约 1400/1900 nm 水汽带常剔除；本服务可运行。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输入：L2 反射率 Cube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输出：清洗后 Cube（波段数减少）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流程位置：L2 Cube → 坏波段剔除 → #21–23 特征处理或直接分析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减少噪声波段对模型与指数的干扰，提高结果稳定性。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风险提示：保留强噪声波段会导致分类抖动与指数异常尖峰。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关联：#21 SG、#23 PCA、#27–37 分析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API：/api/v1/20_bad_band_remove/run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30 / 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21. Savitzky-Golay平滑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层级：L2　｜　algorithm_id：21_savgol_smooth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平滑光谱噪声；包络线去除突出吸收特征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典型场景：矿物识别、精细光谱匹配、特征工程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Savitzky–Golay 多项式滑动平滑；可选 Continuum Removal 突出吸收特征。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工程提示：窗口长度与多项式阶次需匹配波段采样密度；本服务可运行。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输入：像素光谱或整景 Cube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输出：平滑谱 / 去包络光谱特征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流程位置：清洗后光谱/Cube → 平滑/去包络 → 匹配、回归或深度学习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抑制光谱毛刺并增强吸收谷，利于精细识别与特征工程。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风险提示：噪声过大时弱特征被掩盖，匹配与反演灵敏度下降。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关联：#20 坏波段剔除、#35 SAM、#32 回归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API：/api/v1/21_savgol_smooth/run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31 / 72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22. 标准化/归一化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层级：L2　｜　algorithm_id：22_normalize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统一数值范围，便于机器学习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典型场景：几乎所有 ML/DL 训练与推理前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对光谱向量或立方体做 z-score / min-max 等变换，统一量纲。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工程提示：几乎所有 ML/DL 训练与推理前的标配步骤；本服务可运行。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输入：Cube 或光谱向量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输出：z-score / minmax 等标准化特征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流程位置：Cube → 标准化特征 → #23 PCA / #34–38 分类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改善机器学习收敛与跨相机迁移能力。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风险提示：未标准化时模型偏向数值幅度大的波段，泛化变差。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关联：#23 降维、#34 SVM、#36–38 深度学习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API：/api/v1/22_normalize/run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32 / 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23. PCA/MNF降维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层级：L2　｜　algorithm_id：23_pca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压缩高度相关的上百波段，降冗余与噪声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典型场景：深度学习前、小样本、算力有限；本仓库部分模型内含 PCA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PCA/MNF/ICA 将高度相关的上百波段压缩为低维主成分（常用 10–40 维）。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工程提示：本仓库部分小模型流水线内含 PCA；本服务可运行。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输入：高维 Cube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输出：低维特征立方体（如 10–40 维）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流程位置：高维 Cube → 低维特征立方体 → 分类/回归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降冗余、抑噪声、降算力，加快训练与边缘部署。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风险提示：全波段直接训练易过拟合且耗时长，部署成本高。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关联：#22 标准化、#24 波段选择、#34–37 分类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API：/api/v1/23_pca/run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33 / 72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24. 波段/特征选择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层级：L2　｜　algorithm_id：24_band_select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选出对任务最有区分力的波段或指数，而不是盲目全波段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典型场景：特定作物区分、传感器定波段、边缘设备轻量化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基于可分性准则、重要性评分或包装法，选出对任务区分力最强的波段子集。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工程提示：波段选择强调「可解释子集」；PCA 强调「正交压缩」。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输入：Cube +（可选）样区标签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输出：优选波段列表 / 特征表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流程位置：Cube +（可选）标签 → 优选波段列表 → 轻量模型/传感器配置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在精度可接受前提下降低数据量，指导定波段传感器与轻量化部署。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风险提示：盲目全波段增加成本，未必提升精度。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关联：#23 降维、#27–31 指数、特定作物分类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API：/api/v1/24_band_select/run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34 / 72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25. 超像素/对象分割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层级：L2　｜　algorithm_id：25_superpixel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把影像切成均质小对象，再以对象为单位分类，减少椒盐噪声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典型场景：农田斑块、林斑；对象级分类前处理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超像素/面向对象分割生成均质斑块，后续以对象为单位分类或统计。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工程提示：对象尺度应与田块管理单元匹配。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输入：L2 影像（可含 RGB）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输出：超像素标签图 / 对象多边形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流程位置：L2 影像 → 对象多边形 → 对象级分类或制图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减少椒盐噪声，结果更符合农田斑块连续性。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风险提示：纯像素分类易碎斑，地块边界可读性差。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关联：#34–38 分类、#44 后处理、#45 汇总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API：/api/v1/25_superpixel/run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35 / 72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26. Patch/样本构建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层级：L2　｜　algorithm_id：26_patch_build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切出模型可训练、可推理的邻域立方体或光谱向量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典型场景：CNN/Transformer 训练；本仓库常见 `createImageCubes`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按窗宽从立方体切取邻域 Patch 或光谱向量，并与标签对齐构成训练/推理样本。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工程提示：窗宽需在空间上下文与类别纯度之间权衡。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输入：Cube、标签图、窗宽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输出：样本张量 `(N,W,W,B)` 或 `(N,B)` + 类别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流程位置：Cube + 标签 + 窗宽 → 样本张量 (N,W,W,B)/(N,B) → #36–38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为 CNN/Transformer 提供标准张量输入，统一训练与推理接口。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风险提示：缺少规范样本构建则深度学习管线无法稳定复现。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关联：#37 3D-CNN、#38 Transformer、本仓库 createImageCubes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API：/api/v1/26_patch_build/run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36 / 72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27. NDVI植被指数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algorithm_id：27_ndvi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表征植被绿度、活力及冠层覆盖状况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典型场景：长势监测、物候；农情最通用指标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NDVI = (NIR − RED) / (NIR + RED)，输出约 −1～1 的单波段专题图。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工程提示：茂密冠层易饱和，可并行使用 NDRE/EVI；本服务可运行。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输入：反射率立方体（按索引取红光与近红外）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输出：NDVI 单波段图（约 −1～1）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流程位置：L2 红光+近红外 → NDVI 图 → #45 地块均值/阈值告警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最通用的植被绿度与光合活性表征，适合长势监测与物候观察。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风险提示：缺少快速长势产品时，监测业务缺乏标准化入口指标。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关联：#28 NDRE、#29 EVI/SAVI、#45 汇总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API：/api/v1/27_ndvi/run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37 / 72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28. NDRE红边植被指数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algorithm_id：28_ndre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利用红边对叶绿素更敏感，适合密冠层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典型场景：成熟期、氮营养相关监测；高光谱优势场景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NDRE = (NIR − RE) / (NIR + RE)，利用红边波段对叶绿素变化更敏感。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工程提示：高光谱/多光谱红边配置的典型增值指标；本服务可运行。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输入：近红外、红边反射率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输出：NDRE（或同类红边指数）图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流程位置：L2 红边+近红外 → NDRE 图 → 营养诊断专题 / #45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适用于密冠层与氮营养相关监测，发挥红边观测优势。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风险提示：仅用 NDVI 时，成熟期差异可能被饱和掩盖，施肥诊断不足。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关联：#27 NDVI、#31 红边参数、#32 氮含量反演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API：/api/v1/28_ndre/run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38 / 72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29. EVI/SAVI/MSAVI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algorithm_id：29_evi_savi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减轻大气干扰、土壤背景或 NDVI 饱和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典型场景：茂密冠层用 EVI；苗期稀疏用 SAVI/MSAVI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EVI 引入蓝光抑制大气；SAVI/MSAVI 引入土壤调节因子，缓解土壤背景与饱和。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工程提示：茂密优先 EVI；稀疏苗期优先 SAVI/MSAVI。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输入：NIR、RED，及 BLUE 或土壤因子 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输出：对应指数专题图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流程位置：按生育期选择指数 → 专题图 → 地块汇总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在苗期稀疏或过密冠层阶段提供比 NDVI 更稳妥的长势表征。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风险提示：生育期不匹配指数时，长势评估偏差增大。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关联：#27 NDVI、#28 NDRE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API：/api/v1/29_evi_savi/run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39 / 72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30. NDMI/NDWI/MNDWI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algorithm_id：30_ndmi_ndwi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估计冠层水分或提取水体/淹田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典型场景：干旱、灌溉、湿地、农田积水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NDMI≈(NIR−SWIR)/(NIR+SWIR)；NDWI/MNDWI 用绿/SWIR 等组合提取水分或水体。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工程提示：与长势指数并列的第二条常用指标链；注意 SWIR 波段可用性。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输入：NIR+SWIR 或 GREEN+NIR/SWIR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输出：水分/水体指数图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流程位置：L2 相关波段 → 水分/水体指数图 → 阈值告警 / #45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支撑干旱、灌溉、湿地与农田积水等水分管理类专题。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风险提示：仅有绿度维度时，水分胁迫与淹田识别能力不足，农事建议不完整。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关联：#27 长势链、#42 异常、#43 变化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API：/api/v1/30_ndmi_ndwi/run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40 / 72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31. 红边位置与光谱特征参数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algorithm_id：31_red_edge_params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从连续光谱提取红边位置、吸收谷深度等参数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典型场景：物候、胁迫早期、高光谱相对多光谱的差异化能力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从连续光谱提取红边位置（REP）、吸收谷深度、一阶导数特征等参数栅格。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工程提示：适合作为高光谱能力说明与科研/精品监测产品。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输入：连续反射率光谱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输出：参数栅格（如红边位置 nm）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流程位置：连续反射率 → 参数栅格 → 物候/胁迫专题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体现高光谱相对宽波段多光谱的差异化监测能力（物候/胁迫早期）。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风险提示：仅做传统宽波段指数时，难以体现高光谱投入的增量价值。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关联：#28 NDRE、#21 去包络、#32 反演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API：/api/v1/31_red_edge_params/run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41 / 72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32. 经验回归反演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algorithm_id：32_regression_inversion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把光谱映射为叶绿素、氮含量、含水率等连续生化量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典型场景：精准施肥、长势诊断；有地面化验样本时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以 PLS/随机森林/神经网络等建立光谱—生化量回归（叶绿素、氮、含水率等）。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工程提示：依赖代表性地面样本；无样本时不可盲目外推。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输入：光谱/指数特征 + 地面真值（训练时）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输出：连续量专题图（带物理单位）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流程位置：光谱特征 + 地面化验样本 → 训练 → 连续量专题图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将光谱映射为带物理单位的连续量，服务精准施肥与诊断。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风险提示：停留在定性看图，难以形成剂量级农事处方。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关联：#27–31 特征、#33 物理反演、#45 报表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API：/api/v1/32_regression_inversion/run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42 / 72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33. 辐射传输物理反演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algorithm_id：33_physical_inversion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用冠层辐射传输机理反演 LAI、叶绿素等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典型场景：高精度定量科研与业务；成本高于简单指数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基于冠层辐射传输机理（如 PROSAIL 类）反演 LAI、叶绿素等参数。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工程提示：与经验回归互补：机理约束 vs 数据驱动。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输入：反射率、模型先验参数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输出：物理参数图（如 LAI）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流程位置：反射率 + 先验参数 → 物理反演 → 参数图（如 LAI）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可解释性强，适合高精度定量科研与高端业务。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风险提示：复杂场景仅靠经验回归可能外推失败；物理法成本更高。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关联：#13 大气校正、#32 经验回归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API：/api/v1/33_physical_inversion/run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43 / 72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34. SVM/随机森林分类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algorithm_id：34_svm_rf_classify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按像素判别作物/地物类别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典型场景：小样本基线、快速上线、可解释要求高；本仓库含此类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以光谱或降维特征训练 SVM/随机森林/逻辑回归，按像素输出类别；可计算 OA/AA/Kappa。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工程提示：本服务可运行，并返回精度指标便于验收。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输入：光谱或降维特征 + 训练标签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输出：分类图 LabelMap；可算 OA/AA/Kappa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流程位置：特征 + 训练标签 → 分类图 → #44 后处理 → #45 面积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小样本条件下快速回答「地物/作物类别」问题，可解释性较好。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风险提示：缺少基线分类能力时，业务无法输出作物一张图，深度学习也缺少对照。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关联：#23 PCA、#37 深度学习、#44/#45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API：/api/v1/34_svm_rf_classify/run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44 / 72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35. 光谱匹配分类(SAM)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algorithm_id：35_spectral_matching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用光谱形状与标准光谱库比对识别物质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典型场景：矿物填图、已知光谱库的目标识别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光谱角制图（SAM）等：比较像元光谱与端元/光谱库的形状相似度。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工程提示：地质与目标识别常用；一般作物分类更多用监督分类。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输入：像素光谱、端元/光谱库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输出：匹配类别图或光谱角距离图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流程位置：反射率 + 光谱库 → 匹配类别图/距离图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在具备标准光谱库时，可直接进行目标/矿物等识别。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风险提示：库内物质无法快速识别，只能依赖大量标注分类。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关联：#9 Smile 校正、#21 去包络、#41 解混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API：/api/v1/35_spectral_matching/run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45 / 72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36. 1D-CNN光谱分类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algorithm_id：36_cnn1d_classify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沿光谱维自动提取特征做像素分类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典型场景：光谱可分性强、空间纹理弱的场景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1D-CNN 光谱分类；RNN 未实现。卷积沿光谱维提取局部特征后完成像素分类。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工程提示：适合光谱区分度高、空间纹理较弱的任务。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输入：单像素光谱 `(B,)`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输出：像素类别 / 全图分类图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流程位置：单像素光谱 (B,) → 1D 网络 → 分类图 → #44/#45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提供仅使用单像元光谱的一维卷积分类教学实现。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风险提示：默认短训且按像元随机划分；不使用空间邻域，也不能声称具备 RNN 能力。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关联：#22/#23 前处理、#37 空谱 CNN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API：/api/v1/36_cnn1d_classify/run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46 / 72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37. 2D/3D-CNN空谱分类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algorithm_id：37_cnn3d_classify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同时利用邻域空间与光谱，提高分类精度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典型场景：农田作物精细分类、城市地物一张图；业界与论文主流；本仓库核心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2D/3D-CNN 同时利用邻域空间与光谱信息，输入邻域立方体 (W,W,B)。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工程提示：作物一张图、城市地物精细分类的优先技术方案。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输入：邻域立方体 `(W,W,B)`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输出：分类着色图（各类作物/地物）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流程位置：#26 Patch → 空谱网络 → 分类着色图 → #44/#45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农田精细分类与学术主流路线，通常可获得更高的边界与斑块精度。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风险提示：仅光谱分类在破碎地块与边界区域更容易产生误分。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关联：本仓库 hyper-spectral-small-modes 核心落点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API：/api/v1/37_cnn3d_classify/run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47 / 72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38. SpectralFormer光谱分类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algorithm_id：38_transformer_classify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用注意力或图结构捕捉长程依赖，冲击更高精度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典型场景：复杂地物、大场景、研究型与高端产品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SpectralFormer 光谱分类；GCN 未实现。相邻波段 token 经缩小 Transformer 编码器分类。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工程提示：训练与推理必须保持波段顺序和预处理一致。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输入：Patch / 超像素图结构特征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输出：像素或对象级分类图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流程位置：单像元光谱 → 相邻波段 token → Transformer → 分类图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提供光谱序列长程依赖的教学分类实现。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风险提示：当前无 GCN、空间分支或预训练，短训指标不能外推。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关联：#22 前处理、#36/#37 CNN、#39 少样本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API：/api/v1/38_transformer_classify/run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48 / 72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39. SAM均值原型少样本分类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algorithm_id：39_few_shot_classify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标注很少或换了一个农场时仍能分类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典型场景：新区域快速部署、降低外业认种成本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SAM 均值原型少样本分类；迁移学习未实现。每类支持光谱求均值后按最小光谱角分类。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工程提示：支持点须覆盖类内差异，并与查询区空间分离。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输入：源域模型 + 目标域少量标签 Cube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输出：目标场景分类图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流程位置：本景标签 → 每类均值原型 → SAM 最近原型 → 分类图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用少量已标注支持像元构造本景均值原型并生成分类图。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风险提示：没有可学习嵌入、源域预训练、迁移学习或未知类拒绝。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关联：#35 SAM、#26 样本、#45 汇总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API：/api/v1/39_few_shot_classify/run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49 / 72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40. 低NDVI种子ACE目标检测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algorithm_id：40_detect_segment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用低 NDVI 种子构造目标光谱，以 ACE 得分找出候选斑块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典型场景：植保巡田、精准喷药；常融合 RGB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低 NDVI 种子 ACE 目标检测；语义分割未实现。由低 NDVI 候选构造目标光谱并阈值化 ACE 得分。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工程提示：结果只用于候选复核，不生成处方或业务决策。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输入：反射率立方体、红/近红外波段索引、分位数与最小斑块参数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输出：ACE 得分图、候选掩膜、GeoJSON 斑块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流程位置：反射率 Cube → 低 NDVI 种子 → ACE 得分 → 掩膜/候选斑块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输出本景相对目标相似度、候选掩膜和连通斑块矢量。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风险提示：低 NDVI 种子是仓库启发式；ACE 高分不是概率、病害确认或决策依据。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关联：#27 NDVI、#42 异常检测、#45 汇总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API：/api/v1/40_detect_segment/run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50 / 72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41. 混合像元分解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algorithm_id：41_unmixing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一个像素里有多种物质时，估计各类占地比例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典型场景：分辨率不够细、混种、稀疏植被、矿物丰度填图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端元提取 + 丰度反演（如 FCLS），估计混合像元内各类占地比例（0～1）。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工程提示：输出连续丰度，而非单一类别标签。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输入：混合光谱、端元库或自动端元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输出：各类丰度图（0～1 连续）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流程位置：混合光谱 + 端元 → 丰度图 → 专题统计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在混种、稀疏植被或分辨率不足时提供亚像元占比信息。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风险提示：硬分类强迫唯一类别，导致比例估测失真。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关联：#35 光谱匹配、#34 硬分类（对照）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API：/api/v1/41_unmixing/run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51 / 72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42. 异常检测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algorithm_id：42_anomaly_detect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找出光谱上「不像周围大部分」的像元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典型场景：病虫害爆发点、污染点、未知目标初筛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基于统计或重建残差计算异常得分，找出光谱上偏离背景的像元。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工程提示：适合「先告警、再确认」的运维流程。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输入：单时相 Cube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输出：异常得分图 / 告警点位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流程位置：单时相 Cube → 异常得分图 → 人工复核/补采样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无充分标注时用于病虫害爆发点、污染点等初筛告警。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风险提示：小范围异常被区域均值淹没，难以及时发现。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关联：#5 云影（排除干扰）、#43 变化检测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API：/api/v1/42_anomaly_detect/run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52 / 72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43. 多时相变化检测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algorithm_id：43_change_detect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对比两个或多个时相，找出变化区域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典型场景：灾损、砍伐、作物轮作、施工占地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对配准后的多时相 L2/L3 做差值、比值或变化向量分析，提取变化区。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工程提示：配准与辐射一致性是前提，否则伪变化显著。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输入：配准后的多时相 L2/L3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输出：变化掩膜、变化类型图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流程位置：多时相配准 → 变化检测 → 变化掩膜/类型图 → 告警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支撑灾损、砍伐、轮作、施工占地等「变化位置」监测。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风险提示：无变化产品时只能单期看图，难以回答阶段性变化问题。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关联：#11 辐射归一、#19 配准、#45 告警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API：/api/v1/43_change_detect/run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53 / 72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44. 分类后处理平滑/小斑剔除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层级：L3→L4　｜　algorithm_id：44_postprocess_smooth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去掉椒盐噪声与过小斑块，使结果符合地物连续性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典型场景：像素分类出图前；验收图美化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形态学滤波、CRF 或小斑剔除，去除椒盐噪声与过小斑块。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工程提示：出图验收前的标准后处理步骤。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输入：原始 LabelMap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输出：平滑后的分类图、更干净的作物斑块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流程位置：原始 LabelMap → 平滑分类图 → #45 地块汇总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提升分类图连续性与可读性，稳定后续面积统计。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风险提示：碎斑过多影响验收观感，并干扰地块面积汇总。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关联：#34–38 分类、#25 对象、#45 汇总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API：/api/v1/44_postprocess_smooth/run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54 / 72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45. 地块汇总与专题统计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层级：L4　｜　algorithm_id：45_parcel_zonal_stats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把像素结果变成「人能拍板」的亩数、占比、告警和建议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典型场景：业务汇报、农事 App、补贴核对、产量预估输入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以地块矢量为单元，对分类/指数栅格做分区统计，结合阈值生成报表与告警。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工程提示：L4 核心交付形态：报表 + 专题图 + 接口。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输入：L3 分类图/指数图 + 地块矢量 + 阈值规则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输出：面积表、地块 JSON、着色专题图、shp 斑块、告警列表、API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流程位置：L3 产品 + 地块边界 + 规则 → 面积表/JSON/专题图/告警/API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将像素结果转化为面积、占比、告警列表等可对接业务系统的决策产品。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风险提示：缺少汇总时结果停留在技术图，难以进入业务系统与管理流程。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关联：全链路出口；本服务可运行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API：/api/v1/45_parcel_zonal_stats/run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55 / 72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46. RECI红边叶绿素指数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algorithm_id：46_reci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用近红外与红边比值减 1 表征叶绿素相关相对差异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典型场景：密冠层叶绿素相关对照；须有真红边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RECI = NIR/RE − 1，须有真实红边通道。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工程提示：值域不是 −1～1；不能写成叶绿素毫克数。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输入：反射率立方体（红边、近红外）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输出：单波段 reci.tif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流程位置：L2 红边+近红外 → reci.tif → 相对对照 / #45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密冠层叶绿素相关相对分区，与 NDRE 互补。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风险提示：无真红边时同名指数没有物理意义。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关联：#28 NDRE、#54 GCI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API：/api/v1/46_reci/run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56 / 72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47. GNDVI绿色归一化植被指数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algorithm_id：47_gndvi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用绿光代替红光做归一化差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典型场景：绿光通道的相对绿度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GNDVI = (NIR − GREEN)/(NIR + GREEN)。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工程提示：按传感器光谱响应选绿光，不要死记教学默认 1。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输入：反射率立方体（绿光、近红外）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输出：单波段 gndvi.tif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流程位置：L2 绿光+近红外 → gndvi.tif → #45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绿光通道的相对绿度，波段条件与 NDVI 同类。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风险提示：绿光窗口不同则不能横比；高覆盖仍可能饱和。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关联：#27 NDVI、#54 GCI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API：/api/v1/47_gndvi/run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57 / 72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48. OSAVI优化土壤调节植被指数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algorithm_id：48_osavi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在 NDVI 分母上加固定土壤项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典型场景：稀疏植被、土壤背景明显时的相对绿度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OSAVI = (NIR − RED)/(NIR + RED + L)，默认 L=0.16。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工程提示：L=0 即 NDVI 形式；0.16 是文献常用值。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输入：反射率立方体（红光、近红外）与 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输出：单波段 osavi.tif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流程位置：L2 红光+近红外 → osavi.tif → #45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稀疏植被时压土壤亮度的相对绿度。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风险提示：改 L 后不能与未改图横比；不是叶面积。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关联：#29 SAVI/MSAVI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API：/api/v1/48_osavi/run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58 / 72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49. ARVI耐大气植被指数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algorithm_id：49_arvi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用蓝光修正红光后再做归一化差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典型场景：气溶胶残差可见时的相对绿度对照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ARVI = (NIR − RB)/(NIR + RB)，RB = RED − γ(BLUE − RED)，默认 γ=1。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工程提示：γ=1 不是本相机现场标定。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输入：反射率立方体（蓝、红、近红外）与 γ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输出：单波段 arvi.tif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流程位置：L2 蓝/红/近红外 → arvi.tif → 对照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气溶胶残差可见时的相对绿度对照。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风险提示：不能替代大气校正；蓝光差时比 NDVI 更乱。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关联：#13 大气校正、#27 NDVI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API：/api/v1/49_arvi/run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59 / 72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50. VARI可见大气阻力指数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algorithm_id：50_vari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只用可见光三通道估相对覆盖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典型场景：没有近红外时的相对覆盖示意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VARI = (GREEN − RED)/(GREEN + RED − BLUE)，只用可见光。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工程提示：未定标 JPEG 不能声称物理 VARI。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输入：反射率立方体（蓝、绿、红）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输出：单波段 vari.tif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流程位置：可见光三通道 → vari.tif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没有近红外时的相对覆盖示意。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风险提示：不是覆盖度百分数，也不能替代 NDVI。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关联：#27 NDVI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API：/api/v1/50_vari/run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60 / 72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51. 叶面积经验指数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algorithm_id：51_lai_index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由 EVI 线性变换得到教学叶面积指数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典型场景：指数菜单里的经验 LAI 示意；不是 #33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经验 LAI = max(3.618×EVI − 0.118, 0)，不是 #33 PROSAIL。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工程提示：负值裁零不表示真实零叶面积。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输入：反射率立方体（蓝、红、近红外）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输出：单波段 lai_index.tif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流程位置：L2 蓝/红/近红外 → EVI → lai_index.tif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指数菜单里的教学叶面积示意。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风险提示：线性系数未经本地标定；产物不要和 #33 的 lai.tif 混。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关联：#29 EVI、#33 物理反演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API：/api/v1/51_lai_index/run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61 / 72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52. NBR标准化燃烧率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algorithm_id：52_nbr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近红外与短波红外归一化差，用于过火相对差异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典型场景：过火前后对照；须有真 SWIR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NBR = (NIR − SWIR)/(NIR + SWIR)；教学 SWIR 约 1600 nm。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工程提示：Landsat 过火产品常用 SWIR2 约 2.1 μm，不能混比。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输入：反射率立方体（近红外、短波红外）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输出：单波段 nbr.tif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流程位置：L2 近红外+SWIR → nbr.tif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过火前后的相对差异对照。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风险提示：与 NDMI 同型不同用途；无 SWIR 无物理意义。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关联：#30 NDMI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API：/api/v1/52_nbr/run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62 / 72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53. SIPI结构不敏感色素指数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algorithm_id：53_sipi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色素比值相关、对冠层结构相对不敏感的相对指数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典型场景：色素相对对照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SIPI = (NIR − BLUE)/(NIR − RED)。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工程提示：值域不必在 −1～1。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输入：反射率立方体（蓝、红、近红外）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输出：单波段 sipi.tif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流程位置：L2 蓝/红/近红外 → sipi.tif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色素比值相关相对差异。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风险提示：分母接近零会发炸；不是色素毫克数。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关联：#27 NDVI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API：/api/v1/53_sipi/run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63 / 72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54. GCI绿色叶绿素指数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algorithm_id：54_gci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近红外与绿光比值减 1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典型场景：无红边时的叶绿素相关相对对照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GCI = NIR/GREEN − 1。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工程提示：与 RECI 同型，分母是绿光。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输入：反射率立方体（绿光、近红外）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输出：单波段 gci.tif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流程位置：L2 绿光+近红外 → gci.tif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绿光叶绿素相关相对分区，不要求红边。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风险提示：不能直接当作叶绿素含量。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关联：#46 RECI、#47 GNDVI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API：/api/v1/54_gci/run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64 / 72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55. NDSI归一化差值雪指数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层级：L3　｜　algorithm_id：55_ndsi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01168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37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</a:rPr>
              <a:t>可运行｜教学级实现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74523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24128"/>
            <a:ext cx="64008" cy="135331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" y="1097280"/>
            <a:ext cx="719632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01｜解决问题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绿光与短波红外归一化差，用于积雪相对识别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典型场景：积雪相对格局；不是水体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74523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" cy="15727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2587752"/>
            <a:ext cx="719632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02｜技术原理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NDSI = (GREEN − SWIR)/(GREEN + SWIR)。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工程提示：无真 SWIR 不要用末波段冒充。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24528"/>
            <a:ext cx="74523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64008" cy="1993392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" y="4297680"/>
            <a:ext cx="71963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03｜输入与输出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输入：反射率立方体（绿光、短波红外）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输出：单波段 ndsi.tif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流程位置：L2 绿光+SWIR → ndsi.tif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24128"/>
            <a:ext cx="4005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24128"/>
            <a:ext cx="64008" cy="233172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097280"/>
            <a:ext cx="3749039" cy="220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04｜业务价值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积雪相对格局示意。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风险提示：与 MNDWI 同型不同用途；不输出二值雪图。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93008"/>
            <a:ext cx="4005072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3493008"/>
            <a:ext cx="64008" cy="272491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566160"/>
            <a:ext cx="3749039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05｜状态与工程边界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当前状态：可运行｜教学级实现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能力说明：当前接口具备可运行示例，生产上线仍需真实数据精度、性能与异常恢复验收。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关联：#30 MNDWI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API：/api/v1/55_ndsi/run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算法清单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65 / 72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第三部分｜服务能力与对接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统一 HTTP 入口，业界文件格式入出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1152144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64008" cy="5120640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170432"/>
            <a:ext cx="11265408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8447D"/>
                </a:solidFill>
                <a:latin typeface="Noto Sans SC"/>
                <a:ea typeface="Noto Sans SC"/>
              </a:rPr>
              <a:t>服务定位与解决的问题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定位：高光谱算法能力的统一 HTTP 服务（单进程、一算法一目录）。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解决的问题：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· 业务系统无需各自实现遥感算法，通过标准文件与接口调用即可。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· 培训与联调统一入口：清单编号 ↔ 目录 ↔ API 一一对应。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· 以教学实现打通闭环，再按场景做真实数据精度与生产验收。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调用形态：上传 GeoTIFF / GeoJSON / CSV → 返回 JSON（含统计与产物路径）。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交互文档：http://服务地址:28800/docs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服务对接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66 / 72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对不同角色的价值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同一套能力，面向业务、产品与算法三类读者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3794760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64008" cy="5166360"/>
          </a:xfrm>
          <a:prstGeom prst="rect">
            <a:avLst/>
          </a:prstGeom>
          <a:solidFill>
            <a:srgbClr val="D17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3" y="1124712"/>
            <a:ext cx="3538728" cy="5038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1711D"/>
                </a:solidFill>
                <a:latin typeface="Noto Sans SC"/>
                <a:ea typeface="Noto Sans SC"/>
              </a:rPr>
              <a:t>业务与管理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将光谱观测转化为分类图、长势图、面积与告警。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支撑农情监测、作物一张图等应用场景。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降低对单一算法专家的路径依赖。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验收关注：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· 专题图可读性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· 面积可核对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· 告警可执行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051560"/>
            <a:ext cx="3794760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051560"/>
            <a:ext cx="64008" cy="5166360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124712"/>
            <a:ext cx="3538728" cy="5038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产品与应用研发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统一 API，可按场景组合算法。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业界格式便于接入 GIS / App。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每算法独立目录、README 与 testdata。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可从骨架渐进演进到生产实现。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对接关注：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· 契约稳定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· OpenAPI 可调试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· 样例可一键跑通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51560"/>
            <a:ext cx="3749039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51560"/>
            <a:ext cx="64008" cy="516636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124712"/>
            <a:ext cx="3493007" cy="5038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算法与数据工程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对齐 L0–L4 业界分层语言。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与小模型仓库能力可衔接。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输入输出契约清晰，便于验收。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实现关注：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· implemented 标记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· 产物 files 路径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· 与清单编号一致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服务对接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67 / 72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当前可运行能力（可联调）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55 项全部可运行，统一 POST /api/v1/{id}/run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699516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64008" cy="512064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170432"/>
            <a:ext cx="6739128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可运行 55 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L0–L2：航线、质检、定标、正射、镶嵌与特征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L3 指数：#27–30 与补齐的 #46–55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L3 识别：红边参数、反演、分类、检测、解混、变化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L4：图斑平滑与地块分区统计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冒烟：scripts/smoke_all_implemented.py 为 55/55。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详细 curl 见：docs/算法API测试清单.md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097280"/>
            <a:ext cx="43434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097280"/>
            <a:ext cx="64008" cy="2240280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44383" y="1170432"/>
            <a:ext cx="4087368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能力覆盖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反射率定标与立方体清洗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特征处理与植被指数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传统分类与空谱 CNN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检测、异常与地块汇总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520440"/>
            <a:ext cx="434340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3520440"/>
            <a:ext cx="64008" cy="2697480"/>
          </a:xfrm>
          <a:prstGeom prst="rect">
            <a:avLst/>
          </a:prstGeom>
          <a:solidFill>
            <a:srgbClr val="D17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44383" y="3593592"/>
            <a:ext cx="4087368" cy="2569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1711D"/>
                </a:solidFill>
                <a:latin typeface="Noto Sans SC"/>
                <a:ea typeface="Noto Sans SC"/>
              </a:rPr>
              <a:t>工程边界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可运行不等于生产验收完成。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仍须真实数据精度、性能、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稳定性和安全验收。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完整 MODTRAN/6S、多视空三、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厂商相机 SDK 不在本服务内。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详见：docs/算法API测试清单.md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服务对接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68 / 72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对接步骤与调用示例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工作目录：algorithm/source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5760720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64008" cy="5166360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3" y="1124712"/>
            <a:ext cx="5504688" cy="5038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三步对接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1）启动服务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./scripts/start.sh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默认：http://127.0.0.1:28800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2）查询清单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GET /api/v1/algorithms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3）调用算法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POST /api/v1/{algorithm_id}/run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-F file=@xxx.tif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-F file2=@yyy.geojson（可选）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-F params='{...}'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返回：success / data /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51560"/>
            <a:ext cx="5623560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51560"/>
            <a:ext cx="64008" cy="516636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124712"/>
            <a:ext cx="5367528" cy="5038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示例：NDVI（#27）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curl -X POST \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  "http://127.0.0.1:28800/api/v1/27_ndvi/run" \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  -F "file=@algorithms/27_ndvi/testdata/input.tif" \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  -F 'params={"red_band":2,"nir_band":3}'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业务侧可消费：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· data.mean / min / max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· files.ndvi_tif（GIS 底图）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· files.preview_png（预览）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142337"/>
                </a:solidFill>
                <a:latin typeface="Noto Sans SC"/>
                <a:ea typeface="Noto Sans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42337"/>
                </a:solidFill>
                <a:latin typeface="Noto Sans SC"/>
                <a:ea typeface="Noto Sans SC"/>
              </a:rPr>
              <a:t>同类方式对接 #34 分类、#45 汇总。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服务对接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69 / 72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能力边界与建设路径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Noto Sans SC"/>
                <a:ea typeface="Noto Sans SC"/>
              </a:rPr>
              <a:t>汇报与立项需明确范围，避免预期错位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115214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2103120" cy="1051560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1731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Noto Sans SC"/>
                <a:ea typeface="Noto Sans SC"/>
              </a:rPr>
              <a:t>当前范围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417319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55 项教学/联调级实现，统一 HTTP 入口，覆盖 L0–L4 业界流程能力地图。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286000"/>
            <a:ext cx="115214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286000"/>
            <a:ext cx="2103120" cy="1051560"/>
          </a:xfrm>
          <a:prstGeom prst="rect">
            <a:avLst/>
          </a:prstGeom>
          <a:solidFill>
            <a:srgbClr val="D17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606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Noto Sans SC"/>
                <a:ea typeface="Noto Sans SC"/>
              </a:rPr>
              <a:t>非当前范围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6060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完整生产级正射、大气、SfM 等通常由专用处理软件/处理中心承担。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474720"/>
            <a:ext cx="115214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474720"/>
            <a:ext cx="2103120" cy="1051560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79475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Noto Sans SC"/>
                <a:ea typeface="Noto Sans SC"/>
              </a:rPr>
              <a:t>仓库强项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794759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L2→L3 分类小模型（hyper-spectral-small-modes）可继续接入本服务。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4663440"/>
            <a:ext cx="115214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4663440"/>
            <a:ext cx="2103120" cy="1051560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9834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Noto Sans SC"/>
                <a:ea typeface="Noto Sans SC"/>
              </a:rPr>
              <a:t>建议路径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98348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42337"/>
                </a:solidFill>
                <a:latin typeface="Noto Sans SC"/>
                <a:ea typeface="Noto Sans SC"/>
              </a:rPr>
              <a:t>用 55 项可运行接口打通业务闭环，再按场景做真实数据精度与生产验收。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服务对接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70 / 72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SC"/>
                <a:ea typeface="Noto Sans SC"/>
              </a:rPr>
              <a:t>总结与下一步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9728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64008" cy="2148840"/>
          </a:xfrm>
          <a:prstGeom prst="rect">
            <a:avLst/>
          </a:prstGeom>
          <a:solidFill>
            <a:srgbClr val="18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170432"/>
            <a:ext cx="340156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447D"/>
                </a:solidFill>
                <a:latin typeface="Noto Sans SC"/>
                <a:ea typeface="Noto Sans SC"/>
              </a:rPr>
              <a:t>01｜架构体系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L0→L4 数据产品分层清晰。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分类链与指标链共享 L2 标准底图，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最终在 L4 形成地块汇总闭环。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9728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97280"/>
            <a:ext cx="64008" cy="214884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1170432"/>
            <a:ext cx="340156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9AA6"/>
                </a:solidFill>
                <a:latin typeface="Noto Sans SC"/>
                <a:ea typeface="Noto Sans SC"/>
              </a:rPr>
              <a:t>02｜算法能力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55 项能力覆盖采集、预处理、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特征、分类、检测、指数与汇总。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HTTP 冒烟 55/55 均产出 files。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09728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097280"/>
            <a:ext cx="64008" cy="2148840"/>
          </a:xfrm>
          <a:prstGeom prst="rect">
            <a:avLst/>
          </a:prstGeom>
          <a:solidFill>
            <a:srgbClr val="008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3" y="1170432"/>
            <a:ext cx="340156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876E"/>
                </a:solidFill>
                <a:latin typeface="Noto Sans SC"/>
                <a:ea typeface="Noto Sans SC"/>
              </a:rPr>
              <a:t>03｜服务对接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统一 HTTP API 与业界文件格式。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GeoTIFF / GeoJSON / CSV 入出，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支持培训、联调与渐进式建设。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520440"/>
            <a:ext cx="1152144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520440"/>
            <a:ext cx="64008" cy="2697480"/>
          </a:xfrm>
          <a:prstGeom prst="rect">
            <a:avLst/>
          </a:prstGeom>
          <a:solidFill>
            <a:srgbClr val="D17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" y="3593592"/>
            <a:ext cx="11265408" cy="2569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1711D"/>
                </a:solidFill>
                <a:latin typeface="Noto Sans SC"/>
                <a:ea typeface="Noto Sans SC"/>
              </a:rPr>
              <a:t>下一步建设建议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① 选定 1–2 个业务场景（作物分类 / 长势监测），形成端到端应用演示。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② 按场景价值与交付风险排序，把关键算法做成可验收的生产实现。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③ 接入分类小模型与模型版本管理，建立数据—算法—业务反馈闭环。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42337"/>
                </a:solidFill>
                <a:latin typeface="Noto Sans SC"/>
                <a:ea typeface="Noto Sans SC"/>
              </a:rPr>
              <a:t>④ 补齐鉴权、异步任务、日志监控、精度基线与产物生命周期治理。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高光谱算法体系  ·  总结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</a:rPr>
              <a:t>71 / 72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Noto Sans SC"/>
                <a:ea typeface="Noto Sans SC"/>
              </a:rPr>
              <a:t>谢谢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CBD5E1"/>
                </a:solidFill>
                <a:latin typeface="Noto Sans SC"/>
                <a:ea typeface="Noto Sans SC"/>
              </a:rPr>
              <a:t>资料：algorithm/docs/（清单、流程、测试清单、本 PPT）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CBD5E1"/>
                </a:solidFill>
                <a:latin typeface="Noto Sans SC"/>
                <a:ea typeface="Noto Sans SC"/>
              </a:rPr>
              <a:t>服务：algorithm/source/（HTTP API · 端口 28800）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