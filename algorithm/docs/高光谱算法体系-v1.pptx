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</a:rPr>
              <a:t>高光谱数据处理与算法体系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A7F3D0"/>
                </a:solidFill>
                <a:latin typeface="PingFang SC"/>
                <a:ea typeface="PingFang SC"/>
              </a:rPr>
              <a:t>架构设计  ·  45 项算法详解  ·  服务能力与对接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94A3B8"/>
                </a:solidFill>
                <a:latin typeface="PingFang SC"/>
                <a:ea typeface="PingFang SC"/>
              </a:rPr>
              <a:t>正式培训与业务汇报材料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30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L0 → L1 → L2 → L3 → L4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PingFang SC"/>
                <a:ea typeface="PingFang SC"/>
              </a:rPr>
              <a:t>核心链路：原始 DN → 反射率正射立方体 → 分类/指数产品 → 面积报表与业务告警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</a:rPr>
              <a:t>依据：algorithm/docs/采集到算法-算法清单.md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</a:rPr>
              <a:t>配套服务：algorithm/source（HTTP API，GeoTIFF 等业界格式）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从采集到业务决策的完整能力说明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3320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01  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数据层级 L0–L4 定义与用户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分类链与长势指标链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业界交换文件格式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端到端业务处理路径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70332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02  算法清单（45项）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按层级说明功能与方法要点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明确输入输出与产品形态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业务价值、缺失影响与流程位置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关联算法与实施提示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5943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03  服务能力与对接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统一 HTTP 服务定位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已实现能力与接口契约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联调步骤与调用示例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能力边界与后续建设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目录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第一部分｜架构设计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先建立数据产品分层，再理解算法落点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541324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核心结论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高光谱业务不是「一组光谱直接得到一个指标」。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业界将链路拆分为多层数据产品，层层增值：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L0  原始 DN 计数 + POS/元数据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L1  辐亮度（具备物理单位）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L2  反射率正射立方体（可上地图）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L3  分类图 / 指数图 / 反演图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L4  面积、报表、告警、业务 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本仓库分类小模型主要落在 L2→L3；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业务系统最终消费的多为 L4 产品。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6235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64008" cy="512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70432"/>
            <a:ext cx="536752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D9488"/>
                </a:solidFill>
                <a:latin typeface="PingFang SC"/>
                <a:ea typeface="PingFang SC"/>
              </a:rPr>
              <a:t>分层价值（摘要）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L0：保住可追溯的原始观测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L1：进入可定量的物理量空间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L2：形成算法可消费的标准底图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L3：提取类别、长势、胁迫等信息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L4：转化为可管理、可对接的结论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两条并行分析链均建立在 L2 之上：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① 分类链：回答「种了什么、各多少」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② 指标链：回答「长势/水分如何」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培训重点：先记住分层，再记算法名称。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数据层级 L0–L4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形态 · 主要用户 · 可否直接用于管理决策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26771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L0 原始层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形态：DN 帧/条带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POS、日志、定标板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用户：采集与预处理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价值：原始可追溯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1097280"/>
            <a:ext cx="226771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L1 传感器产品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形态：辐亮度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可含粗几何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用户：处理中心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价值：物理可比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2624" y="1097280"/>
            <a:ext cx="226771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L2 分析底图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用户：算法研发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决策：专业预览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价值：标准输入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776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51776" y="1097280"/>
            <a:ext cx="226771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8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 信息产品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形态：分类/指数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反演/矢量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用户：分析与产品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决策：部分可读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价值：信息提取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0928" y="1097280"/>
            <a:ext cx="2267712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L4 业务决策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形态：亩数报表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告警与 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用户：业务与系统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价值：管理闭环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端到端处理路径（以作物分类为例）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从飞行采集到业务系统可读结果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527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① 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2527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无人机高光谱（可选 RGB）飞行；布置白板；记录样点类别与地块边界。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892807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92807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93976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② 预处理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939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暗电流/坏线/定标 → 正射 → 镶嵌，形成 L2 反射率正射立方体（GeoTIFF）。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734056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3522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③ 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样本标注 + 分类模型（传统 ML / 空谱 CNN 等）→ L3 分类着色图。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575304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75304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776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④ 后处理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7764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平滑与小斑剔除，提升图斑连续性，稳定面积统计。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416552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416552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17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⑤ 汇总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617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按地块分区统计亩数与占比 → L4 报表 / JSON / 专题图。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257800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257800"/>
            <a:ext cx="1417320" cy="7498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589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⑥ 应用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4589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业务系统、GIS、大屏消费 L4；并行可走 NDVI/NDRE 长势监测链。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两条业务主链路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均以 L2 反射率正射立方体为共同输入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541324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A. 作物/地物分类链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L2 反射率正射立方体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样本构建与特征处理（#20–26）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分类模型（#34–39）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分类后处理（#44）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地块面积与专题图（#45）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回答的问题：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各地块种植了什么？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各类面积与空间分布如何？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本仓库小模型主要服务本链路。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验收关注：OA/Kappa + 面积核对。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6235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64008" cy="51206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70432"/>
            <a:ext cx="536752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45309"/>
                </a:solidFill>
                <a:latin typeface="PingFang SC"/>
                <a:ea typeface="PingFang SC"/>
              </a:rPr>
              <a:t>B. 长势/胁迫指标链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L2 反射率正射立方体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NDVI/NDRE 等指数（#27–31）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可选生化量反演（#32–33）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热力专题图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地块均值与阈值告警（#45）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回答的问题：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长势空间差异如何？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是否存在干旱/缺肥风险区？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链路更轻、更适合高频监测。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验收关注：阈值规则与告警闭环。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业界文件格式约定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服务与业务系统按标准格式交换，而非教学用 npy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GeoTIFF (.tif)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21615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多波段栅格 + 地理参考；主格式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216151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用途：L2 立方体、指数图、分类图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05740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13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ENVI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219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经典高光谱交换；服务侧可读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219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用途：处理中心存量数据接入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06324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06324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19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GeoJSON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2278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测区、地块、斑块矢量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278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用途：分区统计、AOI 裁剪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06908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06908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25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2336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POS 轨迹、光谱库、端元表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3367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用途：几何与光谱匹配辅助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07492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07492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30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JSON 报表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23951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统计指标 + 产物路径 + 告警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2395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用途：业务系统 / 大屏直接消费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第二部分｜算法清单（45 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每项说明：功能 · 方法 · 场景 · 输入输出 · 价值 · 影响 · 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阅读与培训建议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1. 先按层级理解「本层解决什么业务问题」，再记忆算法名称。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2. 每页包含：功能定义、方法要点、适用场景、输入输出、业务价值、缺失影响、流程位置与关联。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3. 标注「可运行」表示当前 HTTP 服务可联调（教学实现）；其余为业界能力地图，接口已预留。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4. 分层覆盖：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   #1–5 采集与质检　#6–11 传感器产品　#12–26 分析底图与特征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   #27–43 信息提取　#44–45 出图与业务汇总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5. 与仓库关系：L0–L2 工程能力多在处理中心；本仓库强项在 L2→L3 分类及可运行教学 API。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算法分层总览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45 项能力与业务问题的对应关系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L0 及上机前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#1–5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344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飞行与原始数据质量控制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航线规划与覆盖优化、同步曝光与时间戳对齐、POS 解算、架次质检、云 / 云影检测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3172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L0→L1 传感器产品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#6–11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14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从 DN 到物理辐亮度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80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暗电流校正、坏线 / 坏像元修复、条带噪声去除、光谱微笑 / 关键畸变校、辐射定标、相对辐射归一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611879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8404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L1→L2 分析底图（上）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51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#12–19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7947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反射率、几何、镶嵌、配准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白板 / 灰板反射率定标、大气校正、BRDF / 观测几何校、几何粗校正 / 地理定位、正射校正、影像匹配与镶嵌、匀色与接缝线优化、多源配准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89204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89204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L2 分析前处理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#20–26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074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清洗、特征、样本构建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4067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坏波段剔除与光谱去噪、Savitzky–Gol、标准化 / 归一化、降维、波段选择 / 特征选择、超像素 / 面向对象分割、Patch / 样本构建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算法分层总览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45 项能力与业务问题的对应关系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 指数与反演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#27–33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344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长势、水分、生化量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NDVI、NDRE / 红边植被指、EVI / SAVI /、NDMI / NDWI 、红边位置与光谱特征参数提、经验回归反演、辐射传输物理模型反演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3172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 分类与检测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#34–43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14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类别、斑块、异常、变化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80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传统机器学习分类、光谱匹配分类、光谱深度学习分类、空–谱 CNN 分类、Transformer 、少样本 / 迁移学习分类、语义分割 / 目标检测、混合像元分解、异常检测、多时相变化检测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611879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8404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L3→L4 业务出口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51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#44–45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7947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后处理与决策产品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分类后处理、地块汇总、专题制图与业务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01. 航线规划与覆盖优化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 前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规划航高、重叠、航迹，保证测区采全、可拼接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航线文件、航点列表、预估架次与时长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依据测区边界、DEM 与相机视场，计算航高、旁向/航向重叠率与航迹间距；输出可执行航点序列。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典型旁向重叠 60%–80%；分辨率由航高与像元尺寸共同决定。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无人机起飞前；大田、园区、矿区测绘任务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测区边界、DEM、相机参数、分辨率要求、禁飞区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保证测区完整覆盖与可镶嵌性，是后续几何处理与面积统计的前提条件。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航线文件、航点列表、预估架次与时长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重叠不足将产生空洞；设计过密则增加架次与存储成本，延误交付周期。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典型旁向重叠 60%–80%；分辨率由航高与像元尺寸共同决定。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上机前规划 → 飞行采集 → #4 架次质检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 POS、#16 正射、#17 镶嵌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【API】/api/v1/01_flight_planning/run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02. 同步曝光与时间戳对齐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让高光谱、RGB、POS 在时间轴上对齐，避免「图对不上姿态」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对齐后的帧-姿态对应表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以统一时钟或硬件触发脉冲为基准，对齐高光谱、RGB、POS 各传感器时间戳，建立帧级对应关系。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工程上常输出「帧号—时间—姿态」对应表，作为几何链路输入。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多传感器挂载同飞；后续几何与融合的前提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各传感器时间戳、触发脉冲记录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保障多源数据时空一致，避免几何校正阶段图—姿态错位。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对齐后的帧-姿态对应表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时间未对齐将导致正射漂移、镶嵌错位，后续排查成本高。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工程上常输出「帧号—时间—姿态」对应表，作为几何链路输入。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多传感器采集 → 时间对齐 → #3 POS 解算 / 几何处理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 POS、#15 地理定位、#19 多源配准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【API】/api/v1/02_sync_timestamp/run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03. POS 解算（GPS + IMU）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算出每帧/每条带的位置与姿态（POS）；IMU 提供姿态与加速度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逐帧位置 (x,y,z) + 姿态角（俯仰/横滚/航向）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融合 GPS 轨迹与 IMU 角速度/加速度（可选差分基站），解算逐帧位置 (x,y,z) 与姿态角。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差分 GPS（RTK/PPK）可显著降低平面误差，利于地块级量测。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所有需要正射、镶嵌、上地图的飞行任务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GPS 轨迹、IMU 角速度/加速度、可选基站差分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为地理定位与正射校正提供外方位元素，使影像具备地图坐标基础。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逐帧位置 (x,y,z) + 姿态角（俯仰/横滚/航向）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无可靠 POS 则无法正射与量测面积，数据仅能作为非地理影像使用。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差分 GPS（RTK/PPK）可显著降低平面误差，利于地块级量测。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L0 原始包 → POS 解算 → #15/#16 几何校正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 时间对齐、#15 地理定位、#16 正射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【API】/api/v1/03_pos_solution/run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04. 架次质检（丢帧 / 过曝 / 欠曝）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判断本架原始数据是否可用，避免垃圾进管线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质检报告、坏帧列表、重飞建议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检查丢帧、过曝/欠曝比例、POS 完整性与曝光日志异常，生成质检报告与重飞建议。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建议将饱和像元比例、丢帧率设为硬阈值，写入项目验收标准。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落地后第一道关；光照突变、颠簸、存储异常时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L0 DN、曝光增益日志、POS 完整性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在处理管线入口拦截不可用架次，控制无效算力投入与返工风险。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质检报告、坏帧列表、重飞建议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劣质数据进入后续环节，将造成指数/分类结果不可信并浪费处理资源。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建议将饱和像元比例、丢帧率设为硬阈值，写入项目验收标准。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落地 → 质检闸门 → 通过则进入 L0→L1；不通过则补飞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 航线规划、#5 云影检测、#10 辐射定标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【API】/api/v1/04_flight_qc/run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05. 云 / 云影检测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识别云与阴影覆盖，避免当正常地物分析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云/影掩膜（0/1 或概率图）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基于光谱/亮度阈值或分类模型识别云与阴影，输出二值或概率掩膜。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卫星与高空数据更关键；低空亦需关注树影与薄云。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卫星与高空数据常见；低空偶发薄云/树影也可借鉴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L0/L1 多波段或 RGB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避免将遮挡区误判为作物或异常长势，提高专题图可信度。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云/影掩膜（0/1 或概率图）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未掩膜时，指数出现虚假低值，分类产生伪斑块，影响农事判断。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卫星与高空数据更关键；低空亦需关注树影与薄云。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L0/L1 预览 → 云影掩膜 → 在 L3 分析中屏蔽或触发补采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关联：#4 架次质检、#27–30 指数、#34–37 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【API】/api/v1/05_cloud_shadow/run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06. 暗电流校正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减去传感器在无光时的本底，降低固定偏差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去本底后的 DN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采集或调用暗电流参考帧，按像元/波段从原始 DN 中扣除本底：DN' = DN − Dark。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暗帧应与工作积分时间、温度条件匹配，否则校正不完全。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高光谱相机预处理几乎标配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原始 DN、暗电流参考帧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降低固定偏差，使弱信号区更接近真实辐射响应。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去本底后的 DN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未校正时本底抬高整体亮度，定量指数与定标系数产生系统偏差。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暗帧应与工作积分时间、温度条件匹配，否则校正不完全。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原始 DN → 暗电流校正 → #7/#8 缺陷修复 → #10 辐射定标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关联：#7 坏像元、#8 去条带、#10 辐射定标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【API】/api/v1/06_dark_current/run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07. 坏线 / 坏像元修复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修复探测器坏点、坏列，避免条纹伪影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修复后 DN（插值或邻域填充）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依据坏像元表识别坏点/坏列，采用邻域插值或中值填充进行修复。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推扫探测器老化时坏列增多，建议纳入设备维保监测。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推扫相机老化或出厂缺陷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DN、坏像元表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消除固定条纹与黑点伪影，避免被后续模型当作地物特征。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修复后 DN（插值或邻域填充）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坏列残留会在分类图中形成条状误差，降低产品合格率。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推扫探测器老化时坏列增多，建议纳入设备维保监测。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暗电流后 → 坏像元修复 → #8 去条带或 #10 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关联：#6 暗电流、#8 去条带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【API】/api/v1/07_bad_pixel/run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08. 条带噪声去除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去除推扫方向周期性亮暗条纹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去条带影像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针对推扫方向周期性亮暗条纹，采用矩匹配、滤波或频域方法抑制条带噪声。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机载/星载推扫高光谱的常见刚需步骤。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机载/星载推扫高光谱常见问题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校正中 DN 或辐亮度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提升辐射一致性，改善镶嵌观感与分类稳定性。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去条带影像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残留条带导致镶嵌接缝明显，分类沿飞行方向出现系统性误差。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机载/星载推扫高光谱的常见刚需步骤。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DN/辐亮度 → 去条带 → #10 辐射定标或 #12 反射率定标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关联：#7 坏像元、#10/#12 定标、#17 镶嵌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【API】/api/v1/08_destriping/run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09. 光谱微笑 / 关键畸变校正（Smile / Keystone）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校正光谱维与空间维耦合畸变，保证「同一波段真的是同一波长」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光谱几何校正后的数据立方体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基于实验室光谱定标与传感器模型，校正 Smile（光谱维弯曲）与 Keystone（空间—光谱耦合）。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农情粗指数有时可简化；矿物识别与精密反演建议保留。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精密定量与光谱库匹配前；高端机载/星载处理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传感器模型、实验室光谱定标数据、DN/辐亮度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保证「同一波段对应同一波长」，支撑光谱库匹配与精密定量。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光谱几何校正后的数据立方体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未校正时与标准光谱库无法对齐，SAM/精细反演精度显著下降。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农情粗指数有时可简化；矿物识别与精密反演建议保留。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传感器级预处理 → 光谱几何校正 → #35 光谱匹配 / #32–33 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关联：#10 辐射定标、#35 SAM、#31 红边参数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【API】/api/v1/09_smile_keystone/run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10. 辐射定标（DN → 辐亮度）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把仪器计数变成有单位的辐亮度，具备物理可比性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L1 辐亮度产品（Radiance Cube/条带）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应用定标系数与积分时间等元数据：L = gain × DN + offset，得到有物理单位的辐亮度。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输出为 L1 Radiance Cube/条带，需保留单位与波段中心波长元数据。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定量遥感、跨传感器对比、进入大气校正前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校正后 DN、定标系数、积分时间等元数据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实现跨传感器、跨架次的物理可比，是定量遥感的基础里程碑。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L1 辐亮度产品（Radiance Cube/条带）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停留在 DN 无法开展严谨定量对比，后续大气/反射率链路缺少物理输入。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输出为 L1 Radiance Cube/条带，需保留单位与波段中心波长元数据。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校正后 DN → L1 辐亮度 → #12 白板定标或 #13 大气校正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关联：#6–9 预处理、#12/#13 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【API】/api/v1/10_radiance_calibration/run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11. 相对辐射归一（多架次 / 多时相）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消除不同架次光照、增益差异，使亮度可对比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辐射一致化后的多景数据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利用重叠区或伪不变特征，对多景进行相对辐射归一，消除增益与光照差异。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监测类项目应将辐射一致性纳入质量指标。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一天多架次、多日监测、镶嵌前匀光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多景 L1/L2、重叠区或伪不变特征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支持多架次/多时相公平对比，以及镶嵌前匀光。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辐射一致化后的多景数据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未归一时时间序列出现虚假「长势跳变」，告警规则失效。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监测类项目应将辐射一致性纳入质量指标。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多景 L1/L2 → 相对辐射归一 → #17 镶嵌 / 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关联：#17 镶嵌、#18 匀色、#43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【API】/api/v1/11_relative_radiometric/run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12. 白板 / 灰板反射率定标（经验线法）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用地面参考板把辐亮度转为地表反射率（无人机最常用）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近似/地表 反射率立方体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经验线法：利用地面白板/灰板同步测量，将辐亮度线性转换为近似地表反射率。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本服务已提供教学级可运行接口；白板应置于测区代表性光照条件下。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低空农情、植被指数、分类前；替代完整大气校正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辐亮度、白板光谱/同步测量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无人机农情最常用的反射率获取路径，为指数与分类提供标准底图。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近似/地表 反射率立方体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量纲错误将导致跨天不可比，指数与分类结果缺乏一致性。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本服务已提供教学级可运行接口；白板应置于测区代表性光照条件下。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L1 辐亮度 + 白板 → 反射率立方体 → L2 分析入口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关联：#13 大气校正（替代路径）、#27–34 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【API】/api/v1/12_panel_reflectance/run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13. 大气校正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扣除大气吸收散射，得到更接近真实的地表反射率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地表反射率产品（常称 L2A 一类）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基于辐射传输（如 6S/MODTRAN 类）或暗目标法等，扣除大气吸收与散射。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卫星/高空项目更依赖；低空无人机多以白板法简化。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卫星高光谱、有人机高空；跨区域定量对比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辐亮度、大气参数（水汽、气溶胶等）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获得更接近真实的地表反射率，支撑跨区域、跨季节定量产品。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地表反射率产品（常称 L2A 一类）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未校正时反射率含大气「染色」，区域对比与反演偏差增大。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卫星/高空项目更依赖；低空无人机多以白板法简化。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L1 辐亮度 + 大气参数 → 地表反射率（L2A 类）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关联：#12 白板定标（低空常用替代）、#32–33 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【API】/api/v1/13_atmospheric_correction/run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14. BRDF / 观测几何校正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减弱太阳-观测角度不同造成的「一边亮一边暗」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角度归一后的反射率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根据太阳—观测几何，对双向反射分布（BRDF）效应进行归一或校正。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宽视场航测、多日多角度合景时优先考虑。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宽视场航带边缘、多日多角度合成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反射率、太阳/观测天顶角方位角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减弱航带边缘「一边亮一边暗」，提高大范围合成一致性。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角度归一后的反射率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角度效应残留会造成假异常斑与镶嵌花斑。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宽视场航测、多日多角度合景时优先考虑。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反射率 + 角度元数据 → 角度归一反射率 → 镶嵌/监测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关联：#17 镶嵌、#11 相对辐射、#43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【API】/api/v1/14_brdf_correction/run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15. 几何粗校正 / 地理定位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依据 POS 与相机模型，给影像赋予初始地理坐标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带粗略地理参考的条带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结合 POS 与相机内参，将条带像素投影到初始地理坐标系。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精度通常不足以直接量亩，但满足任务级预览。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正射前；快速预览落点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影像条带、POS、相机内参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快速确认飞行落点，为精正射提供粗定位起点。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带粗略地理参考的条带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无法预览落点时，任务质检与正射排错效率显著下降。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精度通常不足以直接量亩，但满足任务级预览。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影像条带 + POS → 粗地理参考 → #16 正射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 POS、#16 正射、#4 质检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【API】/api/v1/15_geo_locate/run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16. 正射校正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消除地形起伏与姿态引起的几何畸变，像素可准确落图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正射条带（Orthophoto / Ortho Cube）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引入 DEM 与相机模型，消除地形起伏与姿态引起的几何畸变，生成正射条带。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「能否进入 GIS 与量亩」的关键分水岭。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要量面积、叠地块、做 GIS 的所有项目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条带、POS、DEM、相机模型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使像素可准确叠合地块边界，支撑面积量测与 GIS 分析。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正射条带（Orthophoto / Ortho Cube）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几何不准导致地块错位，面积统计系统性失真。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「能否进入 GIS 与量亩」的关键分水岭。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粗定位条带 + DEM → 正射条带 → #17 镶嵌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关联：#15 地理定位、#17 镶嵌、#45 地块统计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【API】/api/v1/16_orthorectify/run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17. 影像匹配与镶嵌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多航带拼成测区完整一张图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整景反射率正射立方体（典型 L2 交付）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在重叠区进行影像匹配与接缝线选择，将多航带合成为整景立方体。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算法研发侧最常见的标准输入形态。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大田多航线飞行；生成整景 L2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多条正射条带、重叠区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形成测区完整 L2 产品，供整村/整园尺度分析与制图。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整景反射率正射立方体（典型 L2 交付）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仅保留碎片条带时，无法开展区域级专题产品。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算法研发侧最常见的标准输入形态。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多条正射条带 → 镶嵌 → 整景反射率正射立方体（典型 L2）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关联：#16 正射、#18 匀色、#19 配准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【API】/api/v1/17_mosaic/run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18. 匀色与接缝线优化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消除拼接接缝处色差与硬边，提高可读性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匀色后镶嵌产品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对镶嵌接缝进行匀光匀色与接缝线优化，消除色差硬边。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偏交付质量环节，但对项目验收影响直接。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出图给客户看；镶嵌后美化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镶嵌前多条带或初镶嵌图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提升交付图可读性与验收通过率，不改变几何框架。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匀色后镶嵌产品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接缝明显会降低产品观感，影响业务验收评价。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偏交付质量环节，但对项目验收影响直接。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初镶嵌 → 匀色/接缝优化 → 交付或进入分析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关联：#17 镶嵌、#11 相对辐射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【API】/api/v1/18_color_balance/run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19. 多源配准（高光谱 ↔ RGB ↔ 地块矢量）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让光谱、真彩色、田块边界对齐，便于标注与按地块统计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共配准多层数据（同一网格/坐标系）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将高光谱、RGB 正射与地块矢量配准到同一网格/坐标系。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打通「图、谱、田」三层数据是产品闭环关键。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「人看 RGB、算法吃 HSI、报表按地块」的标准业务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HSI Cube、RGB 正射、shp/geojson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支撑「真彩色目视 + 光谱算法 + 按地块统计」的标准业务形态。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共配准多层数据（同一网格/坐标系）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未配准导致标注错位、裁剪错误，面积与专题统计失效。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打通「图、谱、田」三层数据是产品闭环关键。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HSI + RGB + shp/geojson → 共配准多层 → 标注/统计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关联：#17 镶嵌、#34–40 分析、#45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【API】/api/v1/19_multi_source_register/run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29 /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20. 坏波段剔除与光谱去噪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去掉水汽强吸收等噪声波段，提升后续稳定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清洗后 Cube（波段数减少）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按信噪比/水汽吸收特征剔除坏波段，并可做光谱维轻度去噪。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约 1400/1900 nm 水汽带常剔除；本服务可运行。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分类/指数/反演前；1400、1900 nm 附近常剔除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L2 反射率 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减少噪声波段对模型与指数的干扰，提高结果稳定性。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清洗后 Cube（波段数减少）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保留强噪声波段会导致分类抖动与指数异常尖峰。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约 1400/1900 nm 水汽带常剔除；本服务可运行。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Cube → 坏波段剔除 → #21–23 特征处理或直接分析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关联：#21 SG、#23 PCA、#27–37 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【API】/api/v1/20_bad_band_remove/run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21. Savitzky–Golay 平滑 / 包络线去除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平滑光谱噪声；包络线去除突出吸收特征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平滑谱 / 去包络光谱特征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Savitzky–Golay 多项式滑动平滑；可选 Continuum Removal 突出吸收特征。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窗口长度与多项式阶次需匹配波段采样密度；本服务可运行。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矿物识别、精细光谱匹配、特征工程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像素光谱或整景 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抑制光谱毛刺并增强吸收谷，利于精细识别与特征工程。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平滑谱 / 去包络光谱特征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噪声过大时弱特征被掩盖，匹配与反演灵敏度下降。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窗口长度与多项式阶次需匹配波段采样密度；本服务可运行。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清洗后光谱/Cube → 平滑/去包络 → 匹配、回归或深度学习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关联：#20 去噪、#35 SAM、#32 回归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【API】/api/v1/21_savgol_smooth/run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22. 标准化 / 归一化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统一数值范围，便于机器学习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z-score / minmax 等标准化特征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对光谱向量或立方体做 z-score / min-max 等变换，统一量纲。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几乎所有 ML/DL 训练与推理前的标配步骤；本服务可运行。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几乎所有 ML/DL 训练与推理前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Cube 或光谱向量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改善机器学习收敛与跨相机迁移能力。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z-score / minmax 等标准化特征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未标准化时模型偏向数值幅度大的波段，泛化变差。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几乎所有 ML/DL 训练与推理前的标配步骤；本服务可运行。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Cube → 标准化特征 → #23 PCA / #34–38 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关联：#23 降维、#34 SVM、#36–38 深度学习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【API】/api/v1/22_normalize/run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23. 降维（PCA / MNF / ICA）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压缩高度相关的上百波段，降冗余与噪声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低维特征立方体（如 10–40 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PCA/MNF/ICA 将高度相关的上百波段压缩为低维主成分（常用 10–40 维）。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本仓库部分小模型流水线内含 PCA；本服务可运行。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深度学习前、小样本、算力有限；本仓库部分模型内含 PCA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高维 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降冗余、抑噪声、降算力，加快训练与边缘部署。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低维特征立方体（如 10–40 维）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全波段直接训练易过拟合且耗时长，部署成本高。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本仓库部分小模型流水线内含 PCA；本服务可运行。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高维 Cube → 低维特征立方体 → 分类/回归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关联：#22 标准化、#24 波段选择、#34–37 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【API】/api/v1/23_pca/run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24. 波段选择 / 特征选择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选出对任务最有区分力的波段或指数，而不是盲目全波段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优选波段列表 / 特征表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基于可分性准则、重要性评分或包装法，选出对任务区分力最强的波段子集。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波段选择强调「可解释子集」；PCA 强调「正交压缩」。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特定作物区分、传感器定波段、边缘设备轻量化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Cube +（可选）样区标签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在精度可接受前提下降低数据量，指导定波段传感器与轻量化部署。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优选波段列表 / 特征表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盲目全波段增加成本，未必提升精度。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波段选择强调「可解释子集」；PCA 强调「正交压缩」。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Cube +（可选）标签 → 优选波段列表 → 轻量模型/传感器配置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关联：#23 降维、#27–31 指数、特定作物分类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【API】/api/v1/24_band_select/run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25. 超像素 / 面向对象分割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把影像切成均质小对象，再以对象为单位分类，减少椒盐噪声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超像素标签图 / 对象多边形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超像素/面向对象分割生成均质斑块，后续以对象为单位分类或统计。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对象尺度应与田块管理单元匹配。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农田斑块、林斑；对象级分类前处理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L2 影像（可含 RGB）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减少椒盐噪声，结果更符合农田斑块连续性。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超像素标签图 / 对象多边形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纯像素分类易碎斑，地块边界可读性差。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对象尺度应与田块管理单元匹配。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影像 → 对象多边形 → 对象级分类或制图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关联：#34–38 分类、#44 后处理、#45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【API】/api/v1/25_superpixel/run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26. Patch / 样本构建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切出模型可训练、可推理的邻域立方体或光谱向量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样本张量 `(N,W,W,B)` 或 `(N,B)` + 类别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按窗宽从立方体切取邻域 Patch 或光谱向量，并与标签对齐构成训练/推理样本。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窗宽需在空间上下文与类别纯度之间权衡。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CNN/Transformer 训练；本仓库常见 `createImageCubes`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Cube、标签图、窗宽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为 CNN/Transformer 提供标准张量输入，统一训练与推理接口。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样本张量 `(N,W,W,B)` 或 `(N,B)` + 类别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缺少规范样本构建则深度学习管线无法稳定复现。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窗宽需在空间上下文与类别纯度之间权衡。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Cube + 标签 + 窗宽 → 样本张量 (N,W,W,B)/(N,B) → #36–38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关联：#37 3D-CNN、#38 Transformer、本仓库 createImageCubes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【API】/api/v1/26_patch_build/run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27. NDVI（归一化植被指数）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快速表征植被绿度与光合活性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NDVI 单波段图（约 −1～1）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NDVI = (NIR − RED) / (NIR + RED)，输出约 −1～1 的单波段专题图。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茂密冠层易饱和，可并行使用 NDRE/EVI；本服务可运行。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长势监测、物候；农情最通用指标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红光、近红外反射率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最通用的植被绿度与光合活性表征，适合长势监测与物候观察。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NDVI 单波段图（约 −1～1）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缺少快速长势产品时，监测业务缺乏标准化入口指标。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茂密冠层易饱和，可并行使用 NDRE/EVI；本服务可运行。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红光+近红外 → NDVI 图 → #45 地块均值/阈值告警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关联：#28 NDRE、#29 EVI/SAVI、#45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【API】/api/v1/27_ndvi/run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28. NDRE / 红边植被指数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利用红边对叶绿素更敏感，适合密冠层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NDRE（或同类红边指数）图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NDRE = (NIR − RE) / (NIR + RE)，利用红边波段对叶绿素变化更敏感。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高光谱/多光谱红边配置的典型增值指标；本服务可运行。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成熟期、氮营养相关监测；高光谱优势场景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近红外、红边反射率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适用于密冠层与氮营养相关监测，发挥红边观测优势。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NDRE（或同类红边指数）图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仅用 NDVI 时，成熟期差异可能被饱和掩盖，施肥诊断不足。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高光谱/多光谱红边配置的典型增值指标；本服务可运行。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红边+近红外 → NDRE 图 → 营养诊断专题 / 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NDVI、#31 红边参数、#32 氮含量反演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【API】/api/v1/28_ndre/run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29. EVI / SAVI / MSAVI（改进植被指数）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减轻大气干扰、土壤背景或 NDVI 饱和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对应指数专题图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EVI 引入蓝光抑制大气；SAVI/MSAVI 引入土壤调节因子，缓解土壤背景与饱和。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茂密优先 EVI；稀疏苗期优先 SAVI/MSAVI。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茂密冠层用 EVI；苗期稀疏用 SAVI/MSAVI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NIR、RED，及 BLUE 或土壤因子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在苗期稀疏或过密冠层阶段提供比 NDVI 更稳妥的长势表征。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对应指数专题图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生育期不匹配指数时，长势评估偏差增大。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茂密优先 EVI；稀疏苗期优先 SAVI/MSAVI。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按生育期选择指数 → 专题图 → 地块汇总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NDVI、#28 NDRE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【API】/api/v1/29_evi_savi/run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30. NDMI / NDWI / MNDWI（水分与水体指数）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估计冠层水分或提取水体/淹田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水分/水体指数图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NDMI≈(NIR−SWIR)/(NIR+SWIR)；NDWI/MNDWI 用绿/SWIR 等组合提取水分或水体。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与长势指数并列的第二条常用指标链；注意 SWIR 波段可用性。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干旱、灌溉、湿地、农田积水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NIR+SWIR 或 GREEN+NIR/SWIR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支撑干旱、灌溉、湿地与农田积水等水分管理类专题。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水分/水体指数图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仅有绿度维度时，水分胁迫与淹田识别能力不足，农事建议不完整。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与长势指数并列的第二条常用指标链；注意 SWIR 波段可用性。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相关波段 → 水分/水体指数图 → 阈值告警 / 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长势链、#42 异常、#43 变化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【API】/api/v1/30_ndmi_ndwi/run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31. 红边位置与光谱特征参数提取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从连续光谱提取红边位置、吸收谷深度等参数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参数栅格（如红边位置 nm）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从连续光谱提取红边位置（REP）、吸收谷深度、一阶导数特征等参数栅格。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适合作为高光谱能力说明与科研/精品监测产品。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物候、胁迫早期、高光谱相对多光谱的差异化能力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连续反射率光谱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体现高光谱相对宽波段多光谱的差异化监测能力（物候/胁迫早期）。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参数栅格（如红边位置 nm）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仅做传统宽波段指数时，难以体现高光谱投入的增量价值。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适合作为高光谱能力说明与科研/精品监测产品。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连续反射率 → 参数栅格 → 物候/胁迫专题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关联：#28 NDRE、#21 去包络、#32 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【API】/api/v1/31_red_edge_params/run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32. 经验回归反演（PLS / 随机森林 / 神经网络等）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把光谱映射为叶绿素、氮含量、含水率等连续生化量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连续量专题图（带物理单位）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 PLS/随机森林/神经网络等建立光谱—生化量回归（叶绿素、氮、含水率等）。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依赖代表性地面样本；无样本时不可盲目外推。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精准施肥、长势诊断；有地面化验样本时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光谱/指数特征 + 地面真值（训练时）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将光谱映射为带物理单位的连续量，服务精准施肥与诊断。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连续量专题图（带物理单位）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停留在定性看图，难以形成剂量级农事处方。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依赖代表性地面样本；无样本时不可盲目外推。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光谱特征 + 地面化验样本 → 训练 → 连续量专题图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关联：#27–31 特征、#33 物理反演、#45 报表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【API】/api/v1/32_regression_inversion/run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33. 辐射传输物理模型反演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用冠层辐射传输机理反演 LAI、叶绿素等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物理参数图（如 LAI）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基于冠层辐射传输机理（如 PROSAIL 类）反演 LAI、叶绿素等参数。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与经验回归互补：机理约束 vs 数据驱动。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高精度定量科研与业务；成本高于简单指数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反射率、模型先验参数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可解释性强，适合高精度定量科研与高端业务。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物理参数图（如 LAI）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复杂场景仅靠经验回归可能外推失败；物理法成本更高。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与经验回归互补：机理约束 vs 数据驱动。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反射率 + 先验参数 → 物理反演 → 参数图（如 LAI）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关联：#13 大气校正、#32 经验回归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【API】/api/v1/33_physical_inversion/run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34. 传统机器学习分类（SVM / 随机森林 / 逻辑回归）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按像素判别作物/地物类别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分类图 LabelMap；可算 OA/AA/Kappa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以光谱或降维特征训练 SVM/随机森林/逻辑回归，按像素输出类别；可计算 OA/AA/Kappa。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本服务可运行，并返回精度指标便于验收。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小样本基线、快速上线、可解释要求高；本仓库含此类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光谱或降维特征 + 训练标签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小样本条件下快速回答「地物/作物类别」问题，可解释性较好。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分类图 LabelMap；可算 OA/AA/Kappa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缺少基线分类能力时，业务无法输出作物一张图，深度学习也缺少对照。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本服务可运行，并返回精度指标便于验收。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特征 + 训练标签 → 分类图 → #44 后处理 → #45 面积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关联：#23 PCA、#37 深度学习、#44/#45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【API】/api/v1/34_svm_rf_classify/run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35. 光谱匹配分类（如 SAM 光谱角制图）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用光谱形状与标准光谱库比对识别物质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匹配类别图或光谱角距离图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光谱角制图（SAM）等：比较像元光谱与端元/光谱库的形状相似度。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地质与目标识别常用；一般作物分类更多用监督分类。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矿物填图、已知光谱库的目标识别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像素光谱、端元/光谱库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在具备标准光谱库时，可直接进行目标/矿物等识别。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匹配类别图或光谱角距离图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库内物质无法快速识别，只能依赖大量标注分类。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地质与目标识别常用；一般作物分类更多用监督分类。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反射率 + 光谱库 → 匹配类别图/距离图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关联：#9 Smile 校正、#21 去包络、#41 解混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【API】/api/v1/35_spectral_matching/run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36. 光谱深度学习分类（1D-CNN / RNN）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沿光谱维自动提取特征做像素分类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像素类别 / 全图分类图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1D-CNN/RNN 沿光谱维自动提取特征并完成像素分类。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适合光谱区分度高、空间纹理较弱的任务。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光谱可分性强、空间纹理弱的场景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单像素光谱 `(B,)`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在光谱可分性强的场景中，优于手工指数与浅层模型。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像素类别 / 全图分类图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复杂空间结构场景下，仅光谱模型边界容易出错。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适合光谱区分度高、空间纹理较弱的任务。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单像素光谱 (B,) → 1D 网络 → 分类图 → #44/#45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关联：#22/#23 前处理、#37 空谱 CNN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【API】/api/v1/36_cnn1d_classify/run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37. 空–谱 CNN 分类（2D/3D-CNN）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同时利用邻域空间与光谱，提高分类精度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分类着色图（各类作物/地物）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2D/3D-CNN 同时利用邻域空间与光谱信息，输入邻域立方体 (W,W,B)。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作物一张图、城市地物精细分类的优先技术方案。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农田作物精细分类、城市地物一张图；业界与论文主流；本仓库核心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邻域立方体 `(W,W,B)`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农田精细分类与学术主流路线，通常可获得更高的边界与斑块精度。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分类着色图（各类作物/地物）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仅光谱分类在破碎地块与边界区域更容易产生误分。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作物一张图、城市地物精细分类的优先技术方案。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#26 Patch → 空谱网络 → 分类着色图 → #44/#45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关联：本仓库 hyper-spectral-small-modes 核心落点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【API】/api/v1/37_cnn3d_classify/run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38. Transformer / GCN 等现代分类网络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用注意力或图结构捕捉长程依赖，冲击更高精度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像素或对象级分类图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Transformer 注意力或 GCN 图结构建模长程依赖与对象关系。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算力与数据要求更高，适合研究型与高端产品。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复杂地物、大场景、研究型与高端产品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Patch / 超像素图结构特征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面向复杂地物与大场景的高精度升级路径。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像素或对象级分类图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难分场景下传统 CNN 精度到顶时，需要更强关系建模能力。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算力与数据要求更高，适合研究型与高端产品。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Patch/超像素图特征 → Transformer/GCN → 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关联：#25 超像素、#37 CNN、#39 少样本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【API】/api/v1/38_transformer_classify/run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39. 少样本 / 迁移学习分类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标注很少或换了一个农场时仍能分类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目标场景分类图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迁移学习、元学习或少样本微调：源域预训练 + 目标域少量标注。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衡量「可快速铺开」的关键能力指标。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新区域快速部署、降低外业认种成本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源域模型 + 目标域少量标签 Cube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降低新区域外业认种与标注成本，加快业务扩展。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目标场景分类图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每换场景都需大量标注时，规模化落地受限。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衡量「可快速铺开」的关键能力指标。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源域模型 + 少量目标标签 → 目标场景分类图 → 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关联：#34–38 分类家族、#26 样本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【API】/api/v1/39_few_shot_classify/run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40. 语义分割 / 目标检测（病斑、杂草等）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找出病变、杂草等目标的位置与边界，而不是整幅填类别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检测框、分割掩膜、斑块矢量（shp）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语义分割/目标检测定位病斑、杂草等目标的边界或检测框，常融合 RGB。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 shp/geojson 便于对接植保设备。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植保巡田、精准喷药；常融合 RGB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Cube 和/或 RGB、框/掩膜标注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支撑精准喷药与植保巡田，从「类别图」升级到「处置位置」。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检测框、分割掩膜、斑块矢量（shp）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无法给出位置时只能粗放全田作业，农资与成本失控。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 shp/geojson 便于对接植保设备。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Cube/RGB + 标注 → 掩膜/检测框/矢量 → 处方图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关联：#37 分割网络、#45 告警与报表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【API】/api/v1/40_detect_segment/run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41. 混合像元分解（端元提取 + 丰度反演）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一个像素里有多种物质时，估计各类占地比例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各类丰度图（0～1 连续）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端元提取 + 丰度反演（如 FCLS），估计混合像元内各类占地比例（0～1）。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输出连续丰度，而非单一类别标签。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分辨率不够细、混种、稀疏植被、矿物丰度填图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混合光谱、端元库或自动端元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在混种、稀疏植被或分辨率不足时提供亚像元占比信息。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各类丰度图（0～1 连续）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硬分类强迫唯一类别，导致比例估测失真。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输出连续丰度，而非单一类别标签。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混合光谱 + 端元 → 丰度图 → 专题统计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关联：#35 光谱匹配、#34 硬分类（对照）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【API】/api/v1/41_unmixing/run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42. 异常检测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找出光谱上「不像周围大部分」的像元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异常得分图 / 告警点位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基于统计或重建残差计算异常得分，找出光谱上偏离背景的像元。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适合「先告警、再确认」的运维流程。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病虫害爆发点、污染点、未知目标初筛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单时相 Cube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无充分标注时用于病虫害爆发点、污染点等初筛告警。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异常得分图 / 告警点位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小范围异常被区域均值淹没，难以及时发现。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适合「先告警、再确认」的运维流程。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单时相 Cube → 异常得分图 → 人工复核/补采样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关联：#5 云影（排除干扰）、#43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【API】/api/v1/42_anomaly_detect/run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43. 多时相变化检测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对比两个或多个时相，找出变化区域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变化掩膜、变化类型图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对配准后的多时相 L2/L3 做差值、比值或变化向量分析，提取变化区。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配准与辐射一致性是前提，否则伪变化显著。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灾损、砍伐、作物轮作、施工占地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配准后的多时相 L2/L3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支撑灾损、砍伐、轮作、施工占地等「变化位置」监测。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变化掩膜、变化类型图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无变化产品时只能单期看图，难以回答阶段性变化问题。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配准与辐射一致性是前提，否则伪变化显著。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多时相配准 → 变化检测 → 变化掩膜/类型图 → 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关联：#11 辐射归一、#19 配准、#45 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【API】/api/v1/43_change_detect/run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44. 分类后处理（形态学滤波 / CRF / 小斑剔除）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所属层级：L3→L4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去掉椒盐噪声与过小斑块，使结果符合地物连续性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平滑后的分类图、更干净的作物斑块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形态学滤波、CRF 或小斑剔除，去除椒盐噪声与过小斑块。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出图验收前的标准后处理步骤。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像素分类出图前；验收图美化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原始 LabelMap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提升分类图连续性与可读性，稳定后续面积统计。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平滑后的分类图、更干净的作物斑块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碎斑过多影响验收观感，并干扰地块面积汇总。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出图验收前的标准后处理步骤。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原始 LabelMap → 平滑分类图 → #45 地块汇总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关联：#34–38 分类、#25 对象、#45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目录与接口已预留（骨架）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【API】/api/v1/44_postprocess_smooth/run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45. 地块汇总、专题制图与业务告警（L4 核心）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所属层级：L4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把像素结果变成「人能拍板」的亩数、占比、告警和建议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面积表、地块 JSON、着色专题图、shp 斑块、告警列表、API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以地块矢量为单元，对分类/指数栅格做分区统计，结合阈值生成报表与告警。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L4 核心交付形态：报表 + 专题图 + 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业务汇报、农事 App、补贴核对、产量预估输入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L3 分类图/指数图 + 地块矢量 + 阈值规则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将像素结果转化为面积、占比、告警列表等可对接业务系统的决策产品。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面积表、地块 JSON、着色专题图、shp 斑块、告警列表、API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缺少汇总时结果停留在技术图，难以进入业务系统与管理流程。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L4 核心交付形态：报表 + 专题图 + 接口。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L3 产品 + 地块边界 + 规则 → 面积表/JSON/专题图/告警/API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关联：全链路出口；本服务可运行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【API】/api/v1/45_parcel_zonal_stats/run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第三部分｜服务能力与对接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统一 HTTP 入口，业界文件格式入出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服务定位与解决的问题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定位：高光谱算法能力的统一 HTTP 服务（单进程、一算法一目录）。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解决的问题：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· 业务系统无需各自实现遥感算法，通过标准文件与接口调用即可。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· 培训与联调统一入口：清单编号 ↔ 目录 ↔ API 一一对应。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· 先以教学实现打通闭环，再按优先级将骨架算法补齐到生产级。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调用形态：上传 GeoTIFF / GeoJSON / CSV → 返回 JSON（含统计与产物路径）。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交互文档：http://服务地址:28800/docs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对不同角色的价值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同一套能力，面向业务、产品与算法三类读者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3794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51663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" y="1124712"/>
            <a:ext cx="35387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45309"/>
                </a:solidFill>
                <a:latin typeface="PingFang SC"/>
                <a:ea typeface="PingFang SC"/>
              </a:rPr>
              <a:t>业务与管理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将光谱观测转化为分类图、长势图、面积与告警。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支撑农情监测、作物一张图等应用场景。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降低对单一算法专家的路径依赖。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验收关注：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专题图可读性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面积可核对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告警可执行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51560"/>
            <a:ext cx="3794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64008" cy="5166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124712"/>
            <a:ext cx="35387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产品与应用研发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统一 API，可按场景组合算法。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业界格式便于接入 GIS / App。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每算法独立目录、README 与 testdata。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可从骨架渐进演进到生产实现。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对接关注：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契约稳定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OpenAPI 可调试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样例可一键跑通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749039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51560"/>
            <a:ext cx="64008" cy="5166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124712"/>
            <a:ext cx="3493007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D9488"/>
                </a:solidFill>
                <a:latin typeface="PingFang SC"/>
                <a:ea typeface="PingFang SC"/>
              </a:rPr>
              <a:t>算法与数据工程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对齐 L0–L4 业界分层语言。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与小模型仓库能力可衔接。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输入输出契约清晰，便于验收。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实现关注：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implemented 标记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产物 files 路径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与清单编号一致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当前已实现能力（可联调）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教学级实现；接口形状按业界格式对齐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已实现 9 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#12 白板 / 灰板反射率定标（经验线法）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#20 坏波段剔除与光谱去噪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#21 Savitzky–Golay 平滑 / 包络线去除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#22 标准化 / 归一化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#23 降维（PCA / MNF / ICA）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#27 NDVI（归一化植被指数）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#28 NDRE / 红边植被指数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#34 传统机器学习分类（SVM / 随机森林 / 逻辑回归）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#45 地块汇总、专题制图与业务告警（L4 核心）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覆盖类型：反射率定标示意 · 立方体清洗/特征 · 植被指数 · SVM 分类 · 地块汇总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其余 36 项：目录与 POST /api/v1/{id}/run 已预留（implemented=false），可按场景优先级补齐。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详细 curl 见：docs/算法API测试清单.md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对接步骤与调用示例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工作目录：algorithm/source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576072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5166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" y="1124712"/>
            <a:ext cx="550468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三步对接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1）启动服务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./scripts/start.sh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默认：http://127.0.0.1:28800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2）查询清单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GET /api/v1/algorithms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3）调用算法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POST /api/v1/{algorithm_id}/run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-F file=@xxx.tif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-F file2=@yyy.geojson（可选）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-F params='{...}'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返回：success / data /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6235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64008" cy="5166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24712"/>
            <a:ext cx="53675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D9488"/>
                </a:solidFill>
                <a:latin typeface="PingFang SC"/>
                <a:ea typeface="PingFang SC"/>
              </a:rPr>
              <a:t>示例：NDVI（#27）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curl -X POST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  "http://127.0.0.1:28800/api/v1/27_ndvi/run"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  -F "file=@algorithms/27_ndvi/testdata/input.tif"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  -F 'params={"red_band":2,"nir_band":3}'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业务侧可消费：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· data.mean / min / max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· files.ndvi_tif（GIS 底图）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· files.preview_png（预览）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同类方式对接 #34 分类、#45 汇总。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能力边界与建设路径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汇报与立项需明确范围，避免预期错位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103120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1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当前范围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417319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教学/联调级算法实现 + 完整业界流程能力地图（45 目录对齐）。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28600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2103120" cy="1051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非当前范围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060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完整生产级正射、大气、SfM 等通常由专用处理软件/处理中心承担。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47472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474720"/>
            <a:ext cx="2103120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9475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仓库强项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794759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L2→L3 分类小模型（hyper-spectral-small-modes）可继续接入本服务。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66344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663440"/>
            <a:ext cx="2103120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983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建议路径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9834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先用已实现接口打通业务闭环，再按场景优先级将骨架补到生产级。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总结与下一步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本材料覆盖的三部分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1. 架构：L0→L4 分层清晰，分类链与指标链并行。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2. 算法：45 项业界清单，逐项说明方法、输入输出、价值与流程位置。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3. 服务：HTTP 统一入口，GeoTIFF/GeoJSON 正规对接，可培训可联调。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建议下一步：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① 选定 1–2 个业务场景（作物分类 / 长势监测）打通应用演示。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② 按场景优先级补齐关键骨架算法到生产级。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③ 与 hyper-spectral-small-modes 分类模型深度对接本服务。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</a:rP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</a:rPr>
              <a:t>资料：algorithm/docs/（清单、流程、测试清单、本 PPT）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</a:rPr>
              <a:t>服务：algorithm/source/（HTTP API · 端口 28800）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